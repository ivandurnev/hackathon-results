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" panose="00000500000000000000" pitchFamily="2" charset="-52"/>
      <p:regular r:id="rId12"/>
    </p:embeddedFont>
    <p:embeddedFont>
      <p:font typeface="Montserrat Bold" panose="00000800000000000000" charset="-52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6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33973" y="8317043"/>
            <a:ext cx="2625327" cy="768106"/>
            <a:chOff x="0" y="0"/>
            <a:chExt cx="3500436" cy="1024141"/>
          </a:xfrm>
        </p:grpSpPr>
        <p:sp>
          <p:nvSpPr>
            <p:cNvPr id="3" name="Freeform 3"/>
            <p:cNvSpPr/>
            <p:nvPr/>
          </p:nvSpPr>
          <p:spPr>
            <a:xfrm>
              <a:off x="1293416" y="0"/>
              <a:ext cx="912416" cy="1024141"/>
            </a:xfrm>
            <a:custGeom>
              <a:avLst/>
              <a:gdLst/>
              <a:ahLst/>
              <a:cxnLst/>
              <a:rect l="l" t="t" r="r" b="b"/>
              <a:pathLst>
                <a:path w="912416" h="1024141">
                  <a:moveTo>
                    <a:pt x="0" y="0"/>
                  </a:moveTo>
                  <a:lnTo>
                    <a:pt x="912417" y="0"/>
                  </a:lnTo>
                  <a:lnTo>
                    <a:pt x="912417" y="1024141"/>
                  </a:lnTo>
                  <a:lnTo>
                    <a:pt x="0" y="102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588020" y="0"/>
              <a:ext cx="912416" cy="1024141"/>
            </a:xfrm>
            <a:custGeom>
              <a:avLst/>
              <a:gdLst/>
              <a:ahLst/>
              <a:cxnLst/>
              <a:rect l="l" t="t" r="r" b="b"/>
              <a:pathLst>
                <a:path w="912416" h="1024141">
                  <a:moveTo>
                    <a:pt x="0" y="0"/>
                  </a:moveTo>
                  <a:lnTo>
                    <a:pt x="912416" y="0"/>
                  </a:lnTo>
                  <a:lnTo>
                    <a:pt x="912416" y="1024141"/>
                  </a:lnTo>
                  <a:lnTo>
                    <a:pt x="0" y="102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912416" cy="1024141"/>
            </a:xfrm>
            <a:custGeom>
              <a:avLst/>
              <a:gdLst/>
              <a:ahLst/>
              <a:cxnLst/>
              <a:rect l="l" t="t" r="r" b="b"/>
              <a:pathLst>
                <a:path w="912416" h="1024141">
                  <a:moveTo>
                    <a:pt x="0" y="0"/>
                  </a:moveTo>
                  <a:lnTo>
                    <a:pt x="912416" y="0"/>
                  </a:lnTo>
                  <a:lnTo>
                    <a:pt x="912416" y="1024141"/>
                  </a:lnTo>
                  <a:lnTo>
                    <a:pt x="0" y="1024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822251" y="1285714"/>
            <a:ext cx="1843859" cy="857395"/>
          </a:xfrm>
          <a:custGeom>
            <a:avLst/>
            <a:gdLst/>
            <a:ahLst/>
            <a:cxnLst/>
            <a:rect l="l" t="t" r="r" b="b"/>
            <a:pathLst>
              <a:path w="1843859" h="857395">
                <a:moveTo>
                  <a:pt x="0" y="0"/>
                </a:moveTo>
                <a:lnTo>
                  <a:pt x="1843859" y="0"/>
                </a:lnTo>
                <a:lnTo>
                  <a:pt x="1843859" y="857394"/>
                </a:lnTo>
                <a:lnTo>
                  <a:pt x="0" y="8573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4173200" y="8570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170790" y="1585904"/>
            <a:ext cx="7088510" cy="7115192"/>
          </a:xfrm>
          <a:custGeom>
            <a:avLst/>
            <a:gdLst/>
            <a:ahLst/>
            <a:cxnLst/>
            <a:rect l="l" t="t" r="r" b="b"/>
            <a:pathLst>
              <a:path w="7088510" h="7115192">
                <a:moveTo>
                  <a:pt x="0" y="0"/>
                </a:moveTo>
                <a:lnTo>
                  <a:pt x="7088510" y="0"/>
                </a:lnTo>
                <a:lnTo>
                  <a:pt x="7088510" y="7115192"/>
                </a:lnTo>
                <a:lnTo>
                  <a:pt x="0" y="71151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822251" y="2326222"/>
            <a:ext cx="8348540" cy="4048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7"/>
              </a:lnSpc>
            </a:pPr>
            <a:r>
              <a:rPr lang="en-US" sz="891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MUSIC PRODUCTION PROCESS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22251" y="6664181"/>
            <a:ext cx="7057019" cy="1295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r>
              <a:rPr lang="en-US" sz="427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Idea, to Recording, to Release to the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772900" y="1028700"/>
            <a:ext cx="5486400" cy="8229600"/>
            <a:chOff x="0" y="0"/>
            <a:chExt cx="6350000" cy="9525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4"/>
              <a:stretch>
                <a:fillRect l="-62570" r="-62570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25475" y="1516247"/>
            <a:ext cx="10162230" cy="255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17"/>
              </a:lnSpc>
              <a:spcBef>
                <a:spcPct val="0"/>
              </a:spcBef>
            </a:pPr>
            <a:r>
              <a:rPr lang="en-US" sz="8431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IS MUSIC PRODUCTION?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6579" y="4360020"/>
            <a:ext cx="10301127" cy="3624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4257" lvl="1" indent="-432128" algn="l">
              <a:lnSpc>
                <a:spcPts val="4803"/>
              </a:lnSpc>
              <a:buFont typeface="Arial"/>
              <a:buChar char="•"/>
            </a:pPr>
            <a:r>
              <a:rPr lang="en-US" sz="40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Music production is the process of creating, recording, processing, and refining a musical work until it is ready for public listening.</a:t>
            </a:r>
          </a:p>
          <a:p>
            <a:pPr marL="864257" lvl="1" indent="-432128" algn="l">
              <a:lnSpc>
                <a:spcPts val="4803"/>
              </a:lnSpc>
              <a:buFont typeface="Arial"/>
              <a:buChar char="•"/>
            </a:pPr>
            <a:r>
              <a:rPr lang="en-US" sz="40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Music production involves both technical and creative aspects.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144708" y="4791522"/>
            <a:ext cx="0" cy="88543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3" name="Freeform 3"/>
          <p:cNvSpPr/>
          <p:nvPr/>
        </p:nvSpPr>
        <p:spPr>
          <a:xfrm>
            <a:off x="8094786" y="5533801"/>
            <a:ext cx="2099844" cy="551209"/>
          </a:xfrm>
          <a:custGeom>
            <a:avLst/>
            <a:gdLst/>
            <a:ahLst/>
            <a:cxnLst/>
            <a:rect l="l" t="t" r="r" b="b"/>
            <a:pathLst>
              <a:path w="2099844" h="551209">
                <a:moveTo>
                  <a:pt x="0" y="0"/>
                </a:moveTo>
                <a:lnTo>
                  <a:pt x="2099844" y="0"/>
                </a:lnTo>
                <a:lnTo>
                  <a:pt x="2099844" y="551209"/>
                </a:lnTo>
                <a:lnTo>
                  <a:pt x="0" y="551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V="1">
            <a:off x="7044864" y="5941851"/>
            <a:ext cx="0" cy="88543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5" name="Freeform 5"/>
          <p:cNvSpPr/>
          <p:nvPr/>
        </p:nvSpPr>
        <p:spPr>
          <a:xfrm>
            <a:off x="5994942" y="5533801"/>
            <a:ext cx="2099844" cy="551209"/>
          </a:xfrm>
          <a:custGeom>
            <a:avLst/>
            <a:gdLst/>
            <a:ahLst/>
            <a:cxnLst/>
            <a:rect l="l" t="t" r="r" b="b"/>
            <a:pathLst>
              <a:path w="2099844" h="551209">
                <a:moveTo>
                  <a:pt x="0" y="0"/>
                </a:moveTo>
                <a:lnTo>
                  <a:pt x="2099844" y="0"/>
                </a:lnTo>
                <a:lnTo>
                  <a:pt x="2099844" y="551209"/>
                </a:lnTo>
                <a:lnTo>
                  <a:pt x="0" y="55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4945020" y="4791522"/>
            <a:ext cx="0" cy="88543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7" name="Freeform 7"/>
          <p:cNvSpPr/>
          <p:nvPr/>
        </p:nvSpPr>
        <p:spPr>
          <a:xfrm>
            <a:off x="3895098" y="5533801"/>
            <a:ext cx="2099844" cy="551209"/>
          </a:xfrm>
          <a:custGeom>
            <a:avLst/>
            <a:gdLst/>
            <a:ahLst/>
            <a:cxnLst/>
            <a:rect l="l" t="t" r="r" b="b"/>
            <a:pathLst>
              <a:path w="2099844" h="551209">
                <a:moveTo>
                  <a:pt x="0" y="0"/>
                </a:moveTo>
                <a:lnTo>
                  <a:pt x="2099844" y="0"/>
                </a:lnTo>
                <a:lnTo>
                  <a:pt x="2099844" y="551209"/>
                </a:lnTo>
                <a:lnTo>
                  <a:pt x="0" y="551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H="1" flipV="1">
            <a:off x="2845176" y="6359497"/>
            <a:ext cx="0" cy="467792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0" name="Freeform 10"/>
          <p:cNvSpPr/>
          <p:nvPr/>
        </p:nvSpPr>
        <p:spPr>
          <a:xfrm>
            <a:off x="1795254" y="5533801"/>
            <a:ext cx="2099844" cy="551209"/>
          </a:xfrm>
          <a:custGeom>
            <a:avLst/>
            <a:gdLst/>
            <a:ahLst/>
            <a:cxnLst/>
            <a:rect l="l" t="t" r="r" b="b"/>
            <a:pathLst>
              <a:path w="2099844" h="551209">
                <a:moveTo>
                  <a:pt x="0" y="0"/>
                </a:moveTo>
                <a:lnTo>
                  <a:pt x="2099844" y="0"/>
                </a:lnTo>
                <a:lnTo>
                  <a:pt x="2099844" y="551209"/>
                </a:lnTo>
                <a:lnTo>
                  <a:pt x="0" y="55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flipV="1">
            <a:off x="11243844" y="5941851"/>
            <a:ext cx="0" cy="88543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2" name="Freeform 12"/>
          <p:cNvSpPr/>
          <p:nvPr/>
        </p:nvSpPr>
        <p:spPr>
          <a:xfrm>
            <a:off x="10194630" y="5533801"/>
            <a:ext cx="2099844" cy="551209"/>
          </a:xfrm>
          <a:custGeom>
            <a:avLst/>
            <a:gdLst/>
            <a:ahLst/>
            <a:cxnLst/>
            <a:rect l="l" t="t" r="r" b="b"/>
            <a:pathLst>
              <a:path w="2099844" h="551209">
                <a:moveTo>
                  <a:pt x="0" y="0"/>
                </a:moveTo>
                <a:lnTo>
                  <a:pt x="2099844" y="0"/>
                </a:lnTo>
                <a:lnTo>
                  <a:pt x="2099844" y="551209"/>
                </a:lnTo>
                <a:lnTo>
                  <a:pt x="0" y="55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V="1">
            <a:off x="13342224" y="4791522"/>
            <a:ext cx="0" cy="88543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4" name="Freeform 14"/>
          <p:cNvSpPr/>
          <p:nvPr/>
        </p:nvSpPr>
        <p:spPr>
          <a:xfrm>
            <a:off x="12294474" y="5533801"/>
            <a:ext cx="2099844" cy="551209"/>
          </a:xfrm>
          <a:custGeom>
            <a:avLst/>
            <a:gdLst/>
            <a:ahLst/>
            <a:cxnLst/>
            <a:rect l="l" t="t" r="r" b="b"/>
            <a:pathLst>
              <a:path w="2099844" h="551209">
                <a:moveTo>
                  <a:pt x="0" y="0"/>
                </a:moveTo>
                <a:lnTo>
                  <a:pt x="2099844" y="0"/>
                </a:lnTo>
                <a:lnTo>
                  <a:pt x="2099844" y="551209"/>
                </a:lnTo>
                <a:lnTo>
                  <a:pt x="0" y="5512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5"/>
          <p:cNvSpPr/>
          <p:nvPr/>
        </p:nvSpPr>
        <p:spPr>
          <a:xfrm flipV="1">
            <a:off x="15442824" y="5941851"/>
            <a:ext cx="0" cy="88543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16" name="Freeform 16"/>
          <p:cNvSpPr/>
          <p:nvPr/>
        </p:nvSpPr>
        <p:spPr>
          <a:xfrm>
            <a:off x="14394318" y="5533801"/>
            <a:ext cx="2099844" cy="551209"/>
          </a:xfrm>
          <a:custGeom>
            <a:avLst/>
            <a:gdLst/>
            <a:ahLst/>
            <a:cxnLst/>
            <a:rect l="l" t="t" r="r" b="b"/>
            <a:pathLst>
              <a:path w="2099844" h="551209">
                <a:moveTo>
                  <a:pt x="0" y="0"/>
                </a:moveTo>
                <a:lnTo>
                  <a:pt x="2099845" y="0"/>
                </a:lnTo>
                <a:lnTo>
                  <a:pt x="2099845" y="551209"/>
                </a:lnTo>
                <a:lnTo>
                  <a:pt x="0" y="5512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087058" y="1428526"/>
            <a:ext cx="8115300" cy="149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81"/>
              </a:lnSpc>
              <a:spcBef>
                <a:spcPct val="0"/>
              </a:spcBef>
            </a:pPr>
            <a:r>
              <a:rPr lang="en-US" sz="4984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STAGES OF MUSIC PRODUCTION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4683" y="5681043"/>
            <a:ext cx="1900985" cy="26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71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SONGWRITING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64492" y="5676961"/>
            <a:ext cx="1961056" cy="26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71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ARRANGEMENT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76470" y="5676961"/>
            <a:ext cx="1936789" cy="26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71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RECORDING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38778" y="5676961"/>
            <a:ext cx="1410444" cy="26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71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EDITING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30929" y="5676961"/>
            <a:ext cx="1822590" cy="26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71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MASTERING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31547" y="5676961"/>
            <a:ext cx="1226010" cy="26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2"/>
              </a:lnSpc>
              <a:spcBef>
                <a:spcPct val="0"/>
              </a:spcBef>
            </a:pPr>
            <a:r>
              <a:rPr lang="en-US" sz="171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MIXING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505521" y="5612943"/>
            <a:ext cx="1877440" cy="39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7"/>
              </a:lnSpc>
              <a:spcBef>
                <a:spcPct val="0"/>
              </a:spcBef>
            </a:pPr>
            <a:r>
              <a:rPr lang="en-US" sz="128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DISTRIBUTION AND RELEASE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6439" y="6983848"/>
            <a:ext cx="2757474" cy="124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3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musical idea: melody, chords, lyrics, and song structure (verse, chorus, bridge). The foundation is the message and emotion you want to convey.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566283" y="3610235"/>
            <a:ext cx="2757474" cy="124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3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Determining the instruments, flow, harmony, dynamics, and parts of the song so that the main melody has a complete "shape"; usually a guide demo is made for recording.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66127" y="6983848"/>
            <a:ext cx="2757474" cy="124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3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Record vocal and instrumental performances onto digital tracks using a microphone, interface, and DAW. This process can be done live or track-by-track (overdubbing).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65971" y="3817861"/>
            <a:ext cx="2757474" cy="103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3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Tidying up the recording: selecting the best takes (comping), removing clutter, aligning time, and fixing pitch/noise before mixing.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65107" y="6983848"/>
            <a:ext cx="2757474" cy="124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3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Balancing levels, panning, EQ, and dynamic processing; adding effects (reverb, delay) to create space and cohesion between elements so the song sounds complete.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64087" y="6983848"/>
            <a:ext cx="2757474" cy="1245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3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Determine release strategy (single/album), upload to distributors/streamers, prepare metadata &amp; artwork, and run promotion and distribution to platforms.</a:t>
            </a:r>
          </a:p>
        </p:txBody>
      </p:sp>
      <p:sp>
        <p:nvSpPr>
          <p:cNvPr id="31" name="Freeform 31"/>
          <p:cNvSpPr/>
          <p:nvPr/>
        </p:nvSpPr>
        <p:spPr>
          <a:xfrm flipH="1" flipV="1">
            <a:off x="14173200" y="4762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1963487" y="3610235"/>
            <a:ext cx="2757474" cy="1038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3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Finishing touches to improve tonal balance, loudness and consistency between songs; prepare files for distribution formats (streaming, radio, CD)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4630" y="1651429"/>
            <a:ext cx="8019370" cy="6984142"/>
          </a:xfrm>
          <a:custGeom>
            <a:avLst/>
            <a:gdLst/>
            <a:ahLst/>
            <a:cxnLst/>
            <a:rect l="l" t="t" r="r" b="b"/>
            <a:pathLst>
              <a:path w="8019370" h="6984142">
                <a:moveTo>
                  <a:pt x="0" y="0"/>
                </a:moveTo>
                <a:lnTo>
                  <a:pt x="8019370" y="0"/>
                </a:lnTo>
                <a:lnTo>
                  <a:pt x="8019370" y="6984142"/>
                </a:lnTo>
                <a:lnTo>
                  <a:pt x="0" y="698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634887" y="2438274"/>
            <a:ext cx="7624413" cy="112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91"/>
              </a:lnSpc>
              <a:spcBef>
                <a:spcPct val="0"/>
              </a:spcBef>
            </a:pPr>
            <a:r>
              <a:rPr lang="en-US" sz="740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SONGWRITING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15535877" y="7650261"/>
            <a:ext cx="695092" cy="1970621"/>
          </a:xfrm>
          <a:custGeom>
            <a:avLst/>
            <a:gdLst/>
            <a:ahLst/>
            <a:cxnLst/>
            <a:rect l="l" t="t" r="r" b="b"/>
            <a:pathLst>
              <a:path w="695092" h="1970621">
                <a:moveTo>
                  <a:pt x="0" y="0"/>
                </a:moveTo>
                <a:lnTo>
                  <a:pt x="695092" y="0"/>
                </a:lnTo>
                <a:lnTo>
                  <a:pt x="695092" y="1970620"/>
                </a:lnTo>
                <a:lnTo>
                  <a:pt x="0" y="19706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34887" y="4181601"/>
            <a:ext cx="7000418" cy="513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706" lvl="1" indent="-373853" algn="l">
              <a:lnSpc>
                <a:spcPts val="4155"/>
              </a:lnSpc>
              <a:buFont typeface="Arial"/>
              <a:buChar char="•"/>
            </a:pPr>
            <a:r>
              <a:rPr lang="en-US" sz="3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@powerpointrus</a:t>
            </a:r>
            <a:endParaRPr lang="en-US" sz="346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173200" y="-75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95717" y="2493586"/>
            <a:ext cx="7186207" cy="5299828"/>
          </a:xfrm>
          <a:custGeom>
            <a:avLst/>
            <a:gdLst/>
            <a:ahLst/>
            <a:cxnLst/>
            <a:rect l="l" t="t" r="r" b="b"/>
            <a:pathLst>
              <a:path w="7186207" h="5299828">
                <a:moveTo>
                  <a:pt x="0" y="0"/>
                </a:moveTo>
                <a:lnTo>
                  <a:pt x="7186207" y="0"/>
                </a:lnTo>
                <a:lnTo>
                  <a:pt x="7186207" y="5299828"/>
                </a:lnTo>
                <a:lnTo>
                  <a:pt x="0" y="5299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9587" y="2700212"/>
            <a:ext cx="8076130" cy="112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91"/>
              </a:lnSpc>
              <a:spcBef>
                <a:spcPct val="0"/>
              </a:spcBef>
            </a:pPr>
            <a:r>
              <a:rPr lang="en-US" sz="740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ARRANGEMENT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9587" y="4443538"/>
            <a:ext cx="7446790" cy="314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706" lvl="1" indent="-373853" algn="l">
              <a:lnSpc>
                <a:spcPts val="4155"/>
              </a:lnSpc>
              <a:buFont typeface="Arial"/>
              <a:buChar char="•"/>
            </a:pPr>
            <a:r>
              <a:rPr lang="en-US" sz="3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Determine which instruments to use.</a:t>
            </a:r>
          </a:p>
          <a:p>
            <a:pPr marL="747706" lvl="1" indent="-373853" algn="l">
              <a:lnSpc>
                <a:spcPts val="4155"/>
              </a:lnSpc>
              <a:spcBef>
                <a:spcPct val="0"/>
              </a:spcBef>
              <a:buFont typeface="Arial"/>
              <a:buChar char="•"/>
            </a:pPr>
            <a:r>
              <a:rPr lang="en-US" sz="3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Set the tempo, dynamics, and musical style (genre).</a:t>
            </a:r>
          </a:p>
          <a:p>
            <a:pPr marL="747706" lvl="1" indent="-373853" algn="l">
              <a:lnSpc>
                <a:spcPts val="4155"/>
              </a:lnSpc>
              <a:spcBef>
                <a:spcPct val="0"/>
              </a:spcBef>
              <a:buFont typeface="Arial"/>
              <a:buChar char="•"/>
            </a:pPr>
            <a:r>
              <a:rPr lang="en-US" sz="3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demo version for recording reference.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15535877" y="7650261"/>
            <a:ext cx="695092" cy="1970621"/>
          </a:xfrm>
          <a:custGeom>
            <a:avLst/>
            <a:gdLst/>
            <a:ahLst/>
            <a:cxnLst/>
            <a:rect l="l" t="t" r="r" b="b"/>
            <a:pathLst>
              <a:path w="695092" h="1970621">
                <a:moveTo>
                  <a:pt x="0" y="0"/>
                </a:moveTo>
                <a:lnTo>
                  <a:pt x="695092" y="0"/>
                </a:lnTo>
                <a:lnTo>
                  <a:pt x="695092" y="1970620"/>
                </a:lnTo>
                <a:lnTo>
                  <a:pt x="0" y="19706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58447" y="2014717"/>
            <a:ext cx="6933592" cy="6257567"/>
          </a:xfrm>
          <a:custGeom>
            <a:avLst/>
            <a:gdLst/>
            <a:ahLst/>
            <a:cxnLst/>
            <a:rect l="l" t="t" r="r" b="b"/>
            <a:pathLst>
              <a:path w="6933592" h="6257567">
                <a:moveTo>
                  <a:pt x="0" y="0"/>
                </a:moveTo>
                <a:lnTo>
                  <a:pt x="6933592" y="0"/>
                </a:lnTo>
                <a:lnTo>
                  <a:pt x="6933592" y="6257566"/>
                </a:lnTo>
                <a:lnTo>
                  <a:pt x="0" y="6257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0" y="2349926"/>
            <a:ext cx="7624413" cy="112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91"/>
              </a:lnSpc>
              <a:spcBef>
                <a:spcPct val="0"/>
              </a:spcBef>
            </a:pPr>
            <a:r>
              <a:rPr lang="en-US" sz="740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RECORDING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3746074"/>
            <a:ext cx="7446790" cy="419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706" lvl="1" indent="-373853" algn="l">
              <a:lnSpc>
                <a:spcPts val="4155"/>
              </a:lnSpc>
              <a:buFont typeface="Arial"/>
              <a:buChar char="•"/>
            </a:pPr>
            <a:r>
              <a:rPr lang="en-US" sz="3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process of capturing vocal and instrument sounds.</a:t>
            </a:r>
          </a:p>
          <a:p>
            <a:pPr marL="747706" lvl="1" indent="-373853" algn="l">
              <a:lnSpc>
                <a:spcPts val="4155"/>
              </a:lnSpc>
              <a:spcBef>
                <a:spcPct val="0"/>
              </a:spcBef>
              <a:buFont typeface="Arial"/>
              <a:buChar char="•"/>
            </a:pPr>
            <a:r>
              <a:rPr lang="en-US" sz="3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is done in a studio using a microphone, audio interface, and DAW (Digital Audio Workstation).</a:t>
            </a:r>
          </a:p>
          <a:p>
            <a:pPr marL="747706" lvl="1" indent="-373853" algn="l">
              <a:lnSpc>
                <a:spcPts val="4155"/>
              </a:lnSpc>
              <a:spcBef>
                <a:spcPct val="0"/>
              </a:spcBef>
              <a:buFont typeface="Arial"/>
              <a:buChar char="•"/>
            </a:pPr>
            <a:r>
              <a:rPr lang="en-US" sz="346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This can be done track by track.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15535877" y="7650261"/>
            <a:ext cx="695092" cy="1970621"/>
          </a:xfrm>
          <a:custGeom>
            <a:avLst/>
            <a:gdLst/>
            <a:ahLst/>
            <a:cxnLst/>
            <a:rect l="l" t="t" r="r" b="b"/>
            <a:pathLst>
              <a:path w="695092" h="1970621">
                <a:moveTo>
                  <a:pt x="0" y="0"/>
                </a:moveTo>
                <a:lnTo>
                  <a:pt x="695092" y="0"/>
                </a:lnTo>
                <a:lnTo>
                  <a:pt x="695092" y="1970620"/>
                </a:lnTo>
                <a:lnTo>
                  <a:pt x="0" y="1970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777345" y="2120449"/>
            <a:ext cx="5985640" cy="6046101"/>
          </a:xfrm>
          <a:custGeom>
            <a:avLst/>
            <a:gdLst/>
            <a:ahLst/>
            <a:cxnLst/>
            <a:rect l="l" t="t" r="r" b="b"/>
            <a:pathLst>
              <a:path w="5985640" h="6046101">
                <a:moveTo>
                  <a:pt x="0" y="0"/>
                </a:moveTo>
                <a:lnTo>
                  <a:pt x="5985640" y="0"/>
                </a:lnTo>
                <a:lnTo>
                  <a:pt x="5985640" y="6046102"/>
                </a:lnTo>
                <a:lnTo>
                  <a:pt x="0" y="6046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10915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17168" y="2371718"/>
            <a:ext cx="8384486" cy="1236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777"/>
              </a:lnSpc>
              <a:spcBef>
                <a:spcPct val="0"/>
              </a:spcBef>
            </a:pPr>
            <a:r>
              <a:rPr lang="en-US" sz="814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EDITING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17168" y="3916572"/>
            <a:ext cx="9496057" cy="399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3466" lvl="1" indent="-476733" algn="l">
              <a:lnSpc>
                <a:spcPts val="5299"/>
              </a:lnSpc>
              <a:buFont typeface="Arial"/>
              <a:buChar char="•"/>
            </a:pPr>
            <a:r>
              <a:rPr lang="en-US" sz="441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Perfecting recordings</a:t>
            </a:r>
          </a:p>
          <a:p>
            <a:pPr marL="953466" lvl="1" indent="-476733" algn="l">
              <a:lnSpc>
                <a:spcPts val="5299"/>
              </a:lnSpc>
              <a:buFont typeface="Arial"/>
              <a:buChar char="•"/>
            </a:pPr>
            <a:r>
              <a:rPr lang="en-US" sz="441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Cutting out bad parts</a:t>
            </a:r>
          </a:p>
          <a:p>
            <a:pPr marL="953466" lvl="1" indent="-476733" algn="l">
              <a:lnSpc>
                <a:spcPts val="5299"/>
              </a:lnSpc>
              <a:spcBef>
                <a:spcPct val="0"/>
              </a:spcBef>
              <a:buFont typeface="Arial"/>
              <a:buChar char="•"/>
            </a:pPr>
            <a:r>
              <a:rPr lang="en-US" sz="441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Rearranging tracks</a:t>
            </a:r>
          </a:p>
          <a:p>
            <a:pPr marL="953466" lvl="1" indent="-476733" algn="l">
              <a:lnSpc>
                <a:spcPts val="5299"/>
              </a:lnSpc>
              <a:spcBef>
                <a:spcPct val="0"/>
              </a:spcBef>
              <a:buFont typeface="Arial"/>
              <a:buChar char="•"/>
            </a:pPr>
            <a:r>
              <a:rPr lang="en-US" sz="441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Adjusting timing and pitch</a:t>
            </a:r>
          </a:p>
          <a:p>
            <a:pPr marL="953466" lvl="1" indent="-476733" algn="l">
              <a:lnSpc>
                <a:spcPts val="5299"/>
              </a:lnSpc>
              <a:spcBef>
                <a:spcPct val="0"/>
              </a:spcBef>
              <a:buFont typeface="Arial"/>
              <a:buChar char="•"/>
            </a:pPr>
            <a:r>
              <a:rPr lang="en-US" sz="441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Tools: Auto-Tune, Melodyne, and other DAW tools.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15535877" y="7650261"/>
            <a:ext cx="695092" cy="1970621"/>
          </a:xfrm>
          <a:custGeom>
            <a:avLst/>
            <a:gdLst/>
            <a:ahLst/>
            <a:cxnLst/>
            <a:rect l="l" t="t" r="r" b="b"/>
            <a:pathLst>
              <a:path w="695092" h="1970621">
                <a:moveTo>
                  <a:pt x="0" y="0"/>
                </a:moveTo>
                <a:lnTo>
                  <a:pt x="695092" y="0"/>
                </a:lnTo>
                <a:lnTo>
                  <a:pt x="695092" y="1970620"/>
                </a:lnTo>
                <a:lnTo>
                  <a:pt x="0" y="19706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5535877" y="7650261"/>
            <a:ext cx="695092" cy="1970621"/>
          </a:xfrm>
          <a:custGeom>
            <a:avLst/>
            <a:gdLst/>
            <a:ahLst/>
            <a:cxnLst/>
            <a:rect l="l" t="t" r="r" b="b"/>
            <a:pathLst>
              <a:path w="695092" h="1970621">
                <a:moveTo>
                  <a:pt x="0" y="0"/>
                </a:moveTo>
                <a:lnTo>
                  <a:pt x="695092" y="0"/>
                </a:lnTo>
                <a:lnTo>
                  <a:pt x="695092" y="1970620"/>
                </a:lnTo>
                <a:lnTo>
                  <a:pt x="0" y="19706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28707" y="2028187"/>
            <a:ext cx="6230625" cy="6230625"/>
          </a:xfrm>
          <a:custGeom>
            <a:avLst/>
            <a:gdLst/>
            <a:ahLst/>
            <a:cxnLst/>
            <a:rect l="l" t="t" r="r" b="b"/>
            <a:pathLst>
              <a:path w="6230625" h="6230625">
                <a:moveTo>
                  <a:pt x="0" y="0"/>
                </a:moveTo>
                <a:lnTo>
                  <a:pt x="6230625" y="0"/>
                </a:lnTo>
                <a:lnTo>
                  <a:pt x="6230625" y="6230626"/>
                </a:lnTo>
                <a:lnTo>
                  <a:pt x="0" y="6230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8233516" y="2319246"/>
            <a:ext cx="7624413" cy="112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91"/>
              </a:lnSpc>
              <a:spcBef>
                <a:spcPct val="0"/>
              </a:spcBef>
            </a:pPr>
            <a:r>
              <a:rPr lang="en-US" sz="740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MIXING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233516" y="3715394"/>
            <a:ext cx="8635217" cy="4252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7032" lvl="1" indent="-433516" algn="l">
              <a:lnSpc>
                <a:spcPts val="4819"/>
              </a:lnSpc>
              <a:spcBef>
                <a:spcPct val="0"/>
              </a:spcBef>
              <a:buFont typeface="Arial"/>
              <a:buChar char="•"/>
            </a:pPr>
            <a:r>
              <a:rPr lang="en-US" sz="4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Balance the volume between instruments.</a:t>
            </a:r>
          </a:p>
          <a:p>
            <a:pPr marL="867032" lvl="1" indent="-433516" algn="l">
              <a:lnSpc>
                <a:spcPts val="4819"/>
              </a:lnSpc>
              <a:spcBef>
                <a:spcPct val="0"/>
              </a:spcBef>
              <a:buFont typeface="Arial"/>
              <a:buChar char="•"/>
            </a:pPr>
            <a:r>
              <a:rPr lang="en-US" sz="4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Add effects (reverb, delay, EQ, compression).</a:t>
            </a:r>
          </a:p>
          <a:p>
            <a:pPr marL="867032" lvl="1" indent="-433516" algn="l">
              <a:lnSpc>
                <a:spcPts val="4819"/>
              </a:lnSpc>
              <a:spcBef>
                <a:spcPct val="0"/>
              </a:spcBef>
              <a:buFont typeface="Arial"/>
              <a:buChar char="•"/>
            </a:pPr>
            <a:r>
              <a:rPr lang="en-US" sz="4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Goal: Make the song sound unified and pleasing to the 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13299" y="2267248"/>
            <a:ext cx="6454422" cy="5752504"/>
          </a:xfrm>
          <a:custGeom>
            <a:avLst/>
            <a:gdLst/>
            <a:ahLst/>
            <a:cxnLst/>
            <a:rect l="l" t="t" r="r" b="b"/>
            <a:pathLst>
              <a:path w="6454422" h="5752504">
                <a:moveTo>
                  <a:pt x="0" y="0"/>
                </a:moveTo>
                <a:lnTo>
                  <a:pt x="6454422" y="0"/>
                </a:lnTo>
                <a:lnTo>
                  <a:pt x="6454422" y="5752504"/>
                </a:lnTo>
                <a:lnTo>
                  <a:pt x="0" y="57525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67024" y="1469940"/>
            <a:ext cx="9146275" cy="2247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91"/>
              </a:lnSpc>
              <a:spcBef>
                <a:spcPct val="0"/>
              </a:spcBef>
            </a:pPr>
            <a:r>
              <a:rPr lang="en-US" sz="740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MASTERING AND DISTRIBUTION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45998" y="3957221"/>
            <a:ext cx="8635217" cy="4859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7032" lvl="1" indent="-433516" algn="l">
              <a:lnSpc>
                <a:spcPts val="4819"/>
              </a:lnSpc>
              <a:spcBef>
                <a:spcPct val="0"/>
              </a:spcBef>
              <a:buFont typeface="Arial"/>
              <a:buChar char="•"/>
            </a:pPr>
            <a:r>
              <a:rPr lang="en-US" sz="4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Mastering is the final stage of audio refinement.</a:t>
            </a:r>
          </a:p>
          <a:p>
            <a:pPr marL="867032" lvl="1" indent="-433516" algn="l">
              <a:lnSpc>
                <a:spcPts val="4819"/>
              </a:lnSpc>
              <a:spcBef>
                <a:spcPct val="0"/>
              </a:spcBef>
              <a:buFont typeface="Arial"/>
              <a:buChar char="•"/>
            </a:pPr>
            <a:r>
              <a:rPr lang="en-US" sz="4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Equalizing sound levels between songs.</a:t>
            </a:r>
          </a:p>
          <a:p>
            <a:pPr marL="867032" lvl="1" indent="-433516" algn="l">
              <a:lnSpc>
                <a:spcPts val="4819"/>
              </a:lnSpc>
              <a:spcBef>
                <a:spcPct val="0"/>
              </a:spcBef>
              <a:buFont typeface="Arial"/>
              <a:buChar char="•"/>
            </a:pPr>
            <a:r>
              <a:rPr lang="en-US" sz="4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Adjusting for various media (Spotify, radio, YouTube).</a:t>
            </a:r>
          </a:p>
          <a:p>
            <a:pPr marL="867032" lvl="1" indent="-433516" algn="l">
              <a:lnSpc>
                <a:spcPts val="4819"/>
              </a:lnSpc>
              <a:spcBef>
                <a:spcPct val="0"/>
              </a:spcBef>
              <a:buFont typeface="Arial"/>
              <a:buChar char="•"/>
            </a:pPr>
            <a:r>
              <a:rPr lang="en-US" sz="401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After that: release and promotion.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5535877" y="7650261"/>
            <a:ext cx="695092" cy="1970621"/>
          </a:xfrm>
          <a:custGeom>
            <a:avLst/>
            <a:gdLst/>
            <a:ahLst/>
            <a:cxnLst/>
            <a:rect l="l" t="t" r="r" b="b"/>
            <a:pathLst>
              <a:path w="695092" h="1970621">
                <a:moveTo>
                  <a:pt x="0" y="0"/>
                </a:moveTo>
                <a:lnTo>
                  <a:pt x="695092" y="0"/>
                </a:lnTo>
                <a:lnTo>
                  <a:pt x="695092" y="1970620"/>
                </a:lnTo>
                <a:lnTo>
                  <a:pt x="0" y="19706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2885" y="3996411"/>
            <a:ext cx="12702230" cy="3943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7"/>
              </a:lnSpc>
              <a:spcBef>
                <a:spcPct val="0"/>
              </a:spcBef>
            </a:pPr>
            <a:r>
              <a:rPr lang="en-US" sz="52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Music production is a blend of creativity and technique, Every step is crucial to a professional end result. From a simple idea, an extraordinary work can be born.</a:t>
            </a:r>
          </a:p>
        </p:txBody>
      </p:sp>
      <p:sp>
        <p:nvSpPr>
          <p:cNvPr id="3" name="Freeform 3"/>
          <p:cNvSpPr/>
          <p:nvPr/>
        </p:nvSpPr>
        <p:spPr>
          <a:xfrm>
            <a:off x="14704717" y="6756493"/>
            <a:ext cx="2387759" cy="2366867"/>
          </a:xfrm>
          <a:custGeom>
            <a:avLst/>
            <a:gdLst/>
            <a:ahLst/>
            <a:cxnLst/>
            <a:rect l="l" t="t" r="r" b="b"/>
            <a:pathLst>
              <a:path w="2387759" h="2366867">
                <a:moveTo>
                  <a:pt x="0" y="0"/>
                </a:moveTo>
                <a:lnTo>
                  <a:pt x="2387759" y="0"/>
                </a:lnTo>
                <a:lnTo>
                  <a:pt x="2387759" y="2366867"/>
                </a:lnTo>
                <a:lnTo>
                  <a:pt x="0" y="23668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121007" y="2347073"/>
            <a:ext cx="8045987" cy="112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91"/>
              </a:lnSpc>
              <a:spcBef>
                <a:spcPct val="0"/>
              </a:spcBef>
            </a:pPr>
            <a:r>
              <a:rPr lang="en-US" sz="740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id="6" name="Freeform 6"/>
          <p:cNvSpPr/>
          <p:nvPr/>
        </p:nvSpPr>
        <p:spPr>
          <a:xfrm flipH="1" flipV="1">
            <a:off x="14173200" y="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Произвольный</PresentationFormat>
  <Paragraphs>47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Montserrat Bold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Music Production Process Presentation</dc:title>
  <cp:lastModifiedBy>sekal sekal</cp:lastModifiedBy>
  <cp:revision>2</cp:revision>
  <dcterms:created xsi:type="dcterms:W3CDTF">2006-08-16T00:00:00Z</dcterms:created>
  <dcterms:modified xsi:type="dcterms:W3CDTF">2026-02-03T21:48:54Z</dcterms:modified>
  <dc:identifier>DAHATayr9Jg</dc:identifier>
</cp:coreProperties>
</file>