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Lato" panose="020F0502020204030203" pitchFamily="34" charset="0"/>
      <p:regular r:id="rId17"/>
    </p:embeddedFont>
    <p:embeddedFont>
      <p:font typeface="Lato Bold" panose="020F0502020204030203" charset="0"/>
      <p:regular r:id="rId18"/>
    </p:embeddedFont>
    <p:embeddedFont>
      <p:font typeface="TT Hoves 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1" d="100"/>
          <a:sy n="41" d="100"/>
        </p:scale>
        <p:origin x="1020"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222222">
                <a:alpha val="100000"/>
              </a:srgbClr>
            </a:gs>
            <a:gs pos="100000">
              <a:srgbClr val="0E0E0E">
                <a:alpha val="100000"/>
              </a:srgbClr>
            </a:gs>
          </a:gsLst>
          <a:path path="circle">
            <a:fillToRect l="50000" t="50000" r="50000" b="50000"/>
          </a:path>
        </a:gradFill>
        <a:effectLst/>
      </p:bgPr>
    </p:bg>
    <p:spTree>
      <p:nvGrpSpPr>
        <p:cNvPr id="1" name=""/>
        <p:cNvGrpSpPr/>
        <p:nvPr/>
      </p:nvGrpSpPr>
      <p:grpSpPr>
        <a:xfrm>
          <a:off x="0" y="0"/>
          <a:ext cx="0" cy="0"/>
          <a:chOff x="0" y="0"/>
          <a:chExt cx="0" cy="0"/>
        </a:xfrm>
      </p:grpSpPr>
      <p:grpSp>
        <p:nvGrpSpPr>
          <p:cNvPr id="2" name="Group 2"/>
          <p:cNvGrpSpPr/>
          <p:nvPr/>
        </p:nvGrpSpPr>
        <p:grpSpPr>
          <a:xfrm>
            <a:off x="8172397" y="178165"/>
            <a:ext cx="9930670" cy="9930670"/>
            <a:chOff x="0" y="0"/>
            <a:chExt cx="812800" cy="812800"/>
          </a:xfrm>
        </p:grpSpPr>
        <p:sp>
          <p:nvSpPr>
            <p:cNvPr id="3" name="Freeform 3"/>
            <p:cNvSpPr/>
            <p:nvPr/>
          </p:nvSpPr>
          <p:spPr>
            <a:xfrm flipH="1">
              <a:off x="0" y="0"/>
              <a:ext cx="812800" cy="812800"/>
            </a:xfrm>
            <a:custGeom>
              <a:avLst/>
              <a:gdLst/>
              <a:ahLst/>
              <a:cxnLst/>
              <a:rect l="l" t="t" r="r" b="b"/>
              <a:pathLst>
                <a:path w="812800" h="812800">
                  <a:moveTo>
                    <a:pt x="812800" y="0"/>
                  </a:moveTo>
                  <a:lnTo>
                    <a:pt x="0" y="0"/>
                  </a:lnTo>
                  <a:lnTo>
                    <a:pt x="0" y="812800"/>
                  </a:lnTo>
                  <a:lnTo>
                    <a:pt x="812800" y="812800"/>
                  </a:lnTo>
                  <a:close/>
                </a:path>
              </a:pathLst>
            </a:custGeom>
            <a:blipFill>
              <a:blip r:embed="rId2"/>
              <a:stretch>
                <a:fillRect l="-568" r="-568"/>
              </a:stretch>
            </a:blipFill>
          </p:spPr>
        </p:sp>
      </p:grpSp>
      <p:grpSp>
        <p:nvGrpSpPr>
          <p:cNvPr id="4" name="Group 4"/>
          <p:cNvGrpSpPr/>
          <p:nvPr/>
        </p:nvGrpSpPr>
        <p:grpSpPr>
          <a:xfrm>
            <a:off x="7675347" y="3083034"/>
            <a:ext cx="994100" cy="345951"/>
            <a:chOff x="0" y="0"/>
            <a:chExt cx="1167801" cy="406400"/>
          </a:xfrm>
        </p:grpSpPr>
        <p:sp>
          <p:nvSpPr>
            <p:cNvPr id="5" name="Freeform 5"/>
            <p:cNvSpPr/>
            <p:nvPr/>
          </p:nvSpPr>
          <p:spPr>
            <a:xfrm>
              <a:off x="0" y="0"/>
              <a:ext cx="1167801" cy="406400"/>
            </a:xfrm>
            <a:custGeom>
              <a:avLst/>
              <a:gdLst/>
              <a:ahLst/>
              <a:cxnLst/>
              <a:rect l="l" t="t" r="r" b="b"/>
              <a:pathLst>
                <a:path w="1167801" h="406400">
                  <a:moveTo>
                    <a:pt x="964601" y="0"/>
                  </a:moveTo>
                  <a:cubicBezTo>
                    <a:pt x="1076826" y="0"/>
                    <a:pt x="1167801" y="90976"/>
                    <a:pt x="1167801" y="203200"/>
                  </a:cubicBezTo>
                  <a:cubicBezTo>
                    <a:pt x="1167801" y="315424"/>
                    <a:pt x="1076826" y="406400"/>
                    <a:pt x="964601" y="406400"/>
                  </a:cubicBezTo>
                  <a:lnTo>
                    <a:pt x="203200" y="406400"/>
                  </a:lnTo>
                  <a:cubicBezTo>
                    <a:pt x="90976" y="406400"/>
                    <a:pt x="0" y="315424"/>
                    <a:pt x="0" y="203200"/>
                  </a:cubicBezTo>
                  <a:cubicBezTo>
                    <a:pt x="0" y="90976"/>
                    <a:pt x="90976" y="0"/>
                    <a:pt x="203200" y="0"/>
                  </a:cubicBezTo>
                  <a:close/>
                </a:path>
              </a:pathLst>
            </a:custGeom>
            <a:solidFill>
              <a:srgbClr val="F0BC0F"/>
            </a:solidFill>
          </p:spPr>
        </p:sp>
        <p:sp>
          <p:nvSpPr>
            <p:cNvPr id="6" name="TextBox 6"/>
            <p:cNvSpPr txBox="1"/>
            <p:nvPr/>
          </p:nvSpPr>
          <p:spPr>
            <a:xfrm>
              <a:off x="0" y="-38100"/>
              <a:ext cx="1167801" cy="444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028700" y="1028700"/>
            <a:ext cx="994100" cy="345951"/>
            <a:chOff x="0" y="0"/>
            <a:chExt cx="1167801" cy="406400"/>
          </a:xfrm>
        </p:grpSpPr>
        <p:sp>
          <p:nvSpPr>
            <p:cNvPr id="8" name="Freeform 8"/>
            <p:cNvSpPr/>
            <p:nvPr/>
          </p:nvSpPr>
          <p:spPr>
            <a:xfrm>
              <a:off x="0" y="0"/>
              <a:ext cx="1167801" cy="406400"/>
            </a:xfrm>
            <a:custGeom>
              <a:avLst/>
              <a:gdLst/>
              <a:ahLst/>
              <a:cxnLst/>
              <a:rect l="l" t="t" r="r" b="b"/>
              <a:pathLst>
                <a:path w="1167801" h="406400">
                  <a:moveTo>
                    <a:pt x="964601" y="0"/>
                  </a:moveTo>
                  <a:cubicBezTo>
                    <a:pt x="1076826" y="0"/>
                    <a:pt x="1167801" y="90976"/>
                    <a:pt x="1167801" y="203200"/>
                  </a:cubicBezTo>
                  <a:cubicBezTo>
                    <a:pt x="1167801" y="315424"/>
                    <a:pt x="1076826" y="406400"/>
                    <a:pt x="964601" y="406400"/>
                  </a:cubicBezTo>
                  <a:lnTo>
                    <a:pt x="203200" y="406400"/>
                  </a:lnTo>
                  <a:cubicBezTo>
                    <a:pt x="90976" y="406400"/>
                    <a:pt x="0" y="315424"/>
                    <a:pt x="0" y="203200"/>
                  </a:cubicBezTo>
                  <a:cubicBezTo>
                    <a:pt x="0" y="90976"/>
                    <a:pt x="90976" y="0"/>
                    <a:pt x="203200" y="0"/>
                  </a:cubicBezTo>
                  <a:close/>
                </a:path>
              </a:pathLst>
            </a:custGeom>
            <a:solidFill>
              <a:srgbClr val="F0BC0F"/>
            </a:solidFill>
          </p:spPr>
        </p:sp>
        <p:sp>
          <p:nvSpPr>
            <p:cNvPr id="9" name="TextBox 9"/>
            <p:cNvSpPr txBox="1"/>
            <p:nvPr/>
          </p:nvSpPr>
          <p:spPr>
            <a:xfrm>
              <a:off x="0" y="-38100"/>
              <a:ext cx="1167801" cy="444500"/>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6265200" y="8912349"/>
            <a:ext cx="994100" cy="345951"/>
            <a:chOff x="0" y="0"/>
            <a:chExt cx="1167801" cy="406400"/>
          </a:xfrm>
        </p:grpSpPr>
        <p:sp>
          <p:nvSpPr>
            <p:cNvPr id="11" name="Freeform 11"/>
            <p:cNvSpPr/>
            <p:nvPr/>
          </p:nvSpPr>
          <p:spPr>
            <a:xfrm>
              <a:off x="0" y="0"/>
              <a:ext cx="1167801" cy="406400"/>
            </a:xfrm>
            <a:custGeom>
              <a:avLst/>
              <a:gdLst/>
              <a:ahLst/>
              <a:cxnLst/>
              <a:rect l="l" t="t" r="r" b="b"/>
              <a:pathLst>
                <a:path w="1167801" h="406400">
                  <a:moveTo>
                    <a:pt x="964601" y="0"/>
                  </a:moveTo>
                  <a:cubicBezTo>
                    <a:pt x="1076826" y="0"/>
                    <a:pt x="1167801" y="90976"/>
                    <a:pt x="1167801" y="203200"/>
                  </a:cubicBezTo>
                  <a:cubicBezTo>
                    <a:pt x="1167801" y="315424"/>
                    <a:pt x="1076826" y="406400"/>
                    <a:pt x="964601" y="406400"/>
                  </a:cubicBezTo>
                  <a:lnTo>
                    <a:pt x="203200" y="406400"/>
                  </a:lnTo>
                  <a:cubicBezTo>
                    <a:pt x="90976" y="406400"/>
                    <a:pt x="0" y="315424"/>
                    <a:pt x="0" y="203200"/>
                  </a:cubicBezTo>
                  <a:cubicBezTo>
                    <a:pt x="0" y="90976"/>
                    <a:pt x="90976" y="0"/>
                    <a:pt x="203200" y="0"/>
                  </a:cubicBezTo>
                  <a:close/>
                </a:path>
              </a:pathLst>
            </a:custGeom>
            <a:solidFill>
              <a:srgbClr val="F0BC0F"/>
            </a:solidFill>
          </p:spPr>
        </p:sp>
        <p:sp>
          <p:nvSpPr>
            <p:cNvPr id="12" name="TextBox 12"/>
            <p:cNvSpPr txBox="1"/>
            <p:nvPr/>
          </p:nvSpPr>
          <p:spPr>
            <a:xfrm>
              <a:off x="0" y="-38100"/>
              <a:ext cx="1167801" cy="44450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5785204" y="2011431"/>
            <a:ext cx="491365" cy="491365"/>
            <a:chOff x="0" y="0"/>
            <a:chExt cx="129413" cy="129413"/>
          </a:xfrm>
        </p:grpSpPr>
        <p:sp>
          <p:nvSpPr>
            <p:cNvPr id="14" name="Freeform 14"/>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15" name="TextBox 15"/>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6276569" y="1520065"/>
            <a:ext cx="491365" cy="491365"/>
            <a:chOff x="0" y="0"/>
            <a:chExt cx="129413" cy="129413"/>
          </a:xfrm>
        </p:grpSpPr>
        <p:sp>
          <p:nvSpPr>
            <p:cNvPr id="17" name="Freeform 17"/>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18" name="TextBox 18"/>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sp>
        <p:nvSpPr>
          <p:cNvPr id="19" name="TextBox 19"/>
          <p:cNvSpPr txBox="1"/>
          <p:nvPr/>
        </p:nvSpPr>
        <p:spPr>
          <a:xfrm>
            <a:off x="1028700" y="3956467"/>
            <a:ext cx="7143697" cy="1322792"/>
          </a:xfrm>
          <a:prstGeom prst="rect">
            <a:avLst/>
          </a:prstGeom>
        </p:spPr>
        <p:txBody>
          <a:bodyPr lIns="0" tIns="0" rIns="0" bIns="0" rtlCol="0" anchor="t">
            <a:spAutoFit/>
          </a:bodyPr>
          <a:lstStyle/>
          <a:p>
            <a:pPr algn="l">
              <a:lnSpc>
                <a:spcPts val="9759"/>
              </a:lnSpc>
            </a:pPr>
            <a:r>
              <a:rPr lang="en-US" sz="10273" b="1">
                <a:solidFill>
                  <a:srgbClr val="FFFFFF"/>
                </a:solidFill>
                <a:latin typeface="TT Hoves Bold"/>
                <a:ea typeface="TT Hoves Bold"/>
                <a:cs typeface="TT Hoves Bold"/>
                <a:sym typeface="TT Hoves Bold"/>
              </a:rPr>
              <a:t>MILITARY</a:t>
            </a:r>
          </a:p>
        </p:txBody>
      </p:sp>
      <p:sp>
        <p:nvSpPr>
          <p:cNvPr id="20" name="TextBox 20"/>
          <p:cNvSpPr txBox="1"/>
          <p:nvPr/>
        </p:nvSpPr>
        <p:spPr>
          <a:xfrm>
            <a:off x="1028700" y="5242354"/>
            <a:ext cx="6027581" cy="1326304"/>
          </a:xfrm>
          <a:prstGeom prst="rect">
            <a:avLst/>
          </a:prstGeom>
        </p:spPr>
        <p:txBody>
          <a:bodyPr lIns="0" tIns="0" rIns="0" bIns="0" rtlCol="0" anchor="t">
            <a:spAutoFit/>
          </a:bodyPr>
          <a:lstStyle/>
          <a:p>
            <a:pPr algn="r">
              <a:lnSpc>
                <a:spcPts val="9759"/>
              </a:lnSpc>
            </a:pPr>
            <a:r>
              <a:rPr lang="en-US" sz="10273" b="1">
                <a:solidFill>
                  <a:srgbClr val="FFFFFF"/>
                </a:solidFill>
                <a:latin typeface="TT Hoves Bold"/>
                <a:ea typeface="TT Hoves Bold"/>
                <a:cs typeface="TT Hoves Bold"/>
                <a:sym typeface="TT Hoves Bold"/>
              </a:rPr>
              <a:t>ARMY</a:t>
            </a:r>
          </a:p>
        </p:txBody>
      </p:sp>
      <p:sp>
        <p:nvSpPr>
          <p:cNvPr id="21" name="TextBox 21"/>
          <p:cNvSpPr txBox="1"/>
          <p:nvPr/>
        </p:nvSpPr>
        <p:spPr>
          <a:xfrm>
            <a:off x="1028700" y="8191500"/>
            <a:ext cx="6027581" cy="1066800"/>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Lato"/>
                <a:ea typeface="Lato"/>
                <a:cs typeface="Lato"/>
                <a:sym typeface="Lato"/>
              </a:rPr>
              <a:t>Lorem ipsum dolor sit amet, consectetur adipiscing elit. Cras eget metus ac massa ultrices venenatis eu non mauris. Nunc blandit non erat quis interdum. In pretium diam a risus porta viverra. Praesent venenatis diam ac justo dignissim, at aliquet nibh pharetra. </a:t>
            </a:r>
          </a:p>
        </p:txBody>
      </p:sp>
      <p:grpSp>
        <p:nvGrpSpPr>
          <p:cNvPr id="22" name="Group 22"/>
          <p:cNvGrpSpPr/>
          <p:nvPr/>
        </p:nvGrpSpPr>
        <p:grpSpPr>
          <a:xfrm>
            <a:off x="16767935" y="1028700"/>
            <a:ext cx="491365" cy="491365"/>
            <a:chOff x="0" y="0"/>
            <a:chExt cx="129413" cy="129413"/>
          </a:xfrm>
        </p:grpSpPr>
        <p:sp>
          <p:nvSpPr>
            <p:cNvPr id="23" name="Freeform 23"/>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24" name="TextBox 24"/>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222222">
                <a:alpha val="100000"/>
              </a:srgbClr>
            </a:gs>
            <a:gs pos="100000">
              <a:srgbClr val="0E0E0E">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2"/>
          <p:cNvSpPr txBox="1"/>
          <p:nvPr/>
        </p:nvSpPr>
        <p:spPr>
          <a:xfrm>
            <a:off x="1028700" y="3186214"/>
            <a:ext cx="6027581" cy="708025"/>
          </a:xfrm>
          <a:prstGeom prst="rect">
            <a:avLst/>
          </a:prstGeom>
        </p:spPr>
        <p:txBody>
          <a:bodyPr lIns="0" tIns="0" rIns="0" bIns="0" rtlCol="0" anchor="t">
            <a:spAutoFit/>
          </a:bodyPr>
          <a:lstStyle/>
          <a:p>
            <a:pPr algn="l">
              <a:lnSpc>
                <a:spcPts val="5224"/>
              </a:lnSpc>
            </a:pPr>
            <a:r>
              <a:rPr lang="en-US" sz="5499" b="1">
                <a:solidFill>
                  <a:srgbClr val="FFFFFF"/>
                </a:solidFill>
                <a:latin typeface="TT Hoves Bold"/>
                <a:ea typeface="TT Hoves Bold"/>
                <a:cs typeface="TT Hoves Bold"/>
                <a:sym typeface="TT Hoves Bold"/>
              </a:rPr>
              <a:t>INTRODUCTION</a:t>
            </a:r>
          </a:p>
        </p:txBody>
      </p:sp>
      <p:grpSp>
        <p:nvGrpSpPr>
          <p:cNvPr id="3" name="Group 3"/>
          <p:cNvGrpSpPr/>
          <p:nvPr/>
        </p:nvGrpSpPr>
        <p:grpSpPr>
          <a:xfrm>
            <a:off x="14525287" y="178165"/>
            <a:ext cx="3577780" cy="9930670"/>
            <a:chOff x="0" y="0"/>
            <a:chExt cx="292832" cy="812800"/>
          </a:xfrm>
        </p:grpSpPr>
        <p:sp>
          <p:nvSpPr>
            <p:cNvPr id="4" name="Freeform 4"/>
            <p:cNvSpPr/>
            <p:nvPr/>
          </p:nvSpPr>
          <p:spPr>
            <a:xfrm>
              <a:off x="0" y="0"/>
              <a:ext cx="292832" cy="812800"/>
            </a:xfrm>
            <a:custGeom>
              <a:avLst/>
              <a:gdLst/>
              <a:ahLst/>
              <a:cxnLst/>
              <a:rect l="l" t="t" r="r" b="b"/>
              <a:pathLst>
                <a:path w="292832" h="812800">
                  <a:moveTo>
                    <a:pt x="0" y="0"/>
                  </a:moveTo>
                  <a:lnTo>
                    <a:pt x="292832" y="0"/>
                  </a:lnTo>
                  <a:lnTo>
                    <a:pt x="292832" y="812800"/>
                  </a:lnTo>
                  <a:lnTo>
                    <a:pt x="0" y="812800"/>
                  </a:lnTo>
                  <a:close/>
                </a:path>
              </a:pathLst>
            </a:custGeom>
            <a:blipFill>
              <a:blip r:embed="rId2"/>
              <a:stretch>
                <a:fillRect l="-105659" r="-228885"/>
              </a:stretch>
            </a:blipFill>
          </p:spPr>
        </p:sp>
      </p:grpSp>
      <p:grpSp>
        <p:nvGrpSpPr>
          <p:cNvPr id="5" name="Group 5"/>
          <p:cNvGrpSpPr/>
          <p:nvPr/>
        </p:nvGrpSpPr>
        <p:grpSpPr>
          <a:xfrm>
            <a:off x="10759477" y="178165"/>
            <a:ext cx="3577780" cy="9930670"/>
            <a:chOff x="0" y="0"/>
            <a:chExt cx="292832" cy="812800"/>
          </a:xfrm>
        </p:grpSpPr>
        <p:sp>
          <p:nvSpPr>
            <p:cNvPr id="6" name="Freeform 6"/>
            <p:cNvSpPr/>
            <p:nvPr/>
          </p:nvSpPr>
          <p:spPr>
            <a:xfrm>
              <a:off x="0" y="0"/>
              <a:ext cx="292832" cy="812800"/>
            </a:xfrm>
            <a:custGeom>
              <a:avLst/>
              <a:gdLst/>
              <a:ahLst/>
              <a:cxnLst/>
              <a:rect l="l" t="t" r="r" b="b"/>
              <a:pathLst>
                <a:path w="292832" h="812800">
                  <a:moveTo>
                    <a:pt x="0" y="0"/>
                  </a:moveTo>
                  <a:lnTo>
                    <a:pt x="292832" y="0"/>
                  </a:lnTo>
                  <a:lnTo>
                    <a:pt x="292832" y="812800"/>
                  </a:lnTo>
                  <a:lnTo>
                    <a:pt x="0" y="812800"/>
                  </a:lnTo>
                  <a:close/>
                </a:path>
              </a:pathLst>
            </a:custGeom>
            <a:blipFill>
              <a:blip r:embed="rId2"/>
              <a:stretch>
                <a:fillRect r="-334544"/>
              </a:stretch>
            </a:blipFill>
          </p:spPr>
        </p:sp>
      </p:grpSp>
      <p:sp>
        <p:nvSpPr>
          <p:cNvPr id="7" name="TextBox 7"/>
          <p:cNvSpPr txBox="1"/>
          <p:nvPr/>
        </p:nvSpPr>
        <p:spPr>
          <a:xfrm>
            <a:off x="1028700" y="4749460"/>
            <a:ext cx="6027581" cy="1066800"/>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Lato"/>
                <a:ea typeface="Lato"/>
                <a:cs typeface="Lato"/>
                <a:sym typeface="Lato"/>
              </a:rPr>
              <a:t>Lorem ipsum dolor sit amet, consectetur adipiscing elit. Cras eget metus ac massa ultrices venenatis eu non mauris. Nunc blandit non erat quis interdum. In pretium diam a risus porta viverra. Praesent venenatis diam ac justo dignissim, at aliquet nibh pharetra. </a:t>
            </a:r>
          </a:p>
        </p:txBody>
      </p:sp>
      <p:sp>
        <p:nvSpPr>
          <p:cNvPr id="8" name="TextBox 8"/>
          <p:cNvSpPr txBox="1"/>
          <p:nvPr/>
        </p:nvSpPr>
        <p:spPr>
          <a:xfrm>
            <a:off x="1028700" y="6157811"/>
            <a:ext cx="6027581" cy="1066800"/>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Lato"/>
                <a:ea typeface="Lato"/>
                <a:cs typeface="Lato"/>
                <a:sym typeface="Lato"/>
              </a:rPr>
              <a:t>Lorem ipsum dolor sit amet, consectetur adipiscing elit. Cras eget metus ac massa ultrices venenatis eu non mauris. Nunc blandit non erat quis interdum. In pretium diam a risus porta viverra. Praesent venenatis diam ac justo dignissim, at aliquet nibh pharetra. </a:t>
            </a:r>
          </a:p>
        </p:txBody>
      </p:sp>
      <p:grpSp>
        <p:nvGrpSpPr>
          <p:cNvPr id="9" name="Group 9"/>
          <p:cNvGrpSpPr/>
          <p:nvPr/>
        </p:nvGrpSpPr>
        <p:grpSpPr>
          <a:xfrm>
            <a:off x="16265200" y="8912349"/>
            <a:ext cx="994100" cy="345951"/>
            <a:chOff x="0" y="0"/>
            <a:chExt cx="1167801" cy="406400"/>
          </a:xfrm>
        </p:grpSpPr>
        <p:sp>
          <p:nvSpPr>
            <p:cNvPr id="10" name="Freeform 10"/>
            <p:cNvSpPr/>
            <p:nvPr/>
          </p:nvSpPr>
          <p:spPr>
            <a:xfrm>
              <a:off x="0" y="0"/>
              <a:ext cx="1167801" cy="406400"/>
            </a:xfrm>
            <a:custGeom>
              <a:avLst/>
              <a:gdLst/>
              <a:ahLst/>
              <a:cxnLst/>
              <a:rect l="l" t="t" r="r" b="b"/>
              <a:pathLst>
                <a:path w="1167801" h="406400">
                  <a:moveTo>
                    <a:pt x="964601" y="0"/>
                  </a:moveTo>
                  <a:cubicBezTo>
                    <a:pt x="1076826" y="0"/>
                    <a:pt x="1167801" y="90976"/>
                    <a:pt x="1167801" y="203200"/>
                  </a:cubicBezTo>
                  <a:cubicBezTo>
                    <a:pt x="1167801" y="315424"/>
                    <a:pt x="1076826" y="406400"/>
                    <a:pt x="964601" y="406400"/>
                  </a:cubicBezTo>
                  <a:lnTo>
                    <a:pt x="203200" y="406400"/>
                  </a:lnTo>
                  <a:cubicBezTo>
                    <a:pt x="90976" y="406400"/>
                    <a:pt x="0" y="315424"/>
                    <a:pt x="0" y="203200"/>
                  </a:cubicBezTo>
                  <a:cubicBezTo>
                    <a:pt x="0" y="90976"/>
                    <a:pt x="90976" y="0"/>
                    <a:pt x="203200" y="0"/>
                  </a:cubicBezTo>
                  <a:close/>
                </a:path>
              </a:pathLst>
            </a:custGeom>
            <a:solidFill>
              <a:srgbClr val="F0BC0F"/>
            </a:solidFill>
          </p:spPr>
        </p:sp>
        <p:sp>
          <p:nvSpPr>
            <p:cNvPr id="11" name="TextBox 11"/>
            <p:cNvSpPr txBox="1"/>
            <p:nvPr/>
          </p:nvSpPr>
          <p:spPr>
            <a:xfrm>
              <a:off x="0" y="-38100"/>
              <a:ext cx="1167801" cy="44450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028700" y="1028700"/>
            <a:ext cx="994100" cy="345951"/>
            <a:chOff x="0" y="0"/>
            <a:chExt cx="1167801" cy="406400"/>
          </a:xfrm>
        </p:grpSpPr>
        <p:sp>
          <p:nvSpPr>
            <p:cNvPr id="13" name="Freeform 13"/>
            <p:cNvSpPr/>
            <p:nvPr/>
          </p:nvSpPr>
          <p:spPr>
            <a:xfrm>
              <a:off x="0" y="0"/>
              <a:ext cx="1167801" cy="406400"/>
            </a:xfrm>
            <a:custGeom>
              <a:avLst/>
              <a:gdLst/>
              <a:ahLst/>
              <a:cxnLst/>
              <a:rect l="l" t="t" r="r" b="b"/>
              <a:pathLst>
                <a:path w="1167801" h="406400">
                  <a:moveTo>
                    <a:pt x="964601" y="0"/>
                  </a:moveTo>
                  <a:cubicBezTo>
                    <a:pt x="1076826" y="0"/>
                    <a:pt x="1167801" y="90976"/>
                    <a:pt x="1167801" y="203200"/>
                  </a:cubicBezTo>
                  <a:cubicBezTo>
                    <a:pt x="1167801" y="315424"/>
                    <a:pt x="1076826" y="406400"/>
                    <a:pt x="964601" y="406400"/>
                  </a:cubicBezTo>
                  <a:lnTo>
                    <a:pt x="203200" y="406400"/>
                  </a:lnTo>
                  <a:cubicBezTo>
                    <a:pt x="90976" y="406400"/>
                    <a:pt x="0" y="315424"/>
                    <a:pt x="0" y="203200"/>
                  </a:cubicBezTo>
                  <a:cubicBezTo>
                    <a:pt x="0" y="90976"/>
                    <a:pt x="90976" y="0"/>
                    <a:pt x="203200" y="0"/>
                  </a:cubicBezTo>
                  <a:close/>
                </a:path>
              </a:pathLst>
            </a:custGeom>
            <a:solidFill>
              <a:srgbClr val="F0BC0F"/>
            </a:solidFill>
          </p:spPr>
        </p:sp>
        <p:sp>
          <p:nvSpPr>
            <p:cNvPr id="14" name="TextBox 14"/>
            <p:cNvSpPr txBox="1"/>
            <p:nvPr/>
          </p:nvSpPr>
          <p:spPr>
            <a:xfrm>
              <a:off x="0" y="-38100"/>
              <a:ext cx="1167801" cy="44450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0022429" y="3402873"/>
            <a:ext cx="491365" cy="491365"/>
            <a:chOff x="0" y="0"/>
            <a:chExt cx="129413" cy="129413"/>
          </a:xfrm>
        </p:grpSpPr>
        <p:sp>
          <p:nvSpPr>
            <p:cNvPr id="16" name="Freeform 16"/>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17" name="TextBox 17"/>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921420" y="8652123"/>
            <a:ext cx="491365" cy="491365"/>
            <a:chOff x="0" y="0"/>
            <a:chExt cx="129413" cy="129413"/>
          </a:xfrm>
        </p:grpSpPr>
        <p:sp>
          <p:nvSpPr>
            <p:cNvPr id="19" name="Freeform 19"/>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20" name="TextBox 20"/>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1034385" y="8537312"/>
            <a:ext cx="720988" cy="720988"/>
            <a:chOff x="0" y="0"/>
            <a:chExt cx="189890" cy="189890"/>
          </a:xfrm>
        </p:grpSpPr>
        <p:sp>
          <p:nvSpPr>
            <p:cNvPr id="22" name="Freeform 22"/>
            <p:cNvSpPr/>
            <p:nvPr/>
          </p:nvSpPr>
          <p:spPr>
            <a:xfrm>
              <a:off x="0" y="0"/>
              <a:ext cx="189890" cy="189890"/>
            </a:xfrm>
            <a:custGeom>
              <a:avLst/>
              <a:gdLst/>
              <a:ahLst/>
              <a:cxnLst/>
              <a:rect l="l" t="t" r="r" b="b"/>
              <a:pathLst>
                <a:path w="189890" h="189890">
                  <a:moveTo>
                    <a:pt x="0" y="0"/>
                  </a:moveTo>
                  <a:lnTo>
                    <a:pt x="189890" y="0"/>
                  </a:lnTo>
                  <a:lnTo>
                    <a:pt x="189890" y="189890"/>
                  </a:lnTo>
                  <a:lnTo>
                    <a:pt x="0" y="189890"/>
                  </a:lnTo>
                  <a:close/>
                </a:path>
              </a:pathLst>
            </a:custGeom>
            <a:solidFill>
              <a:srgbClr val="F0BC0F"/>
            </a:solidFill>
          </p:spPr>
        </p:sp>
        <p:sp>
          <p:nvSpPr>
            <p:cNvPr id="23" name="TextBox 23"/>
            <p:cNvSpPr txBox="1"/>
            <p:nvPr/>
          </p:nvSpPr>
          <p:spPr>
            <a:xfrm>
              <a:off x="0" y="-38100"/>
              <a:ext cx="189890" cy="227990"/>
            </a:xfrm>
            <a:prstGeom prst="rect">
              <a:avLst/>
            </a:prstGeom>
          </p:spPr>
          <p:txBody>
            <a:bodyPr lIns="50800" tIns="50800" rIns="50800" bIns="50800" rtlCol="0" anchor="ctr"/>
            <a:lstStyle/>
            <a:p>
              <a:pPr algn="ctr">
                <a:lnSpc>
                  <a:spcPts val="2659"/>
                </a:lnSpc>
              </a:pPr>
              <a:endParaRPr/>
            </a:p>
          </p:txBody>
        </p:sp>
      </p:grpSp>
      <p:grpSp>
        <p:nvGrpSpPr>
          <p:cNvPr id="24" name="Group 24"/>
          <p:cNvGrpSpPr/>
          <p:nvPr/>
        </p:nvGrpSpPr>
        <p:grpSpPr>
          <a:xfrm>
            <a:off x="10513795" y="2911508"/>
            <a:ext cx="491365" cy="491365"/>
            <a:chOff x="0" y="0"/>
            <a:chExt cx="129413" cy="129413"/>
          </a:xfrm>
        </p:grpSpPr>
        <p:sp>
          <p:nvSpPr>
            <p:cNvPr id="25" name="Freeform 25"/>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26" name="TextBox 26"/>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27" name="Group 27"/>
          <p:cNvGrpSpPr/>
          <p:nvPr/>
        </p:nvGrpSpPr>
        <p:grpSpPr>
          <a:xfrm>
            <a:off x="11005160" y="2420143"/>
            <a:ext cx="491365" cy="491365"/>
            <a:chOff x="0" y="0"/>
            <a:chExt cx="129413" cy="129413"/>
          </a:xfrm>
        </p:grpSpPr>
        <p:sp>
          <p:nvSpPr>
            <p:cNvPr id="28" name="Freeform 28"/>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29" name="TextBox 29"/>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222222">
                <a:alpha val="100000"/>
              </a:srgbClr>
            </a:gs>
            <a:gs pos="100000">
              <a:srgbClr val="0E0E0E">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2"/>
          <p:cNvSpPr txBox="1"/>
          <p:nvPr/>
        </p:nvSpPr>
        <p:spPr>
          <a:xfrm>
            <a:off x="1028700" y="3262711"/>
            <a:ext cx="6027581" cy="1365250"/>
          </a:xfrm>
          <a:prstGeom prst="rect">
            <a:avLst/>
          </a:prstGeom>
        </p:spPr>
        <p:txBody>
          <a:bodyPr lIns="0" tIns="0" rIns="0" bIns="0" rtlCol="0" anchor="t">
            <a:spAutoFit/>
          </a:bodyPr>
          <a:lstStyle/>
          <a:p>
            <a:pPr algn="l">
              <a:lnSpc>
                <a:spcPts val="5224"/>
              </a:lnSpc>
            </a:pPr>
            <a:r>
              <a:rPr lang="en-US" sz="5499" b="1">
                <a:solidFill>
                  <a:srgbClr val="FFFFFF"/>
                </a:solidFill>
                <a:latin typeface="TT Hoves Bold"/>
                <a:ea typeface="TT Hoves Bold"/>
                <a:cs typeface="TT Hoves Bold"/>
                <a:sym typeface="TT Hoves Bold"/>
              </a:rPr>
              <a:t>GLOBAL MARKET OVERVIEW</a:t>
            </a:r>
          </a:p>
        </p:txBody>
      </p:sp>
      <p:grpSp>
        <p:nvGrpSpPr>
          <p:cNvPr id="3" name="Group 3"/>
          <p:cNvGrpSpPr/>
          <p:nvPr/>
        </p:nvGrpSpPr>
        <p:grpSpPr>
          <a:xfrm>
            <a:off x="10759477" y="4291477"/>
            <a:ext cx="3577780" cy="5817358"/>
            <a:chOff x="0" y="0"/>
            <a:chExt cx="292832" cy="476136"/>
          </a:xfrm>
        </p:grpSpPr>
        <p:sp>
          <p:nvSpPr>
            <p:cNvPr id="4" name="Freeform 4"/>
            <p:cNvSpPr/>
            <p:nvPr/>
          </p:nvSpPr>
          <p:spPr>
            <a:xfrm>
              <a:off x="0" y="0"/>
              <a:ext cx="292832" cy="476136"/>
            </a:xfrm>
            <a:custGeom>
              <a:avLst/>
              <a:gdLst/>
              <a:ahLst/>
              <a:cxnLst/>
              <a:rect l="l" t="t" r="r" b="b"/>
              <a:pathLst>
                <a:path w="292832" h="476136">
                  <a:moveTo>
                    <a:pt x="0" y="0"/>
                  </a:moveTo>
                  <a:lnTo>
                    <a:pt x="292832" y="0"/>
                  </a:lnTo>
                  <a:lnTo>
                    <a:pt x="292832" y="476136"/>
                  </a:lnTo>
                  <a:lnTo>
                    <a:pt x="0" y="476136"/>
                  </a:lnTo>
                  <a:close/>
                </a:path>
              </a:pathLst>
            </a:custGeom>
            <a:blipFill>
              <a:blip r:embed="rId2"/>
              <a:stretch>
                <a:fillRect l="-212033" t="-70685" r="-104521"/>
              </a:stretch>
            </a:blipFill>
          </p:spPr>
        </p:sp>
      </p:grpSp>
      <p:grpSp>
        <p:nvGrpSpPr>
          <p:cNvPr id="5" name="Group 5"/>
          <p:cNvGrpSpPr/>
          <p:nvPr/>
        </p:nvGrpSpPr>
        <p:grpSpPr>
          <a:xfrm>
            <a:off x="14525287" y="178165"/>
            <a:ext cx="3577780" cy="4113312"/>
            <a:chOff x="0" y="0"/>
            <a:chExt cx="292832" cy="336664"/>
          </a:xfrm>
        </p:grpSpPr>
        <p:sp>
          <p:nvSpPr>
            <p:cNvPr id="6" name="Freeform 6"/>
            <p:cNvSpPr/>
            <p:nvPr/>
          </p:nvSpPr>
          <p:spPr>
            <a:xfrm>
              <a:off x="0" y="0"/>
              <a:ext cx="292832" cy="336664"/>
            </a:xfrm>
            <a:custGeom>
              <a:avLst/>
              <a:gdLst/>
              <a:ahLst/>
              <a:cxnLst/>
              <a:rect l="l" t="t" r="r" b="b"/>
              <a:pathLst>
                <a:path w="292832" h="336664">
                  <a:moveTo>
                    <a:pt x="0" y="0"/>
                  </a:moveTo>
                  <a:lnTo>
                    <a:pt x="292832" y="0"/>
                  </a:lnTo>
                  <a:lnTo>
                    <a:pt x="292832" y="336664"/>
                  </a:lnTo>
                  <a:lnTo>
                    <a:pt x="0" y="336664"/>
                  </a:lnTo>
                  <a:close/>
                </a:path>
              </a:pathLst>
            </a:custGeom>
            <a:blipFill>
              <a:blip r:embed="rId2"/>
              <a:stretch>
                <a:fillRect l="-315929" b="-141034"/>
              </a:stretch>
            </a:blipFill>
          </p:spPr>
        </p:sp>
      </p:grpSp>
      <p:grpSp>
        <p:nvGrpSpPr>
          <p:cNvPr id="7" name="Group 7"/>
          <p:cNvGrpSpPr/>
          <p:nvPr/>
        </p:nvGrpSpPr>
        <p:grpSpPr>
          <a:xfrm>
            <a:off x="14525287" y="4483020"/>
            <a:ext cx="3577780" cy="5625815"/>
            <a:chOff x="0" y="0"/>
            <a:chExt cx="292832" cy="460459"/>
          </a:xfrm>
        </p:grpSpPr>
        <p:sp>
          <p:nvSpPr>
            <p:cNvPr id="8" name="Freeform 8"/>
            <p:cNvSpPr/>
            <p:nvPr/>
          </p:nvSpPr>
          <p:spPr>
            <a:xfrm>
              <a:off x="0" y="0"/>
              <a:ext cx="292832" cy="460459"/>
            </a:xfrm>
            <a:custGeom>
              <a:avLst/>
              <a:gdLst/>
              <a:ahLst/>
              <a:cxnLst/>
              <a:rect l="l" t="t" r="r" b="b"/>
              <a:pathLst>
                <a:path w="292832" h="460459">
                  <a:moveTo>
                    <a:pt x="0" y="0"/>
                  </a:moveTo>
                  <a:lnTo>
                    <a:pt x="292832" y="0"/>
                  </a:lnTo>
                  <a:lnTo>
                    <a:pt x="292832" y="460459"/>
                  </a:lnTo>
                  <a:lnTo>
                    <a:pt x="0" y="460459"/>
                  </a:lnTo>
                  <a:close/>
                </a:path>
              </a:pathLst>
            </a:custGeom>
            <a:blipFill>
              <a:blip r:embed="rId2"/>
              <a:stretch>
                <a:fillRect l="-316854" t="-76623"/>
              </a:stretch>
            </a:blipFill>
          </p:spPr>
        </p:sp>
      </p:grpSp>
      <p:grpSp>
        <p:nvGrpSpPr>
          <p:cNvPr id="9" name="Group 9"/>
          <p:cNvGrpSpPr/>
          <p:nvPr/>
        </p:nvGrpSpPr>
        <p:grpSpPr>
          <a:xfrm>
            <a:off x="10759477" y="178165"/>
            <a:ext cx="3577780" cy="3918138"/>
            <a:chOff x="0" y="0"/>
            <a:chExt cx="292832" cy="320690"/>
          </a:xfrm>
        </p:grpSpPr>
        <p:sp>
          <p:nvSpPr>
            <p:cNvPr id="10" name="Freeform 10"/>
            <p:cNvSpPr/>
            <p:nvPr/>
          </p:nvSpPr>
          <p:spPr>
            <a:xfrm>
              <a:off x="0" y="0"/>
              <a:ext cx="292832" cy="320690"/>
            </a:xfrm>
            <a:custGeom>
              <a:avLst/>
              <a:gdLst/>
              <a:ahLst/>
              <a:cxnLst/>
              <a:rect l="l" t="t" r="r" b="b"/>
              <a:pathLst>
                <a:path w="292832" h="320690">
                  <a:moveTo>
                    <a:pt x="0" y="0"/>
                  </a:moveTo>
                  <a:lnTo>
                    <a:pt x="292832" y="0"/>
                  </a:lnTo>
                  <a:lnTo>
                    <a:pt x="292832" y="320690"/>
                  </a:lnTo>
                  <a:lnTo>
                    <a:pt x="0" y="320690"/>
                  </a:lnTo>
                  <a:close/>
                </a:path>
              </a:pathLst>
            </a:custGeom>
            <a:blipFill>
              <a:blip r:embed="rId2"/>
              <a:stretch>
                <a:fillRect l="-210564" r="-105365" b="-153041"/>
              </a:stretch>
            </a:blipFill>
          </p:spPr>
        </p:sp>
      </p:grpSp>
      <p:grpSp>
        <p:nvGrpSpPr>
          <p:cNvPr id="11" name="Group 11"/>
          <p:cNvGrpSpPr/>
          <p:nvPr/>
        </p:nvGrpSpPr>
        <p:grpSpPr>
          <a:xfrm>
            <a:off x="10262427" y="6027460"/>
            <a:ext cx="994100" cy="345951"/>
            <a:chOff x="0" y="0"/>
            <a:chExt cx="1167801" cy="406400"/>
          </a:xfrm>
        </p:grpSpPr>
        <p:sp>
          <p:nvSpPr>
            <p:cNvPr id="12" name="Freeform 12"/>
            <p:cNvSpPr/>
            <p:nvPr/>
          </p:nvSpPr>
          <p:spPr>
            <a:xfrm>
              <a:off x="0" y="0"/>
              <a:ext cx="1167801" cy="406400"/>
            </a:xfrm>
            <a:custGeom>
              <a:avLst/>
              <a:gdLst/>
              <a:ahLst/>
              <a:cxnLst/>
              <a:rect l="l" t="t" r="r" b="b"/>
              <a:pathLst>
                <a:path w="1167801" h="406400">
                  <a:moveTo>
                    <a:pt x="964601" y="0"/>
                  </a:moveTo>
                  <a:cubicBezTo>
                    <a:pt x="1076826" y="0"/>
                    <a:pt x="1167801" y="90976"/>
                    <a:pt x="1167801" y="203200"/>
                  </a:cubicBezTo>
                  <a:cubicBezTo>
                    <a:pt x="1167801" y="315424"/>
                    <a:pt x="1076826" y="406400"/>
                    <a:pt x="964601" y="406400"/>
                  </a:cubicBezTo>
                  <a:lnTo>
                    <a:pt x="203200" y="406400"/>
                  </a:lnTo>
                  <a:cubicBezTo>
                    <a:pt x="90976" y="406400"/>
                    <a:pt x="0" y="315424"/>
                    <a:pt x="0" y="203200"/>
                  </a:cubicBezTo>
                  <a:cubicBezTo>
                    <a:pt x="0" y="90976"/>
                    <a:pt x="90976" y="0"/>
                    <a:pt x="203200" y="0"/>
                  </a:cubicBezTo>
                  <a:close/>
                </a:path>
              </a:pathLst>
            </a:custGeom>
            <a:solidFill>
              <a:srgbClr val="F0BC0F"/>
            </a:solidFill>
          </p:spPr>
        </p:sp>
        <p:sp>
          <p:nvSpPr>
            <p:cNvPr id="13" name="TextBox 13"/>
            <p:cNvSpPr txBox="1"/>
            <p:nvPr/>
          </p:nvSpPr>
          <p:spPr>
            <a:xfrm>
              <a:off x="0" y="-38100"/>
              <a:ext cx="1167801" cy="44450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028700" y="8766935"/>
            <a:ext cx="491365" cy="491365"/>
            <a:chOff x="0" y="0"/>
            <a:chExt cx="129413" cy="129413"/>
          </a:xfrm>
        </p:grpSpPr>
        <p:sp>
          <p:nvSpPr>
            <p:cNvPr id="15" name="Freeform 15"/>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16" name="TextBox 16"/>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6470843" y="1385862"/>
            <a:ext cx="491365" cy="491365"/>
            <a:chOff x="0" y="0"/>
            <a:chExt cx="129413" cy="129413"/>
          </a:xfrm>
        </p:grpSpPr>
        <p:sp>
          <p:nvSpPr>
            <p:cNvPr id="18" name="Freeform 18"/>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19" name="TextBox 19"/>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5583808" y="1271050"/>
            <a:ext cx="720988" cy="720988"/>
            <a:chOff x="0" y="0"/>
            <a:chExt cx="189890" cy="189890"/>
          </a:xfrm>
        </p:grpSpPr>
        <p:sp>
          <p:nvSpPr>
            <p:cNvPr id="21" name="Freeform 21"/>
            <p:cNvSpPr/>
            <p:nvPr/>
          </p:nvSpPr>
          <p:spPr>
            <a:xfrm>
              <a:off x="0" y="0"/>
              <a:ext cx="189890" cy="189890"/>
            </a:xfrm>
            <a:custGeom>
              <a:avLst/>
              <a:gdLst/>
              <a:ahLst/>
              <a:cxnLst/>
              <a:rect l="l" t="t" r="r" b="b"/>
              <a:pathLst>
                <a:path w="189890" h="189890">
                  <a:moveTo>
                    <a:pt x="0" y="0"/>
                  </a:moveTo>
                  <a:lnTo>
                    <a:pt x="189890" y="0"/>
                  </a:lnTo>
                  <a:lnTo>
                    <a:pt x="189890" y="189890"/>
                  </a:lnTo>
                  <a:lnTo>
                    <a:pt x="0" y="189890"/>
                  </a:lnTo>
                  <a:close/>
                </a:path>
              </a:pathLst>
            </a:custGeom>
            <a:solidFill>
              <a:srgbClr val="F0BC0F"/>
            </a:solidFill>
          </p:spPr>
        </p:sp>
        <p:sp>
          <p:nvSpPr>
            <p:cNvPr id="22" name="TextBox 22"/>
            <p:cNvSpPr txBox="1"/>
            <p:nvPr/>
          </p:nvSpPr>
          <p:spPr>
            <a:xfrm>
              <a:off x="0" y="-38100"/>
              <a:ext cx="189890" cy="227990"/>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1520065" y="8275569"/>
            <a:ext cx="491365" cy="491365"/>
            <a:chOff x="0" y="0"/>
            <a:chExt cx="129413" cy="129413"/>
          </a:xfrm>
        </p:grpSpPr>
        <p:sp>
          <p:nvSpPr>
            <p:cNvPr id="24" name="Freeform 24"/>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25" name="TextBox 25"/>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2011431" y="7784204"/>
            <a:ext cx="491365" cy="491365"/>
            <a:chOff x="0" y="0"/>
            <a:chExt cx="129413" cy="129413"/>
          </a:xfrm>
        </p:grpSpPr>
        <p:sp>
          <p:nvSpPr>
            <p:cNvPr id="27" name="Freeform 27"/>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28" name="TextBox 28"/>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1028700" y="5037157"/>
            <a:ext cx="7644036" cy="1600200"/>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Lato"/>
                <a:ea typeface="Lato"/>
                <a:cs typeface="Lato"/>
                <a:sym typeface="Lato"/>
              </a:rPr>
              <a:t>The global military business involves defense contractors, private military companies, and technology providers. According to global defense reports, the market value exceeded $2 trillion in 2024, with steady growth driven by modernization, cybersecurity, and geopolitical tensions. The largest spending nations include the United States, China, Russia, and India, while smaller nations increasingly invest in specialized technologies such as drones and cyber-defense systems.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222222">
                <a:alpha val="100000"/>
              </a:srgbClr>
            </a:gs>
            <a:gs pos="100000">
              <a:srgbClr val="0E0E0E">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2"/>
          <p:cNvSpPr txBox="1"/>
          <p:nvPr/>
        </p:nvSpPr>
        <p:spPr>
          <a:xfrm>
            <a:off x="7537686" y="3262711"/>
            <a:ext cx="6027581" cy="1365250"/>
          </a:xfrm>
          <a:prstGeom prst="rect">
            <a:avLst/>
          </a:prstGeom>
        </p:spPr>
        <p:txBody>
          <a:bodyPr lIns="0" tIns="0" rIns="0" bIns="0" rtlCol="0" anchor="t">
            <a:spAutoFit/>
          </a:bodyPr>
          <a:lstStyle/>
          <a:p>
            <a:pPr algn="l">
              <a:lnSpc>
                <a:spcPts val="5224"/>
              </a:lnSpc>
            </a:pPr>
            <a:r>
              <a:rPr lang="en-US" sz="5499" b="1">
                <a:solidFill>
                  <a:srgbClr val="FFFFFF"/>
                </a:solidFill>
                <a:latin typeface="TT Hoves Bold"/>
                <a:ea typeface="TT Hoves Bold"/>
                <a:cs typeface="TT Hoves Bold"/>
                <a:sym typeface="TT Hoves Bold"/>
              </a:rPr>
              <a:t>DEFENSE CONTRACTORS</a:t>
            </a:r>
          </a:p>
        </p:txBody>
      </p:sp>
      <p:grpSp>
        <p:nvGrpSpPr>
          <p:cNvPr id="3" name="Group 3"/>
          <p:cNvGrpSpPr/>
          <p:nvPr/>
        </p:nvGrpSpPr>
        <p:grpSpPr>
          <a:xfrm>
            <a:off x="181993" y="1028700"/>
            <a:ext cx="3041200" cy="9080135"/>
            <a:chOff x="0" y="0"/>
            <a:chExt cx="159472" cy="476136"/>
          </a:xfrm>
        </p:grpSpPr>
        <p:sp>
          <p:nvSpPr>
            <p:cNvPr id="4" name="Freeform 4"/>
            <p:cNvSpPr/>
            <p:nvPr/>
          </p:nvSpPr>
          <p:spPr>
            <a:xfrm>
              <a:off x="0" y="0"/>
              <a:ext cx="159472" cy="476136"/>
            </a:xfrm>
            <a:custGeom>
              <a:avLst/>
              <a:gdLst/>
              <a:ahLst/>
              <a:cxnLst/>
              <a:rect l="l" t="t" r="r" b="b"/>
              <a:pathLst>
                <a:path w="159472" h="476136">
                  <a:moveTo>
                    <a:pt x="0" y="0"/>
                  </a:moveTo>
                  <a:lnTo>
                    <a:pt x="159472" y="0"/>
                  </a:lnTo>
                  <a:lnTo>
                    <a:pt x="159472" y="476136"/>
                  </a:lnTo>
                  <a:lnTo>
                    <a:pt x="0" y="476136"/>
                  </a:lnTo>
                  <a:close/>
                </a:path>
              </a:pathLst>
            </a:custGeom>
            <a:blipFill>
              <a:blip r:embed="rId2"/>
              <a:stretch>
                <a:fillRect l="-171035" t="-9313" r="-208931"/>
              </a:stretch>
            </a:blipFill>
          </p:spPr>
        </p:sp>
      </p:grpSp>
      <p:grpSp>
        <p:nvGrpSpPr>
          <p:cNvPr id="5" name="Group 5"/>
          <p:cNvGrpSpPr/>
          <p:nvPr/>
        </p:nvGrpSpPr>
        <p:grpSpPr>
          <a:xfrm>
            <a:off x="3412430" y="178165"/>
            <a:ext cx="3041200" cy="9080135"/>
            <a:chOff x="0" y="0"/>
            <a:chExt cx="159472" cy="476136"/>
          </a:xfrm>
        </p:grpSpPr>
        <p:sp>
          <p:nvSpPr>
            <p:cNvPr id="6" name="Freeform 6"/>
            <p:cNvSpPr/>
            <p:nvPr/>
          </p:nvSpPr>
          <p:spPr>
            <a:xfrm>
              <a:off x="0" y="0"/>
              <a:ext cx="159472" cy="476136"/>
            </a:xfrm>
            <a:custGeom>
              <a:avLst/>
              <a:gdLst/>
              <a:ahLst/>
              <a:cxnLst/>
              <a:rect l="l" t="t" r="r" b="b"/>
              <a:pathLst>
                <a:path w="159472" h="476136">
                  <a:moveTo>
                    <a:pt x="0" y="0"/>
                  </a:moveTo>
                  <a:lnTo>
                    <a:pt x="159472" y="0"/>
                  </a:lnTo>
                  <a:lnTo>
                    <a:pt x="159472" y="476136"/>
                  </a:lnTo>
                  <a:lnTo>
                    <a:pt x="0" y="476136"/>
                  </a:lnTo>
                  <a:close/>
                </a:path>
              </a:pathLst>
            </a:custGeom>
            <a:blipFill>
              <a:blip r:embed="rId2"/>
              <a:stretch>
                <a:fillRect l="-277234" r="-102825" b="-9334"/>
              </a:stretch>
            </a:blipFill>
          </p:spPr>
        </p:sp>
      </p:grpSp>
      <p:grpSp>
        <p:nvGrpSpPr>
          <p:cNvPr id="7" name="Group 7"/>
          <p:cNvGrpSpPr/>
          <p:nvPr/>
        </p:nvGrpSpPr>
        <p:grpSpPr>
          <a:xfrm>
            <a:off x="7537686" y="1028700"/>
            <a:ext cx="994100" cy="345951"/>
            <a:chOff x="0" y="0"/>
            <a:chExt cx="1167801" cy="406400"/>
          </a:xfrm>
        </p:grpSpPr>
        <p:sp>
          <p:nvSpPr>
            <p:cNvPr id="8" name="Freeform 8"/>
            <p:cNvSpPr/>
            <p:nvPr/>
          </p:nvSpPr>
          <p:spPr>
            <a:xfrm>
              <a:off x="0" y="0"/>
              <a:ext cx="1167801" cy="406400"/>
            </a:xfrm>
            <a:custGeom>
              <a:avLst/>
              <a:gdLst/>
              <a:ahLst/>
              <a:cxnLst/>
              <a:rect l="l" t="t" r="r" b="b"/>
              <a:pathLst>
                <a:path w="1167801" h="406400">
                  <a:moveTo>
                    <a:pt x="964601" y="0"/>
                  </a:moveTo>
                  <a:cubicBezTo>
                    <a:pt x="1076826" y="0"/>
                    <a:pt x="1167801" y="90976"/>
                    <a:pt x="1167801" y="203200"/>
                  </a:cubicBezTo>
                  <a:cubicBezTo>
                    <a:pt x="1167801" y="315424"/>
                    <a:pt x="1076826" y="406400"/>
                    <a:pt x="964601" y="406400"/>
                  </a:cubicBezTo>
                  <a:lnTo>
                    <a:pt x="203200" y="406400"/>
                  </a:lnTo>
                  <a:cubicBezTo>
                    <a:pt x="90976" y="406400"/>
                    <a:pt x="0" y="315424"/>
                    <a:pt x="0" y="203200"/>
                  </a:cubicBezTo>
                  <a:cubicBezTo>
                    <a:pt x="0" y="90976"/>
                    <a:pt x="90976" y="0"/>
                    <a:pt x="203200" y="0"/>
                  </a:cubicBezTo>
                  <a:close/>
                </a:path>
              </a:pathLst>
            </a:custGeom>
            <a:solidFill>
              <a:srgbClr val="F0BC0F"/>
            </a:solidFill>
          </p:spPr>
        </p:sp>
        <p:sp>
          <p:nvSpPr>
            <p:cNvPr id="9" name="TextBox 9"/>
            <p:cNvSpPr txBox="1"/>
            <p:nvPr/>
          </p:nvSpPr>
          <p:spPr>
            <a:xfrm>
              <a:off x="0" y="-38100"/>
              <a:ext cx="1167801" cy="444500"/>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5785204" y="8766935"/>
            <a:ext cx="491365" cy="491365"/>
            <a:chOff x="0" y="0"/>
            <a:chExt cx="129413" cy="129413"/>
          </a:xfrm>
        </p:grpSpPr>
        <p:sp>
          <p:nvSpPr>
            <p:cNvPr id="11" name="Freeform 11"/>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12" name="TextBox 12"/>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3841385" y="7784204"/>
            <a:ext cx="491365" cy="491365"/>
            <a:chOff x="0" y="0"/>
            <a:chExt cx="129413" cy="129413"/>
          </a:xfrm>
        </p:grpSpPr>
        <p:sp>
          <p:nvSpPr>
            <p:cNvPr id="14" name="Freeform 14"/>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15" name="TextBox 15"/>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2954350" y="7669393"/>
            <a:ext cx="720988" cy="720988"/>
            <a:chOff x="0" y="0"/>
            <a:chExt cx="189890" cy="189890"/>
          </a:xfrm>
        </p:grpSpPr>
        <p:sp>
          <p:nvSpPr>
            <p:cNvPr id="17" name="Freeform 17"/>
            <p:cNvSpPr/>
            <p:nvPr/>
          </p:nvSpPr>
          <p:spPr>
            <a:xfrm>
              <a:off x="0" y="0"/>
              <a:ext cx="189890" cy="189890"/>
            </a:xfrm>
            <a:custGeom>
              <a:avLst/>
              <a:gdLst/>
              <a:ahLst/>
              <a:cxnLst/>
              <a:rect l="l" t="t" r="r" b="b"/>
              <a:pathLst>
                <a:path w="189890" h="189890">
                  <a:moveTo>
                    <a:pt x="0" y="0"/>
                  </a:moveTo>
                  <a:lnTo>
                    <a:pt x="189890" y="0"/>
                  </a:lnTo>
                  <a:lnTo>
                    <a:pt x="189890" y="189890"/>
                  </a:lnTo>
                  <a:lnTo>
                    <a:pt x="0" y="189890"/>
                  </a:lnTo>
                  <a:close/>
                </a:path>
              </a:pathLst>
            </a:custGeom>
            <a:solidFill>
              <a:srgbClr val="F0BC0F"/>
            </a:solidFill>
          </p:spPr>
        </p:sp>
        <p:sp>
          <p:nvSpPr>
            <p:cNvPr id="18" name="TextBox 18"/>
            <p:cNvSpPr txBox="1"/>
            <p:nvPr/>
          </p:nvSpPr>
          <p:spPr>
            <a:xfrm>
              <a:off x="0" y="-38100"/>
              <a:ext cx="189890" cy="22799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6276569" y="8275569"/>
            <a:ext cx="491365" cy="491365"/>
            <a:chOff x="0" y="0"/>
            <a:chExt cx="129413" cy="129413"/>
          </a:xfrm>
        </p:grpSpPr>
        <p:sp>
          <p:nvSpPr>
            <p:cNvPr id="20" name="Freeform 20"/>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21" name="TextBox 21"/>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16767935" y="7784204"/>
            <a:ext cx="491365" cy="491365"/>
            <a:chOff x="0" y="0"/>
            <a:chExt cx="129413" cy="129413"/>
          </a:xfrm>
        </p:grpSpPr>
        <p:sp>
          <p:nvSpPr>
            <p:cNvPr id="23" name="Freeform 23"/>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24" name="TextBox 24"/>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sp>
        <p:nvSpPr>
          <p:cNvPr id="25" name="TextBox 25"/>
          <p:cNvSpPr txBox="1"/>
          <p:nvPr/>
        </p:nvSpPr>
        <p:spPr>
          <a:xfrm>
            <a:off x="7537686" y="5037157"/>
            <a:ext cx="8738884" cy="1333500"/>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Lato"/>
                <a:ea typeface="Lato"/>
                <a:cs typeface="Lato"/>
                <a:sym typeface="Lato"/>
              </a:rPr>
              <a:t>Major defense contractors such as Lockheed Martin, Boeing Defense, BAE Systems, and Northrop Grumman dominate the industry. These companies supply advanced weaponry, aircraft, and naval systems. Their influence goes beyond equipment, as they also shape policy, innovation, and international defense cooperation. Governments rely heavily on them, making the relationship between business and national security tightly interconnected.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222222">
                <a:alpha val="100000"/>
              </a:srgbClr>
            </a:gs>
            <a:gs pos="100000">
              <a:srgbClr val="0E0E0E">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2"/>
          <p:cNvSpPr txBox="1"/>
          <p:nvPr/>
        </p:nvSpPr>
        <p:spPr>
          <a:xfrm>
            <a:off x="9534126" y="3521900"/>
            <a:ext cx="6423821" cy="1365250"/>
          </a:xfrm>
          <a:prstGeom prst="rect">
            <a:avLst/>
          </a:prstGeom>
        </p:spPr>
        <p:txBody>
          <a:bodyPr lIns="0" tIns="0" rIns="0" bIns="0" rtlCol="0" anchor="t">
            <a:spAutoFit/>
          </a:bodyPr>
          <a:lstStyle/>
          <a:p>
            <a:pPr algn="l">
              <a:lnSpc>
                <a:spcPts val="5224"/>
              </a:lnSpc>
            </a:pPr>
            <a:r>
              <a:rPr lang="en-US" sz="5499" b="1">
                <a:solidFill>
                  <a:srgbClr val="FFFFFF"/>
                </a:solidFill>
                <a:latin typeface="TT Hoves Bold"/>
                <a:ea typeface="TT Hoves Bold"/>
                <a:cs typeface="TT Hoves Bold"/>
                <a:sym typeface="TT Hoves Bold"/>
              </a:rPr>
              <a:t>PRIVATE MILITARY COMPANIES</a:t>
            </a:r>
          </a:p>
        </p:txBody>
      </p:sp>
      <p:grpSp>
        <p:nvGrpSpPr>
          <p:cNvPr id="3" name="Group 3"/>
          <p:cNvGrpSpPr/>
          <p:nvPr/>
        </p:nvGrpSpPr>
        <p:grpSpPr>
          <a:xfrm>
            <a:off x="0" y="0"/>
            <a:ext cx="7931910" cy="10287000"/>
            <a:chOff x="0" y="0"/>
            <a:chExt cx="415926" cy="539420"/>
          </a:xfrm>
        </p:grpSpPr>
        <p:sp>
          <p:nvSpPr>
            <p:cNvPr id="4" name="Freeform 4"/>
            <p:cNvSpPr/>
            <p:nvPr/>
          </p:nvSpPr>
          <p:spPr>
            <a:xfrm>
              <a:off x="0" y="0"/>
              <a:ext cx="415926" cy="539420"/>
            </a:xfrm>
            <a:custGeom>
              <a:avLst/>
              <a:gdLst/>
              <a:ahLst/>
              <a:cxnLst/>
              <a:rect l="l" t="t" r="r" b="b"/>
              <a:pathLst>
                <a:path w="415926" h="539420">
                  <a:moveTo>
                    <a:pt x="0" y="0"/>
                  </a:moveTo>
                  <a:lnTo>
                    <a:pt x="415926" y="0"/>
                  </a:lnTo>
                  <a:lnTo>
                    <a:pt x="415926" y="539420"/>
                  </a:lnTo>
                  <a:lnTo>
                    <a:pt x="0" y="539420"/>
                  </a:lnTo>
                  <a:close/>
                </a:path>
              </a:pathLst>
            </a:custGeom>
            <a:blipFill>
              <a:blip r:embed="rId2"/>
              <a:stretch>
                <a:fillRect l="-51519" r="-51519"/>
              </a:stretch>
            </a:blipFill>
          </p:spPr>
        </p:sp>
      </p:grpSp>
      <p:grpSp>
        <p:nvGrpSpPr>
          <p:cNvPr id="5" name="Group 5"/>
          <p:cNvGrpSpPr/>
          <p:nvPr/>
        </p:nvGrpSpPr>
        <p:grpSpPr>
          <a:xfrm>
            <a:off x="16265200" y="1028700"/>
            <a:ext cx="994100" cy="345951"/>
            <a:chOff x="0" y="0"/>
            <a:chExt cx="1167801" cy="406400"/>
          </a:xfrm>
        </p:grpSpPr>
        <p:sp>
          <p:nvSpPr>
            <p:cNvPr id="6" name="Freeform 6"/>
            <p:cNvSpPr/>
            <p:nvPr/>
          </p:nvSpPr>
          <p:spPr>
            <a:xfrm>
              <a:off x="0" y="0"/>
              <a:ext cx="1167801" cy="406400"/>
            </a:xfrm>
            <a:custGeom>
              <a:avLst/>
              <a:gdLst/>
              <a:ahLst/>
              <a:cxnLst/>
              <a:rect l="l" t="t" r="r" b="b"/>
              <a:pathLst>
                <a:path w="1167801" h="406400">
                  <a:moveTo>
                    <a:pt x="964601" y="0"/>
                  </a:moveTo>
                  <a:cubicBezTo>
                    <a:pt x="1076826" y="0"/>
                    <a:pt x="1167801" y="90976"/>
                    <a:pt x="1167801" y="203200"/>
                  </a:cubicBezTo>
                  <a:cubicBezTo>
                    <a:pt x="1167801" y="315424"/>
                    <a:pt x="1076826" y="406400"/>
                    <a:pt x="964601" y="406400"/>
                  </a:cubicBezTo>
                  <a:lnTo>
                    <a:pt x="203200" y="406400"/>
                  </a:lnTo>
                  <a:cubicBezTo>
                    <a:pt x="90976" y="406400"/>
                    <a:pt x="0" y="315424"/>
                    <a:pt x="0" y="203200"/>
                  </a:cubicBezTo>
                  <a:cubicBezTo>
                    <a:pt x="0" y="90976"/>
                    <a:pt x="90976" y="0"/>
                    <a:pt x="203200" y="0"/>
                  </a:cubicBezTo>
                  <a:close/>
                </a:path>
              </a:pathLst>
            </a:custGeom>
            <a:solidFill>
              <a:srgbClr val="F0BC0F"/>
            </a:solidFill>
          </p:spPr>
        </p:sp>
        <p:sp>
          <p:nvSpPr>
            <p:cNvPr id="7" name="TextBox 7"/>
            <p:cNvSpPr txBox="1"/>
            <p:nvPr/>
          </p:nvSpPr>
          <p:spPr>
            <a:xfrm>
              <a:off x="0" y="-38100"/>
              <a:ext cx="1167801" cy="44450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9534126" y="8912349"/>
            <a:ext cx="994100" cy="345951"/>
            <a:chOff x="0" y="0"/>
            <a:chExt cx="1167801" cy="406400"/>
          </a:xfrm>
        </p:grpSpPr>
        <p:sp>
          <p:nvSpPr>
            <p:cNvPr id="9" name="Freeform 9"/>
            <p:cNvSpPr/>
            <p:nvPr/>
          </p:nvSpPr>
          <p:spPr>
            <a:xfrm>
              <a:off x="0" y="0"/>
              <a:ext cx="1167801" cy="406400"/>
            </a:xfrm>
            <a:custGeom>
              <a:avLst/>
              <a:gdLst/>
              <a:ahLst/>
              <a:cxnLst/>
              <a:rect l="l" t="t" r="r" b="b"/>
              <a:pathLst>
                <a:path w="1167801" h="406400">
                  <a:moveTo>
                    <a:pt x="964601" y="0"/>
                  </a:moveTo>
                  <a:cubicBezTo>
                    <a:pt x="1076826" y="0"/>
                    <a:pt x="1167801" y="90976"/>
                    <a:pt x="1167801" y="203200"/>
                  </a:cubicBezTo>
                  <a:cubicBezTo>
                    <a:pt x="1167801" y="315424"/>
                    <a:pt x="1076826" y="406400"/>
                    <a:pt x="964601" y="406400"/>
                  </a:cubicBezTo>
                  <a:lnTo>
                    <a:pt x="203200" y="406400"/>
                  </a:lnTo>
                  <a:cubicBezTo>
                    <a:pt x="90976" y="406400"/>
                    <a:pt x="0" y="315424"/>
                    <a:pt x="0" y="203200"/>
                  </a:cubicBezTo>
                  <a:cubicBezTo>
                    <a:pt x="0" y="90976"/>
                    <a:pt x="90976" y="0"/>
                    <a:pt x="203200" y="0"/>
                  </a:cubicBezTo>
                  <a:close/>
                </a:path>
              </a:pathLst>
            </a:custGeom>
            <a:solidFill>
              <a:srgbClr val="F0BC0F"/>
            </a:solidFill>
          </p:spPr>
        </p:sp>
        <p:sp>
          <p:nvSpPr>
            <p:cNvPr id="10" name="TextBox 10"/>
            <p:cNvSpPr txBox="1"/>
            <p:nvPr/>
          </p:nvSpPr>
          <p:spPr>
            <a:xfrm>
              <a:off x="0" y="-38100"/>
              <a:ext cx="1167801" cy="44450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6742474" y="4545563"/>
            <a:ext cx="491365" cy="491365"/>
            <a:chOff x="0" y="0"/>
            <a:chExt cx="129413" cy="129413"/>
          </a:xfrm>
        </p:grpSpPr>
        <p:sp>
          <p:nvSpPr>
            <p:cNvPr id="12" name="Freeform 12"/>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13" name="TextBox 13"/>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915735" y="7784204"/>
            <a:ext cx="491365" cy="491365"/>
            <a:chOff x="0" y="0"/>
            <a:chExt cx="129413" cy="129413"/>
          </a:xfrm>
        </p:grpSpPr>
        <p:sp>
          <p:nvSpPr>
            <p:cNvPr id="15" name="Freeform 15"/>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16" name="TextBox 16"/>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028700" y="7669393"/>
            <a:ext cx="720988" cy="720988"/>
            <a:chOff x="0" y="0"/>
            <a:chExt cx="189890" cy="189890"/>
          </a:xfrm>
        </p:grpSpPr>
        <p:sp>
          <p:nvSpPr>
            <p:cNvPr id="18" name="Freeform 18"/>
            <p:cNvSpPr/>
            <p:nvPr/>
          </p:nvSpPr>
          <p:spPr>
            <a:xfrm>
              <a:off x="0" y="0"/>
              <a:ext cx="189890" cy="189890"/>
            </a:xfrm>
            <a:custGeom>
              <a:avLst/>
              <a:gdLst/>
              <a:ahLst/>
              <a:cxnLst/>
              <a:rect l="l" t="t" r="r" b="b"/>
              <a:pathLst>
                <a:path w="189890" h="189890">
                  <a:moveTo>
                    <a:pt x="0" y="0"/>
                  </a:moveTo>
                  <a:lnTo>
                    <a:pt x="189890" y="0"/>
                  </a:lnTo>
                  <a:lnTo>
                    <a:pt x="189890" y="189890"/>
                  </a:lnTo>
                  <a:lnTo>
                    <a:pt x="0" y="189890"/>
                  </a:lnTo>
                  <a:close/>
                </a:path>
              </a:pathLst>
            </a:custGeom>
            <a:solidFill>
              <a:srgbClr val="F0BC0F"/>
            </a:solidFill>
          </p:spPr>
        </p:sp>
        <p:sp>
          <p:nvSpPr>
            <p:cNvPr id="19" name="TextBox 19"/>
            <p:cNvSpPr txBox="1"/>
            <p:nvPr/>
          </p:nvSpPr>
          <p:spPr>
            <a:xfrm>
              <a:off x="0" y="-38100"/>
              <a:ext cx="189890" cy="22799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7233839" y="4054198"/>
            <a:ext cx="491365" cy="491365"/>
            <a:chOff x="0" y="0"/>
            <a:chExt cx="129413" cy="129413"/>
          </a:xfrm>
        </p:grpSpPr>
        <p:sp>
          <p:nvSpPr>
            <p:cNvPr id="21" name="Freeform 21"/>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22" name="TextBox 22"/>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7725205" y="3562833"/>
            <a:ext cx="491365" cy="491365"/>
            <a:chOff x="0" y="0"/>
            <a:chExt cx="129413" cy="129413"/>
          </a:xfrm>
        </p:grpSpPr>
        <p:sp>
          <p:nvSpPr>
            <p:cNvPr id="24" name="Freeform 24"/>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25" name="TextBox 25"/>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sp>
        <p:nvSpPr>
          <p:cNvPr id="26" name="TextBox 26"/>
          <p:cNvSpPr txBox="1"/>
          <p:nvPr/>
        </p:nvSpPr>
        <p:spPr>
          <a:xfrm>
            <a:off x="9534126" y="5555425"/>
            <a:ext cx="7725174" cy="1333500"/>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Lato"/>
                <a:ea typeface="Lato"/>
                <a:cs typeface="Lato"/>
                <a:sym typeface="Lato"/>
              </a:rPr>
              <a:t>In addition to state armies, private military companies are a growing sector. Firms like Academi (formerly Blackwater) and Wagner Group have provided services ranging from security to direct combat support. PMCs often operate in conflict zones where governments prefer outsourcing for flexibility and deniability. This creates a controversial but lucrative market estimated at $100 billion annually.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222222">
                <a:alpha val="100000"/>
              </a:srgbClr>
            </a:gs>
            <a:gs pos="100000">
              <a:srgbClr val="0E0E0E">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2"/>
          <p:cNvSpPr txBox="1"/>
          <p:nvPr/>
        </p:nvSpPr>
        <p:spPr>
          <a:xfrm>
            <a:off x="1028700" y="3240043"/>
            <a:ext cx="6027581" cy="1365250"/>
          </a:xfrm>
          <a:prstGeom prst="rect">
            <a:avLst/>
          </a:prstGeom>
        </p:spPr>
        <p:txBody>
          <a:bodyPr lIns="0" tIns="0" rIns="0" bIns="0" rtlCol="0" anchor="t">
            <a:spAutoFit/>
          </a:bodyPr>
          <a:lstStyle/>
          <a:p>
            <a:pPr algn="l">
              <a:lnSpc>
                <a:spcPts val="5224"/>
              </a:lnSpc>
            </a:pPr>
            <a:r>
              <a:rPr lang="en-US" sz="5499" b="1">
                <a:solidFill>
                  <a:srgbClr val="FFFFFF"/>
                </a:solidFill>
                <a:latin typeface="TT Hoves Bold"/>
                <a:ea typeface="TT Hoves Bold"/>
                <a:cs typeface="TT Hoves Bold"/>
                <a:sym typeface="TT Hoves Bold"/>
              </a:rPr>
              <a:t>REVENUE SOURCES</a:t>
            </a:r>
          </a:p>
        </p:txBody>
      </p:sp>
      <p:sp>
        <p:nvSpPr>
          <p:cNvPr id="3" name="TextBox 3"/>
          <p:cNvSpPr txBox="1"/>
          <p:nvPr/>
        </p:nvSpPr>
        <p:spPr>
          <a:xfrm>
            <a:off x="1028700" y="5837282"/>
            <a:ext cx="3473577" cy="1333500"/>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Lato"/>
                <a:ea typeface="Lato"/>
                <a:cs typeface="Lato"/>
                <a:sym typeface="Lato"/>
              </a:rPr>
              <a:t>Lorem ipsum dolor sit amet, consectetur adipiscing elit. Cras eget metus ac massa ultrices venenatis eu non mauris. Nunc blandit non erat quis interdum. In pretium diam a risus porta viverra.</a:t>
            </a:r>
          </a:p>
        </p:txBody>
      </p:sp>
      <p:sp>
        <p:nvSpPr>
          <p:cNvPr id="4" name="TextBox 4"/>
          <p:cNvSpPr txBox="1"/>
          <p:nvPr/>
        </p:nvSpPr>
        <p:spPr>
          <a:xfrm>
            <a:off x="1028700" y="5298453"/>
            <a:ext cx="3473577" cy="339725"/>
          </a:xfrm>
          <a:prstGeom prst="rect">
            <a:avLst/>
          </a:prstGeom>
        </p:spPr>
        <p:txBody>
          <a:bodyPr lIns="0" tIns="0" rIns="0" bIns="0" rtlCol="0" anchor="t">
            <a:spAutoFit/>
          </a:bodyPr>
          <a:lstStyle/>
          <a:p>
            <a:pPr algn="l">
              <a:lnSpc>
                <a:spcPts val="2799"/>
              </a:lnSpc>
              <a:spcBef>
                <a:spcPct val="0"/>
              </a:spcBef>
            </a:pPr>
            <a:r>
              <a:rPr lang="en-US" sz="1999" b="1">
                <a:solidFill>
                  <a:srgbClr val="FFFFFF"/>
                </a:solidFill>
                <a:latin typeface="Lato Bold"/>
                <a:ea typeface="Lato Bold"/>
                <a:cs typeface="Lato Bold"/>
                <a:sym typeface="Lato Bold"/>
              </a:rPr>
              <a:t>Arms Manufacturing</a:t>
            </a:r>
          </a:p>
        </p:txBody>
      </p:sp>
      <p:sp>
        <p:nvSpPr>
          <p:cNvPr id="5" name="TextBox 5"/>
          <p:cNvSpPr txBox="1"/>
          <p:nvPr/>
        </p:nvSpPr>
        <p:spPr>
          <a:xfrm>
            <a:off x="5281041" y="5837282"/>
            <a:ext cx="3473577" cy="1333500"/>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Lato"/>
                <a:ea typeface="Lato"/>
                <a:cs typeface="Lato"/>
                <a:sym typeface="Lato"/>
              </a:rPr>
              <a:t>Lorem ipsum dolor sit amet, consectetur adipiscing elit. Cras eget metus ac massa ultrices venenatis eu non mauris. Nunc blandit non erat quis interdum. In pretium diam a risus porta viverra.</a:t>
            </a:r>
          </a:p>
        </p:txBody>
      </p:sp>
      <p:sp>
        <p:nvSpPr>
          <p:cNvPr id="6" name="TextBox 6"/>
          <p:cNvSpPr txBox="1"/>
          <p:nvPr/>
        </p:nvSpPr>
        <p:spPr>
          <a:xfrm>
            <a:off x="5281041" y="5298453"/>
            <a:ext cx="2924459" cy="339725"/>
          </a:xfrm>
          <a:prstGeom prst="rect">
            <a:avLst/>
          </a:prstGeom>
        </p:spPr>
        <p:txBody>
          <a:bodyPr lIns="0" tIns="0" rIns="0" bIns="0" rtlCol="0" anchor="t">
            <a:spAutoFit/>
          </a:bodyPr>
          <a:lstStyle/>
          <a:p>
            <a:pPr algn="l">
              <a:lnSpc>
                <a:spcPts val="2799"/>
              </a:lnSpc>
              <a:spcBef>
                <a:spcPct val="0"/>
              </a:spcBef>
            </a:pPr>
            <a:r>
              <a:rPr lang="en-US" sz="1999" b="1">
                <a:solidFill>
                  <a:srgbClr val="FFFFFF"/>
                </a:solidFill>
                <a:latin typeface="Lato Bold"/>
                <a:ea typeface="Lato Bold"/>
                <a:cs typeface="Lato Bold"/>
                <a:sym typeface="Lato Bold"/>
              </a:rPr>
              <a:t>Technology Solutions</a:t>
            </a:r>
          </a:p>
        </p:txBody>
      </p:sp>
      <p:sp>
        <p:nvSpPr>
          <p:cNvPr id="7" name="TextBox 7"/>
          <p:cNvSpPr txBox="1"/>
          <p:nvPr/>
        </p:nvSpPr>
        <p:spPr>
          <a:xfrm>
            <a:off x="9533382" y="5837282"/>
            <a:ext cx="3473577" cy="1333500"/>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Lato"/>
                <a:ea typeface="Lato"/>
                <a:cs typeface="Lato"/>
                <a:sym typeface="Lato"/>
              </a:rPr>
              <a:t>Lorem ipsum dolor sit amet, consectetur adipiscing elit. Cras eget metus ac massa ultrices venenatis eu non mauris. Nunc blandit non erat quis interdum. In pretium diam a risus porta viverra.</a:t>
            </a:r>
          </a:p>
        </p:txBody>
      </p:sp>
      <p:sp>
        <p:nvSpPr>
          <p:cNvPr id="8" name="TextBox 8"/>
          <p:cNvSpPr txBox="1"/>
          <p:nvPr/>
        </p:nvSpPr>
        <p:spPr>
          <a:xfrm>
            <a:off x="9533382" y="5298453"/>
            <a:ext cx="3473577" cy="339725"/>
          </a:xfrm>
          <a:prstGeom prst="rect">
            <a:avLst/>
          </a:prstGeom>
        </p:spPr>
        <p:txBody>
          <a:bodyPr lIns="0" tIns="0" rIns="0" bIns="0" rtlCol="0" anchor="t">
            <a:spAutoFit/>
          </a:bodyPr>
          <a:lstStyle/>
          <a:p>
            <a:pPr algn="l">
              <a:lnSpc>
                <a:spcPts val="2799"/>
              </a:lnSpc>
              <a:spcBef>
                <a:spcPct val="0"/>
              </a:spcBef>
            </a:pPr>
            <a:r>
              <a:rPr lang="en-US" sz="1999" b="1">
                <a:solidFill>
                  <a:srgbClr val="FFFFFF"/>
                </a:solidFill>
                <a:latin typeface="Lato Bold"/>
                <a:ea typeface="Lato Bold"/>
                <a:cs typeface="Lato Bold"/>
                <a:sym typeface="Lato Bold"/>
              </a:rPr>
              <a:t>Logistics &amp; Supply Chains</a:t>
            </a:r>
          </a:p>
        </p:txBody>
      </p:sp>
      <p:sp>
        <p:nvSpPr>
          <p:cNvPr id="9" name="TextBox 9"/>
          <p:cNvSpPr txBox="1"/>
          <p:nvPr/>
        </p:nvSpPr>
        <p:spPr>
          <a:xfrm>
            <a:off x="13785723" y="5837282"/>
            <a:ext cx="3473577" cy="1333500"/>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Lato"/>
                <a:ea typeface="Lato"/>
                <a:cs typeface="Lato"/>
                <a:sym typeface="Lato"/>
              </a:rPr>
              <a:t>Lorem ipsum dolor sit amet, consectetur adipiscing elit. Cras eget metus ac massa ultrices venenatis eu non mauris. Nunc blandit non erat quis interdum. In pretium diam a risus porta viverra.</a:t>
            </a:r>
          </a:p>
        </p:txBody>
      </p:sp>
      <p:sp>
        <p:nvSpPr>
          <p:cNvPr id="10" name="TextBox 10"/>
          <p:cNvSpPr txBox="1"/>
          <p:nvPr/>
        </p:nvSpPr>
        <p:spPr>
          <a:xfrm>
            <a:off x="13785723" y="5298453"/>
            <a:ext cx="3473577" cy="339725"/>
          </a:xfrm>
          <a:prstGeom prst="rect">
            <a:avLst/>
          </a:prstGeom>
        </p:spPr>
        <p:txBody>
          <a:bodyPr lIns="0" tIns="0" rIns="0" bIns="0" rtlCol="0" anchor="t">
            <a:spAutoFit/>
          </a:bodyPr>
          <a:lstStyle/>
          <a:p>
            <a:pPr algn="l">
              <a:lnSpc>
                <a:spcPts val="2799"/>
              </a:lnSpc>
              <a:spcBef>
                <a:spcPct val="0"/>
              </a:spcBef>
            </a:pPr>
            <a:r>
              <a:rPr lang="en-US" sz="1999" b="1">
                <a:solidFill>
                  <a:srgbClr val="FFFFFF"/>
                </a:solidFill>
                <a:latin typeface="Lato Bold"/>
                <a:ea typeface="Lato Bold"/>
                <a:cs typeface="Lato Bold"/>
                <a:sym typeface="Lato Bold"/>
              </a:rPr>
              <a:t>Training &amp; Consulting</a:t>
            </a:r>
          </a:p>
        </p:txBody>
      </p:sp>
      <p:grpSp>
        <p:nvGrpSpPr>
          <p:cNvPr id="11" name="Group 11"/>
          <p:cNvGrpSpPr/>
          <p:nvPr/>
        </p:nvGrpSpPr>
        <p:grpSpPr>
          <a:xfrm>
            <a:off x="13899361" y="178165"/>
            <a:ext cx="4203705" cy="4113312"/>
            <a:chOff x="0" y="0"/>
            <a:chExt cx="344063" cy="336664"/>
          </a:xfrm>
        </p:grpSpPr>
        <p:sp>
          <p:nvSpPr>
            <p:cNvPr id="12" name="Freeform 12"/>
            <p:cNvSpPr/>
            <p:nvPr/>
          </p:nvSpPr>
          <p:spPr>
            <a:xfrm>
              <a:off x="0" y="0"/>
              <a:ext cx="344063" cy="336664"/>
            </a:xfrm>
            <a:custGeom>
              <a:avLst/>
              <a:gdLst/>
              <a:ahLst/>
              <a:cxnLst/>
              <a:rect l="l" t="t" r="r" b="b"/>
              <a:pathLst>
                <a:path w="344063" h="336664">
                  <a:moveTo>
                    <a:pt x="0" y="0"/>
                  </a:moveTo>
                  <a:lnTo>
                    <a:pt x="344063" y="0"/>
                  </a:lnTo>
                  <a:lnTo>
                    <a:pt x="344063" y="336664"/>
                  </a:lnTo>
                  <a:lnTo>
                    <a:pt x="0" y="336664"/>
                  </a:lnTo>
                  <a:close/>
                </a:path>
              </a:pathLst>
            </a:custGeom>
            <a:blipFill>
              <a:blip r:embed="rId2"/>
              <a:stretch>
                <a:fillRect l="-104200" b="-33820"/>
              </a:stretch>
            </a:blipFill>
          </p:spPr>
        </p:sp>
      </p:grpSp>
      <p:grpSp>
        <p:nvGrpSpPr>
          <p:cNvPr id="13" name="Group 13"/>
          <p:cNvGrpSpPr/>
          <p:nvPr/>
        </p:nvGrpSpPr>
        <p:grpSpPr>
          <a:xfrm>
            <a:off x="9533382" y="178165"/>
            <a:ext cx="4203705" cy="4113312"/>
            <a:chOff x="0" y="0"/>
            <a:chExt cx="344063" cy="336664"/>
          </a:xfrm>
        </p:grpSpPr>
        <p:sp>
          <p:nvSpPr>
            <p:cNvPr id="14" name="Freeform 14"/>
            <p:cNvSpPr/>
            <p:nvPr/>
          </p:nvSpPr>
          <p:spPr>
            <a:xfrm>
              <a:off x="0" y="0"/>
              <a:ext cx="344063" cy="336664"/>
            </a:xfrm>
            <a:custGeom>
              <a:avLst/>
              <a:gdLst/>
              <a:ahLst/>
              <a:cxnLst/>
              <a:rect l="l" t="t" r="r" b="b"/>
              <a:pathLst>
                <a:path w="344063" h="336664">
                  <a:moveTo>
                    <a:pt x="0" y="0"/>
                  </a:moveTo>
                  <a:lnTo>
                    <a:pt x="344063" y="0"/>
                  </a:lnTo>
                  <a:lnTo>
                    <a:pt x="344063" y="336664"/>
                  </a:lnTo>
                  <a:lnTo>
                    <a:pt x="0" y="336664"/>
                  </a:lnTo>
                  <a:close/>
                </a:path>
              </a:pathLst>
            </a:custGeom>
            <a:blipFill>
              <a:blip r:embed="rId2"/>
              <a:stretch>
                <a:fillRect r="-104200" b="-33820"/>
              </a:stretch>
            </a:blipFill>
          </p:spPr>
        </p:sp>
      </p:grpSp>
      <p:grpSp>
        <p:nvGrpSpPr>
          <p:cNvPr id="15" name="Group 15"/>
          <p:cNvGrpSpPr/>
          <p:nvPr/>
        </p:nvGrpSpPr>
        <p:grpSpPr>
          <a:xfrm>
            <a:off x="9036332" y="1028700"/>
            <a:ext cx="994100" cy="345951"/>
            <a:chOff x="0" y="0"/>
            <a:chExt cx="1167801" cy="406400"/>
          </a:xfrm>
        </p:grpSpPr>
        <p:sp>
          <p:nvSpPr>
            <p:cNvPr id="16" name="Freeform 16"/>
            <p:cNvSpPr/>
            <p:nvPr/>
          </p:nvSpPr>
          <p:spPr>
            <a:xfrm>
              <a:off x="0" y="0"/>
              <a:ext cx="1167801" cy="406400"/>
            </a:xfrm>
            <a:custGeom>
              <a:avLst/>
              <a:gdLst/>
              <a:ahLst/>
              <a:cxnLst/>
              <a:rect l="l" t="t" r="r" b="b"/>
              <a:pathLst>
                <a:path w="1167801" h="406400">
                  <a:moveTo>
                    <a:pt x="964601" y="0"/>
                  </a:moveTo>
                  <a:cubicBezTo>
                    <a:pt x="1076826" y="0"/>
                    <a:pt x="1167801" y="90976"/>
                    <a:pt x="1167801" y="203200"/>
                  </a:cubicBezTo>
                  <a:cubicBezTo>
                    <a:pt x="1167801" y="315424"/>
                    <a:pt x="1076826" y="406400"/>
                    <a:pt x="964601" y="406400"/>
                  </a:cubicBezTo>
                  <a:lnTo>
                    <a:pt x="203200" y="406400"/>
                  </a:lnTo>
                  <a:cubicBezTo>
                    <a:pt x="90976" y="406400"/>
                    <a:pt x="0" y="315424"/>
                    <a:pt x="0" y="203200"/>
                  </a:cubicBezTo>
                  <a:cubicBezTo>
                    <a:pt x="0" y="90976"/>
                    <a:pt x="90976" y="0"/>
                    <a:pt x="203200" y="0"/>
                  </a:cubicBezTo>
                  <a:close/>
                </a:path>
              </a:pathLst>
            </a:custGeom>
            <a:solidFill>
              <a:srgbClr val="F0BC0F"/>
            </a:solidFill>
          </p:spPr>
        </p:sp>
        <p:sp>
          <p:nvSpPr>
            <p:cNvPr id="17" name="TextBox 17"/>
            <p:cNvSpPr txBox="1"/>
            <p:nvPr/>
          </p:nvSpPr>
          <p:spPr>
            <a:xfrm>
              <a:off x="0" y="-38100"/>
              <a:ext cx="1167801" cy="44450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029391" y="1028700"/>
            <a:ext cx="994100" cy="345951"/>
            <a:chOff x="0" y="0"/>
            <a:chExt cx="1167801" cy="406400"/>
          </a:xfrm>
        </p:grpSpPr>
        <p:sp>
          <p:nvSpPr>
            <p:cNvPr id="19" name="Freeform 19"/>
            <p:cNvSpPr/>
            <p:nvPr/>
          </p:nvSpPr>
          <p:spPr>
            <a:xfrm>
              <a:off x="0" y="0"/>
              <a:ext cx="1167801" cy="406400"/>
            </a:xfrm>
            <a:custGeom>
              <a:avLst/>
              <a:gdLst/>
              <a:ahLst/>
              <a:cxnLst/>
              <a:rect l="l" t="t" r="r" b="b"/>
              <a:pathLst>
                <a:path w="1167801" h="406400">
                  <a:moveTo>
                    <a:pt x="964601" y="0"/>
                  </a:moveTo>
                  <a:cubicBezTo>
                    <a:pt x="1076826" y="0"/>
                    <a:pt x="1167801" y="90976"/>
                    <a:pt x="1167801" y="203200"/>
                  </a:cubicBezTo>
                  <a:cubicBezTo>
                    <a:pt x="1167801" y="315424"/>
                    <a:pt x="1076826" y="406400"/>
                    <a:pt x="964601" y="406400"/>
                  </a:cubicBezTo>
                  <a:lnTo>
                    <a:pt x="203200" y="406400"/>
                  </a:lnTo>
                  <a:cubicBezTo>
                    <a:pt x="90976" y="406400"/>
                    <a:pt x="0" y="315424"/>
                    <a:pt x="0" y="203200"/>
                  </a:cubicBezTo>
                  <a:cubicBezTo>
                    <a:pt x="0" y="90976"/>
                    <a:pt x="90976" y="0"/>
                    <a:pt x="203200" y="0"/>
                  </a:cubicBezTo>
                  <a:close/>
                </a:path>
              </a:pathLst>
            </a:custGeom>
            <a:solidFill>
              <a:srgbClr val="F0BC0F"/>
            </a:solidFill>
          </p:spPr>
        </p:sp>
        <p:sp>
          <p:nvSpPr>
            <p:cNvPr id="20" name="TextBox 20"/>
            <p:cNvSpPr txBox="1"/>
            <p:nvPr/>
          </p:nvSpPr>
          <p:spPr>
            <a:xfrm>
              <a:off x="0" y="-38100"/>
              <a:ext cx="1167801" cy="444500"/>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15785204" y="8766935"/>
            <a:ext cx="491365" cy="491365"/>
            <a:chOff x="0" y="0"/>
            <a:chExt cx="129413" cy="129413"/>
          </a:xfrm>
        </p:grpSpPr>
        <p:sp>
          <p:nvSpPr>
            <p:cNvPr id="22" name="Freeform 22"/>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23" name="TextBox 23"/>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24" name="Group 24"/>
          <p:cNvGrpSpPr/>
          <p:nvPr/>
        </p:nvGrpSpPr>
        <p:grpSpPr>
          <a:xfrm>
            <a:off x="1915735" y="8652123"/>
            <a:ext cx="491365" cy="491365"/>
            <a:chOff x="0" y="0"/>
            <a:chExt cx="129413" cy="129413"/>
          </a:xfrm>
        </p:grpSpPr>
        <p:sp>
          <p:nvSpPr>
            <p:cNvPr id="25" name="Freeform 25"/>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26" name="TextBox 26"/>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27" name="Group 27"/>
          <p:cNvGrpSpPr/>
          <p:nvPr/>
        </p:nvGrpSpPr>
        <p:grpSpPr>
          <a:xfrm>
            <a:off x="1028700" y="8537312"/>
            <a:ext cx="720988" cy="720988"/>
            <a:chOff x="0" y="0"/>
            <a:chExt cx="189890" cy="189890"/>
          </a:xfrm>
        </p:grpSpPr>
        <p:sp>
          <p:nvSpPr>
            <p:cNvPr id="28" name="Freeform 28"/>
            <p:cNvSpPr/>
            <p:nvPr/>
          </p:nvSpPr>
          <p:spPr>
            <a:xfrm>
              <a:off x="0" y="0"/>
              <a:ext cx="189890" cy="189890"/>
            </a:xfrm>
            <a:custGeom>
              <a:avLst/>
              <a:gdLst/>
              <a:ahLst/>
              <a:cxnLst/>
              <a:rect l="l" t="t" r="r" b="b"/>
              <a:pathLst>
                <a:path w="189890" h="189890">
                  <a:moveTo>
                    <a:pt x="0" y="0"/>
                  </a:moveTo>
                  <a:lnTo>
                    <a:pt x="189890" y="0"/>
                  </a:lnTo>
                  <a:lnTo>
                    <a:pt x="189890" y="189890"/>
                  </a:lnTo>
                  <a:lnTo>
                    <a:pt x="0" y="189890"/>
                  </a:lnTo>
                  <a:close/>
                </a:path>
              </a:pathLst>
            </a:custGeom>
            <a:solidFill>
              <a:srgbClr val="F0BC0F"/>
            </a:solidFill>
          </p:spPr>
        </p:sp>
        <p:sp>
          <p:nvSpPr>
            <p:cNvPr id="29" name="TextBox 29"/>
            <p:cNvSpPr txBox="1"/>
            <p:nvPr/>
          </p:nvSpPr>
          <p:spPr>
            <a:xfrm>
              <a:off x="0" y="-38100"/>
              <a:ext cx="189890" cy="227990"/>
            </a:xfrm>
            <a:prstGeom prst="rect">
              <a:avLst/>
            </a:prstGeom>
          </p:spPr>
          <p:txBody>
            <a:bodyPr lIns="50800" tIns="50800" rIns="50800" bIns="50800" rtlCol="0" anchor="ctr"/>
            <a:lstStyle/>
            <a:p>
              <a:pPr algn="ctr">
                <a:lnSpc>
                  <a:spcPts val="2659"/>
                </a:lnSpc>
              </a:pPr>
              <a:endParaRPr/>
            </a:p>
          </p:txBody>
        </p:sp>
      </p:grpSp>
      <p:grpSp>
        <p:nvGrpSpPr>
          <p:cNvPr id="30" name="Group 30"/>
          <p:cNvGrpSpPr/>
          <p:nvPr/>
        </p:nvGrpSpPr>
        <p:grpSpPr>
          <a:xfrm>
            <a:off x="16276569" y="8275569"/>
            <a:ext cx="491365" cy="491365"/>
            <a:chOff x="0" y="0"/>
            <a:chExt cx="129413" cy="129413"/>
          </a:xfrm>
        </p:grpSpPr>
        <p:sp>
          <p:nvSpPr>
            <p:cNvPr id="31" name="Freeform 31"/>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32" name="TextBox 32"/>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33" name="Group 33"/>
          <p:cNvGrpSpPr/>
          <p:nvPr/>
        </p:nvGrpSpPr>
        <p:grpSpPr>
          <a:xfrm>
            <a:off x="16767935" y="7784204"/>
            <a:ext cx="491365" cy="491365"/>
            <a:chOff x="0" y="0"/>
            <a:chExt cx="129413" cy="129413"/>
          </a:xfrm>
        </p:grpSpPr>
        <p:sp>
          <p:nvSpPr>
            <p:cNvPr id="34" name="Freeform 34"/>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35" name="TextBox 35"/>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222222">
                <a:alpha val="100000"/>
              </a:srgbClr>
            </a:gs>
            <a:gs pos="100000">
              <a:srgbClr val="0E0E0E">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2"/>
          <p:cNvSpPr txBox="1"/>
          <p:nvPr/>
        </p:nvSpPr>
        <p:spPr>
          <a:xfrm>
            <a:off x="1028700" y="3644252"/>
            <a:ext cx="6027581" cy="1365250"/>
          </a:xfrm>
          <a:prstGeom prst="rect">
            <a:avLst/>
          </a:prstGeom>
        </p:spPr>
        <p:txBody>
          <a:bodyPr lIns="0" tIns="0" rIns="0" bIns="0" rtlCol="0" anchor="t">
            <a:spAutoFit/>
          </a:bodyPr>
          <a:lstStyle/>
          <a:p>
            <a:pPr algn="l">
              <a:lnSpc>
                <a:spcPts val="5224"/>
              </a:lnSpc>
            </a:pPr>
            <a:r>
              <a:rPr lang="en-US" sz="5499" b="1">
                <a:solidFill>
                  <a:srgbClr val="FFFFFF"/>
                </a:solidFill>
                <a:latin typeface="TT Hoves Bold"/>
                <a:ea typeface="TT Hoves Bold"/>
                <a:cs typeface="TT Hoves Bold"/>
                <a:sym typeface="TT Hoves Bold"/>
              </a:rPr>
              <a:t>MILITARY TECHNOLOGY</a:t>
            </a:r>
          </a:p>
        </p:txBody>
      </p:sp>
      <p:grpSp>
        <p:nvGrpSpPr>
          <p:cNvPr id="3" name="Group 3"/>
          <p:cNvGrpSpPr/>
          <p:nvPr/>
        </p:nvGrpSpPr>
        <p:grpSpPr>
          <a:xfrm>
            <a:off x="14525287" y="178165"/>
            <a:ext cx="3577780" cy="9930670"/>
            <a:chOff x="0" y="0"/>
            <a:chExt cx="292832" cy="812800"/>
          </a:xfrm>
        </p:grpSpPr>
        <p:sp>
          <p:nvSpPr>
            <p:cNvPr id="4" name="Freeform 4"/>
            <p:cNvSpPr/>
            <p:nvPr/>
          </p:nvSpPr>
          <p:spPr>
            <a:xfrm>
              <a:off x="0" y="0"/>
              <a:ext cx="292832" cy="812800"/>
            </a:xfrm>
            <a:custGeom>
              <a:avLst/>
              <a:gdLst/>
              <a:ahLst/>
              <a:cxnLst/>
              <a:rect l="l" t="t" r="r" b="b"/>
              <a:pathLst>
                <a:path w="292832" h="812800">
                  <a:moveTo>
                    <a:pt x="0" y="0"/>
                  </a:moveTo>
                  <a:lnTo>
                    <a:pt x="292832" y="0"/>
                  </a:lnTo>
                  <a:lnTo>
                    <a:pt x="292832" y="812800"/>
                  </a:lnTo>
                  <a:lnTo>
                    <a:pt x="0" y="812800"/>
                  </a:lnTo>
                  <a:close/>
                </a:path>
              </a:pathLst>
            </a:custGeom>
            <a:blipFill>
              <a:blip r:embed="rId2"/>
              <a:stretch>
                <a:fillRect l="-105167" b="-10944"/>
              </a:stretch>
            </a:blipFill>
          </p:spPr>
        </p:sp>
      </p:grpSp>
      <p:grpSp>
        <p:nvGrpSpPr>
          <p:cNvPr id="5" name="Group 5"/>
          <p:cNvGrpSpPr/>
          <p:nvPr/>
        </p:nvGrpSpPr>
        <p:grpSpPr>
          <a:xfrm>
            <a:off x="10759477" y="4506325"/>
            <a:ext cx="3577780" cy="5602510"/>
            <a:chOff x="0" y="0"/>
            <a:chExt cx="292832" cy="458551"/>
          </a:xfrm>
        </p:grpSpPr>
        <p:sp>
          <p:nvSpPr>
            <p:cNvPr id="6" name="Freeform 6"/>
            <p:cNvSpPr/>
            <p:nvPr/>
          </p:nvSpPr>
          <p:spPr>
            <a:xfrm>
              <a:off x="0" y="0"/>
              <a:ext cx="292832" cy="458551"/>
            </a:xfrm>
            <a:custGeom>
              <a:avLst/>
              <a:gdLst/>
              <a:ahLst/>
              <a:cxnLst/>
              <a:rect l="l" t="t" r="r" b="b"/>
              <a:pathLst>
                <a:path w="292832" h="458551">
                  <a:moveTo>
                    <a:pt x="0" y="0"/>
                  </a:moveTo>
                  <a:lnTo>
                    <a:pt x="292832" y="0"/>
                  </a:lnTo>
                  <a:lnTo>
                    <a:pt x="292832" y="458551"/>
                  </a:lnTo>
                  <a:lnTo>
                    <a:pt x="0" y="458551"/>
                  </a:lnTo>
                  <a:close/>
                </a:path>
              </a:pathLst>
            </a:custGeom>
            <a:blipFill>
              <a:blip r:embed="rId2"/>
              <a:stretch>
                <a:fillRect t="-76914" r="-105007" b="-19585"/>
              </a:stretch>
            </a:blipFill>
          </p:spPr>
        </p:sp>
      </p:grpSp>
      <p:grpSp>
        <p:nvGrpSpPr>
          <p:cNvPr id="7" name="Group 7"/>
          <p:cNvGrpSpPr/>
          <p:nvPr/>
        </p:nvGrpSpPr>
        <p:grpSpPr>
          <a:xfrm>
            <a:off x="10759477" y="178165"/>
            <a:ext cx="3577780" cy="4133755"/>
            <a:chOff x="0" y="0"/>
            <a:chExt cx="292832" cy="338337"/>
          </a:xfrm>
        </p:grpSpPr>
        <p:sp>
          <p:nvSpPr>
            <p:cNvPr id="8" name="Freeform 8"/>
            <p:cNvSpPr/>
            <p:nvPr/>
          </p:nvSpPr>
          <p:spPr>
            <a:xfrm>
              <a:off x="0" y="0"/>
              <a:ext cx="292832" cy="338337"/>
            </a:xfrm>
            <a:custGeom>
              <a:avLst/>
              <a:gdLst/>
              <a:ahLst/>
              <a:cxnLst/>
              <a:rect l="l" t="t" r="r" b="b"/>
              <a:pathLst>
                <a:path w="292832" h="338337">
                  <a:moveTo>
                    <a:pt x="0" y="0"/>
                  </a:moveTo>
                  <a:lnTo>
                    <a:pt x="292832" y="0"/>
                  </a:lnTo>
                  <a:lnTo>
                    <a:pt x="292832" y="338337"/>
                  </a:lnTo>
                  <a:lnTo>
                    <a:pt x="0" y="338337"/>
                  </a:lnTo>
                  <a:close/>
                </a:path>
              </a:pathLst>
            </a:custGeom>
            <a:blipFill>
              <a:blip r:embed="rId2"/>
              <a:stretch>
                <a:fillRect r="-105589" b="-167074"/>
              </a:stretch>
            </a:blipFill>
          </p:spPr>
        </p:sp>
      </p:grpSp>
      <p:sp>
        <p:nvSpPr>
          <p:cNvPr id="9" name="TextBox 9"/>
          <p:cNvSpPr txBox="1"/>
          <p:nvPr/>
        </p:nvSpPr>
        <p:spPr>
          <a:xfrm>
            <a:off x="1028700" y="5433073"/>
            <a:ext cx="8738884" cy="1333500"/>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Lato"/>
                <a:ea typeface="Lato"/>
                <a:cs typeface="Lato"/>
                <a:sym typeface="Lato"/>
              </a:rPr>
              <a:t>Innovation is the driving force of military business. The current focus areas include artificial intelligence, robotics, unmanned aerial vehicles (UAVs), hypersonic weapons, and quantum communication. For example, the drone market in defense is expected to grow by 20% annually, as nations invest in surveillance and unmanned strike capabilities. Technology transfer often spills into civilian markets, creating dual-use products.</a:t>
            </a:r>
          </a:p>
        </p:txBody>
      </p:sp>
      <p:grpSp>
        <p:nvGrpSpPr>
          <p:cNvPr id="10" name="Group 10"/>
          <p:cNvGrpSpPr/>
          <p:nvPr/>
        </p:nvGrpSpPr>
        <p:grpSpPr>
          <a:xfrm>
            <a:off x="1028700" y="1028700"/>
            <a:ext cx="994100" cy="345951"/>
            <a:chOff x="0" y="0"/>
            <a:chExt cx="1167801" cy="406400"/>
          </a:xfrm>
        </p:grpSpPr>
        <p:sp>
          <p:nvSpPr>
            <p:cNvPr id="11" name="Freeform 11"/>
            <p:cNvSpPr/>
            <p:nvPr/>
          </p:nvSpPr>
          <p:spPr>
            <a:xfrm>
              <a:off x="0" y="0"/>
              <a:ext cx="1167801" cy="406400"/>
            </a:xfrm>
            <a:custGeom>
              <a:avLst/>
              <a:gdLst/>
              <a:ahLst/>
              <a:cxnLst/>
              <a:rect l="l" t="t" r="r" b="b"/>
              <a:pathLst>
                <a:path w="1167801" h="406400">
                  <a:moveTo>
                    <a:pt x="964601" y="0"/>
                  </a:moveTo>
                  <a:cubicBezTo>
                    <a:pt x="1076826" y="0"/>
                    <a:pt x="1167801" y="90976"/>
                    <a:pt x="1167801" y="203200"/>
                  </a:cubicBezTo>
                  <a:cubicBezTo>
                    <a:pt x="1167801" y="315424"/>
                    <a:pt x="1076826" y="406400"/>
                    <a:pt x="964601" y="406400"/>
                  </a:cubicBezTo>
                  <a:lnTo>
                    <a:pt x="203200" y="406400"/>
                  </a:lnTo>
                  <a:cubicBezTo>
                    <a:pt x="90976" y="406400"/>
                    <a:pt x="0" y="315424"/>
                    <a:pt x="0" y="203200"/>
                  </a:cubicBezTo>
                  <a:cubicBezTo>
                    <a:pt x="0" y="90976"/>
                    <a:pt x="90976" y="0"/>
                    <a:pt x="203200" y="0"/>
                  </a:cubicBezTo>
                  <a:close/>
                </a:path>
              </a:pathLst>
            </a:custGeom>
            <a:solidFill>
              <a:srgbClr val="F0BC0F"/>
            </a:solidFill>
          </p:spPr>
        </p:sp>
        <p:sp>
          <p:nvSpPr>
            <p:cNvPr id="12" name="TextBox 12"/>
            <p:cNvSpPr txBox="1"/>
            <p:nvPr/>
          </p:nvSpPr>
          <p:spPr>
            <a:xfrm>
              <a:off x="0" y="-38100"/>
              <a:ext cx="1167801" cy="44450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0262427" y="8912349"/>
            <a:ext cx="994100" cy="345951"/>
            <a:chOff x="0" y="0"/>
            <a:chExt cx="1167801" cy="406400"/>
          </a:xfrm>
        </p:grpSpPr>
        <p:sp>
          <p:nvSpPr>
            <p:cNvPr id="14" name="Freeform 14"/>
            <p:cNvSpPr/>
            <p:nvPr/>
          </p:nvSpPr>
          <p:spPr>
            <a:xfrm>
              <a:off x="0" y="0"/>
              <a:ext cx="1167801" cy="406400"/>
            </a:xfrm>
            <a:custGeom>
              <a:avLst/>
              <a:gdLst/>
              <a:ahLst/>
              <a:cxnLst/>
              <a:rect l="l" t="t" r="r" b="b"/>
              <a:pathLst>
                <a:path w="1167801" h="406400">
                  <a:moveTo>
                    <a:pt x="964601" y="0"/>
                  </a:moveTo>
                  <a:cubicBezTo>
                    <a:pt x="1076826" y="0"/>
                    <a:pt x="1167801" y="90976"/>
                    <a:pt x="1167801" y="203200"/>
                  </a:cubicBezTo>
                  <a:cubicBezTo>
                    <a:pt x="1167801" y="315424"/>
                    <a:pt x="1076826" y="406400"/>
                    <a:pt x="964601" y="406400"/>
                  </a:cubicBezTo>
                  <a:lnTo>
                    <a:pt x="203200" y="406400"/>
                  </a:lnTo>
                  <a:cubicBezTo>
                    <a:pt x="90976" y="406400"/>
                    <a:pt x="0" y="315424"/>
                    <a:pt x="0" y="203200"/>
                  </a:cubicBezTo>
                  <a:cubicBezTo>
                    <a:pt x="0" y="90976"/>
                    <a:pt x="90976" y="0"/>
                    <a:pt x="203200" y="0"/>
                  </a:cubicBezTo>
                  <a:close/>
                </a:path>
              </a:pathLst>
            </a:custGeom>
            <a:solidFill>
              <a:srgbClr val="F0BC0F"/>
            </a:solidFill>
          </p:spPr>
        </p:sp>
        <p:sp>
          <p:nvSpPr>
            <p:cNvPr id="15" name="TextBox 15"/>
            <p:cNvSpPr txBox="1"/>
            <p:nvPr/>
          </p:nvSpPr>
          <p:spPr>
            <a:xfrm>
              <a:off x="0" y="-38100"/>
              <a:ext cx="1167801" cy="44450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8060030" y="2011431"/>
            <a:ext cx="491365" cy="491365"/>
            <a:chOff x="0" y="0"/>
            <a:chExt cx="129413" cy="129413"/>
          </a:xfrm>
        </p:grpSpPr>
        <p:sp>
          <p:nvSpPr>
            <p:cNvPr id="17" name="Freeform 17"/>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18" name="TextBox 18"/>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915735" y="8089004"/>
            <a:ext cx="491365" cy="491365"/>
            <a:chOff x="0" y="0"/>
            <a:chExt cx="129413" cy="129413"/>
          </a:xfrm>
        </p:grpSpPr>
        <p:sp>
          <p:nvSpPr>
            <p:cNvPr id="20" name="Freeform 20"/>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21" name="TextBox 21"/>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1028700" y="7974193"/>
            <a:ext cx="720988" cy="720988"/>
            <a:chOff x="0" y="0"/>
            <a:chExt cx="189890" cy="189890"/>
          </a:xfrm>
        </p:grpSpPr>
        <p:sp>
          <p:nvSpPr>
            <p:cNvPr id="23" name="Freeform 23"/>
            <p:cNvSpPr/>
            <p:nvPr/>
          </p:nvSpPr>
          <p:spPr>
            <a:xfrm>
              <a:off x="0" y="0"/>
              <a:ext cx="189890" cy="189890"/>
            </a:xfrm>
            <a:custGeom>
              <a:avLst/>
              <a:gdLst/>
              <a:ahLst/>
              <a:cxnLst/>
              <a:rect l="l" t="t" r="r" b="b"/>
              <a:pathLst>
                <a:path w="189890" h="189890">
                  <a:moveTo>
                    <a:pt x="0" y="0"/>
                  </a:moveTo>
                  <a:lnTo>
                    <a:pt x="189890" y="0"/>
                  </a:lnTo>
                  <a:lnTo>
                    <a:pt x="189890" y="189890"/>
                  </a:lnTo>
                  <a:lnTo>
                    <a:pt x="0" y="189890"/>
                  </a:lnTo>
                  <a:close/>
                </a:path>
              </a:pathLst>
            </a:custGeom>
            <a:solidFill>
              <a:srgbClr val="F0BC0F"/>
            </a:solidFill>
          </p:spPr>
        </p:sp>
        <p:sp>
          <p:nvSpPr>
            <p:cNvPr id="24" name="TextBox 24"/>
            <p:cNvSpPr txBox="1"/>
            <p:nvPr/>
          </p:nvSpPr>
          <p:spPr>
            <a:xfrm>
              <a:off x="0" y="-38100"/>
              <a:ext cx="189890" cy="227990"/>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a:off x="8551395" y="1520065"/>
            <a:ext cx="491365" cy="491365"/>
            <a:chOff x="0" y="0"/>
            <a:chExt cx="129413" cy="129413"/>
          </a:xfrm>
        </p:grpSpPr>
        <p:sp>
          <p:nvSpPr>
            <p:cNvPr id="26" name="Freeform 26"/>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27" name="TextBox 27"/>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28" name="Group 28"/>
          <p:cNvGrpSpPr/>
          <p:nvPr/>
        </p:nvGrpSpPr>
        <p:grpSpPr>
          <a:xfrm>
            <a:off x="9042760" y="1028700"/>
            <a:ext cx="491365" cy="491365"/>
            <a:chOff x="0" y="0"/>
            <a:chExt cx="129413" cy="129413"/>
          </a:xfrm>
        </p:grpSpPr>
        <p:sp>
          <p:nvSpPr>
            <p:cNvPr id="29" name="Freeform 29"/>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30" name="TextBox 30"/>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222222">
                <a:alpha val="100000"/>
              </a:srgbClr>
            </a:gs>
            <a:gs pos="100000">
              <a:srgbClr val="0E0E0E">
                <a:alpha val="100000"/>
              </a:srgbClr>
            </a:gs>
          </a:gsLst>
          <a:path path="circle">
            <a:fillToRect l="50000" t="50000" r="50000" b="50000"/>
          </a:path>
        </a:gra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028700" y="4924425"/>
          <a:ext cx="10538460" cy="4333875"/>
        </p:xfrm>
        <a:graphic>
          <a:graphicData uri="http://schemas.openxmlformats.org/drawingml/2006/table">
            <a:tbl>
              <a:tblPr/>
              <a:tblGrid>
                <a:gridCol w="3512820">
                  <a:extLst>
                    <a:ext uri="{9D8B030D-6E8A-4147-A177-3AD203B41FA5}">
                      <a16:colId xmlns:a16="http://schemas.microsoft.com/office/drawing/2014/main" val="20000"/>
                    </a:ext>
                  </a:extLst>
                </a:gridCol>
                <a:gridCol w="3512820">
                  <a:extLst>
                    <a:ext uri="{9D8B030D-6E8A-4147-A177-3AD203B41FA5}">
                      <a16:colId xmlns:a16="http://schemas.microsoft.com/office/drawing/2014/main" val="20001"/>
                    </a:ext>
                  </a:extLst>
                </a:gridCol>
                <a:gridCol w="3512820">
                  <a:extLst>
                    <a:ext uri="{9D8B030D-6E8A-4147-A177-3AD203B41FA5}">
                      <a16:colId xmlns:a16="http://schemas.microsoft.com/office/drawing/2014/main" val="20002"/>
                    </a:ext>
                  </a:extLst>
                </a:gridCol>
              </a:tblGrid>
              <a:tr h="801862">
                <a:tc>
                  <a:txBody>
                    <a:bodyPr/>
                    <a:lstStyle/>
                    <a:p>
                      <a:pPr algn="ctr">
                        <a:lnSpc>
                          <a:spcPts val="2799"/>
                        </a:lnSpc>
                        <a:defRPr/>
                      </a:pPr>
                      <a:r>
                        <a:rPr lang="en-US" sz="1999" b="1">
                          <a:solidFill>
                            <a:srgbClr val="000000"/>
                          </a:solidFill>
                          <a:latin typeface="Lato Bold"/>
                          <a:ea typeface="Lato Bold"/>
                          <a:cs typeface="Lato Bold"/>
                          <a:sym typeface="Lato Bold"/>
                        </a:rPr>
                        <a:t>Region</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0BC0F"/>
                    </a:solidFill>
                  </a:tcPr>
                </a:tc>
                <a:tc>
                  <a:txBody>
                    <a:bodyPr/>
                    <a:lstStyle/>
                    <a:p>
                      <a:pPr algn="ctr">
                        <a:lnSpc>
                          <a:spcPts val="2799"/>
                        </a:lnSpc>
                        <a:defRPr/>
                      </a:pPr>
                      <a:r>
                        <a:rPr lang="en-US" sz="1999" b="1">
                          <a:solidFill>
                            <a:srgbClr val="000000"/>
                          </a:solidFill>
                          <a:latin typeface="Lato Bold"/>
                          <a:ea typeface="Lato Bold"/>
                          <a:cs typeface="Lato Bold"/>
                          <a:sym typeface="Lato Bold"/>
                        </a:rPr>
                        <a:t>Spending (USD Trillion)</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0BC0F"/>
                    </a:solidFill>
                  </a:tcPr>
                </a:tc>
                <a:tc>
                  <a:txBody>
                    <a:bodyPr/>
                    <a:lstStyle/>
                    <a:p>
                      <a:pPr algn="ctr">
                        <a:lnSpc>
                          <a:spcPts val="2799"/>
                        </a:lnSpc>
                        <a:defRPr/>
                      </a:pPr>
                      <a:r>
                        <a:rPr lang="en-US" sz="1999" b="1">
                          <a:solidFill>
                            <a:srgbClr val="000000"/>
                          </a:solidFill>
                          <a:latin typeface="Lato Bold"/>
                          <a:ea typeface="Lato Bold"/>
                          <a:cs typeface="Lato Bold"/>
                          <a:sym typeface="Lato Bold"/>
                        </a:rPr>
                        <a:t>Percentage</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0BC0F"/>
                    </a:solidFill>
                  </a:tcPr>
                </a:tc>
                <a:extLst>
                  <a:ext uri="{0D108BD9-81ED-4DB2-BD59-A6C34878D82A}">
                    <a16:rowId xmlns:a16="http://schemas.microsoft.com/office/drawing/2014/main" val="10000"/>
                  </a:ext>
                </a:extLst>
              </a:tr>
              <a:tr h="706403">
                <a:tc>
                  <a:txBody>
                    <a:bodyPr/>
                    <a:lstStyle/>
                    <a:p>
                      <a:pPr algn="ctr">
                        <a:lnSpc>
                          <a:spcPts val="2100"/>
                        </a:lnSpc>
                        <a:defRPr/>
                      </a:pPr>
                      <a:r>
                        <a:rPr lang="en-US" sz="1500">
                          <a:solidFill>
                            <a:srgbClr val="FFFFFF"/>
                          </a:solidFill>
                          <a:latin typeface="Lato"/>
                          <a:ea typeface="Lato"/>
                          <a:cs typeface="Lato"/>
                          <a:sym typeface="Lato"/>
                        </a:rPr>
                        <a:t>North America</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100"/>
                        </a:lnSpc>
                        <a:defRPr/>
                      </a:pPr>
                      <a:r>
                        <a:rPr lang="en-US" sz="1500">
                          <a:solidFill>
                            <a:srgbClr val="FFFFFF"/>
                          </a:solidFill>
                          <a:latin typeface="Lato"/>
                          <a:ea typeface="Lato"/>
                          <a:cs typeface="Lato"/>
                          <a:sym typeface="Lato"/>
                        </a:rPr>
                        <a:t>0.95</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100"/>
                        </a:lnSpc>
                        <a:defRPr/>
                      </a:pPr>
                      <a:r>
                        <a:rPr lang="en-US" sz="1500">
                          <a:solidFill>
                            <a:srgbClr val="FFFFFF"/>
                          </a:solidFill>
                          <a:latin typeface="Lato"/>
                          <a:ea typeface="Lato"/>
                          <a:cs typeface="Lato"/>
                          <a:sym typeface="Lato"/>
                        </a:rPr>
                        <a:t>47%</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706403">
                <a:tc>
                  <a:txBody>
                    <a:bodyPr/>
                    <a:lstStyle/>
                    <a:p>
                      <a:pPr algn="ctr">
                        <a:lnSpc>
                          <a:spcPts val="2100"/>
                        </a:lnSpc>
                        <a:defRPr/>
                      </a:pPr>
                      <a:r>
                        <a:rPr lang="en-US" sz="1500">
                          <a:solidFill>
                            <a:srgbClr val="FFFFFF"/>
                          </a:solidFill>
                          <a:latin typeface="Lato"/>
                          <a:ea typeface="Lato"/>
                          <a:cs typeface="Lato"/>
                          <a:sym typeface="Lato"/>
                        </a:rPr>
                        <a:t>Asia-Pacific</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100"/>
                        </a:lnSpc>
                        <a:defRPr/>
                      </a:pPr>
                      <a:r>
                        <a:rPr lang="en-US" sz="1500">
                          <a:solidFill>
                            <a:srgbClr val="FFFFFF"/>
                          </a:solidFill>
                          <a:latin typeface="Lato"/>
                          <a:ea typeface="Lato"/>
                          <a:cs typeface="Lato"/>
                          <a:sym typeface="Lato"/>
                        </a:rPr>
                        <a:t>0.65</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100"/>
                        </a:lnSpc>
                        <a:defRPr/>
                      </a:pPr>
                      <a:r>
                        <a:rPr lang="en-US" sz="1500">
                          <a:solidFill>
                            <a:srgbClr val="FFFFFF"/>
                          </a:solidFill>
                          <a:latin typeface="Lato"/>
                          <a:ea typeface="Lato"/>
                          <a:cs typeface="Lato"/>
                          <a:sym typeface="Lato"/>
                        </a:rPr>
                        <a:t>32%</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706403">
                <a:tc>
                  <a:txBody>
                    <a:bodyPr/>
                    <a:lstStyle/>
                    <a:p>
                      <a:pPr algn="ctr">
                        <a:lnSpc>
                          <a:spcPts val="2100"/>
                        </a:lnSpc>
                        <a:defRPr/>
                      </a:pPr>
                      <a:r>
                        <a:rPr lang="en-US" sz="1500">
                          <a:solidFill>
                            <a:srgbClr val="FFFFFF"/>
                          </a:solidFill>
                          <a:latin typeface="Lato"/>
                          <a:ea typeface="Lato"/>
                          <a:cs typeface="Lato"/>
                          <a:sym typeface="Lato"/>
                        </a:rPr>
                        <a:t>Europe</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100"/>
                        </a:lnSpc>
                        <a:defRPr/>
                      </a:pPr>
                      <a:r>
                        <a:rPr lang="en-US" sz="1500">
                          <a:solidFill>
                            <a:srgbClr val="FFFFFF"/>
                          </a:solidFill>
                          <a:latin typeface="Lato"/>
                          <a:ea typeface="Lato"/>
                          <a:cs typeface="Lato"/>
                          <a:sym typeface="Lato"/>
                        </a:rPr>
                        <a:t>0.30</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100"/>
                        </a:lnSpc>
                        <a:defRPr/>
                      </a:pPr>
                      <a:r>
                        <a:rPr lang="en-US" sz="1500">
                          <a:solidFill>
                            <a:srgbClr val="FFFFFF"/>
                          </a:solidFill>
                          <a:latin typeface="Lato"/>
                          <a:ea typeface="Lato"/>
                          <a:cs typeface="Lato"/>
                          <a:sym typeface="Lato"/>
                        </a:rPr>
                        <a:t>15%</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706403">
                <a:tc>
                  <a:txBody>
                    <a:bodyPr/>
                    <a:lstStyle/>
                    <a:p>
                      <a:pPr algn="ctr">
                        <a:lnSpc>
                          <a:spcPts val="2100"/>
                        </a:lnSpc>
                        <a:defRPr/>
                      </a:pPr>
                      <a:r>
                        <a:rPr lang="en-US" sz="1500">
                          <a:solidFill>
                            <a:srgbClr val="FFFFFF"/>
                          </a:solidFill>
                          <a:latin typeface="Lato"/>
                          <a:ea typeface="Lato"/>
                          <a:cs typeface="Lato"/>
                          <a:sym typeface="Lato"/>
                        </a:rPr>
                        <a:t>Middle East</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100"/>
                        </a:lnSpc>
                        <a:defRPr/>
                      </a:pPr>
                      <a:r>
                        <a:rPr lang="en-US" sz="1500">
                          <a:solidFill>
                            <a:srgbClr val="FFFFFF"/>
                          </a:solidFill>
                          <a:latin typeface="Lato"/>
                          <a:ea typeface="Lato"/>
                          <a:cs typeface="Lato"/>
                          <a:sym typeface="Lato"/>
                        </a:rPr>
                        <a:t>0.09</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100"/>
                        </a:lnSpc>
                        <a:defRPr/>
                      </a:pPr>
                      <a:r>
                        <a:rPr lang="en-US" sz="1500">
                          <a:solidFill>
                            <a:srgbClr val="FFFFFF"/>
                          </a:solidFill>
                          <a:latin typeface="Lato"/>
                          <a:ea typeface="Lato"/>
                          <a:cs typeface="Lato"/>
                          <a:sym typeface="Lato"/>
                        </a:rPr>
                        <a:t>4%</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r h="706403">
                <a:tc>
                  <a:txBody>
                    <a:bodyPr/>
                    <a:lstStyle/>
                    <a:p>
                      <a:pPr algn="ctr">
                        <a:lnSpc>
                          <a:spcPts val="2100"/>
                        </a:lnSpc>
                        <a:defRPr/>
                      </a:pPr>
                      <a:r>
                        <a:rPr lang="en-US" sz="1500">
                          <a:solidFill>
                            <a:srgbClr val="FFFFFF"/>
                          </a:solidFill>
                          <a:latin typeface="Lato"/>
                          <a:ea typeface="Lato"/>
                          <a:cs typeface="Lato"/>
                          <a:sym typeface="Lato"/>
                        </a:rPr>
                        <a:t>Africa</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100"/>
                        </a:lnSpc>
                        <a:defRPr/>
                      </a:pPr>
                      <a:r>
                        <a:rPr lang="en-US" sz="1500">
                          <a:solidFill>
                            <a:srgbClr val="FFFFFF"/>
                          </a:solidFill>
                          <a:latin typeface="Lato"/>
                          <a:ea typeface="Lato"/>
                          <a:cs typeface="Lato"/>
                          <a:sym typeface="Lato"/>
                        </a:rPr>
                        <a:t>0.03</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100"/>
                        </a:lnSpc>
                        <a:defRPr/>
                      </a:pPr>
                      <a:r>
                        <a:rPr lang="en-US" sz="1500">
                          <a:solidFill>
                            <a:srgbClr val="FFFFFF"/>
                          </a:solidFill>
                          <a:latin typeface="Lato"/>
                          <a:ea typeface="Lato"/>
                          <a:cs typeface="Lato"/>
                          <a:sym typeface="Lato"/>
                        </a:rPr>
                        <a:t>2%</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 name="TextBox 3"/>
          <p:cNvSpPr txBox="1"/>
          <p:nvPr/>
        </p:nvSpPr>
        <p:spPr>
          <a:xfrm>
            <a:off x="1028700" y="3126092"/>
            <a:ext cx="6027581" cy="1365250"/>
          </a:xfrm>
          <a:prstGeom prst="rect">
            <a:avLst/>
          </a:prstGeom>
        </p:spPr>
        <p:txBody>
          <a:bodyPr lIns="0" tIns="0" rIns="0" bIns="0" rtlCol="0" anchor="t">
            <a:spAutoFit/>
          </a:bodyPr>
          <a:lstStyle/>
          <a:p>
            <a:pPr algn="l">
              <a:lnSpc>
                <a:spcPts val="5224"/>
              </a:lnSpc>
            </a:pPr>
            <a:r>
              <a:rPr lang="en-US" sz="5499" b="1">
                <a:solidFill>
                  <a:srgbClr val="FFFFFF"/>
                </a:solidFill>
                <a:latin typeface="TT Hoves Bold"/>
                <a:ea typeface="TT Hoves Bold"/>
                <a:cs typeface="TT Hoves Bold"/>
                <a:sym typeface="TT Hoves Bold"/>
              </a:rPr>
              <a:t>MILITARY TECHNOLOGY</a:t>
            </a:r>
          </a:p>
        </p:txBody>
      </p:sp>
      <p:grpSp>
        <p:nvGrpSpPr>
          <p:cNvPr id="4" name="Group 4"/>
          <p:cNvGrpSpPr/>
          <p:nvPr/>
        </p:nvGrpSpPr>
        <p:grpSpPr>
          <a:xfrm>
            <a:off x="1029391" y="1028700"/>
            <a:ext cx="994100" cy="345951"/>
            <a:chOff x="0" y="0"/>
            <a:chExt cx="1167801" cy="406400"/>
          </a:xfrm>
        </p:grpSpPr>
        <p:sp>
          <p:nvSpPr>
            <p:cNvPr id="5" name="Freeform 5"/>
            <p:cNvSpPr/>
            <p:nvPr/>
          </p:nvSpPr>
          <p:spPr>
            <a:xfrm>
              <a:off x="0" y="0"/>
              <a:ext cx="1167801" cy="406400"/>
            </a:xfrm>
            <a:custGeom>
              <a:avLst/>
              <a:gdLst/>
              <a:ahLst/>
              <a:cxnLst/>
              <a:rect l="l" t="t" r="r" b="b"/>
              <a:pathLst>
                <a:path w="1167801" h="406400">
                  <a:moveTo>
                    <a:pt x="964601" y="0"/>
                  </a:moveTo>
                  <a:cubicBezTo>
                    <a:pt x="1076826" y="0"/>
                    <a:pt x="1167801" y="90976"/>
                    <a:pt x="1167801" y="203200"/>
                  </a:cubicBezTo>
                  <a:cubicBezTo>
                    <a:pt x="1167801" y="315424"/>
                    <a:pt x="1076826" y="406400"/>
                    <a:pt x="964601" y="406400"/>
                  </a:cubicBezTo>
                  <a:lnTo>
                    <a:pt x="203200" y="406400"/>
                  </a:lnTo>
                  <a:cubicBezTo>
                    <a:pt x="90976" y="406400"/>
                    <a:pt x="0" y="315424"/>
                    <a:pt x="0" y="203200"/>
                  </a:cubicBezTo>
                  <a:cubicBezTo>
                    <a:pt x="0" y="90976"/>
                    <a:pt x="90976" y="0"/>
                    <a:pt x="203200" y="0"/>
                  </a:cubicBezTo>
                  <a:close/>
                </a:path>
              </a:pathLst>
            </a:custGeom>
            <a:solidFill>
              <a:srgbClr val="F0BC0F"/>
            </a:solidFill>
          </p:spPr>
        </p:sp>
        <p:sp>
          <p:nvSpPr>
            <p:cNvPr id="6" name="TextBox 6"/>
            <p:cNvSpPr txBox="1"/>
            <p:nvPr/>
          </p:nvSpPr>
          <p:spPr>
            <a:xfrm>
              <a:off x="0" y="-38100"/>
              <a:ext cx="1167801" cy="444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2595374" y="0"/>
            <a:ext cx="5692626" cy="10287000"/>
            <a:chOff x="0" y="0"/>
            <a:chExt cx="465927" cy="841965"/>
          </a:xfrm>
        </p:grpSpPr>
        <p:sp>
          <p:nvSpPr>
            <p:cNvPr id="8" name="Freeform 8"/>
            <p:cNvSpPr/>
            <p:nvPr/>
          </p:nvSpPr>
          <p:spPr>
            <a:xfrm>
              <a:off x="0" y="0"/>
              <a:ext cx="465927" cy="841965"/>
            </a:xfrm>
            <a:custGeom>
              <a:avLst/>
              <a:gdLst/>
              <a:ahLst/>
              <a:cxnLst/>
              <a:rect l="l" t="t" r="r" b="b"/>
              <a:pathLst>
                <a:path w="465927" h="841965">
                  <a:moveTo>
                    <a:pt x="0" y="0"/>
                  </a:moveTo>
                  <a:lnTo>
                    <a:pt x="465927" y="0"/>
                  </a:lnTo>
                  <a:lnTo>
                    <a:pt x="465927" y="841965"/>
                  </a:lnTo>
                  <a:lnTo>
                    <a:pt x="0" y="841965"/>
                  </a:lnTo>
                  <a:close/>
                </a:path>
              </a:pathLst>
            </a:custGeom>
            <a:blipFill>
              <a:blip r:embed="rId2"/>
              <a:stretch>
                <a:fillRect l="-85615" r="-85615"/>
              </a:stretch>
            </a:blipFill>
          </p:spPr>
        </p:sp>
      </p:grpSp>
      <p:grpSp>
        <p:nvGrpSpPr>
          <p:cNvPr id="9" name="Group 9"/>
          <p:cNvGrpSpPr/>
          <p:nvPr/>
        </p:nvGrpSpPr>
        <p:grpSpPr>
          <a:xfrm>
            <a:off x="16767935" y="1143511"/>
            <a:ext cx="491365" cy="491365"/>
            <a:chOff x="0" y="0"/>
            <a:chExt cx="129413" cy="129413"/>
          </a:xfrm>
        </p:grpSpPr>
        <p:sp>
          <p:nvSpPr>
            <p:cNvPr id="10" name="Freeform 10"/>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11" name="TextBox 11"/>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880899" y="1028700"/>
            <a:ext cx="720988" cy="720988"/>
            <a:chOff x="0" y="0"/>
            <a:chExt cx="189890" cy="189890"/>
          </a:xfrm>
        </p:grpSpPr>
        <p:sp>
          <p:nvSpPr>
            <p:cNvPr id="13" name="Freeform 13"/>
            <p:cNvSpPr/>
            <p:nvPr/>
          </p:nvSpPr>
          <p:spPr>
            <a:xfrm>
              <a:off x="0" y="0"/>
              <a:ext cx="189890" cy="189890"/>
            </a:xfrm>
            <a:custGeom>
              <a:avLst/>
              <a:gdLst/>
              <a:ahLst/>
              <a:cxnLst/>
              <a:rect l="l" t="t" r="r" b="b"/>
              <a:pathLst>
                <a:path w="189890" h="189890">
                  <a:moveTo>
                    <a:pt x="0" y="0"/>
                  </a:moveTo>
                  <a:lnTo>
                    <a:pt x="189890" y="0"/>
                  </a:lnTo>
                  <a:lnTo>
                    <a:pt x="189890" y="189890"/>
                  </a:lnTo>
                  <a:lnTo>
                    <a:pt x="0" y="189890"/>
                  </a:lnTo>
                  <a:close/>
                </a:path>
              </a:pathLst>
            </a:custGeom>
            <a:solidFill>
              <a:srgbClr val="F0BC0F"/>
            </a:solidFill>
          </p:spPr>
        </p:sp>
        <p:sp>
          <p:nvSpPr>
            <p:cNvPr id="14" name="TextBox 14"/>
            <p:cNvSpPr txBox="1"/>
            <p:nvPr/>
          </p:nvSpPr>
          <p:spPr>
            <a:xfrm>
              <a:off x="0" y="-38100"/>
              <a:ext cx="189890" cy="22799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0093064" y="2011431"/>
            <a:ext cx="491365" cy="491365"/>
            <a:chOff x="0" y="0"/>
            <a:chExt cx="129413" cy="129413"/>
          </a:xfrm>
        </p:grpSpPr>
        <p:sp>
          <p:nvSpPr>
            <p:cNvPr id="16" name="Freeform 16"/>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17" name="TextBox 17"/>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0584429" y="1520065"/>
            <a:ext cx="491365" cy="491365"/>
            <a:chOff x="0" y="0"/>
            <a:chExt cx="129413" cy="129413"/>
          </a:xfrm>
        </p:grpSpPr>
        <p:sp>
          <p:nvSpPr>
            <p:cNvPr id="19" name="Freeform 19"/>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20" name="TextBox 20"/>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11075795" y="1028700"/>
            <a:ext cx="491365" cy="491365"/>
            <a:chOff x="0" y="0"/>
            <a:chExt cx="129413" cy="129413"/>
          </a:xfrm>
        </p:grpSpPr>
        <p:sp>
          <p:nvSpPr>
            <p:cNvPr id="22" name="Freeform 22"/>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23" name="TextBox 23"/>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222222">
                <a:alpha val="100000"/>
              </a:srgbClr>
            </a:gs>
            <a:gs pos="100000">
              <a:srgbClr val="0E0E0E">
                <a:alpha val="100000"/>
              </a:srgbClr>
            </a:gs>
          </a:gsLst>
          <a:path path="circle">
            <a:fillToRect l="50000" t="50000" r="50000" b="50000"/>
          </a:path>
        </a:gradFill>
        <a:effectLst/>
      </p:bgPr>
    </p:bg>
    <p:spTree>
      <p:nvGrpSpPr>
        <p:cNvPr id="1" name=""/>
        <p:cNvGrpSpPr/>
        <p:nvPr/>
      </p:nvGrpSpPr>
      <p:grpSpPr>
        <a:xfrm>
          <a:off x="0" y="0"/>
          <a:ext cx="0" cy="0"/>
          <a:chOff x="0" y="0"/>
          <a:chExt cx="0" cy="0"/>
        </a:xfrm>
      </p:grpSpPr>
      <p:grpSp>
        <p:nvGrpSpPr>
          <p:cNvPr id="2" name="Group 2"/>
          <p:cNvGrpSpPr/>
          <p:nvPr/>
        </p:nvGrpSpPr>
        <p:grpSpPr>
          <a:xfrm>
            <a:off x="11534868" y="178165"/>
            <a:ext cx="6568199" cy="3758470"/>
            <a:chOff x="0" y="0"/>
            <a:chExt cx="537590" cy="307621"/>
          </a:xfrm>
        </p:grpSpPr>
        <p:sp>
          <p:nvSpPr>
            <p:cNvPr id="3" name="Freeform 3"/>
            <p:cNvSpPr/>
            <p:nvPr/>
          </p:nvSpPr>
          <p:spPr>
            <a:xfrm>
              <a:off x="0" y="0"/>
              <a:ext cx="537590" cy="307621"/>
            </a:xfrm>
            <a:custGeom>
              <a:avLst/>
              <a:gdLst/>
              <a:ahLst/>
              <a:cxnLst/>
              <a:rect l="l" t="t" r="r" b="b"/>
              <a:pathLst>
                <a:path w="537590" h="307621">
                  <a:moveTo>
                    <a:pt x="0" y="0"/>
                  </a:moveTo>
                  <a:lnTo>
                    <a:pt x="537590" y="0"/>
                  </a:lnTo>
                  <a:lnTo>
                    <a:pt x="537590" y="307621"/>
                  </a:lnTo>
                  <a:lnTo>
                    <a:pt x="0" y="307621"/>
                  </a:lnTo>
                  <a:close/>
                </a:path>
              </a:pathLst>
            </a:custGeom>
            <a:blipFill>
              <a:blip r:embed="rId2"/>
              <a:stretch>
                <a:fillRect l="-594" b="-163858"/>
              </a:stretch>
            </a:blipFill>
          </p:spPr>
        </p:sp>
      </p:grpSp>
      <p:grpSp>
        <p:nvGrpSpPr>
          <p:cNvPr id="4" name="Group 4"/>
          <p:cNvGrpSpPr/>
          <p:nvPr/>
        </p:nvGrpSpPr>
        <p:grpSpPr>
          <a:xfrm>
            <a:off x="11534868" y="7426690"/>
            <a:ext cx="6568199" cy="2676430"/>
            <a:chOff x="0" y="0"/>
            <a:chExt cx="537590" cy="219059"/>
          </a:xfrm>
        </p:grpSpPr>
        <p:sp>
          <p:nvSpPr>
            <p:cNvPr id="5" name="Freeform 5"/>
            <p:cNvSpPr/>
            <p:nvPr/>
          </p:nvSpPr>
          <p:spPr>
            <a:xfrm>
              <a:off x="0" y="0"/>
              <a:ext cx="537590" cy="219059"/>
            </a:xfrm>
            <a:custGeom>
              <a:avLst/>
              <a:gdLst/>
              <a:ahLst/>
              <a:cxnLst/>
              <a:rect l="l" t="t" r="r" b="b"/>
              <a:pathLst>
                <a:path w="537590" h="219059">
                  <a:moveTo>
                    <a:pt x="0" y="0"/>
                  </a:moveTo>
                  <a:lnTo>
                    <a:pt x="537590" y="0"/>
                  </a:lnTo>
                  <a:lnTo>
                    <a:pt x="537590" y="219059"/>
                  </a:lnTo>
                  <a:lnTo>
                    <a:pt x="0" y="219059"/>
                  </a:lnTo>
                  <a:close/>
                </a:path>
              </a:pathLst>
            </a:custGeom>
            <a:blipFill>
              <a:blip r:embed="rId2"/>
              <a:stretch>
                <a:fillRect t="-271468" r="-848"/>
              </a:stretch>
            </a:blipFill>
          </p:spPr>
        </p:sp>
      </p:grpSp>
      <p:grpSp>
        <p:nvGrpSpPr>
          <p:cNvPr id="6" name="Group 6"/>
          <p:cNvGrpSpPr/>
          <p:nvPr/>
        </p:nvGrpSpPr>
        <p:grpSpPr>
          <a:xfrm>
            <a:off x="11534868" y="4126800"/>
            <a:ext cx="6568199" cy="3109724"/>
            <a:chOff x="0" y="0"/>
            <a:chExt cx="537590" cy="254523"/>
          </a:xfrm>
        </p:grpSpPr>
        <p:sp>
          <p:nvSpPr>
            <p:cNvPr id="7" name="Freeform 7"/>
            <p:cNvSpPr/>
            <p:nvPr/>
          </p:nvSpPr>
          <p:spPr>
            <a:xfrm>
              <a:off x="0" y="0"/>
              <a:ext cx="537590" cy="254523"/>
            </a:xfrm>
            <a:custGeom>
              <a:avLst/>
              <a:gdLst/>
              <a:ahLst/>
              <a:cxnLst/>
              <a:rect l="l" t="t" r="r" b="b"/>
              <a:pathLst>
                <a:path w="537590" h="254523">
                  <a:moveTo>
                    <a:pt x="0" y="0"/>
                  </a:moveTo>
                  <a:lnTo>
                    <a:pt x="537590" y="0"/>
                  </a:lnTo>
                  <a:lnTo>
                    <a:pt x="537590" y="254523"/>
                  </a:lnTo>
                  <a:lnTo>
                    <a:pt x="0" y="254523"/>
                  </a:lnTo>
                  <a:close/>
                </a:path>
              </a:pathLst>
            </a:custGeom>
            <a:blipFill>
              <a:blip r:embed="rId2"/>
              <a:stretch>
                <a:fillRect t="-126577" b="-90443"/>
              </a:stretch>
            </a:blipFill>
          </p:spPr>
        </p:sp>
      </p:grpSp>
      <p:sp>
        <p:nvSpPr>
          <p:cNvPr id="8" name="TextBox 8"/>
          <p:cNvSpPr txBox="1"/>
          <p:nvPr/>
        </p:nvSpPr>
        <p:spPr>
          <a:xfrm>
            <a:off x="1028700" y="3671083"/>
            <a:ext cx="6707288" cy="1365250"/>
          </a:xfrm>
          <a:prstGeom prst="rect">
            <a:avLst/>
          </a:prstGeom>
        </p:spPr>
        <p:txBody>
          <a:bodyPr lIns="0" tIns="0" rIns="0" bIns="0" rtlCol="0" anchor="t">
            <a:spAutoFit/>
          </a:bodyPr>
          <a:lstStyle/>
          <a:p>
            <a:pPr algn="l">
              <a:lnSpc>
                <a:spcPts val="5224"/>
              </a:lnSpc>
            </a:pPr>
            <a:r>
              <a:rPr lang="en-US" sz="5499" b="1">
                <a:solidFill>
                  <a:srgbClr val="FFFFFF"/>
                </a:solidFill>
                <a:latin typeface="TT Hoves Bold"/>
                <a:ea typeface="TT Hoves Bold"/>
                <a:cs typeface="TT Hoves Bold"/>
                <a:sym typeface="TT Hoves Bold"/>
              </a:rPr>
              <a:t>MILITARY BUSINESS MODELS</a:t>
            </a:r>
          </a:p>
        </p:txBody>
      </p:sp>
      <p:sp>
        <p:nvSpPr>
          <p:cNvPr id="9" name="TextBox 9"/>
          <p:cNvSpPr txBox="1"/>
          <p:nvPr/>
        </p:nvSpPr>
        <p:spPr>
          <a:xfrm>
            <a:off x="1028700" y="5672942"/>
            <a:ext cx="7725174" cy="1066800"/>
          </a:xfrm>
          <a:prstGeom prst="rect">
            <a:avLst/>
          </a:prstGeom>
        </p:spPr>
        <p:txBody>
          <a:bodyPr lIns="0" tIns="0" rIns="0" bIns="0" rtlCol="0" anchor="t">
            <a:spAutoFit/>
          </a:bodyPr>
          <a:lstStyle/>
          <a:p>
            <a:pPr marL="323850" lvl="1" indent="-161925" algn="l">
              <a:lnSpc>
                <a:spcPts val="2100"/>
              </a:lnSpc>
              <a:spcBef>
                <a:spcPct val="0"/>
              </a:spcBef>
              <a:buFont typeface="Arial"/>
              <a:buChar char="•"/>
            </a:pPr>
            <a:r>
              <a:rPr lang="en-US" sz="1500">
                <a:solidFill>
                  <a:srgbClr val="FFFFFF"/>
                </a:solidFill>
                <a:latin typeface="Lato"/>
                <a:ea typeface="Lato"/>
                <a:cs typeface="Lato"/>
                <a:sym typeface="Lato"/>
              </a:rPr>
              <a:t>Government Contracts: Long-term deals with guaranteed payments.</a:t>
            </a:r>
          </a:p>
          <a:p>
            <a:pPr marL="323850" lvl="1" indent="-161925" algn="l">
              <a:lnSpc>
                <a:spcPts val="2100"/>
              </a:lnSpc>
              <a:spcBef>
                <a:spcPct val="0"/>
              </a:spcBef>
              <a:buFont typeface="Arial"/>
              <a:buChar char="•"/>
            </a:pPr>
            <a:r>
              <a:rPr lang="en-US" sz="1500">
                <a:solidFill>
                  <a:srgbClr val="FFFFFF"/>
                </a:solidFill>
                <a:latin typeface="Lato"/>
                <a:ea typeface="Lato"/>
                <a:cs typeface="Lato"/>
                <a:sym typeface="Lato"/>
              </a:rPr>
              <a:t>Export Market: Selling arms and technology to allied nations.</a:t>
            </a:r>
          </a:p>
          <a:p>
            <a:pPr marL="323850" lvl="1" indent="-161925" algn="l">
              <a:lnSpc>
                <a:spcPts val="2100"/>
              </a:lnSpc>
              <a:spcBef>
                <a:spcPct val="0"/>
              </a:spcBef>
              <a:buFont typeface="Arial"/>
              <a:buChar char="•"/>
            </a:pPr>
            <a:r>
              <a:rPr lang="en-US" sz="1500">
                <a:solidFill>
                  <a:srgbClr val="FFFFFF"/>
                </a:solidFill>
                <a:latin typeface="Lato"/>
                <a:ea typeface="Lato"/>
                <a:cs typeface="Lato"/>
                <a:sym typeface="Lato"/>
              </a:rPr>
              <a:t>Private Services: Security firms for corporations and VIPs.</a:t>
            </a:r>
          </a:p>
          <a:p>
            <a:pPr marL="323850" lvl="1" indent="-161925" algn="l">
              <a:lnSpc>
                <a:spcPts val="2100"/>
              </a:lnSpc>
              <a:spcBef>
                <a:spcPct val="0"/>
              </a:spcBef>
              <a:buFont typeface="Arial"/>
              <a:buChar char="•"/>
            </a:pPr>
            <a:r>
              <a:rPr lang="en-US" sz="1500">
                <a:solidFill>
                  <a:srgbClr val="FFFFFF"/>
                </a:solidFill>
                <a:latin typeface="Lato"/>
                <a:ea typeface="Lato"/>
                <a:cs typeface="Lato"/>
                <a:sym typeface="Lato"/>
              </a:rPr>
              <a:t>Dual-Use Innovations: Civilian adoption of military tech (GPS, drones).</a:t>
            </a:r>
          </a:p>
        </p:txBody>
      </p:sp>
      <p:grpSp>
        <p:nvGrpSpPr>
          <p:cNvPr id="10" name="Group 10"/>
          <p:cNvGrpSpPr/>
          <p:nvPr/>
        </p:nvGrpSpPr>
        <p:grpSpPr>
          <a:xfrm>
            <a:off x="1029391" y="1028700"/>
            <a:ext cx="994100" cy="345951"/>
            <a:chOff x="0" y="0"/>
            <a:chExt cx="1167801" cy="406400"/>
          </a:xfrm>
        </p:grpSpPr>
        <p:sp>
          <p:nvSpPr>
            <p:cNvPr id="11" name="Freeform 11"/>
            <p:cNvSpPr/>
            <p:nvPr/>
          </p:nvSpPr>
          <p:spPr>
            <a:xfrm>
              <a:off x="0" y="0"/>
              <a:ext cx="1167801" cy="406400"/>
            </a:xfrm>
            <a:custGeom>
              <a:avLst/>
              <a:gdLst/>
              <a:ahLst/>
              <a:cxnLst/>
              <a:rect l="l" t="t" r="r" b="b"/>
              <a:pathLst>
                <a:path w="1167801" h="406400">
                  <a:moveTo>
                    <a:pt x="964601" y="0"/>
                  </a:moveTo>
                  <a:cubicBezTo>
                    <a:pt x="1076826" y="0"/>
                    <a:pt x="1167801" y="90976"/>
                    <a:pt x="1167801" y="203200"/>
                  </a:cubicBezTo>
                  <a:cubicBezTo>
                    <a:pt x="1167801" y="315424"/>
                    <a:pt x="1076826" y="406400"/>
                    <a:pt x="964601" y="406400"/>
                  </a:cubicBezTo>
                  <a:lnTo>
                    <a:pt x="203200" y="406400"/>
                  </a:lnTo>
                  <a:cubicBezTo>
                    <a:pt x="90976" y="406400"/>
                    <a:pt x="0" y="315424"/>
                    <a:pt x="0" y="203200"/>
                  </a:cubicBezTo>
                  <a:cubicBezTo>
                    <a:pt x="0" y="90976"/>
                    <a:pt x="90976" y="0"/>
                    <a:pt x="203200" y="0"/>
                  </a:cubicBezTo>
                  <a:close/>
                </a:path>
              </a:pathLst>
            </a:custGeom>
            <a:solidFill>
              <a:srgbClr val="F0BC0F"/>
            </a:solidFill>
          </p:spPr>
        </p:sp>
        <p:sp>
          <p:nvSpPr>
            <p:cNvPr id="12" name="TextBox 12"/>
            <p:cNvSpPr txBox="1"/>
            <p:nvPr/>
          </p:nvSpPr>
          <p:spPr>
            <a:xfrm>
              <a:off x="0" y="-38100"/>
              <a:ext cx="1167801" cy="44450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8262509" y="8652123"/>
            <a:ext cx="491365" cy="491365"/>
            <a:chOff x="0" y="0"/>
            <a:chExt cx="129413" cy="129413"/>
          </a:xfrm>
        </p:grpSpPr>
        <p:sp>
          <p:nvSpPr>
            <p:cNvPr id="14" name="Freeform 14"/>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15" name="TextBox 15"/>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7375474" y="8537312"/>
            <a:ext cx="720988" cy="720988"/>
            <a:chOff x="0" y="0"/>
            <a:chExt cx="189890" cy="189890"/>
          </a:xfrm>
        </p:grpSpPr>
        <p:sp>
          <p:nvSpPr>
            <p:cNvPr id="17" name="Freeform 17"/>
            <p:cNvSpPr/>
            <p:nvPr/>
          </p:nvSpPr>
          <p:spPr>
            <a:xfrm>
              <a:off x="0" y="0"/>
              <a:ext cx="189890" cy="189890"/>
            </a:xfrm>
            <a:custGeom>
              <a:avLst/>
              <a:gdLst/>
              <a:ahLst/>
              <a:cxnLst/>
              <a:rect l="l" t="t" r="r" b="b"/>
              <a:pathLst>
                <a:path w="189890" h="189890">
                  <a:moveTo>
                    <a:pt x="0" y="0"/>
                  </a:moveTo>
                  <a:lnTo>
                    <a:pt x="189890" y="0"/>
                  </a:lnTo>
                  <a:lnTo>
                    <a:pt x="189890" y="189890"/>
                  </a:lnTo>
                  <a:lnTo>
                    <a:pt x="0" y="189890"/>
                  </a:lnTo>
                  <a:close/>
                </a:path>
              </a:pathLst>
            </a:custGeom>
            <a:solidFill>
              <a:srgbClr val="F0BC0F"/>
            </a:solidFill>
          </p:spPr>
        </p:sp>
        <p:sp>
          <p:nvSpPr>
            <p:cNvPr id="18" name="TextBox 18"/>
            <p:cNvSpPr txBox="1"/>
            <p:nvPr/>
          </p:nvSpPr>
          <p:spPr>
            <a:xfrm>
              <a:off x="0" y="-38100"/>
              <a:ext cx="189890" cy="22799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0797820" y="2011431"/>
            <a:ext cx="491365" cy="491365"/>
            <a:chOff x="0" y="0"/>
            <a:chExt cx="129413" cy="129413"/>
          </a:xfrm>
        </p:grpSpPr>
        <p:sp>
          <p:nvSpPr>
            <p:cNvPr id="20" name="Freeform 20"/>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21" name="TextBox 21"/>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11289185" y="1520065"/>
            <a:ext cx="491365" cy="491365"/>
            <a:chOff x="0" y="0"/>
            <a:chExt cx="129413" cy="129413"/>
          </a:xfrm>
        </p:grpSpPr>
        <p:sp>
          <p:nvSpPr>
            <p:cNvPr id="23" name="Freeform 23"/>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24" name="TextBox 24"/>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a:off x="11780550" y="1028700"/>
            <a:ext cx="491365" cy="491365"/>
            <a:chOff x="0" y="0"/>
            <a:chExt cx="129413" cy="129413"/>
          </a:xfrm>
        </p:grpSpPr>
        <p:sp>
          <p:nvSpPr>
            <p:cNvPr id="26" name="Freeform 26"/>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27" name="TextBox 27"/>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222222">
                <a:alpha val="100000"/>
              </a:srgbClr>
            </a:gs>
            <a:gs pos="100000">
              <a:srgbClr val="0E0E0E">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2"/>
          <p:cNvSpPr txBox="1"/>
          <p:nvPr/>
        </p:nvSpPr>
        <p:spPr>
          <a:xfrm>
            <a:off x="1028700" y="3671083"/>
            <a:ext cx="4659304" cy="1365250"/>
          </a:xfrm>
          <a:prstGeom prst="rect">
            <a:avLst/>
          </a:prstGeom>
        </p:spPr>
        <p:txBody>
          <a:bodyPr lIns="0" tIns="0" rIns="0" bIns="0" rtlCol="0" anchor="t">
            <a:spAutoFit/>
          </a:bodyPr>
          <a:lstStyle/>
          <a:p>
            <a:pPr algn="l">
              <a:lnSpc>
                <a:spcPts val="5224"/>
              </a:lnSpc>
            </a:pPr>
            <a:r>
              <a:rPr lang="en-US" sz="5499" b="1">
                <a:solidFill>
                  <a:srgbClr val="FFFFFF"/>
                </a:solidFill>
                <a:latin typeface="TT Hoves Bold"/>
                <a:ea typeface="TT Hoves Bold"/>
                <a:cs typeface="TT Hoves Bold"/>
                <a:sym typeface="TT Hoves Bold"/>
              </a:rPr>
              <a:t>ETHICAL CONCERNS</a:t>
            </a:r>
          </a:p>
        </p:txBody>
      </p:sp>
      <p:grpSp>
        <p:nvGrpSpPr>
          <p:cNvPr id="3" name="Group 3"/>
          <p:cNvGrpSpPr/>
          <p:nvPr/>
        </p:nvGrpSpPr>
        <p:grpSpPr>
          <a:xfrm>
            <a:off x="15377103" y="178165"/>
            <a:ext cx="2725963" cy="8452522"/>
            <a:chOff x="0" y="0"/>
            <a:chExt cx="223113" cy="691817"/>
          </a:xfrm>
        </p:grpSpPr>
        <p:sp>
          <p:nvSpPr>
            <p:cNvPr id="4" name="Freeform 4"/>
            <p:cNvSpPr/>
            <p:nvPr/>
          </p:nvSpPr>
          <p:spPr>
            <a:xfrm>
              <a:off x="0" y="0"/>
              <a:ext cx="223113" cy="691817"/>
            </a:xfrm>
            <a:custGeom>
              <a:avLst/>
              <a:gdLst/>
              <a:ahLst/>
              <a:cxnLst/>
              <a:rect l="l" t="t" r="r" b="b"/>
              <a:pathLst>
                <a:path w="223113" h="691817">
                  <a:moveTo>
                    <a:pt x="0" y="0"/>
                  </a:moveTo>
                  <a:lnTo>
                    <a:pt x="223113" y="0"/>
                  </a:lnTo>
                  <a:lnTo>
                    <a:pt x="223113" y="691817"/>
                  </a:lnTo>
                  <a:lnTo>
                    <a:pt x="0" y="691817"/>
                  </a:lnTo>
                  <a:close/>
                </a:path>
              </a:pathLst>
            </a:custGeom>
            <a:blipFill>
              <a:blip r:embed="rId2"/>
              <a:stretch>
                <a:fillRect l="-183138" r="-183138"/>
              </a:stretch>
            </a:blipFill>
          </p:spPr>
        </p:sp>
      </p:grpSp>
      <p:grpSp>
        <p:nvGrpSpPr>
          <p:cNvPr id="5" name="Group 5"/>
          <p:cNvGrpSpPr/>
          <p:nvPr/>
        </p:nvGrpSpPr>
        <p:grpSpPr>
          <a:xfrm>
            <a:off x="12464999" y="178165"/>
            <a:ext cx="2725963" cy="8452522"/>
            <a:chOff x="0" y="0"/>
            <a:chExt cx="223113" cy="691817"/>
          </a:xfrm>
        </p:grpSpPr>
        <p:sp>
          <p:nvSpPr>
            <p:cNvPr id="6" name="Freeform 6"/>
            <p:cNvSpPr/>
            <p:nvPr/>
          </p:nvSpPr>
          <p:spPr>
            <a:xfrm>
              <a:off x="0" y="0"/>
              <a:ext cx="223113" cy="691817"/>
            </a:xfrm>
            <a:custGeom>
              <a:avLst/>
              <a:gdLst/>
              <a:ahLst/>
              <a:cxnLst/>
              <a:rect l="l" t="t" r="r" b="b"/>
              <a:pathLst>
                <a:path w="223113" h="691817">
                  <a:moveTo>
                    <a:pt x="0" y="0"/>
                  </a:moveTo>
                  <a:lnTo>
                    <a:pt x="223113" y="0"/>
                  </a:lnTo>
                  <a:lnTo>
                    <a:pt x="223113" y="691817"/>
                  </a:lnTo>
                  <a:lnTo>
                    <a:pt x="0" y="691817"/>
                  </a:lnTo>
                  <a:close/>
                </a:path>
              </a:pathLst>
            </a:custGeom>
            <a:blipFill>
              <a:blip r:embed="rId2"/>
              <a:stretch>
                <a:fillRect l="-76761" r="-289515"/>
              </a:stretch>
            </a:blipFill>
          </p:spPr>
        </p:sp>
      </p:grpSp>
      <p:grpSp>
        <p:nvGrpSpPr>
          <p:cNvPr id="7" name="Group 7"/>
          <p:cNvGrpSpPr/>
          <p:nvPr/>
        </p:nvGrpSpPr>
        <p:grpSpPr>
          <a:xfrm>
            <a:off x="16265200" y="8912349"/>
            <a:ext cx="994100" cy="345951"/>
            <a:chOff x="0" y="0"/>
            <a:chExt cx="1167801" cy="406400"/>
          </a:xfrm>
        </p:grpSpPr>
        <p:sp>
          <p:nvSpPr>
            <p:cNvPr id="8" name="Freeform 8"/>
            <p:cNvSpPr/>
            <p:nvPr/>
          </p:nvSpPr>
          <p:spPr>
            <a:xfrm>
              <a:off x="0" y="0"/>
              <a:ext cx="1167801" cy="406400"/>
            </a:xfrm>
            <a:custGeom>
              <a:avLst/>
              <a:gdLst/>
              <a:ahLst/>
              <a:cxnLst/>
              <a:rect l="l" t="t" r="r" b="b"/>
              <a:pathLst>
                <a:path w="1167801" h="406400">
                  <a:moveTo>
                    <a:pt x="964601" y="0"/>
                  </a:moveTo>
                  <a:cubicBezTo>
                    <a:pt x="1076826" y="0"/>
                    <a:pt x="1167801" y="90976"/>
                    <a:pt x="1167801" y="203200"/>
                  </a:cubicBezTo>
                  <a:cubicBezTo>
                    <a:pt x="1167801" y="315424"/>
                    <a:pt x="1076826" y="406400"/>
                    <a:pt x="964601" y="406400"/>
                  </a:cubicBezTo>
                  <a:lnTo>
                    <a:pt x="203200" y="406400"/>
                  </a:lnTo>
                  <a:cubicBezTo>
                    <a:pt x="90976" y="406400"/>
                    <a:pt x="0" y="315424"/>
                    <a:pt x="0" y="203200"/>
                  </a:cubicBezTo>
                  <a:cubicBezTo>
                    <a:pt x="0" y="90976"/>
                    <a:pt x="90976" y="0"/>
                    <a:pt x="203200" y="0"/>
                  </a:cubicBezTo>
                  <a:close/>
                </a:path>
              </a:pathLst>
            </a:custGeom>
            <a:solidFill>
              <a:srgbClr val="F0BC0F"/>
            </a:solidFill>
          </p:spPr>
        </p:sp>
        <p:sp>
          <p:nvSpPr>
            <p:cNvPr id="9" name="TextBox 9"/>
            <p:cNvSpPr txBox="1"/>
            <p:nvPr/>
          </p:nvSpPr>
          <p:spPr>
            <a:xfrm>
              <a:off x="0" y="-38100"/>
              <a:ext cx="1167801" cy="444500"/>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028700" y="1028700"/>
            <a:ext cx="994100" cy="345951"/>
            <a:chOff x="0" y="0"/>
            <a:chExt cx="1167801" cy="406400"/>
          </a:xfrm>
        </p:grpSpPr>
        <p:sp>
          <p:nvSpPr>
            <p:cNvPr id="11" name="Freeform 11"/>
            <p:cNvSpPr/>
            <p:nvPr/>
          </p:nvSpPr>
          <p:spPr>
            <a:xfrm>
              <a:off x="0" y="0"/>
              <a:ext cx="1167801" cy="406400"/>
            </a:xfrm>
            <a:custGeom>
              <a:avLst/>
              <a:gdLst/>
              <a:ahLst/>
              <a:cxnLst/>
              <a:rect l="l" t="t" r="r" b="b"/>
              <a:pathLst>
                <a:path w="1167801" h="406400">
                  <a:moveTo>
                    <a:pt x="964601" y="0"/>
                  </a:moveTo>
                  <a:cubicBezTo>
                    <a:pt x="1076826" y="0"/>
                    <a:pt x="1167801" y="90976"/>
                    <a:pt x="1167801" y="203200"/>
                  </a:cubicBezTo>
                  <a:cubicBezTo>
                    <a:pt x="1167801" y="315424"/>
                    <a:pt x="1076826" y="406400"/>
                    <a:pt x="964601" y="406400"/>
                  </a:cubicBezTo>
                  <a:lnTo>
                    <a:pt x="203200" y="406400"/>
                  </a:lnTo>
                  <a:cubicBezTo>
                    <a:pt x="90976" y="406400"/>
                    <a:pt x="0" y="315424"/>
                    <a:pt x="0" y="203200"/>
                  </a:cubicBezTo>
                  <a:cubicBezTo>
                    <a:pt x="0" y="90976"/>
                    <a:pt x="90976" y="0"/>
                    <a:pt x="203200" y="0"/>
                  </a:cubicBezTo>
                  <a:close/>
                </a:path>
              </a:pathLst>
            </a:custGeom>
            <a:solidFill>
              <a:srgbClr val="F0BC0F"/>
            </a:solidFill>
          </p:spPr>
        </p:sp>
        <p:sp>
          <p:nvSpPr>
            <p:cNvPr id="12" name="TextBox 12"/>
            <p:cNvSpPr txBox="1"/>
            <p:nvPr/>
          </p:nvSpPr>
          <p:spPr>
            <a:xfrm>
              <a:off x="0" y="-38100"/>
              <a:ext cx="1167801" cy="44450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0022429" y="3402873"/>
            <a:ext cx="491365" cy="491365"/>
            <a:chOff x="0" y="0"/>
            <a:chExt cx="129413" cy="129413"/>
          </a:xfrm>
        </p:grpSpPr>
        <p:sp>
          <p:nvSpPr>
            <p:cNvPr id="14" name="Freeform 14"/>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15" name="TextBox 15"/>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921420" y="8652123"/>
            <a:ext cx="491365" cy="491365"/>
            <a:chOff x="0" y="0"/>
            <a:chExt cx="129413" cy="129413"/>
          </a:xfrm>
        </p:grpSpPr>
        <p:sp>
          <p:nvSpPr>
            <p:cNvPr id="17" name="Freeform 17"/>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18" name="TextBox 18"/>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034385" y="8537312"/>
            <a:ext cx="720988" cy="720988"/>
            <a:chOff x="0" y="0"/>
            <a:chExt cx="189890" cy="189890"/>
          </a:xfrm>
        </p:grpSpPr>
        <p:sp>
          <p:nvSpPr>
            <p:cNvPr id="20" name="Freeform 20"/>
            <p:cNvSpPr/>
            <p:nvPr/>
          </p:nvSpPr>
          <p:spPr>
            <a:xfrm>
              <a:off x="0" y="0"/>
              <a:ext cx="189890" cy="189890"/>
            </a:xfrm>
            <a:custGeom>
              <a:avLst/>
              <a:gdLst/>
              <a:ahLst/>
              <a:cxnLst/>
              <a:rect l="l" t="t" r="r" b="b"/>
              <a:pathLst>
                <a:path w="189890" h="189890">
                  <a:moveTo>
                    <a:pt x="0" y="0"/>
                  </a:moveTo>
                  <a:lnTo>
                    <a:pt x="189890" y="0"/>
                  </a:lnTo>
                  <a:lnTo>
                    <a:pt x="189890" y="189890"/>
                  </a:lnTo>
                  <a:lnTo>
                    <a:pt x="0" y="189890"/>
                  </a:lnTo>
                  <a:close/>
                </a:path>
              </a:pathLst>
            </a:custGeom>
            <a:solidFill>
              <a:srgbClr val="F0BC0F"/>
            </a:solidFill>
          </p:spPr>
        </p:sp>
        <p:sp>
          <p:nvSpPr>
            <p:cNvPr id="21" name="TextBox 21"/>
            <p:cNvSpPr txBox="1"/>
            <p:nvPr/>
          </p:nvSpPr>
          <p:spPr>
            <a:xfrm>
              <a:off x="0" y="-38100"/>
              <a:ext cx="189890" cy="227990"/>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10513795" y="2911508"/>
            <a:ext cx="491365" cy="491365"/>
            <a:chOff x="0" y="0"/>
            <a:chExt cx="129413" cy="129413"/>
          </a:xfrm>
        </p:grpSpPr>
        <p:sp>
          <p:nvSpPr>
            <p:cNvPr id="23" name="Freeform 23"/>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24" name="TextBox 24"/>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a:off x="11005160" y="2420143"/>
            <a:ext cx="491365" cy="491365"/>
            <a:chOff x="0" y="0"/>
            <a:chExt cx="129413" cy="129413"/>
          </a:xfrm>
        </p:grpSpPr>
        <p:sp>
          <p:nvSpPr>
            <p:cNvPr id="26" name="Freeform 26"/>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27" name="TextBox 27"/>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sp>
        <p:nvSpPr>
          <p:cNvPr id="28" name="TextBox 28"/>
          <p:cNvSpPr txBox="1"/>
          <p:nvPr/>
        </p:nvSpPr>
        <p:spPr>
          <a:xfrm>
            <a:off x="1028700" y="5433073"/>
            <a:ext cx="8738884" cy="1066800"/>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Lato"/>
                <a:ea typeface="Lato"/>
                <a:cs typeface="Lato"/>
                <a:sym typeface="Lato"/>
              </a:rPr>
              <a:t>The military business raises moral debates. Critics argue that turning war into business creates incentives for conflict escalation. Issues such as human rights violations by PMCs, the arms race among nations, and weapon proliferation to unstable regions remain challenges. Balancing profit with ethical responsibility is an ongoing dilemma for the industry.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222222">
                <a:alpha val="100000"/>
              </a:srgbClr>
            </a:gs>
            <a:gs pos="100000">
              <a:srgbClr val="0E0E0E">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2"/>
          <p:cNvSpPr txBox="1"/>
          <p:nvPr/>
        </p:nvSpPr>
        <p:spPr>
          <a:xfrm>
            <a:off x="1028700" y="2789650"/>
            <a:ext cx="5608970" cy="1365250"/>
          </a:xfrm>
          <a:prstGeom prst="rect">
            <a:avLst/>
          </a:prstGeom>
        </p:spPr>
        <p:txBody>
          <a:bodyPr lIns="0" tIns="0" rIns="0" bIns="0" rtlCol="0" anchor="t">
            <a:spAutoFit/>
          </a:bodyPr>
          <a:lstStyle/>
          <a:p>
            <a:pPr algn="l">
              <a:lnSpc>
                <a:spcPts val="5224"/>
              </a:lnSpc>
            </a:pPr>
            <a:r>
              <a:rPr lang="en-US" sz="5499" b="1">
                <a:solidFill>
                  <a:srgbClr val="FFFFFF"/>
                </a:solidFill>
                <a:latin typeface="TT Hoves Bold"/>
                <a:ea typeface="TT Hoves Bold"/>
                <a:cs typeface="TT Hoves Bold"/>
                <a:sym typeface="TT Hoves Bold"/>
              </a:rPr>
              <a:t>INVESTMENT OPPORTUNITIES</a:t>
            </a:r>
          </a:p>
        </p:txBody>
      </p:sp>
      <p:sp>
        <p:nvSpPr>
          <p:cNvPr id="3" name="TextBox 3"/>
          <p:cNvSpPr txBox="1"/>
          <p:nvPr/>
        </p:nvSpPr>
        <p:spPr>
          <a:xfrm>
            <a:off x="1028700" y="4380196"/>
            <a:ext cx="5608970" cy="1600200"/>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Lato"/>
                <a:ea typeface="Lato"/>
                <a:cs typeface="Lato"/>
                <a:sym typeface="Lato"/>
              </a:rPr>
              <a:t>The military business raises moral debates. Critics argue that turning war into business creates incentives for conflict escalation. Issues such as human rights violations by PMCs, the arms race among nations, and weapon proliferation to unstable regions remain challenges. Balancing profit with ethical responsibility is an ongoing dilemma for the industry.</a:t>
            </a:r>
          </a:p>
        </p:txBody>
      </p:sp>
      <p:sp>
        <p:nvSpPr>
          <p:cNvPr id="4" name="TextBox 4"/>
          <p:cNvSpPr txBox="1"/>
          <p:nvPr/>
        </p:nvSpPr>
        <p:spPr>
          <a:xfrm>
            <a:off x="13611646" y="7090429"/>
            <a:ext cx="3647654" cy="2133600"/>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Lato"/>
                <a:ea typeface="Lato"/>
                <a:cs typeface="Lato"/>
                <a:sym typeface="Lato"/>
              </a:rPr>
              <a:t>Lorem ipsum dolor sit amet, consectetur adipiscing elit. Cras eget metus ac massa ultrices venenatis eu non mauris. Nunc blandit non erat quis interdum. In pretium diam a risus porta viverra. Praesent venenatis diam ac justo dignissim, at aliquet nibh pharetra. Vivamus feugiat dapibus massa, non suscipit tellus finibus ac.</a:t>
            </a:r>
          </a:p>
        </p:txBody>
      </p:sp>
      <p:grpSp>
        <p:nvGrpSpPr>
          <p:cNvPr id="5" name="Group 5"/>
          <p:cNvGrpSpPr/>
          <p:nvPr/>
        </p:nvGrpSpPr>
        <p:grpSpPr>
          <a:xfrm>
            <a:off x="10339690" y="178165"/>
            <a:ext cx="2270303" cy="6350167"/>
            <a:chOff x="0" y="0"/>
            <a:chExt cx="185818" cy="519745"/>
          </a:xfrm>
        </p:grpSpPr>
        <p:sp>
          <p:nvSpPr>
            <p:cNvPr id="6" name="Freeform 6"/>
            <p:cNvSpPr/>
            <p:nvPr/>
          </p:nvSpPr>
          <p:spPr>
            <a:xfrm>
              <a:off x="0" y="0"/>
              <a:ext cx="185819" cy="519745"/>
            </a:xfrm>
            <a:custGeom>
              <a:avLst/>
              <a:gdLst/>
              <a:ahLst/>
              <a:cxnLst/>
              <a:rect l="l" t="t" r="r" b="b"/>
              <a:pathLst>
                <a:path w="185819" h="519745">
                  <a:moveTo>
                    <a:pt x="0" y="0"/>
                  </a:moveTo>
                  <a:lnTo>
                    <a:pt x="185819" y="0"/>
                  </a:lnTo>
                  <a:lnTo>
                    <a:pt x="185819" y="519745"/>
                  </a:lnTo>
                  <a:lnTo>
                    <a:pt x="0" y="519745"/>
                  </a:lnTo>
                  <a:close/>
                </a:path>
              </a:pathLst>
            </a:custGeom>
            <a:blipFill>
              <a:blip r:embed="rId2"/>
              <a:stretch>
                <a:fillRect l="-108477" r="-252"/>
              </a:stretch>
            </a:blipFill>
          </p:spPr>
        </p:sp>
      </p:grpSp>
      <p:grpSp>
        <p:nvGrpSpPr>
          <p:cNvPr id="7" name="Group 7"/>
          <p:cNvGrpSpPr/>
          <p:nvPr/>
        </p:nvGrpSpPr>
        <p:grpSpPr>
          <a:xfrm>
            <a:off x="7876260" y="178165"/>
            <a:ext cx="2270303" cy="6350167"/>
            <a:chOff x="0" y="0"/>
            <a:chExt cx="185818" cy="519745"/>
          </a:xfrm>
        </p:grpSpPr>
        <p:sp>
          <p:nvSpPr>
            <p:cNvPr id="8" name="Freeform 8"/>
            <p:cNvSpPr/>
            <p:nvPr/>
          </p:nvSpPr>
          <p:spPr>
            <a:xfrm>
              <a:off x="0" y="0"/>
              <a:ext cx="185819" cy="519745"/>
            </a:xfrm>
            <a:custGeom>
              <a:avLst/>
              <a:gdLst/>
              <a:ahLst/>
              <a:cxnLst/>
              <a:rect l="l" t="t" r="r" b="b"/>
              <a:pathLst>
                <a:path w="185819" h="519745">
                  <a:moveTo>
                    <a:pt x="0" y="0"/>
                  </a:moveTo>
                  <a:lnTo>
                    <a:pt x="185819" y="0"/>
                  </a:lnTo>
                  <a:lnTo>
                    <a:pt x="185819" y="519745"/>
                  </a:lnTo>
                  <a:lnTo>
                    <a:pt x="0" y="519745"/>
                  </a:lnTo>
                  <a:close/>
                </a:path>
              </a:pathLst>
            </a:custGeom>
            <a:blipFill>
              <a:blip r:embed="rId2"/>
              <a:stretch>
                <a:fillRect r="-108730"/>
              </a:stretch>
            </a:blipFill>
          </p:spPr>
        </p:sp>
      </p:grpSp>
      <p:grpSp>
        <p:nvGrpSpPr>
          <p:cNvPr id="9" name="Group 9"/>
          <p:cNvGrpSpPr/>
          <p:nvPr/>
        </p:nvGrpSpPr>
        <p:grpSpPr>
          <a:xfrm>
            <a:off x="7876260" y="6717271"/>
            <a:ext cx="4733732" cy="3391564"/>
            <a:chOff x="0" y="0"/>
            <a:chExt cx="387444" cy="277591"/>
          </a:xfrm>
        </p:grpSpPr>
        <p:sp>
          <p:nvSpPr>
            <p:cNvPr id="10" name="Freeform 10"/>
            <p:cNvSpPr/>
            <p:nvPr/>
          </p:nvSpPr>
          <p:spPr>
            <a:xfrm>
              <a:off x="0" y="0"/>
              <a:ext cx="387444" cy="277591"/>
            </a:xfrm>
            <a:custGeom>
              <a:avLst/>
              <a:gdLst/>
              <a:ahLst/>
              <a:cxnLst/>
              <a:rect l="l" t="t" r="r" b="b"/>
              <a:pathLst>
                <a:path w="387444" h="277591">
                  <a:moveTo>
                    <a:pt x="0" y="0"/>
                  </a:moveTo>
                  <a:lnTo>
                    <a:pt x="387444" y="0"/>
                  </a:lnTo>
                  <a:lnTo>
                    <a:pt x="387444" y="277591"/>
                  </a:lnTo>
                  <a:lnTo>
                    <a:pt x="0" y="277591"/>
                  </a:lnTo>
                  <a:close/>
                </a:path>
              </a:pathLst>
            </a:custGeom>
            <a:blipFill>
              <a:blip r:embed="rId3"/>
              <a:stretch>
                <a:fillRect l="-12031" r="-12031"/>
              </a:stretch>
            </a:blipFill>
          </p:spPr>
        </p:sp>
      </p:grpSp>
      <p:grpSp>
        <p:nvGrpSpPr>
          <p:cNvPr id="11" name="Group 11"/>
          <p:cNvGrpSpPr/>
          <p:nvPr/>
        </p:nvGrpSpPr>
        <p:grpSpPr>
          <a:xfrm>
            <a:off x="13611646" y="6182380"/>
            <a:ext cx="994100" cy="345951"/>
            <a:chOff x="0" y="0"/>
            <a:chExt cx="1167801" cy="406400"/>
          </a:xfrm>
        </p:grpSpPr>
        <p:sp>
          <p:nvSpPr>
            <p:cNvPr id="12" name="Freeform 12"/>
            <p:cNvSpPr/>
            <p:nvPr/>
          </p:nvSpPr>
          <p:spPr>
            <a:xfrm>
              <a:off x="0" y="0"/>
              <a:ext cx="1167801" cy="406400"/>
            </a:xfrm>
            <a:custGeom>
              <a:avLst/>
              <a:gdLst/>
              <a:ahLst/>
              <a:cxnLst/>
              <a:rect l="l" t="t" r="r" b="b"/>
              <a:pathLst>
                <a:path w="1167801" h="406400">
                  <a:moveTo>
                    <a:pt x="964601" y="0"/>
                  </a:moveTo>
                  <a:cubicBezTo>
                    <a:pt x="1076826" y="0"/>
                    <a:pt x="1167801" y="90976"/>
                    <a:pt x="1167801" y="203200"/>
                  </a:cubicBezTo>
                  <a:cubicBezTo>
                    <a:pt x="1167801" y="315424"/>
                    <a:pt x="1076826" y="406400"/>
                    <a:pt x="964601" y="406400"/>
                  </a:cubicBezTo>
                  <a:lnTo>
                    <a:pt x="203200" y="406400"/>
                  </a:lnTo>
                  <a:cubicBezTo>
                    <a:pt x="90976" y="406400"/>
                    <a:pt x="0" y="315424"/>
                    <a:pt x="0" y="203200"/>
                  </a:cubicBezTo>
                  <a:cubicBezTo>
                    <a:pt x="0" y="90976"/>
                    <a:pt x="90976" y="0"/>
                    <a:pt x="203200" y="0"/>
                  </a:cubicBezTo>
                  <a:close/>
                </a:path>
              </a:pathLst>
            </a:custGeom>
            <a:solidFill>
              <a:srgbClr val="F0BC0F"/>
            </a:solidFill>
          </p:spPr>
        </p:sp>
        <p:sp>
          <p:nvSpPr>
            <p:cNvPr id="13" name="TextBox 13"/>
            <p:cNvSpPr txBox="1"/>
            <p:nvPr/>
          </p:nvSpPr>
          <p:spPr>
            <a:xfrm>
              <a:off x="0" y="-38100"/>
              <a:ext cx="1167801" cy="44450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028700" y="1028700"/>
            <a:ext cx="994100" cy="345951"/>
            <a:chOff x="0" y="0"/>
            <a:chExt cx="1167801" cy="406400"/>
          </a:xfrm>
        </p:grpSpPr>
        <p:sp>
          <p:nvSpPr>
            <p:cNvPr id="15" name="Freeform 15"/>
            <p:cNvSpPr/>
            <p:nvPr/>
          </p:nvSpPr>
          <p:spPr>
            <a:xfrm>
              <a:off x="0" y="0"/>
              <a:ext cx="1167801" cy="406400"/>
            </a:xfrm>
            <a:custGeom>
              <a:avLst/>
              <a:gdLst/>
              <a:ahLst/>
              <a:cxnLst/>
              <a:rect l="l" t="t" r="r" b="b"/>
              <a:pathLst>
                <a:path w="1167801" h="406400">
                  <a:moveTo>
                    <a:pt x="964601" y="0"/>
                  </a:moveTo>
                  <a:cubicBezTo>
                    <a:pt x="1076826" y="0"/>
                    <a:pt x="1167801" y="90976"/>
                    <a:pt x="1167801" y="203200"/>
                  </a:cubicBezTo>
                  <a:cubicBezTo>
                    <a:pt x="1167801" y="315424"/>
                    <a:pt x="1076826" y="406400"/>
                    <a:pt x="964601" y="406400"/>
                  </a:cubicBezTo>
                  <a:lnTo>
                    <a:pt x="203200" y="406400"/>
                  </a:lnTo>
                  <a:cubicBezTo>
                    <a:pt x="90976" y="406400"/>
                    <a:pt x="0" y="315424"/>
                    <a:pt x="0" y="203200"/>
                  </a:cubicBezTo>
                  <a:cubicBezTo>
                    <a:pt x="0" y="90976"/>
                    <a:pt x="90976" y="0"/>
                    <a:pt x="203200" y="0"/>
                  </a:cubicBezTo>
                  <a:close/>
                </a:path>
              </a:pathLst>
            </a:custGeom>
            <a:solidFill>
              <a:srgbClr val="F0BC0F"/>
            </a:solidFill>
          </p:spPr>
        </p:sp>
        <p:sp>
          <p:nvSpPr>
            <p:cNvPr id="16" name="TextBox 16"/>
            <p:cNvSpPr txBox="1"/>
            <p:nvPr/>
          </p:nvSpPr>
          <p:spPr>
            <a:xfrm>
              <a:off x="0" y="-38100"/>
              <a:ext cx="1167801" cy="44450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5785204" y="2011431"/>
            <a:ext cx="491365" cy="491365"/>
            <a:chOff x="0" y="0"/>
            <a:chExt cx="129413" cy="129413"/>
          </a:xfrm>
        </p:grpSpPr>
        <p:sp>
          <p:nvSpPr>
            <p:cNvPr id="18" name="Freeform 18"/>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19" name="TextBox 19"/>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921420" y="8652123"/>
            <a:ext cx="491365" cy="491365"/>
            <a:chOff x="0" y="0"/>
            <a:chExt cx="129413" cy="129413"/>
          </a:xfrm>
        </p:grpSpPr>
        <p:sp>
          <p:nvSpPr>
            <p:cNvPr id="21" name="Freeform 21"/>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22" name="TextBox 22"/>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1034385" y="8537312"/>
            <a:ext cx="720988" cy="720988"/>
            <a:chOff x="0" y="0"/>
            <a:chExt cx="189890" cy="189890"/>
          </a:xfrm>
        </p:grpSpPr>
        <p:sp>
          <p:nvSpPr>
            <p:cNvPr id="24" name="Freeform 24"/>
            <p:cNvSpPr/>
            <p:nvPr/>
          </p:nvSpPr>
          <p:spPr>
            <a:xfrm>
              <a:off x="0" y="0"/>
              <a:ext cx="189890" cy="189890"/>
            </a:xfrm>
            <a:custGeom>
              <a:avLst/>
              <a:gdLst/>
              <a:ahLst/>
              <a:cxnLst/>
              <a:rect l="l" t="t" r="r" b="b"/>
              <a:pathLst>
                <a:path w="189890" h="189890">
                  <a:moveTo>
                    <a:pt x="0" y="0"/>
                  </a:moveTo>
                  <a:lnTo>
                    <a:pt x="189890" y="0"/>
                  </a:lnTo>
                  <a:lnTo>
                    <a:pt x="189890" y="189890"/>
                  </a:lnTo>
                  <a:lnTo>
                    <a:pt x="0" y="189890"/>
                  </a:lnTo>
                  <a:close/>
                </a:path>
              </a:pathLst>
            </a:custGeom>
            <a:solidFill>
              <a:srgbClr val="F0BC0F"/>
            </a:solidFill>
          </p:spPr>
        </p:sp>
        <p:sp>
          <p:nvSpPr>
            <p:cNvPr id="25" name="TextBox 25"/>
            <p:cNvSpPr txBox="1"/>
            <p:nvPr/>
          </p:nvSpPr>
          <p:spPr>
            <a:xfrm>
              <a:off x="0" y="-38100"/>
              <a:ext cx="189890" cy="227990"/>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16276569" y="1520065"/>
            <a:ext cx="491365" cy="491365"/>
            <a:chOff x="0" y="0"/>
            <a:chExt cx="129413" cy="129413"/>
          </a:xfrm>
        </p:grpSpPr>
        <p:sp>
          <p:nvSpPr>
            <p:cNvPr id="27" name="Freeform 27"/>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28" name="TextBox 28"/>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29" name="Group 29"/>
          <p:cNvGrpSpPr/>
          <p:nvPr/>
        </p:nvGrpSpPr>
        <p:grpSpPr>
          <a:xfrm>
            <a:off x="16767935" y="1028700"/>
            <a:ext cx="491365" cy="491365"/>
            <a:chOff x="0" y="0"/>
            <a:chExt cx="129413" cy="129413"/>
          </a:xfrm>
        </p:grpSpPr>
        <p:sp>
          <p:nvSpPr>
            <p:cNvPr id="30" name="Freeform 30"/>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31" name="TextBox 31"/>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222222">
                <a:alpha val="100000"/>
              </a:srgbClr>
            </a:gs>
            <a:gs pos="100000">
              <a:srgbClr val="0E0E0E">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2"/>
          <p:cNvSpPr txBox="1"/>
          <p:nvPr/>
        </p:nvSpPr>
        <p:spPr>
          <a:xfrm>
            <a:off x="1028700" y="2626621"/>
            <a:ext cx="2807089" cy="1365250"/>
          </a:xfrm>
          <a:prstGeom prst="rect">
            <a:avLst/>
          </a:prstGeom>
        </p:spPr>
        <p:txBody>
          <a:bodyPr lIns="0" tIns="0" rIns="0" bIns="0" rtlCol="0" anchor="t">
            <a:spAutoFit/>
          </a:bodyPr>
          <a:lstStyle/>
          <a:p>
            <a:pPr algn="l">
              <a:lnSpc>
                <a:spcPts val="5224"/>
              </a:lnSpc>
            </a:pPr>
            <a:r>
              <a:rPr lang="en-US" sz="5499" b="1">
                <a:solidFill>
                  <a:srgbClr val="FFFFFF"/>
                </a:solidFill>
                <a:latin typeface="TT Hoves Bold"/>
                <a:ea typeface="TT Hoves Bold"/>
                <a:cs typeface="TT Hoves Bold"/>
                <a:sym typeface="TT Hoves Bold"/>
              </a:rPr>
              <a:t>CASE STUDY</a:t>
            </a:r>
          </a:p>
        </p:txBody>
      </p:sp>
      <p:grpSp>
        <p:nvGrpSpPr>
          <p:cNvPr id="3" name="Group 3"/>
          <p:cNvGrpSpPr/>
          <p:nvPr/>
        </p:nvGrpSpPr>
        <p:grpSpPr>
          <a:xfrm>
            <a:off x="9236923" y="178165"/>
            <a:ext cx="3337545" cy="6350167"/>
            <a:chOff x="0" y="0"/>
            <a:chExt cx="273170" cy="519745"/>
          </a:xfrm>
        </p:grpSpPr>
        <p:sp>
          <p:nvSpPr>
            <p:cNvPr id="4" name="Freeform 4"/>
            <p:cNvSpPr/>
            <p:nvPr/>
          </p:nvSpPr>
          <p:spPr>
            <a:xfrm>
              <a:off x="0" y="0"/>
              <a:ext cx="273170" cy="519745"/>
            </a:xfrm>
            <a:custGeom>
              <a:avLst/>
              <a:gdLst/>
              <a:ahLst/>
              <a:cxnLst/>
              <a:rect l="l" t="t" r="r" b="b"/>
              <a:pathLst>
                <a:path w="273170" h="519745">
                  <a:moveTo>
                    <a:pt x="0" y="0"/>
                  </a:moveTo>
                  <a:lnTo>
                    <a:pt x="273170" y="0"/>
                  </a:lnTo>
                  <a:lnTo>
                    <a:pt x="273170" y="519745"/>
                  </a:lnTo>
                  <a:lnTo>
                    <a:pt x="0" y="519745"/>
                  </a:lnTo>
                  <a:close/>
                </a:path>
              </a:pathLst>
            </a:custGeom>
            <a:blipFill>
              <a:blip r:embed="rId2"/>
              <a:stretch>
                <a:fillRect l="-106433" r="-72853"/>
              </a:stretch>
            </a:blipFill>
          </p:spPr>
        </p:sp>
      </p:grpSp>
      <p:grpSp>
        <p:nvGrpSpPr>
          <p:cNvPr id="5" name="Group 5"/>
          <p:cNvGrpSpPr/>
          <p:nvPr/>
        </p:nvGrpSpPr>
        <p:grpSpPr>
          <a:xfrm>
            <a:off x="5713531" y="3353248"/>
            <a:ext cx="3337545" cy="3175083"/>
            <a:chOff x="0" y="0"/>
            <a:chExt cx="273170" cy="259872"/>
          </a:xfrm>
        </p:grpSpPr>
        <p:sp>
          <p:nvSpPr>
            <p:cNvPr id="6" name="Freeform 6"/>
            <p:cNvSpPr/>
            <p:nvPr/>
          </p:nvSpPr>
          <p:spPr>
            <a:xfrm>
              <a:off x="0" y="0"/>
              <a:ext cx="273170" cy="259872"/>
            </a:xfrm>
            <a:custGeom>
              <a:avLst/>
              <a:gdLst/>
              <a:ahLst/>
              <a:cxnLst/>
              <a:rect l="l" t="t" r="r" b="b"/>
              <a:pathLst>
                <a:path w="273170" h="259872">
                  <a:moveTo>
                    <a:pt x="0" y="0"/>
                  </a:moveTo>
                  <a:lnTo>
                    <a:pt x="273170" y="0"/>
                  </a:lnTo>
                  <a:lnTo>
                    <a:pt x="273170" y="259872"/>
                  </a:lnTo>
                  <a:lnTo>
                    <a:pt x="0" y="259872"/>
                  </a:lnTo>
                  <a:close/>
                </a:path>
              </a:pathLst>
            </a:custGeom>
            <a:blipFill>
              <a:blip r:embed="rId2"/>
              <a:stretch>
                <a:fillRect t="-100000" r="-179287"/>
              </a:stretch>
            </a:blipFill>
          </p:spPr>
        </p:sp>
      </p:grpSp>
      <p:grpSp>
        <p:nvGrpSpPr>
          <p:cNvPr id="7" name="Group 7"/>
          <p:cNvGrpSpPr/>
          <p:nvPr/>
        </p:nvGrpSpPr>
        <p:grpSpPr>
          <a:xfrm>
            <a:off x="5713531" y="178165"/>
            <a:ext cx="3337545" cy="2984583"/>
            <a:chOff x="0" y="0"/>
            <a:chExt cx="273170" cy="244281"/>
          </a:xfrm>
        </p:grpSpPr>
        <p:sp>
          <p:nvSpPr>
            <p:cNvPr id="8" name="Freeform 8"/>
            <p:cNvSpPr/>
            <p:nvPr/>
          </p:nvSpPr>
          <p:spPr>
            <a:xfrm>
              <a:off x="0" y="0"/>
              <a:ext cx="273170" cy="244281"/>
            </a:xfrm>
            <a:custGeom>
              <a:avLst/>
              <a:gdLst/>
              <a:ahLst/>
              <a:cxnLst/>
              <a:rect l="l" t="t" r="r" b="b"/>
              <a:pathLst>
                <a:path w="273170" h="244281">
                  <a:moveTo>
                    <a:pt x="0" y="0"/>
                  </a:moveTo>
                  <a:lnTo>
                    <a:pt x="273170" y="0"/>
                  </a:lnTo>
                  <a:lnTo>
                    <a:pt x="273170" y="244281"/>
                  </a:lnTo>
                  <a:lnTo>
                    <a:pt x="0" y="244281"/>
                  </a:lnTo>
                  <a:close/>
                </a:path>
              </a:pathLst>
            </a:custGeom>
            <a:blipFill>
              <a:blip r:embed="rId2"/>
              <a:stretch>
                <a:fillRect r="-179287" b="-112765"/>
              </a:stretch>
            </a:blipFill>
          </p:spPr>
        </p:sp>
      </p:grpSp>
      <p:grpSp>
        <p:nvGrpSpPr>
          <p:cNvPr id="9" name="Group 9"/>
          <p:cNvGrpSpPr/>
          <p:nvPr/>
        </p:nvGrpSpPr>
        <p:grpSpPr>
          <a:xfrm>
            <a:off x="5713531" y="6717271"/>
            <a:ext cx="6860937" cy="3391564"/>
            <a:chOff x="0" y="0"/>
            <a:chExt cx="561550" cy="277591"/>
          </a:xfrm>
        </p:grpSpPr>
        <p:sp>
          <p:nvSpPr>
            <p:cNvPr id="10" name="Freeform 10"/>
            <p:cNvSpPr/>
            <p:nvPr/>
          </p:nvSpPr>
          <p:spPr>
            <a:xfrm>
              <a:off x="0" y="0"/>
              <a:ext cx="561550" cy="277591"/>
            </a:xfrm>
            <a:custGeom>
              <a:avLst/>
              <a:gdLst/>
              <a:ahLst/>
              <a:cxnLst/>
              <a:rect l="l" t="t" r="r" b="b"/>
              <a:pathLst>
                <a:path w="561550" h="277591">
                  <a:moveTo>
                    <a:pt x="0" y="0"/>
                  </a:moveTo>
                  <a:lnTo>
                    <a:pt x="561550" y="0"/>
                  </a:lnTo>
                  <a:lnTo>
                    <a:pt x="561550" y="277591"/>
                  </a:lnTo>
                  <a:lnTo>
                    <a:pt x="0" y="277591"/>
                  </a:lnTo>
                  <a:close/>
                </a:path>
              </a:pathLst>
            </a:custGeom>
            <a:blipFill>
              <a:blip r:embed="rId3"/>
              <a:stretch>
                <a:fillRect t="-17515" b="-17515"/>
              </a:stretch>
            </a:blipFill>
          </p:spPr>
        </p:sp>
      </p:grpSp>
      <p:sp>
        <p:nvSpPr>
          <p:cNvPr id="11" name="TextBox 11"/>
          <p:cNvSpPr txBox="1"/>
          <p:nvPr/>
        </p:nvSpPr>
        <p:spPr>
          <a:xfrm>
            <a:off x="13611646" y="7090429"/>
            <a:ext cx="3647654" cy="2133600"/>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Lato"/>
                <a:ea typeface="Lato"/>
                <a:cs typeface="Lato"/>
                <a:sym typeface="Lato"/>
              </a:rPr>
              <a:t>Lorem ipsum dolor sit amet, consectetur adipiscing elit. Cras eget metus ac massa ultrices venenatis eu non mauris. Nunc blandit non erat quis interdum. In pretium diam a risus porta viverra. Praesent venenatis diam ac justo dignissim, at aliquet nibh pharetra. Vivamus feugiat dapibus massa, non suscipit tellus finibus ac.</a:t>
            </a:r>
          </a:p>
        </p:txBody>
      </p:sp>
      <p:sp>
        <p:nvSpPr>
          <p:cNvPr id="12" name="TextBox 12"/>
          <p:cNvSpPr txBox="1"/>
          <p:nvPr/>
        </p:nvSpPr>
        <p:spPr>
          <a:xfrm>
            <a:off x="1028700" y="4394732"/>
            <a:ext cx="3647654" cy="2133600"/>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Lato"/>
                <a:ea typeface="Lato"/>
                <a:cs typeface="Lato"/>
                <a:sym typeface="Lato"/>
              </a:rPr>
              <a:t>Lorem ipsum dolor sit amet, consectetur adipiscing elit. Cras eget metus ac massa ultrices venenatis eu non mauris. Nunc blandit non erat quis interdum. In pretium diam a risus porta viverra. Praesent venenatis diam ac justo dignissim, at aliquet nibh pharetra. Vivamus feugiat dapibus massa, non suscipit tellus finibus ac.</a:t>
            </a:r>
          </a:p>
        </p:txBody>
      </p:sp>
      <p:grpSp>
        <p:nvGrpSpPr>
          <p:cNvPr id="13" name="Group 13"/>
          <p:cNvGrpSpPr/>
          <p:nvPr/>
        </p:nvGrpSpPr>
        <p:grpSpPr>
          <a:xfrm>
            <a:off x="13611646" y="6182380"/>
            <a:ext cx="994100" cy="345951"/>
            <a:chOff x="0" y="0"/>
            <a:chExt cx="1167801" cy="406400"/>
          </a:xfrm>
        </p:grpSpPr>
        <p:sp>
          <p:nvSpPr>
            <p:cNvPr id="14" name="Freeform 14"/>
            <p:cNvSpPr/>
            <p:nvPr/>
          </p:nvSpPr>
          <p:spPr>
            <a:xfrm>
              <a:off x="0" y="0"/>
              <a:ext cx="1167801" cy="406400"/>
            </a:xfrm>
            <a:custGeom>
              <a:avLst/>
              <a:gdLst/>
              <a:ahLst/>
              <a:cxnLst/>
              <a:rect l="l" t="t" r="r" b="b"/>
              <a:pathLst>
                <a:path w="1167801" h="406400">
                  <a:moveTo>
                    <a:pt x="964601" y="0"/>
                  </a:moveTo>
                  <a:cubicBezTo>
                    <a:pt x="1076826" y="0"/>
                    <a:pt x="1167801" y="90976"/>
                    <a:pt x="1167801" y="203200"/>
                  </a:cubicBezTo>
                  <a:cubicBezTo>
                    <a:pt x="1167801" y="315424"/>
                    <a:pt x="1076826" y="406400"/>
                    <a:pt x="964601" y="406400"/>
                  </a:cubicBezTo>
                  <a:lnTo>
                    <a:pt x="203200" y="406400"/>
                  </a:lnTo>
                  <a:cubicBezTo>
                    <a:pt x="90976" y="406400"/>
                    <a:pt x="0" y="315424"/>
                    <a:pt x="0" y="203200"/>
                  </a:cubicBezTo>
                  <a:cubicBezTo>
                    <a:pt x="0" y="90976"/>
                    <a:pt x="90976" y="0"/>
                    <a:pt x="203200" y="0"/>
                  </a:cubicBezTo>
                  <a:close/>
                </a:path>
              </a:pathLst>
            </a:custGeom>
            <a:solidFill>
              <a:srgbClr val="F0BC0F"/>
            </a:solidFill>
          </p:spPr>
        </p:sp>
        <p:sp>
          <p:nvSpPr>
            <p:cNvPr id="15" name="TextBox 15"/>
            <p:cNvSpPr txBox="1"/>
            <p:nvPr/>
          </p:nvSpPr>
          <p:spPr>
            <a:xfrm>
              <a:off x="0" y="-38100"/>
              <a:ext cx="1167801" cy="44450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028700" y="1028700"/>
            <a:ext cx="994100" cy="345951"/>
            <a:chOff x="0" y="0"/>
            <a:chExt cx="1167801" cy="406400"/>
          </a:xfrm>
        </p:grpSpPr>
        <p:sp>
          <p:nvSpPr>
            <p:cNvPr id="17" name="Freeform 17"/>
            <p:cNvSpPr/>
            <p:nvPr/>
          </p:nvSpPr>
          <p:spPr>
            <a:xfrm>
              <a:off x="0" y="0"/>
              <a:ext cx="1167801" cy="406400"/>
            </a:xfrm>
            <a:custGeom>
              <a:avLst/>
              <a:gdLst/>
              <a:ahLst/>
              <a:cxnLst/>
              <a:rect l="l" t="t" r="r" b="b"/>
              <a:pathLst>
                <a:path w="1167801" h="406400">
                  <a:moveTo>
                    <a:pt x="964601" y="0"/>
                  </a:moveTo>
                  <a:cubicBezTo>
                    <a:pt x="1076826" y="0"/>
                    <a:pt x="1167801" y="90976"/>
                    <a:pt x="1167801" y="203200"/>
                  </a:cubicBezTo>
                  <a:cubicBezTo>
                    <a:pt x="1167801" y="315424"/>
                    <a:pt x="1076826" y="406400"/>
                    <a:pt x="964601" y="406400"/>
                  </a:cubicBezTo>
                  <a:lnTo>
                    <a:pt x="203200" y="406400"/>
                  </a:lnTo>
                  <a:cubicBezTo>
                    <a:pt x="90976" y="406400"/>
                    <a:pt x="0" y="315424"/>
                    <a:pt x="0" y="203200"/>
                  </a:cubicBezTo>
                  <a:cubicBezTo>
                    <a:pt x="0" y="90976"/>
                    <a:pt x="90976" y="0"/>
                    <a:pt x="203200" y="0"/>
                  </a:cubicBezTo>
                  <a:close/>
                </a:path>
              </a:pathLst>
            </a:custGeom>
            <a:solidFill>
              <a:srgbClr val="F0BC0F"/>
            </a:solidFill>
          </p:spPr>
        </p:sp>
        <p:sp>
          <p:nvSpPr>
            <p:cNvPr id="18" name="TextBox 18"/>
            <p:cNvSpPr txBox="1"/>
            <p:nvPr/>
          </p:nvSpPr>
          <p:spPr>
            <a:xfrm>
              <a:off x="0" y="-38100"/>
              <a:ext cx="1167801" cy="44450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5785204" y="2011431"/>
            <a:ext cx="491365" cy="491365"/>
            <a:chOff x="0" y="0"/>
            <a:chExt cx="129413" cy="129413"/>
          </a:xfrm>
        </p:grpSpPr>
        <p:sp>
          <p:nvSpPr>
            <p:cNvPr id="20" name="Freeform 20"/>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21" name="TextBox 21"/>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1921420" y="8652123"/>
            <a:ext cx="491365" cy="491365"/>
            <a:chOff x="0" y="0"/>
            <a:chExt cx="129413" cy="129413"/>
          </a:xfrm>
        </p:grpSpPr>
        <p:sp>
          <p:nvSpPr>
            <p:cNvPr id="23" name="Freeform 23"/>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24" name="TextBox 24"/>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a:off x="1034385" y="8537312"/>
            <a:ext cx="720988" cy="720988"/>
            <a:chOff x="0" y="0"/>
            <a:chExt cx="189890" cy="189890"/>
          </a:xfrm>
        </p:grpSpPr>
        <p:sp>
          <p:nvSpPr>
            <p:cNvPr id="26" name="Freeform 26"/>
            <p:cNvSpPr/>
            <p:nvPr/>
          </p:nvSpPr>
          <p:spPr>
            <a:xfrm>
              <a:off x="0" y="0"/>
              <a:ext cx="189890" cy="189890"/>
            </a:xfrm>
            <a:custGeom>
              <a:avLst/>
              <a:gdLst/>
              <a:ahLst/>
              <a:cxnLst/>
              <a:rect l="l" t="t" r="r" b="b"/>
              <a:pathLst>
                <a:path w="189890" h="189890">
                  <a:moveTo>
                    <a:pt x="0" y="0"/>
                  </a:moveTo>
                  <a:lnTo>
                    <a:pt x="189890" y="0"/>
                  </a:lnTo>
                  <a:lnTo>
                    <a:pt x="189890" y="189890"/>
                  </a:lnTo>
                  <a:lnTo>
                    <a:pt x="0" y="189890"/>
                  </a:lnTo>
                  <a:close/>
                </a:path>
              </a:pathLst>
            </a:custGeom>
            <a:solidFill>
              <a:srgbClr val="F0BC0F"/>
            </a:solidFill>
          </p:spPr>
        </p:sp>
        <p:sp>
          <p:nvSpPr>
            <p:cNvPr id="27" name="TextBox 27"/>
            <p:cNvSpPr txBox="1"/>
            <p:nvPr/>
          </p:nvSpPr>
          <p:spPr>
            <a:xfrm>
              <a:off x="0" y="-38100"/>
              <a:ext cx="189890" cy="227990"/>
            </a:xfrm>
            <a:prstGeom prst="rect">
              <a:avLst/>
            </a:prstGeom>
          </p:spPr>
          <p:txBody>
            <a:bodyPr lIns="50800" tIns="50800" rIns="50800" bIns="50800" rtlCol="0" anchor="ctr"/>
            <a:lstStyle/>
            <a:p>
              <a:pPr algn="ctr">
                <a:lnSpc>
                  <a:spcPts val="2659"/>
                </a:lnSpc>
              </a:pPr>
              <a:endParaRPr/>
            </a:p>
          </p:txBody>
        </p:sp>
      </p:grpSp>
      <p:grpSp>
        <p:nvGrpSpPr>
          <p:cNvPr id="28" name="Group 28"/>
          <p:cNvGrpSpPr/>
          <p:nvPr/>
        </p:nvGrpSpPr>
        <p:grpSpPr>
          <a:xfrm>
            <a:off x="16276569" y="1520065"/>
            <a:ext cx="491365" cy="491365"/>
            <a:chOff x="0" y="0"/>
            <a:chExt cx="129413" cy="129413"/>
          </a:xfrm>
        </p:grpSpPr>
        <p:sp>
          <p:nvSpPr>
            <p:cNvPr id="29" name="Freeform 29"/>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30" name="TextBox 30"/>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31" name="Group 31"/>
          <p:cNvGrpSpPr/>
          <p:nvPr/>
        </p:nvGrpSpPr>
        <p:grpSpPr>
          <a:xfrm>
            <a:off x="16767935" y="1028700"/>
            <a:ext cx="491365" cy="491365"/>
            <a:chOff x="0" y="0"/>
            <a:chExt cx="129413" cy="129413"/>
          </a:xfrm>
        </p:grpSpPr>
        <p:sp>
          <p:nvSpPr>
            <p:cNvPr id="32" name="Freeform 32"/>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33" name="TextBox 33"/>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222222">
                <a:alpha val="100000"/>
              </a:srgbClr>
            </a:gs>
            <a:gs pos="100000">
              <a:srgbClr val="0E0E0E">
                <a:alpha val="100000"/>
              </a:srgbClr>
            </a:gs>
          </a:gsLst>
          <a:path path="circle">
            <a:fillToRect l="50000" t="50000" r="50000" b="50000"/>
          </a:path>
        </a:gradFill>
        <a:effectLst/>
      </p:bgPr>
    </p:bg>
    <p:spTree>
      <p:nvGrpSpPr>
        <p:cNvPr id="1" name=""/>
        <p:cNvGrpSpPr/>
        <p:nvPr/>
      </p:nvGrpSpPr>
      <p:grpSpPr>
        <a:xfrm>
          <a:off x="0" y="0"/>
          <a:ext cx="0" cy="0"/>
          <a:chOff x="0" y="0"/>
          <a:chExt cx="0" cy="0"/>
        </a:xfrm>
      </p:grpSpPr>
      <p:grpSp>
        <p:nvGrpSpPr>
          <p:cNvPr id="2" name="Group 2"/>
          <p:cNvGrpSpPr/>
          <p:nvPr/>
        </p:nvGrpSpPr>
        <p:grpSpPr>
          <a:xfrm>
            <a:off x="0" y="0"/>
            <a:ext cx="5255042" cy="5558118"/>
            <a:chOff x="0" y="0"/>
            <a:chExt cx="1384044" cy="1463867"/>
          </a:xfrm>
        </p:grpSpPr>
        <p:sp>
          <p:nvSpPr>
            <p:cNvPr id="3" name="Freeform 3"/>
            <p:cNvSpPr/>
            <p:nvPr/>
          </p:nvSpPr>
          <p:spPr>
            <a:xfrm>
              <a:off x="0" y="0"/>
              <a:ext cx="1384044" cy="1463867"/>
            </a:xfrm>
            <a:custGeom>
              <a:avLst/>
              <a:gdLst/>
              <a:ahLst/>
              <a:cxnLst/>
              <a:rect l="l" t="t" r="r" b="b"/>
              <a:pathLst>
                <a:path w="1384044" h="1463867">
                  <a:moveTo>
                    <a:pt x="0" y="0"/>
                  </a:moveTo>
                  <a:lnTo>
                    <a:pt x="1384044" y="0"/>
                  </a:lnTo>
                  <a:lnTo>
                    <a:pt x="1384044" y="1463867"/>
                  </a:lnTo>
                  <a:lnTo>
                    <a:pt x="0" y="1463867"/>
                  </a:lnTo>
                  <a:close/>
                </a:path>
              </a:pathLst>
            </a:custGeom>
            <a:solidFill>
              <a:srgbClr val="F0BC0F"/>
            </a:solidFill>
          </p:spPr>
        </p:sp>
        <p:sp>
          <p:nvSpPr>
            <p:cNvPr id="4" name="TextBox 4"/>
            <p:cNvSpPr txBox="1"/>
            <p:nvPr/>
          </p:nvSpPr>
          <p:spPr>
            <a:xfrm>
              <a:off x="0" y="-38100"/>
              <a:ext cx="1384044" cy="1501967"/>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6034013" y="3319182"/>
            <a:ext cx="7616839" cy="708025"/>
          </a:xfrm>
          <a:prstGeom prst="rect">
            <a:avLst/>
          </a:prstGeom>
        </p:spPr>
        <p:txBody>
          <a:bodyPr lIns="0" tIns="0" rIns="0" bIns="0" rtlCol="0" anchor="t">
            <a:spAutoFit/>
          </a:bodyPr>
          <a:lstStyle/>
          <a:p>
            <a:pPr algn="l">
              <a:lnSpc>
                <a:spcPts val="5224"/>
              </a:lnSpc>
            </a:pPr>
            <a:r>
              <a:rPr lang="en-US" sz="5499" b="1">
                <a:solidFill>
                  <a:srgbClr val="FFFFFF"/>
                </a:solidFill>
                <a:latin typeface="TT Hoves Bold"/>
                <a:ea typeface="TT Hoves Bold"/>
                <a:cs typeface="TT Hoves Bold"/>
                <a:sym typeface="TT Hoves Bold"/>
              </a:rPr>
              <a:t>FUTURE OUTLOOK</a:t>
            </a:r>
          </a:p>
        </p:txBody>
      </p:sp>
      <p:grpSp>
        <p:nvGrpSpPr>
          <p:cNvPr id="6" name="Group 6"/>
          <p:cNvGrpSpPr/>
          <p:nvPr/>
        </p:nvGrpSpPr>
        <p:grpSpPr>
          <a:xfrm>
            <a:off x="0" y="3275908"/>
            <a:ext cx="4477169" cy="7011092"/>
            <a:chOff x="0" y="0"/>
            <a:chExt cx="366445" cy="573840"/>
          </a:xfrm>
        </p:grpSpPr>
        <p:sp>
          <p:nvSpPr>
            <p:cNvPr id="7" name="Freeform 7"/>
            <p:cNvSpPr/>
            <p:nvPr/>
          </p:nvSpPr>
          <p:spPr>
            <a:xfrm>
              <a:off x="0" y="0"/>
              <a:ext cx="366445" cy="573840"/>
            </a:xfrm>
            <a:custGeom>
              <a:avLst/>
              <a:gdLst/>
              <a:ahLst/>
              <a:cxnLst/>
              <a:rect l="l" t="t" r="r" b="b"/>
              <a:pathLst>
                <a:path w="366445" h="573840">
                  <a:moveTo>
                    <a:pt x="0" y="0"/>
                  </a:moveTo>
                  <a:lnTo>
                    <a:pt x="366445" y="0"/>
                  </a:lnTo>
                  <a:lnTo>
                    <a:pt x="366445" y="573840"/>
                  </a:lnTo>
                  <a:lnTo>
                    <a:pt x="0" y="573840"/>
                  </a:lnTo>
                  <a:close/>
                </a:path>
              </a:pathLst>
            </a:custGeom>
            <a:blipFill>
              <a:blip r:embed="rId2"/>
              <a:stretch>
                <a:fillRect l="-67520" r="-67520"/>
              </a:stretch>
            </a:blipFill>
          </p:spPr>
        </p:sp>
      </p:grpSp>
      <p:grpSp>
        <p:nvGrpSpPr>
          <p:cNvPr id="8" name="Group 8"/>
          <p:cNvGrpSpPr/>
          <p:nvPr/>
        </p:nvGrpSpPr>
        <p:grpSpPr>
          <a:xfrm>
            <a:off x="1029391" y="1028700"/>
            <a:ext cx="994100" cy="345951"/>
            <a:chOff x="0" y="0"/>
            <a:chExt cx="1167801" cy="406400"/>
          </a:xfrm>
        </p:grpSpPr>
        <p:sp>
          <p:nvSpPr>
            <p:cNvPr id="9" name="Freeform 9"/>
            <p:cNvSpPr/>
            <p:nvPr/>
          </p:nvSpPr>
          <p:spPr>
            <a:xfrm>
              <a:off x="0" y="0"/>
              <a:ext cx="1167801" cy="406400"/>
            </a:xfrm>
            <a:custGeom>
              <a:avLst/>
              <a:gdLst/>
              <a:ahLst/>
              <a:cxnLst/>
              <a:rect l="l" t="t" r="r" b="b"/>
              <a:pathLst>
                <a:path w="1167801" h="406400">
                  <a:moveTo>
                    <a:pt x="964601" y="0"/>
                  </a:moveTo>
                  <a:cubicBezTo>
                    <a:pt x="1076826" y="0"/>
                    <a:pt x="1167801" y="90976"/>
                    <a:pt x="1167801" y="203200"/>
                  </a:cubicBezTo>
                  <a:cubicBezTo>
                    <a:pt x="1167801" y="315424"/>
                    <a:pt x="1076826" y="406400"/>
                    <a:pt x="964601" y="406400"/>
                  </a:cubicBezTo>
                  <a:lnTo>
                    <a:pt x="203200" y="406400"/>
                  </a:lnTo>
                  <a:cubicBezTo>
                    <a:pt x="90976" y="406400"/>
                    <a:pt x="0" y="315424"/>
                    <a:pt x="0" y="203200"/>
                  </a:cubicBezTo>
                  <a:cubicBezTo>
                    <a:pt x="0" y="90976"/>
                    <a:pt x="90976" y="0"/>
                    <a:pt x="203200" y="0"/>
                  </a:cubicBezTo>
                  <a:close/>
                </a:path>
              </a:pathLst>
            </a:custGeom>
            <a:solidFill>
              <a:srgbClr val="FFFFFF"/>
            </a:solidFill>
          </p:spPr>
        </p:sp>
        <p:sp>
          <p:nvSpPr>
            <p:cNvPr id="10" name="TextBox 10"/>
            <p:cNvSpPr txBox="1"/>
            <p:nvPr/>
          </p:nvSpPr>
          <p:spPr>
            <a:xfrm>
              <a:off x="0" y="-38100"/>
              <a:ext cx="1167801" cy="444500"/>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6034013" y="4491318"/>
            <a:ext cx="8620035" cy="1066800"/>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Lato"/>
                <a:ea typeface="Lato"/>
                <a:cs typeface="Lato"/>
                <a:sym typeface="Lato"/>
              </a:rPr>
              <a:t>Lorem ipsum dolor sit amet, consectetur adipiscing elit. Cras eget metus ac massa ultrices venenatis eu non mauris. Nunc blandit non erat quis interdum. In pretium diam a risus porta viverra. Praesent venenatis diam ac justo dignissim, at aliquet nibh pharetra. Vivamus feugiat dapibus massa, non suscipit tellus finibus ac.</a:t>
            </a:r>
          </a:p>
        </p:txBody>
      </p:sp>
      <p:sp>
        <p:nvSpPr>
          <p:cNvPr id="12" name="TextBox 12"/>
          <p:cNvSpPr txBox="1"/>
          <p:nvPr/>
        </p:nvSpPr>
        <p:spPr>
          <a:xfrm>
            <a:off x="6034013" y="6024843"/>
            <a:ext cx="8620035" cy="1066800"/>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Lato"/>
                <a:ea typeface="Lato"/>
                <a:cs typeface="Lato"/>
                <a:sym typeface="Lato"/>
              </a:rPr>
              <a:t>Lorem ipsum dolor sit amet, consectetur adipiscing elit. Cras eget metus ac massa ultrices venenatis eu non mauris. Nunc blandit non erat quis interdum. In pretium diam a risus porta viverra. Praesent venenatis diam ac justo dignissim, at aliquet nibh pharetra. Vivamus feugiat dapibus massa, non suscipit tellus finibus ac.</a:t>
            </a:r>
          </a:p>
        </p:txBody>
      </p:sp>
      <p:grpSp>
        <p:nvGrpSpPr>
          <p:cNvPr id="13" name="Group 13"/>
          <p:cNvGrpSpPr/>
          <p:nvPr/>
        </p:nvGrpSpPr>
        <p:grpSpPr>
          <a:xfrm>
            <a:off x="13659948" y="8912349"/>
            <a:ext cx="994100" cy="345951"/>
            <a:chOff x="0" y="0"/>
            <a:chExt cx="1167801" cy="406400"/>
          </a:xfrm>
        </p:grpSpPr>
        <p:sp>
          <p:nvSpPr>
            <p:cNvPr id="14" name="Freeform 14"/>
            <p:cNvSpPr/>
            <p:nvPr/>
          </p:nvSpPr>
          <p:spPr>
            <a:xfrm>
              <a:off x="0" y="0"/>
              <a:ext cx="1167801" cy="406400"/>
            </a:xfrm>
            <a:custGeom>
              <a:avLst/>
              <a:gdLst/>
              <a:ahLst/>
              <a:cxnLst/>
              <a:rect l="l" t="t" r="r" b="b"/>
              <a:pathLst>
                <a:path w="1167801" h="406400">
                  <a:moveTo>
                    <a:pt x="964601" y="0"/>
                  </a:moveTo>
                  <a:cubicBezTo>
                    <a:pt x="1076826" y="0"/>
                    <a:pt x="1167801" y="90976"/>
                    <a:pt x="1167801" y="203200"/>
                  </a:cubicBezTo>
                  <a:cubicBezTo>
                    <a:pt x="1167801" y="315424"/>
                    <a:pt x="1076826" y="406400"/>
                    <a:pt x="964601" y="406400"/>
                  </a:cubicBezTo>
                  <a:lnTo>
                    <a:pt x="203200" y="406400"/>
                  </a:lnTo>
                  <a:cubicBezTo>
                    <a:pt x="90976" y="406400"/>
                    <a:pt x="0" y="315424"/>
                    <a:pt x="0" y="203200"/>
                  </a:cubicBezTo>
                  <a:cubicBezTo>
                    <a:pt x="0" y="90976"/>
                    <a:pt x="90976" y="0"/>
                    <a:pt x="203200" y="0"/>
                  </a:cubicBezTo>
                  <a:close/>
                </a:path>
              </a:pathLst>
            </a:custGeom>
            <a:solidFill>
              <a:srgbClr val="F0BC0F"/>
            </a:solidFill>
          </p:spPr>
        </p:sp>
        <p:sp>
          <p:nvSpPr>
            <p:cNvPr id="15" name="TextBox 15"/>
            <p:cNvSpPr txBox="1"/>
            <p:nvPr/>
          </p:nvSpPr>
          <p:spPr>
            <a:xfrm>
              <a:off x="0" y="-38100"/>
              <a:ext cx="1167801" cy="44450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6034013" y="1028700"/>
            <a:ext cx="994100" cy="345951"/>
            <a:chOff x="0" y="0"/>
            <a:chExt cx="1167801" cy="406400"/>
          </a:xfrm>
        </p:grpSpPr>
        <p:sp>
          <p:nvSpPr>
            <p:cNvPr id="17" name="Freeform 17"/>
            <p:cNvSpPr/>
            <p:nvPr/>
          </p:nvSpPr>
          <p:spPr>
            <a:xfrm>
              <a:off x="0" y="0"/>
              <a:ext cx="1167801" cy="406400"/>
            </a:xfrm>
            <a:custGeom>
              <a:avLst/>
              <a:gdLst/>
              <a:ahLst/>
              <a:cxnLst/>
              <a:rect l="l" t="t" r="r" b="b"/>
              <a:pathLst>
                <a:path w="1167801" h="406400">
                  <a:moveTo>
                    <a:pt x="964601" y="0"/>
                  </a:moveTo>
                  <a:cubicBezTo>
                    <a:pt x="1076826" y="0"/>
                    <a:pt x="1167801" y="90976"/>
                    <a:pt x="1167801" y="203200"/>
                  </a:cubicBezTo>
                  <a:cubicBezTo>
                    <a:pt x="1167801" y="315424"/>
                    <a:pt x="1076826" y="406400"/>
                    <a:pt x="964601" y="406400"/>
                  </a:cubicBezTo>
                  <a:lnTo>
                    <a:pt x="203200" y="406400"/>
                  </a:lnTo>
                  <a:cubicBezTo>
                    <a:pt x="90976" y="406400"/>
                    <a:pt x="0" y="315424"/>
                    <a:pt x="0" y="203200"/>
                  </a:cubicBezTo>
                  <a:cubicBezTo>
                    <a:pt x="0" y="90976"/>
                    <a:pt x="90976" y="0"/>
                    <a:pt x="203200" y="0"/>
                  </a:cubicBezTo>
                  <a:close/>
                </a:path>
              </a:pathLst>
            </a:custGeom>
            <a:solidFill>
              <a:srgbClr val="F0BC0F"/>
            </a:solidFill>
          </p:spPr>
        </p:sp>
        <p:sp>
          <p:nvSpPr>
            <p:cNvPr id="18" name="TextBox 18"/>
            <p:cNvSpPr txBox="1"/>
            <p:nvPr/>
          </p:nvSpPr>
          <p:spPr>
            <a:xfrm>
              <a:off x="0" y="-38100"/>
              <a:ext cx="1167801" cy="44450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5785204" y="2011431"/>
            <a:ext cx="491365" cy="491365"/>
            <a:chOff x="0" y="0"/>
            <a:chExt cx="129413" cy="129413"/>
          </a:xfrm>
        </p:grpSpPr>
        <p:sp>
          <p:nvSpPr>
            <p:cNvPr id="20" name="Freeform 20"/>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21" name="TextBox 21"/>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16767935" y="8652123"/>
            <a:ext cx="491365" cy="491365"/>
            <a:chOff x="0" y="0"/>
            <a:chExt cx="129413" cy="129413"/>
          </a:xfrm>
        </p:grpSpPr>
        <p:sp>
          <p:nvSpPr>
            <p:cNvPr id="23" name="Freeform 23"/>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24" name="TextBox 24"/>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a:off x="15880899" y="8537312"/>
            <a:ext cx="720988" cy="720988"/>
            <a:chOff x="0" y="0"/>
            <a:chExt cx="189890" cy="189890"/>
          </a:xfrm>
        </p:grpSpPr>
        <p:sp>
          <p:nvSpPr>
            <p:cNvPr id="26" name="Freeform 26"/>
            <p:cNvSpPr/>
            <p:nvPr/>
          </p:nvSpPr>
          <p:spPr>
            <a:xfrm>
              <a:off x="0" y="0"/>
              <a:ext cx="189890" cy="189890"/>
            </a:xfrm>
            <a:custGeom>
              <a:avLst/>
              <a:gdLst/>
              <a:ahLst/>
              <a:cxnLst/>
              <a:rect l="l" t="t" r="r" b="b"/>
              <a:pathLst>
                <a:path w="189890" h="189890">
                  <a:moveTo>
                    <a:pt x="0" y="0"/>
                  </a:moveTo>
                  <a:lnTo>
                    <a:pt x="189890" y="0"/>
                  </a:lnTo>
                  <a:lnTo>
                    <a:pt x="189890" y="189890"/>
                  </a:lnTo>
                  <a:lnTo>
                    <a:pt x="0" y="189890"/>
                  </a:lnTo>
                  <a:close/>
                </a:path>
              </a:pathLst>
            </a:custGeom>
            <a:solidFill>
              <a:srgbClr val="F0BC0F"/>
            </a:solidFill>
          </p:spPr>
        </p:sp>
        <p:sp>
          <p:nvSpPr>
            <p:cNvPr id="27" name="TextBox 27"/>
            <p:cNvSpPr txBox="1"/>
            <p:nvPr/>
          </p:nvSpPr>
          <p:spPr>
            <a:xfrm>
              <a:off x="0" y="-38100"/>
              <a:ext cx="189890" cy="227990"/>
            </a:xfrm>
            <a:prstGeom prst="rect">
              <a:avLst/>
            </a:prstGeom>
          </p:spPr>
          <p:txBody>
            <a:bodyPr lIns="50800" tIns="50800" rIns="50800" bIns="50800" rtlCol="0" anchor="ctr"/>
            <a:lstStyle/>
            <a:p>
              <a:pPr algn="ctr">
                <a:lnSpc>
                  <a:spcPts val="2659"/>
                </a:lnSpc>
              </a:pPr>
              <a:endParaRPr/>
            </a:p>
          </p:txBody>
        </p:sp>
      </p:grpSp>
      <p:grpSp>
        <p:nvGrpSpPr>
          <p:cNvPr id="28" name="Group 28"/>
          <p:cNvGrpSpPr/>
          <p:nvPr/>
        </p:nvGrpSpPr>
        <p:grpSpPr>
          <a:xfrm>
            <a:off x="16276569" y="1520065"/>
            <a:ext cx="491365" cy="491365"/>
            <a:chOff x="0" y="0"/>
            <a:chExt cx="129413" cy="129413"/>
          </a:xfrm>
        </p:grpSpPr>
        <p:sp>
          <p:nvSpPr>
            <p:cNvPr id="29" name="Freeform 29"/>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30" name="TextBox 30"/>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31" name="Group 31"/>
          <p:cNvGrpSpPr/>
          <p:nvPr/>
        </p:nvGrpSpPr>
        <p:grpSpPr>
          <a:xfrm>
            <a:off x="16767935" y="1028700"/>
            <a:ext cx="491365" cy="491365"/>
            <a:chOff x="0" y="0"/>
            <a:chExt cx="129413" cy="129413"/>
          </a:xfrm>
        </p:grpSpPr>
        <p:sp>
          <p:nvSpPr>
            <p:cNvPr id="32" name="Freeform 32"/>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33" name="TextBox 33"/>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222222">
                <a:alpha val="100000"/>
              </a:srgbClr>
            </a:gs>
            <a:gs pos="100000">
              <a:srgbClr val="0E0E0E">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2"/>
          <p:cNvSpPr txBox="1"/>
          <p:nvPr/>
        </p:nvSpPr>
        <p:spPr>
          <a:xfrm>
            <a:off x="1028700" y="3671083"/>
            <a:ext cx="5692358" cy="708025"/>
          </a:xfrm>
          <a:prstGeom prst="rect">
            <a:avLst/>
          </a:prstGeom>
        </p:spPr>
        <p:txBody>
          <a:bodyPr lIns="0" tIns="0" rIns="0" bIns="0" rtlCol="0" anchor="t">
            <a:spAutoFit/>
          </a:bodyPr>
          <a:lstStyle/>
          <a:p>
            <a:pPr algn="l">
              <a:lnSpc>
                <a:spcPts val="5224"/>
              </a:lnSpc>
            </a:pPr>
            <a:r>
              <a:rPr lang="en-US" sz="5499" b="1">
                <a:solidFill>
                  <a:srgbClr val="FFFFFF"/>
                </a:solidFill>
                <a:latin typeface="TT Hoves Bold"/>
                <a:ea typeface="TT Hoves Bold"/>
                <a:cs typeface="TT Hoves Bold"/>
                <a:sym typeface="TT Hoves Bold"/>
              </a:rPr>
              <a:t>CONCLUSION</a:t>
            </a:r>
          </a:p>
        </p:txBody>
      </p:sp>
      <p:grpSp>
        <p:nvGrpSpPr>
          <p:cNvPr id="3" name="Group 3"/>
          <p:cNvGrpSpPr/>
          <p:nvPr/>
        </p:nvGrpSpPr>
        <p:grpSpPr>
          <a:xfrm>
            <a:off x="11245881" y="178165"/>
            <a:ext cx="3337545" cy="6350167"/>
            <a:chOff x="0" y="0"/>
            <a:chExt cx="273170" cy="519745"/>
          </a:xfrm>
        </p:grpSpPr>
        <p:sp>
          <p:nvSpPr>
            <p:cNvPr id="4" name="Freeform 4"/>
            <p:cNvSpPr/>
            <p:nvPr/>
          </p:nvSpPr>
          <p:spPr>
            <a:xfrm>
              <a:off x="0" y="0"/>
              <a:ext cx="273170" cy="519745"/>
            </a:xfrm>
            <a:custGeom>
              <a:avLst/>
              <a:gdLst/>
              <a:ahLst/>
              <a:cxnLst/>
              <a:rect l="l" t="t" r="r" b="b"/>
              <a:pathLst>
                <a:path w="273170" h="519745">
                  <a:moveTo>
                    <a:pt x="0" y="0"/>
                  </a:moveTo>
                  <a:lnTo>
                    <a:pt x="273170" y="0"/>
                  </a:lnTo>
                  <a:lnTo>
                    <a:pt x="273170" y="519745"/>
                  </a:lnTo>
                  <a:lnTo>
                    <a:pt x="0" y="519745"/>
                  </a:lnTo>
                  <a:close/>
                </a:path>
              </a:pathLst>
            </a:custGeom>
            <a:blipFill>
              <a:blip r:embed="rId2"/>
              <a:stretch>
                <a:fillRect l="-92787" r="-92787"/>
              </a:stretch>
            </a:blipFill>
          </p:spPr>
        </p:sp>
      </p:grpSp>
      <p:grpSp>
        <p:nvGrpSpPr>
          <p:cNvPr id="5" name="Group 5"/>
          <p:cNvGrpSpPr/>
          <p:nvPr/>
        </p:nvGrpSpPr>
        <p:grpSpPr>
          <a:xfrm>
            <a:off x="14770488" y="3758070"/>
            <a:ext cx="3337545" cy="6350167"/>
            <a:chOff x="0" y="0"/>
            <a:chExt cx="273170" cy="519745"/>
          </a:xfrm>
        </p:grpSpPr>
        <p:sp>
          <p:nvSpPr>
            <p:cNvPr id="6" name="Freeform 6"/>
            <p:cNvSpPr/>
            <p:nvPr/>
          </p:nvSpPr>
          <p:spPr>
            <a:xfrm>
              <a:off x="0" y="0"/>
              <a:ext cx="273170" cy="519745"/>
            </a:xfrm>
            <a:custGeom>
              <a:avLst/>
              <a:gdLst/>
              <a:ahLst/>
              <a:cxnLst/>
              <a:rect l="l" t="t" r="r" b="b"/>
              <a:pathLst>
                <a:path w="273170" h="519745">
                  <a:moveTo>
                    <a:pt x="0" y="0"/>
                  </a:moveTo>
                  <a:lnTo>
                    <a:pt x="273170" y="0"/>
                  </a:lnTo>
                  <a:lnTo>
                    <a:pt x="273170" y="519745"/>
                  </a:lnTo>
                  <a:lnTo>
                    <a:pt x="0" y="519745"/>
                  </a:lnTo>
                  <a:close/>
                </a:path>
              </a:pathLst>
            </a:custGeom>
            <a:blipFill>
              <a:blip r:embed="rId3"/>
              <a:stretch>
                <a:fillRect l="-89900" r="-89900"/>
              </a:stretch>
            </a:blipFill>
          </p:spPr>
        </p:sp>
      </p:grpSp>
      <p:grpSp>
        <p:nvGrpSpPr>
          <p:cNvPr id="7" name="Group 7"/>
          <p:cNvGrpSpPr/>
          <p:nvPr/>
        </p:nvGrpSpPr>
        <p:grpSpPr>
          <a:xfrm>
            <a:off x="16265200" y="8912349"/>
            <a:ext cx="994100" cy="345951"/>
            <a:chOff x="0" y="0"/>
            <a:chExt cx="1167801" cy="406400"/>
          </a:xfrm>
        </p:grpSpPr>
        <p:sp>
          <p:nvSpPr>
            <p:cNvPr id="8" name="Freeform 8"/>
            <p:cNvSpPr/>
            <p:nvPr/>
          </p:nvSpPr>
          <p:spPr>
            <a:xfrm>
              <a:off x="0" y="0"/>
              <a:ext cx="1167801" cy="406400"/>
            </a:xfrm>
            <a:custGeom>
              <a:avLst/>
              <a:gdLst/>
              <a:ahLst/>
              <a:cxnLst/>
              <a:rect l="l" t="t" r="r" b="b"/>
              <a:pathLst>
                <a:path w="1167801" h="406400">
                  <a:moveTo>
                    <a:pt x="964601" y="0"/>
                  </a:moveTo>
                  <a:cubicBezTo>
                    <a:pt x="1076826" y="0"/>
                    <a:pt x="1167801" y="90976"/>
                    <a:pt x="1167801" y="203200"/>
                  </a:cubicBezTo>
                  <a:cubicBezTo>
                    <a:pt x="1167801" y="315424"/>
                    <a:pt x="1076826" y="406400"/>
                    <a:pt x="964601" y="406400"/>
                  </a:cubicBezTo>
                  <a:lnTo>
                    <a:pt x="203200" y="406400"/>
                  </a:lnTo>
                  <a:cubicBezTo>
                    <a:pt x="90976" y="406400"/>
                    <a:pt x="0" y="315424"/>
                    <a:pt x="0" y="203200"/>
                  </a:cubicBezTo>
                  <a:cubicBezTo>
                    <a:pt x="0" y="90976"/>
                    <a:pt x="90976" y="0"/>
                    <a:pt x="203200" y="0"/>
                  </a:cubicBezTo>
                  <a:close/>
                </a:path>
              </a:pathLst>
            </a:custGeom>
            <a:solidFill>
              <a:srgbClr val="F0BC0F"/>
            </a:solidFill>
          </p:spPr>
        </p:sp>
        <p:sp>
          <p:nvSpPr>
            <p:cNvPr id="9" name="TextBox 9"/>
            <p:cNvSpPr txBox="1"/>
            <p:nvPr/>
          </p:nvSpPr>
          <p:spPr>
            <a:xfrm>
              <a:off x="0" y="-38100"/>
              <a:ext cx="1167801" cy="444500"/>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028700" y="1028700"/>
            <a:ext cx="994100" cy="345951"/>
            <a:chOff x="0" y="0"/>
            <a:chExt cx="1167801" cy="406400"/>
          </a:xfrm>
        </p:grpSpPr>
        <p:sp>
          <p:nvSpPr>
            <p:cNvPr id="11" name="Freeform 11"/>
            <p:cNvSpPr/>
            <p:nvPr/>
          </p:nvSpPr>
          <p:spPr>
            <a:xfrm>
              <a:off x="0" y="0"/>
              <a:ext cx="1167801" cy="406400"/>
            </a:xfrm>
            <a:custGeom>
              <a:avLst/>
              <a:gdLst/>
              <a:ahLst/>
              <a:cxnLst/>
              <a:rect l="l" t="t" r="r" b="b"/>
              <a:pathLst>
                <a:path w="1167801" h="406400">
                  <a:moveTo>
                    <a:pt x="964601" y="0"/>
                  </a:moveTo>
                  <a:cubicBezTo>
                    <a:pt x="1076826" y="0"/>
                    <a:pt x="1167801" y="90976"/>
                    <a:pt x="1167801" y="203200"/>
                  </a:cubicBezTo>
                  <a:cubicBezTo>
                    <a:pt x="1167801" y="315424"/>
                    <a:pt x="1076826" y="406400"/>
                    <a:pt x="964601" y="406400"/>
                  </a:cubicBezTo>
                  <a:lnTo>
                    <a:pt x="203200" y="406400"/>
                  </a:lnTo>
                  <a:cubicBezTo>
                    <a:pt x="90976" y="406400"/>
                    <a:pt x="0" y="315424"/>
                    <a:pt x="0" y="203200"/>
                  </a:cubicBezTo>
                  <a:cubicBezTo>
                    <a:pt x="0" y="90976"/>
                    <a:pt x="90976" y="0"/>
                    <a:pt x="203200" y="0"/>
                  </a:cubicBezTo>
                  <a:close/>
                </a:path>
              </a:pathLst>
            </a:custGeom>
            <a:solidFill>
              <a:srgbClr val="F0BC0F"/>
            </a:solidFill>
          </p:spPr>
        </p:sp>
        <p:sp>
          <p:nvSpPr>
            <p:cNvPr id="12" name="TextBox 12"/>
            <p:cNvSpPr txBox="1"/>
            <p:nvPr/>
          </p:nvSpPr>
          <p:spPr>
            <a:xfrm>
              <a:off x="0" y="-38100"/>
              <a:ext cx="1167801" cy="44450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0508833" y="3402873"/>
            <a:ext cx="491365" cy="491365"/>
            <a:chOff x="0" y="0"/>
            <a:chExt cx="129413" cy="129413"/>
          </a:xfrm>
        </p:grpSpPr>
        <p:sp>
          <p:nvSpPr>
            <p:cNvPr id="14" name="Freeform 14"/>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15" name="TextBox 15"/>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921420" y="8652123"/>
            <a:ext cx="491365" cy="491365"/>
            <a:chOff x="0" y="0"/>
            <a:chExt cx="129413" cy="129413"/>
          </a:xfrm>
        </p:grpSpPr>
        <p:sp>
          <p:nvSpPr>
            <p:cNvPr id="17" name="Freeform 17"/>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18" name="TextBox 18"/>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034385" y="8537312"/>
            <a:ext cx="720988" cy="720988"/>
            <a:chOff x="0" y="0"/>
            <a:chExt cx="189890" cy="189890"/>
          </a:xfrm>
        </p:grpSpPr>
        <p:sp>
          <p:nvSpPr>
            <p:cNvPr id="20" name="Freeform 20"/>
            <p:cNvSpPr/>
            <p:nvPr/>
          </p:nvSpPr>
          <p:spPr>
            <a:xfrm>
              <a:off x="0" y="0"/>
              <a:ext cx="189890" cy="189890"/>
            </a:xfrm>
            <a:custGeom>
              <a:avLst/>
              <a:gdLst/>
              <a:ahLst/>
              <a:cxnLst/>
              <a:rect l="l" t="t" r="r" b="b"/>
              <a:pathLst>
                <a:path w="189890" h="189890">
                  <a:moveTo>
                    <a:pt x="0" y="0"/>
                  </a:moveTo>
                  <a:lnTo>
                    <a:pt x="189890" y="0"/>
                  </a:lnTo>
                  <a:lnTo>
                    <a:pt x="189890" y="189890"/>
                  </a:lnTo>
                  <a:lnTo>
                    <a:pt x="0" y="189890"/>
                  </a:lnTo>
                  <a:close/>
                </a:path>
              </a:pathLst>
            </a:custGeom>
            <a:solidFill>
              <a:srgbClr val="F0BC0F"/>
            </a:solidFill>
          </p:spPr>
        </p:sp>
        <p:sp>
          <p:nvSpPr>
            <p:cNvPr id="21" name="TextBox 21"/>
            <p:cNvSpPr txBox="1"/>
            <p:nvPr/>
          </p:nvSpPr>
          <p:spPr>
            <a:xfrm>
              <a:off x="0" y="-38100"/>
              <a:ext cx="189890" cy="227990"/>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11000198" y="2911508"/>
            <a:ext cx="491365" cy="491365"/>
            <a:chOff x="0" y="0"/>
            <a:chExt cx="129413" cy="129413"/>
          </a:xfrm>
        </p:grpSpPr>
        <p:sp>
          <p:nvSpPr>
            <p:cNvPr id="23" name="Freeform 23"/>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24" name="TextBox 24"/>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a:off x="11491564" y="2420143"/>
            <a:ext cx="491365" cy="491365"/>
            <a:chOff x="0" y="0"/>
            <a:chExt cx="129413" cy="129413"/>
          </a:xfrm>
        </p:grpSpPr>
        <p:sp>
          <p:nvSpPr>
            <p:cNvPr id="26" name="Freeform 26"/>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27" name="TextBox 27"/>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sp>
        <p:nvSpPr>
          <p:cNvPr id="28" name="TextBox 28"/>
          <p:cNvSpPr txBox="1"/>
          <p:nvPr/>
        </p:nvSpPr>
        <p:spPr>
          <a:xfrm>
            <a:off x="1028700" y="5194832"/>
            <a:ext cx="7397726" cy="242952"/>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Lato"/>
                <a:ea typeface="Lato"/>
                <a:cs typeface="Lato"/>
                <a:sym typeface="Lato"/>
              </a:rPr>
              <a:t>@powerpointrus</a:t>
            </a:r>
            <a:endParaRPr lang="en-US" sz="1500" dirty="0">
              <a:solidFill>
                <a:srgbClr val="FFFFFF"/>
              </a:solidFill>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222222">
                <a:alpha val="100000"/>
              </a:srgbClr>
            </a:gs>
            <a:gs pos="100000">
              <a:srgbClr val="0E0E0E">
                <a:alpha val="100000"/>
              </a:srgbClr>
            </a:gs>
          </a:gsLst>
          <a:path path="circle">
            <a:fillToRect l="50000" t="50000" r="50000" b="50000"/>
          </a:path>
        </a:gradFill>
        <a:effectLst/>
      </p:bgPr>
    </p:bg>
    <p:spTree>
      <p:nvGrpSpPr>
        <p:cNvPr id="1" name=""/>
        <p:cNvGrpSpPr/>
        <p:nvPr/>
      </p:nvGrpSpPr>
      <p:grpSpPr>
        <a:xfrm>
          <a:off x="0" y="0"/>
          <a:ext cx="0" cy="0"/>
          <a:chOff x="0" y="0"/>
          <a:chExt cx="0" cy="0"/>
        </a:xfrm>
      </p:grpSpPr>
      <p:grpSp>
        <p:nvGrpSpPr>
          <p:cNvPr id="2" name="Group 2"/>
          <p:cNvGrpSpPr/>
          <p:nvPr/>
        </p:nvGrpSpPr>
        <p:grpSpPr>
          <a:xfrm>
            <a:off x="8172397" y="178165"/>
            <a:ext cx="4946638" cy="9930670"/>
            <a:chOff x="0" y="0"/>
            <a:chExt cx="404870" cy="812800"/>
          </a:xfrm>
        </p:grpSpPr>
        <p:sp>
          <p:nvSpPr>
            <p:cNvPr id="3" name="Freeform 3"/>
            <p:cNvSpPr/>
            <p:nvPr/>
          </p:nvSpPr>
          <p:spPr>
            <a:xfrm flipH="1">
              <a:off x="0" y="0"/>
              <a:ext cx="404870" cy="812800"/>
            </a:xfrm>
            <a:custGeom>
              <a:avLst/>
              <a:gdLst/>
              <a:ahLst/>
              <a:cxnLst/>
              <a:rect l="l" t="t" r="r" b="b"/>
              <a:pathLst>
                <a:path w="404870" h="812800">
                  <a:moveTo>
                    <a:pt x="404870" y="0"/>
                  </a:moveTo>
                  <a:lnTo>
                    <a:pt x="0" y="0"/>
                  </a:lnTo>
                  <a:lnTo>
                    <a:pt x="0" y="812800"/>
                  </a:lnTo>
                  <a:lnTo>
                    <a:pt x="404870" y="812800"/>
                  </a:lnTo>
                  <a:close/>
                </a:path>
              </a:pathLst>
            </a:custGeom>
            <a:blipFill>
              <a:blip r:embed="rId2"/>
              <a:stretch>
                <a:fillRect l="-51520" r="-51520"/>
              </a:stretch>
            </a:blipFill>
          </p:spPr>
        </p:sp>
      </p:grpSp>
      <p:grpSp>
        <p:nvGrpSpPr>
          <p:cNvPr id="4" name="Group 4"/>
          <p:cNvGrpSpPr/>
          <p:nvPr/>
        </p:nvGrpSpPr>
        <p:grpSpPr>
          <a:xfrm>
            <a:off x="7675347" y="3083034"/>
            <a:ext cx="994100" cy="345951"/>
            <a:chOff x="0" y="0"/>
            <a:chExt cx="1167801" cy="406400"/>
          </a:xfrm>
        </p:grpSpPr>
        <p:sp>
          <p:nvSpPr>
            <p:cNvPr id="5" name="Freeform 5"/>
            <p:cNvSpPr/>
            <p:nvPr/>
          </p:nvSpPr>
          <p:spPr>
            <a:xfrm>
              <a:off x="0" y="0"/>
              <a:ext cx="1167801" cy="406400"/>
            </a:xfrm>
            <a:custGeom>
              <a:avLst/>
              <a:gdLst/>
              <a:ahLst/>
              <a:cxnLst/>
              <a:rect l="l" t="t" r="r" b="b"/>
              <a:pathLst>
                <a:path w="1167801" h="406400">
                  <a:moveTo>
                    <a:pt x="964601" y="0"/>
                  </a:moveTo>
                  <a:cubicBezTo>
                    <a:pt x="1076826" y="0"/>
                    <a:pt x="1167801" y="90976"/>
                    <a:pt x="1167801" y="203200"/>
                  </a:cubicBezTo>
                  <a:cubicBezTo>
                    <a:pt x="1167801" y="315424"/>
                    <a:pt x="1076826" y="406400"/>
                    <a:pt x="964601" y="406400"/>
                  </a:cubicBezTo>
                  <a:lnTo>
                    <a:pt x="203200" y="406400"/>
                  </a:lnTo>
                  <a:cubicBezTo>
                    <a:pt x="90976" y="406400"/>
                    <a:pt x="0" y="315424"/>
                    <a:pt x="0" y="203200"/>
                  </a:cubicBezTo>
                  <a:cubicBezTo>
                    <a:pt x="0" y="90976"/>
                    <a:pt x="90976" y="0"/>
                    <a:pt x="203200" y="0"/>
                  </a:cubicBezTo>
                  <a:close/>
                </a:path>
              </a:pathLst>
            </a:custGeom>
            <a:solidFill>
              <a:srgbClr val="F0BC0F"/>
            </a:solidFill>
          </p:spPr>
        </p:sp>
        <p:sp>
          <p:nvSpPr>
            <p:cNvPr id="6" name="TextBox 6"/>
            <p:cNvSpPr txBox="1"/>
            <p:nvPr/>
          </p:nvSpPr>
          <p:spPr>
            <a:xfrm>
              <a:off x="0" y="-38100"/>
              <a:ext cx="1167801" cy="444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028700" y="1028700"/>
            <a:ext cx="994100" cy="345951"/>
            <a:chOff x="0" y="0"/>
            <a:chExt cx="1167801" cy="406400"/>
          </a:xfrm>
        </p:grpSpPr>
        <p:sp>
          <p:nvSpPr>
            <p:cNvPr id="8" name="Freeform 8"/>
            <p:cNvSpPr/>
            <p:nvPr/>
          </p:nvSpPr>
          <p:spPr>
            <a:xfrm>
              <a:off x="0" y="0"/>
              <a:ext cx="1167801" cy="406400"/>
            </a:xfrm>
            <a:custGeom>
              <a:avLst/>
              <a:gdLst/>
              <a:ahLst/>
              <a:cxnLst/>
              <a:rect l="l" t="t" r="r" b="b"/>
              <a:pathLst>
                <a:path w="1167801" h="406400">
                  <a:moveTo>
                    <a:pt x="964601" y="0"/>
                  </a:moveTo>
                  <a:cubicBezTo>
                    <a:pt x="1076826" y="0"/>
                    <a:pt x="1167801" y="90976"/>
                    <a:pt x="1167801" y="203200"/>
                  </a:cubicBezTo>
                  <a:cubicBezTo>
                    <a:pt x="1167801" y="315424"/>
                    <a:pt x="1076826" y="406400"/>
                    <a:pt x="964601" y="406400"/>
                  </a:cubicBezTo>
                  <a:lnTo>
                    <a:pt x="203200" y="406400"/>
                  </a:lnTo>
                  <a:cubicBezTo>
                    <a:pt x="90976" y="406400"/>
                    <a:pt x="0" y="315424"/>
                    <a:pt x="0" y="203200"/>
                  </a:cubicBezTo>
                  <a:cubicBezTo>
                    <a:pt x="0" y="90976"/>
                    <a:pt x="90976" y="0"/>
                    <a:pt x="203200" y="0"/>
                  </a:cubicBezTo>
                  <a:close/>
                </a:path>
              </a:pathLst>
            </a:custGeom>
            <a:solidFill>
              <a:srgbClr val="F0BC0F"/>
            </a:solidFill>
          </p:spPr>
        </p:sp>
        <p:sp>
          <p:nvSpPr>
            <p:cNvPr id="9" name="TextBox 9"/>
            <p:cNvSpPr txBox="1"/>
            <p:nvPr/>
          </p:nvSpPr>
          <p:spPr>
            <a:xfrm>
              <a:off x="0" y="-38100"/>
              <a:ext cx="1167801" cy="444500"/>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6265200" y="8912349"/>
            <a:ext cx="994100" cy="345951"/>
            <a:chOff x="0" y="0"/>
            <a:chExt cx="1167801" cy="406400"/>
          </a:xfrm>
        </p:grpSpPr>
        <p:sp>
          <p:nvSpPr>
            <p:cNvPr id="11" name="Freeform 11"/>
            <p:cNvSpPr/>
            <p:nvPr/>
          </p:nvSpPr>
          <p:spPr>
            <a:xfrm>
              <a:off x="0" y="0"/>
              <a:ext cx="1167801" cy="406400"/>
            </a:xfrm>
            <a:custGeom>
              <a:avLst/>
              <a:gdLst/>
              <a:ahLst/>
              <a:cxnLst/>
              <a:rect l="l" t="t" r="r" b="b"/>
              <a:pathLst>
                <a:path w="1167801" h="406400">
                  <a:moveTo>
                    <a:pt x="964601" y="0"/>
                  </a:moveTo>
                  <a:cubicBezTo>
                    <a:pt x="1076826" y="0"/>
                    <a:pt x="1167801" y="90976"/>
                    <a:pt x="1167801" y="203200"/>
                  </a:cubicBezTo>
                  <a:cubicBezTo>
                    <a:pt x="1167801" y="315424"/>
                    <a:pt x="1076826" y="406400"/>
                    <a:pt x="964601" y="406400"/>
                  </a:cubicBezTo>
                  <a:lnTo>
                    <a:pt x="203200" y="406400"/>
                  </a:lnTo>
                  <a:cubicBezTo>
                    <a:pt x="90976" y="406400"/>
                    <a:pt x="0" y="315424"/>
                    <a:pt x="0" y="203200"/>
                  </a:cubicBezTo>
                  <a:cubicBezTo>
                    <a:pt x="0" y="90976"/>
                    <a:pt x="90976" y="0"/>
                    <a:pt x="203200" y="0"/>
                  </a:cubicBezTo>
                  <a:close/>
                </a:path>
              </a:pathLst>
            </a:custGeom>
            <a:solidFill>
              <a:srgbClr val="F0BC0F"/>
            </a:solidFill>
          </p:spPr>
        </p:sp>
        <p:sp>
          <p:nvSpPr>
            <p:cNvPr id="12" name="TextBox 12"/>
            <p:cNvSpPr txBox="1"/>
            <p:nvPr/>
          </p:nvSpPr>
          <p:spPr>
            <a:xfrm>
              <a:off x="0" y="-38100"/>
              <a:ext cx="1167801" cy="44450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5785204" y="2011431"/>
            <a:ext cx="491365" cy="491365"/>
            <a:chOff x="0" y="0"/>
            <a:chExt cx="129413" cy="129413"/>
          </a:xfrm>
        </p:grpSpPr>
        <p:sp>
          <p:nvSpPr>
            <p:cNvPr id="14" name="Freeform 14"/>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15" name="TextBox 15"/>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6276569" y="1520065"/>
            <a:ext cx="491365" cy="491365"/>
            <a:chOff x="0" y="0"/>
            <a:chExt cx="129413" cy="129413"/>
          </a:xfrm>
        </p:grpSpPr>
        <p:sp>
          <p:nvSpPr>
            <p:cNvPr id="17" name="Freeform 17"/>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18" name="TextBox 18"/>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sp>
        <p:nvSpPr>
          <p:cNvPr id="19" name="TextBox 19"/>
          <p:cNvSpPr txBox="1"/>
          <p:nvPr/>
        </p:nvSpPr>
        <p:spPr>
          <a:xfrm>
            <a:off x="1028700" y="3956467"/>
            <a:ext cx="7143697" cy="1322792"/>
          </a:xfrm>
          <a:prstGeom prst="rect">
            <a:avLst/>
          </a:prstGeom>
        </p:spPr>
        <p:txBody>
          <a:bodyPr lIns="0" tIns="0" rIns="0" bIns="0" rtlCol="0" anchor="t">
            <a:spAutoFit/>
          </a:bodyPr>
          <a:lstStyle/>
          <a:p>
            <a:pPr algn="l">
              <a:lnSpc>
                <a:spcPts val="9759"/>
              </a:lnSpc>
            </a:pPr>
            <a:r>
              <a:rPr lang="en-US" sz="10273" b="1">
                <a:solidFill>
                  <a:srgbClr val="FFFFFF"/>
                </a:solidFill>
                <a:latin typeface="TT Hoves Bold"/>
                <a:ea typeface="TT Hoves Bold"/>
                <a:cs typeface="TT Hoves Bold"/>
                <a:sym typeface="TT Hoves Bold"/>
              </a:rPr>
              <a:t>THANK</a:t>
            </a:r>
          </a:p>
        </p:txBody>
      </p:sp>
      <p:sp>
        <p:nvSpPr>
          <p:cNvPr id="20" name="TextBox 20"/>
          <p:cNvSpPr txBox="1"/>
          <p:nvPr/>
        </p:nvSpPr>
        <p:spPr>
          <a:xfrm>
            <a:off x="1028700" y="5242354"/>
            <a:ext cx="6027581" cy="1326304"/>
          </a:xfrm>
          <a:prstGeom prst="rect">
            <a:avLst/>
          </a:prstGeom>
        </p:spPr>
        <p:txBody>
          <a:bodyPr lIns="0" tIns="0" rIns="0" bIns="0" rtlCol="0" anchor="t">
            <a:spAutoFit/>
          </a:bodyPr>
          <a:lstStyle/>
          <a:p>
            <a:pPr algn="r">
              <a:lnSpc>
                <a:spcPts val="9759"/>
              </a:lnSpc>
            </a:pPr>
            <a:r>
              <a:rPr lang="en-US" sz="10273" b="1">
                <a:solidFill>
                  <a:srgbClr val="FFFFFF"/>
                </a:solidFill>
                <a:latin typeface="TT Hoves Bold"/>
                <a:ea typeface="TT Hoves Bold"/>
                <a:cs typeface="TT Hoves Bold"/>
                <a:sym typeface="TT Hoves Bold"/>
              </a:rPr>
              <a:t>YOU</a:t>
            </a:r>
          </a:p>
        </p:txBody>
      </p:sp>
      <p:sp>
        <p:nvSpPr>
          <p:cNvPr id="21" name="TextBox 21"/>
          <p:cNvSpPr txBox="1"/>
          <p:nvPr/>
        </p:nvSpPr>
        <p:spPr>
          <a:xfrm>
            <a:off x="1028700" y="8191500"/>
            <a:ext cx="6027581" cy="1066800"/>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Lato"/>
                <a:ea typeface="Lato"/>
                <a:cs typeface="Lato"/>
                <a:sym typeface="Lato"/>
              </a:rPr>
              <a:t>Lorem ipsum dolor sit amet, consectetur adipiscing elit. Cras eget metus ac massa ultrices venenatis eu non mauris. Nunc blandit non erat quis interdum. In pretium diam a risus porta viverra. Praesent venenatis diam ac justo dignissim, at aliquet nibh pharetra. </a:t>
            </a:r>
          </a:p>
        </p:txBody>
      </p:sp>
      <p:sp>
        <p:nvSpPr>
          <p:cNvPr id="22" name="TextBox 22"/>
          <p:cNvSpPr txBox="1"/>
          <p:nvPr/>
        </p:nvSpPr>
        <p:spPr>
          <a:xfrm>
            <a:off x="14112079" y="3989070"/>
            <a:ext cx="3147221" cy="2133600"/>
          </a:xfrm>
          <a:prstGeom prst="rect">
            <a:avLst/>
          </a:prstGeom>
        </p:spPr>
        <p:txBody>
          <a:bodyPr lIns="0" tIns="0" rIns="0" bIns="0" rtlCol="0" anchor="t">
            <a:spAutoFit/>
          </a:bodyPr>
          <a:lstStyle/>
          <a:p>
            <a:pPr algn="l">
              <a:lnSpc>
                <a:spcPts val="2100"/>
              </a:lnSpc>
              <a:spcBef>
                <a:spcPct val="0"/>
              </a:spcBef>
            </a:pPr>
            <a:r>
              <a:rPr lang="en-US" sz="1500">
                <a:solidFill>
                  <a:srgbClr val="FFFFFF"/>
                </a:solidFill>
                <a:latin typeface="Lato"/>
                <a:ea typeface="Lato"/>
                <a:cs typeface="Lato"/>
                <a:sym typeface="Lato"/>
              </a:rPr>
              <a:t>Lorem ipsum dolor sit amet, consectetur adipiscing elit. Cras eget metus ac massa ultrices venenatis eu non mauris. Nunc blandit non erat quis interdum. In pretium diam a risus porta viverra. Praesent venenatis diam ac justo dignissim, at aliquet nibh pharetra. </a:t>
            </a:r>
          </a:p>
        </p:txBody>
      </p:sp>
      <p:grpSp>
        <p:nvGrpSpPr>
          <p:cNvPr id="23" name="Group 23"/>
          <p:cNvGrpSpPr/>
          <p:nvPr/>
        </p:nvGrpSpPr>
        <p:grpSpPr>
          <a:xfrm>
            <a:off x="16767935" y="1028700"/>
            <a:ext cx="491365" cy="491365"/>
            <a:chOff x="0" y="0"/>
            <a:chExt cx="129413" cy="129413"/>
          </a:xfrm>
        </p:grpSpPr>
        <p:sp>
          <p:nvSpPr>
            <p:cNvPr id="24" name="Freeform 24"/>
            <p:cNvSpPr/>
            <p:nvPr/>
          </p:nvSpPr>
          <p:spPr>
            <a:xfrm>
              <a:off x="0" y="0"/>
              <a:ext cx="129413" cy="129413"/>
            </a:xfrm>
            <a:custGeom>
              <a:avLst/>
              <a:gdLst/>
              <a:ahLst/>
              <a:cxnLst/>
              <a:rect l="l" t="t" r="r" b="b"/>
              <a:pathLst>
                <a:path w="129413" h="129413">
                  <a:moveTo>
                    <a:pt x="0" y="0"/>
                  </a:moveTo>
                  <a:lnTo>
                    <a:pt x="129413" y="0"/>
                  </a:lnTo>
                  <a:lnTo>
                    <a:pt x="129413" y="129413"/>
                  </a:lnTo>
                  <a:lnTo>
                    <a:pt x="0" y="129413"/>
                  </a:lnTo>
                  <a:close/>
                </a:path>
              </a:pathLst>
            </a:custGeom>
            <a:solidFill>
              <a:srgbClr val="F0BC0F"/>
            </a:solidFill>
          </p:spPr>
        </p:sp>
        <p:sp>
          <p:nvSpPr>
            <p:cNvPr id="25" name="TextBox 25"/>
            <p:cNvSpPr txBox="1"/>
            <p:nvPr/>
          </p:nvSpPr>
          <p:spPr>
            <a:xfrm>
              <a:off x="0" y="-38100"/>
              <a:ext cx="129413" cy="167513"/>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1189</Words>
  <Application>Microsoft Office PowerPoint</Application>
  <PresentationFormat>Произвольный</PresentationFormat>
  <Paragraphs>64</Paragraphs>
  <Slides>15</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15</vt:i4>
      </vt:variant>
    </vt:vector>
  </HeadingPairs>
  <TitlesOfParts>
    <vt:vector size="21" baseType="lpstr">
      <vt:lpstr>Lato Bold</vt:lpstr>
      <vt:lpstr>TT Hoves Bold</vt:lpstr>
      <vt:lpstr>Arial</vt:lpstr>
      <vt:lpstr>Lato</vt:lpstr>
      <vt:lpstr>Calibri</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Yellow Modern Military Presentation</dc:title>
  <cp:lastModifiedBy>sekal sekal</cp:lastModifiedBy>
  <cp:revision>2</cp:revision>
  <dcterms:created xsi:type="dcterms:W3CDTF">2006-08-16T00:00:00Z</dcterms:created>
  <dcterms:modified xsi:type="dcterms:W3CDTF">2026-04-24T22:28:14Z</dcterms:modified>
  <dc:identifier>DAHHzmJfxl4</dc:identifier>
</cp:coreProperties>
</file>