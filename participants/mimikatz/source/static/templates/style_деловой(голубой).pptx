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21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71613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Михаил Юрьевич Лермонтов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841578" y="2995613"/>
            <a:ext cx="34608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Великий русский поэт и прозаик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512746" y="3414713"/>
            <a:ext cx="20460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dirty="0">
                <a:solidFill>
                  <a:srgbClr val="C7D2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1814–1841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71421476/pplx_search_images/61bbc548eeb39c7f7e55fc46f00d44304af05b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4" y="609600"/>
            <a:ext cx="3066107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4400" y="609600"/>
            <a:ext cx="388620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Краткая биография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724400" y="1173361"/>
            <a:ext cx="38100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Михаил Юрьевич Лермонтов — одна из самых ярких фигур в русской литературе XIX века, чья жизнь была короткой, но невероятно насыщенной.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53000" y="2102644"/>
            <a:ext cx="3581400" cy="230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Родился 15 октября 1814 года в Москве в дворянской семье</a:t>
            </a:r>
            <a:endParaRPr lang="en-US" sz="1200" dirty="0"/>
          </a:p>
          <a:p>
            <a:pPr marL="342900" indent="-342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Воспитывался бабушкой Елизаветой Арсеньевой в усадьбе Тарханы</a:t>
            </a:r>
            <a:endParaRPr lang="en-US" sz="1200" dirty="0"/>
          </a:p>
          <a:p>
            <a:pPr marL="342900" indent="-342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Рано потерял мать, отношения с отцом были сложными</a:t>
            </a:r>
            <a:endParaRPr lang="en-US" sz="1200" dirty="0"/>
          </a:p>
          <a:p>
            <a:pPr marL="342900" indent="-342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Погиб на дуэли 27 июля 1841 года в возрасте 26 лет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06216"/>
            <a:ext cx="7924800" cy="1789063"/>
          </a:xfrm>
          <a:prstGeom prst="roundRect">
            <a:avLst>
              <a:gd name="adj" fmla="val 40888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47679"/>
            <a:ext cx="7924800" cy="1789063"/>
          </a:xfrm>
          <a:prstGeom prst="roundRect">
            <a:avLst>
              <a:gd name="adj" fmla="val 40888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136958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Происхождение и семья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62000" y="639700"/>
            <a:ext cx="76200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Лермонтов происходил из старинного дворянского рода с богатой историей. Семейные отношения были сложными и оказали огромное влияние на формирование характера поэта.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511016"/>
            <a:ext cx="74226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Родители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1830996"/>
            <a:ext cx="72771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Отец — Юрий Петрович Лермонтов, армейский капитан, небогатый помещик. Мать — Мария Михайловна Арсеньева из богатого рода, умерла от чахотки, когда сыну не было и трех лет.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470957"/>
            <a:ext cx="7422642" cy="219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Бабушка не позволила отцу участвовать в воспитании внука, что привело к семейной драме.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52500" y="3462664"/>
            <a:ext cx="74226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Род и происхождение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3782644"/>
            <a:ext cx="72771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Дальний предок — шотландец Георг Лермонт, наемник на русской службе (XVII век). Род вел свою историю из Шотландии.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4422605"/>
            <a:ext cx="7422642" cy="219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 материнской линии — троюродный брат будущего премьер-министра Петра Столыпина.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637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Детство в усадьбе Тарханы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9711" y="675477"/>
            <a:ext cx="7696200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Болезненный и впечатлительный ребенок с богатым воображением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Жил в мире фантазий, мечтаний и романтических образов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Впервые влюбился в 9 лет во время поездки на Кавказ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Получил домашнее образование, изучал языки и литературу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Ненавидел повседневность, тянулся к необычному</a:t>
            </a:r>
            <a:endParaRPr lang="en-US" sz="1140" dirty="0"/>
          </a:p>
        </p:txBody>
      </p:sp>
      <p:pic>
        <p:nvPicPr>
          <p:cNvPr id="2050" name="Picture 2" descr="Усадьба Тарханы">
            <a:extLst>
              <a:ext uri="{FF2B5EF4-FFF2-40B4-BE49-F238E27FC236}">
                <a16:creationId xmlns:a16="http://schemas.microsoft.com/office/drawing/2014/main" id="{63E6B8D6-3386-97F6-B156-02517FB88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869" y="1932480"/>
            <a:ext cx="4615884" cy="306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19883"/>
            <a:ext cx="7924800" cy="2905125"/>
          </a:xfrm>
          <a:prstGeom prst="roundRect">
            <a:avLst>
              <a:gd name="adj" fmla="val 2518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Образование и служба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79248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Образовательный путь Лермонтова был непростым. Конфликтный характер и независимость суждений приводили к столкновениям с преподавателями и начальством.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9200" y="2300883"/>
            <a:ext cx="693420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94"/>
              </a:lnSpc>
              <a:buSzPct val="100000"/>
              <a:buChar char="•"/>
            </a:pPr>
            <a:r>
              <a:rPr lang="en-US" sz="1260" b="1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1828–1830:</a:t>
            </a: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Благородный пансион при Московском университете — получил отличное гуманитарное образование</a:t>
            </a:r>
            <a:endParaRPr lang="en-US" sz="1260" dirty="0"/>
          </a:p>
          <a:p>
            <a:pPr marL="342900" indent="-342900">
              <a:lnSpc>
                <a:spcPts val="2394"/>
              </a:lnSpc>
              <a:buSzPct val="100000"/>
              <a:buChar char="•"/>
            </a:pPr>
            <a:r>
              <a:rPr lang="en-US" sz="1260" b="1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1830–1832:</a:t>
            </a: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Московский университет (нравственно-политическое отделение) — ушел после конфликтов с профессорами</a:t>
            </a:r>
            <a:endParaRPr lang="en-US" sz="1260" dirty="0"/>
          </a:p>
          <a:p>
            <a:pPr marL="342900" indent="-342900">
              <a:lnSpc>
                <a:spcPts val="2394"/>
              </a:lnSpc>
              <a:buSzPct val="100000"/>
              <a:buChar char="•"/>
            </a:pPr>
            <a:r>
              <a:rPr lang="en-US" sz="1260" b="1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1832–1834:</a:t>
            </a: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Школа гвардейских подпрапорщиков и кавалерийских юнкеров в Петербурге</a:t>
            </a:r>
            <a:endParaRPr lang="en-US" sz="1260" dirty="0"/>
          </a:p>
          <a:p>
            <a:pPr marL="342900" indent="-342900">
              <a:lnSpc>
                <a:spcPts val="2394"/>
              </a:lnSpc>
              <a:buSzPct val="100000"/>
              <a:buChar char="•"/>
            </a:pPr>
            <a:r>
              <a:rPr lang="en-US" sz="1260" b="1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1834–1841:</a:t>
            </a: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Служба в лейб-гвардии Гусарском полку, затем ссылки на Кавказ</a:t>
            </a:r>
            <a:endParaRPr lang="en-US" sz="12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6224"/>
            <a:ext cx="3848100" cy="1660922"/>
          </a:xfrm>
          <a:prstGeom prst="roundRect">
            <a:avLst>
              <a:gd name="adj" fmla="val 44043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56224"/>
            <a:ext cx="3848100" cy="1660922"/>
          </a:xfrm>
          <a:prstGeom prst="roundRect">
            <a:avLst>
              <a:gd name="adj" fmla="val 44043"/>
            </a:avLst>
          </a:prstGeom>
          <a:solidFill>
            <a:srgbClr val="FEF3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45746"/>
            <a:ext cx="3848100" cy="1660922"/>
          </a:xfrm>
          <a:prstGeom prst="roundRect">
            <a:avLst>
              <a:gd name="adj" fmla="val 44043"/>
            </a:avLst>
          </a:prstGeom>
          <a:solidFill>
            <a:srgbClr val="FCE7F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345746"/>
            <a:ext cx="3848100" cy="1660922"/>
          </a:xfrm>
          <a:prstGeom prst="roundRect">
            <a:avLst>
              <a:gd name="adj" fmla="val 44043"/>
            </a:avLst>
          </a:prstGeom>
          <a:solidFill>
            <a:srgbClr val="DCFC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14594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Многогранный талант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0125" y="709702"/>
            <a:ext cx="714375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Лермонтов был универсальной личностью эпохи Романтизма. Его таланты проявлялись в самых разных областях искусства и военного </a:t>
            </a:r>
            <a:r>
              <a:rPr lang="en-US" sz="1200" dirty="0" err="1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дела</a:t>
            </a: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</a:p>
          <a:p>
            <a:pPr marL="0" indent="0" algn="ctr">
              <a:lnSpc>
                <a:spcPts val="2040"/>
              </a:lnSpc>
              <a:buNone/>
            </a:pPr>
            <a:r>
              <a:rPr lang="en-US" sz="120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</a:rPr>
              <a:t>@powerpointrus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895" y="1730514"/>
            <a:ext cx="3365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Литератор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83890" y="2157055"/>
            <a:ext cx="329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Поэт, прозаик, драматург. Создал более 400 стихотворений и первый русский психологический роман.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27595" y="1730514"/>
            <a:ext cx="3365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Художник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60590" y="2157055"/>
            <a:ext cx="329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Живопись, акварель и графика. Создал более 10 картин маслом и множество рисунков Кавказа.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895" y="3620036"/>
            <a:ext cx="3365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831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Музыкант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83890" y="4046577"/>
            <a:ext cx="329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F123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Играл на фортепиано и скрипке, сочинял музыку. Некоторые романсы писал на собственные стихи.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27595" y="3620036"/>
            <a:ext cx="33655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⚔️ Фехтовальщик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60590" y="4046577"/>
            <a:ext cx="329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Считался одним из лучших фехтовальщиков России. Отлично владел саблей и шпагой.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Начало литературного пути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Литературный талант Лермонтова проявился очень рано. Уже в подростковом возрасте он создавал стихотворения, поражавшие глубиной чувств и мастерством.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8200" y="1843683"/>
            <a:ext cx="7696200" cy="84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Первые стихи написаны в пансионе (1828–1830)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«Смерть поэта» (1837) — стихотворение на смерть Пушкина принесло всероссийскую известность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Арест и первая ссылка на Кавказ за смелые обвинения в адрес высшего света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838200" y="2690813"/>
            <a:ext cx="7696200" cy="84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«Бородино» (1837) — патриотическое стихотворение к годовщине сражения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Активно печатался в журнале «Отечественные записки»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Творчество отличалось романтизмом и бунтарским духом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Кавказ в судьбе Лермонтова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79248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Кавказ стал для Лермонтова не просто местом ссылки, но источником вдохновения, любви и творческого расцвета. Горы, природа и люди Кавказа глубоко проникли в его душу.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8200" y="1843683"/>
            <a:ext cx="7696200" cy="84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Неоднократно бывал на Кавказе с детства для лечения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Первая ссылка (1837) — период расцвета творчества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Вторая ссылка (1840) — активное участие в боевых действиях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838200" y="2690813"/>
            <a:ext cx="7696200" cy="84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Любил величественную природу и свободолюбивых горцев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Создал множество картин с кавказскими пейзажами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Именно на Кавказе нашел свою трагическую судьбу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79471"/>
            <a:ext cx="7924800" cy="1619101"/>
          </a:xfrm>
          <a:prstGeom prst="roundRect">
            <a:avLst>
              <a:gd name="adj" fmla="val 4518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20463"/>
            <a:ext cx="7924800" cy="1619101"/>
          </a:xfrm>
          <a:prstGeom prst="roundRect">
            <a:avLst>
              <a:gd name="adj" fmla="val 4518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349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Главные произведения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58364" y="861639"/>
            <a:ext cx="76271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Лермонтов создал произведения, которые стали классикой мировой литературы и изучаются до сих пор.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84271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«Герой нашего времени»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10961"/>
            <a:ext cx="746150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Первый психологический роман в русской литературе (1840). Состоит из пяти повестей.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6632"/>
            <a:ext cx="74615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14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Главный герой Печорин — типичный представитель разочарованного поколения 1830-х годов.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3325263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«Демон»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751953"/>
            <a:ext cx="746150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Романтическая поэма о падшем ангеле. Работал над ней с 1829 по 1839 год.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117624"/>
            <a:ext cx="74615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14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Переписывал поэму восемь раз, постоянно совершенствуя текст и углубляя образ главного героя.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664791"/>
          </a:xfrm>
          <a:prstGeom prst="roundRect">
            <a:avLst>
              <a:gd name="adj" fmla="val 43941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26326"/>
            <a:ext cx="7924800" cy="1664791"/>
          </a:xfrm>
          <a:prstGeom prst="roundRect">
            <a:avLst>
              <a:gd name="adj" fmla="val 43941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Другие известные произведения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«Мцыри» (1839)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741"/>
            <a:ext cx="746150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Романтическая поэма о юноше, выросшем в монастыре и мечтающем о свободе и родине.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92412"/>
            <a:ext cx="74615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14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Действие происходит на Кавказе. Мцыри бежит из монастыря, чтобы увидеть родную землю.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3331126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«Бородино» (1837)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803507"/>
            <a:ext cx="746150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Патриотическое стихотворение о героизме русских солдат в битве при Бородино 1812 года.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69178"/>
            <a:ext cx="74615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14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Написано к 25-летию Бородинского сражения. Рассказ ведется от лица простого солдата.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19883"/>
            <a:ext cx="7924800" cy="2910036"/>
          </a:xfrm>
          <a:prstGeom prst="roundRect">
            <a:avLst>
              <a:gd name="adj" fmla="val 251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«Герой нашего времени»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361"/>
            <a:ext cx="79248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Роман стал вершиной прозы Лермонтова и открытием нового жанра в русской литературе — психологического романа, где важны не столько события, сколько внутренний мир героя.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8225" y="2300883"/>
            <a:ext cx="72574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Первый психологический роман в русской литературе (1840)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6825" y="2815233"/>
            <a:ext cx="6886575" cy="163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42"/>
              </a:lnSpc>
              <a:buSzPct val="100000"/>
              <a:buChar char="•"/>
            </a:pP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Вдохновлен «Евгением Онегиным» Пушкина — продолжение темы «лишнего человека»</a:t>
            </a:r>
            <a:endParaRPr lang="en-US" sz="1260" dirty="0"/>
          </a:p>
          <a:p>
            <a:pPr marL="342900" indent="-342900">
              <a:lnSpc>
                <a:spcPts val="2142"/>
              </a:lnSpc>
              <a:buSzPct val="100000"/>
              <a:buChar char="•"/>
            </a:pP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Первый тираж раскуплен почти сразу, вызвал бурную реакцию критики</a:t>
            </a:r>
            <a:endParaRPr lang="en-US" sz="1260" dirty="0"/>
          </a:p>
          <a:p>
            <a:pPr marL="342900" indent="-342900">
              <a:lnSpc>
                <a:spcPts val="2142"/>
              </a:lnSpc>
              <a:buSzPct val="100000"/>
              <a:buChar char="•"/>
            </a:pP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Главный герой — Григорий Печорин, офицер, разочарованный в жизни</a:t>
            </a:r>
            <a:endParaRPr lang="en-US" sz="1260" dirty="0"/>
          </a:p>
          <a:p>
            <a:pPr marL="342900" indent="-342900">
              <a:lnSpc>
                <a:spcPts val="2142"/>
              </a:lnSpc>
              <a:buSzPct val="100000"/>
              <a:buChar char="•"/>
            </a:pPr>
            <a:r>
              <a:rPr lang="en-US" sz="12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Состоит из пяти повестей: «Бэла», «Максим Максимыч», «Тамань», «Княжна Мери», «Фаталист»</a:t>
            </a:r>
            <a:endParaRPr lang="en-US" sz="12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726" y="628650"/>
            <a:ext cx="78185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Творческое наследие за 27 лет жизни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54305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60A5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71500" y="253365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стихотворений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86300" y="154305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60A5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686300" y="253365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поэм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318135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60A5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71500" y="417195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драм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86300" y="318135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60A5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86300" y="417195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повестей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06181"/>
            <a:ext cx="7924800" cy="944761"/>
          </a:xfrm>
          <a:prstGeom prst="roundRect">
            <a:avLst>
              <a:gd name="adj" fmla="val 77429"/>
            </a:avLst>
          </a:prstGeom>
          <a:solidFill>
            <a:srgbClr val="FEF3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4223"/>
            <a:ext cx="7924800" cy="944761"/>
          </a:xfrm>
          <a:prstGeom prst="roundRect">
            <a:avLst>
              <a:gd name="adj" fmla="val 77429"/>
            </a:avLst>
          </a:prstGeom>
          <a:solidFill>
            <a:srgbClr val="DBEA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932625"/>
            <a:ext cx="7924800" cy="944761"/>
          </a:xfrm>
          <a:prstGeom prst="roundRect">
            <a:avLst>
              <a:gd name="adj" fmla="val 77429"/>
            </a:avLst>
          </a:prstGeom>
          <a:solidFill>
            <a:srgbClr val="FCE7F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61027"/>
            <a:ext cx="7924800" cy="944761"/>
          </a:xfrm>
          <a:prstGeom prst="roundRect">
            <a:avLst>
              <a:gd name="adj" fmla="val 77429"/>
            </a:avLst>
          </a:prstGeom>
          <a:solidFill>
            <a:srgbClr val="DCFC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0178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Интересные факты о Лермонтове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352" y="593939"/>
            <a:ext cx="8083296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Личность поэта была столь же ярка и многогранна, как и его творчество.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1134781"/>
            <a:ext cx="7429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78350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Художник:</a:t>
            </a:r>
            <a:r>
              <a:rPr lang="en-US" sz="1200" dirty="0">
                <a:solidFill>
                  <a:srgbClr val="78350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Создал свой автопортрет масляными красками — именно он часто публикуется в учебниках. Также писал акварельные пейзажи Кавказа.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6300" y="2132823"/>
            <a:ext cx="7429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Эрудит:</a:t>
            </a:r>
            <a:r>
              <a:rPr lang="en-US" sz="1200" dirty="0">
                <a:solidFill>
                  <a:srgbClr val="1E3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Хорошо знал математику, свободно говорил на французском, немецком, английском языках. Читал на латыни и греческом.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6300" y="3161225"/>
            <a:ext cx="7429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8318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Мистик:</a:t>
            </a:r>
            <a:r>
              <a:rPr lang="en-US" sz="1200" dirty="0">
                <a:solidFill>
                  <a:srgbClr val="8318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Был суеверным человеком, часто обращался к гадалкам и верил в предзнаменования. Предчувствовал свою раннюю смерть.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6300" y="4189627"/>
            <a:ext cx="74295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Роковое решение:</a:t>
            </a:r>
            <a:r>
              <a:rPr lang="en-US" sz="1200" dirty="0">
                <a:solidFill>
                  <a:srgbClr val="1453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Выбор остаться в Пятигорске вместо отъезда в Петербург принял, бросив монету. Эта случайность привела к роковой дуэли.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165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Трагическая гибель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675420"/>
            <a:ext cx="79248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Жизнь великого поэта оборвалась внезапно и трагично. Дуэль стала завершением конфликта, вызванного острым характером поэта и неприятием им светского общества.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8200" y="1345742"/>
            <a:ext cx="7696200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Дуэль с отставным майором Николаем Мартыновым 15 июля 1841 года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Причина — язвительные насмешки Лермонтова в адрес Мартынова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Лермонтов выстрелил в воздух, не желая убивать противника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Погиб у подножия горы Машук в Пятигорске от выстрела в грудь</a:t>
            </a:r>
            <a:endParaRPr lang="en-US" sz="1140" dirty="0"/>
          </a:p>
          <a:p>
            <a:pPr marL="342900" indent="-342900">
              <a:lnSpc>
                <a:spcPts val="1824"/>
              </a:lnSpc>
              <a:buSzPct val="100000"/>
              <a:buChar char="•"/>
            </a:pPr>
            <a:r>
              <a:rPr lang="en-US" sz="11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Прожил всего 26 лет, оставив огромное литературное наследие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2648863" y="2599995"/>
            <a:ext cx="3057247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Памятник на месте дуэли М.Ю. Лермонтова</a:t>
            </a:r>
            <a:endParaRPr lang="en-US" sz="1020" dirty="0"/>
          </a:p>
        </p:txBody>
      </p:sp>
      <p:pic>
        <p:nvPicPr>
          <p:cNvPr id="1026" name="Picture 2" descr="Место дуэли Лермонтова">
            <a:extLst>
              <a:ext uri="{FF2B5EF4-FFF2-40B4-BE49-F238E27FC236}">
                <a16:creationId xmlns:a16="http://schemas.microsoft.com/office/drawing/2014/main" id="{33919FE1-D67C-4201-D5F3-A950A40CA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98" y="2808425"/>
            <a:ext cx="4783625" cy="239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7883" y="1792635"/>
            <a:ext cx="558823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999457" y="2569815"/>
            <a:ext cx="3144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Михаил Юрьевич Лермонтов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22108" y="3065115"/>
            <a:ext cx="3699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C7D2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«Печально я гляжу на наше поколенье!»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1032</Words>
  <Application>Microsoft Office PowerPoint</Application>
  <PresentationFormat>Экран (16:9)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Georgia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sekal sekal</cp:lastModifiedBy>
  <cp:revision>4</cp:revision>
  <dcterms:created xsi:type="dcterms:W3CDTF">2026-02-18T14:11:33Z</dcterms:created>
  <dcterms:modified xsi:type="dcterms:W3CDTF">2026-02-18T14:16:43Z</dcterms:modified>
</cp:coreProperties>
</file>