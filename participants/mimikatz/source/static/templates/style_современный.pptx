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Inclusive Sans" panose="020B0604020202020204" charset="0"/>
      <p:regular r:id="rId12"/>
    </p:embeddedFont>
    <p:embeddedFont>
      <p:font typeface="Inclusive Sans Bold" panose="020B0604020202020204" charset="0"/>
      <p:regular r:id="rId13"/>
    </p:embeddedFont>
    <p:embeddedFont>
      <p:font typeface="Raleway Medium" pitchFamily="2" charset="-52"/>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0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5.sv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3.svg"/><Relationship Id="rId7"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jpeg"/><Relationship Id="rId9"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7.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5.sv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5.svg"/><Relationship Id="rId2"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image" Target="../media/image26.svg"/><Relationship Id="rId11" Type="http://schemas.openxmlformats.org/officeDocument/2006/relationships/image" Target="../media/image4.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5014604" y="0"/>
            <a:ext cx="3273396" cy="9625091"/>
            <a:chOff x="0" y="0"/>
            <a:chExt cx="818044" cy="2405375"/>
          </a:xfrm>
        </p:grpSpPr>
        <p:sp>
          <p:nvSpPr>
            <p:cNvPr id="3" name="Freeform 3"/>
            <p:cNvSpPr/>
            <p:nvPr/>
          </p:nvSpPr>
          <p:spPr>
            <a:xfrm>
              <a:off x="0" y="0"/>
              <a:ext cx="818044" cy="2405375"/>
            </a:xfrm>
            <a:custGeom>
              <a:avLst/>
              <a:gdLst/>
              <a:ahLst/>
              <a:cxnLst/>
              <a:rect l="l" t="t" r="r" b="b"/>
              <a:pathLst>
                <a:path w="818044" h="2405375">
                  <a:moveTo>
                    <a:pt x="0" y="0"/>
                  </a:moveTo>
                  <a:lnTo>
                    <a:pt x="818044" y="0"/>
                  </a:lnTo>
                  <a:lnTo>
                    <a:pt x="818044" y="2405375"/>
                  </a:lnTo>
                  <a:lnTo>
                    <a:pt x="0" y="2405375"/>
                  </a:lnTo>
                  <a:close/>
                </a:path>
              </a:pathLst>
            </a:custGeom>
            <a:gradFill rotWithShape="1">
              <a:gsLst>
                <a:gs pos="0">
                  <a:srgbClr val="BE6EFE">
                    <a:alpha val="100000"/>
                  </a:srgbClr>
                </a:gs>
                <a:gs pos="100000">
                  <a:srgbClr val="10110F">
                    <a:alpha val="100000"/>
                  </a:srgbClr>
                </a:gs>
              </a:gsLst>
              <a:lin ang="5400000"/>
            </a:gradFill>
          </p:spPr>
        </p:sp>
        <p:sp>
          <p:nvSpPr>
            <p:cNvPr id="4" name="TextBox 4"/>
            <p:cNvSpPr txBox="1"/>
            <p:nvPr/>
          </p:nvSpPr>
          <p:spPr>
            <a:xfrm>
              <a:off x="0" y="-38100"/>
              <a:ext cx="818044" cy="244347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741208" y="0"/>
            <a:ext cx="3273396" cy="9625091"/>
            <a:chOff x="0" y="0"/>
            <a:chExt cx="818044" cy="2405375"/>
          </a:xfrm>
        </p:grpSpPr>
        <p:sp>
          <p:nvSpPr>
            <p:cNvPr id="6" name="Freeform 6"/>
            <p:cNvSpPr/>
            <p:nvPr/>
          </p:nvSpPr>
          <p:spPr>
            <a:xfrm>
              <a:off x="0" y="0"/>
              <a:ext cx="818044" cy="2405375"/>
            </a:xfrm>
            <a:custGeom>
              <a:avLst/>
              <a:gdLst/>
              <a:ahLst/>
              <a:cxnLst/>
              <a:rect l="l" t="t" r="r" b="b"/>
              <a:pathLst>
                <a:path w="818044" h="2405375">
                  <a:moveTo>
                    <a:pt x="0" y="0"/>
                  </a:moveTo>
                  <a:lnTo>
                    <a:pt x="818044" y="0"/>
                  </a:lnTo>
                  <a:lnTo>
                    <a:pt x="818044" y="2405375"/>
                  </a:lnTo>
                  <a:lnTo>
                    <a:pt x="0" y="2405375"/>
                  </a:lnTo>
                  <a:close/>
                </a:path>
              </a:pathLst>
            </a:custGeom>
            <a:gradFill rotWithShape="1">
              <a:gsLst>
                <a:gs pos="0">
                  <a:srgbClr val="BE6EFE">
                    <a:alpha val="100000"/>
                  </a:srgbClr>
                </a:gs>
                <a:gs pos="100000">
                  <a:srgbClr val="10110F">
                    <a:alpha val="100000"/>
                  </a:srgbClr>
                </a:gs>
              </a:gsLst>
              <a:lin ang="5400000"/>
            </a:gradFill>
          </p:spPr>
        </p:sp>
        <p:sp>
          <p:nvSpPr>
            <p:cNvPr id="7" name="TextBox 7"/>
            <p:cNvSpPr txBox="1"/>
            <p:nvPr/>
          </p:nvSpPr>
          <p:spPr>
            <a:xfrm>
              <a:off x="0" y="-38100"/>
              <a:ext cx="818044" cy="244347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5400000">
            <a:off x="11655205" y="3654205"/>
            <a:ext cx="661909" cy="12603681"/>
            <a:chOff x="0" y="0"/>
            <a:chExt cx="165415" cy="3149745"/>
          </a:xfrm>
        </p:grpSpPr>
        <p:sp>
          <p:nvSpPr>
            <p:cNvPr id="9" name="Freeform 9"/>
            <p:cNvSpPr/>
            <p:nvPr/>
          </p:nvSpPr>
          <p:spPr>
            <a:xfrm>
              <a:off x="0" y="0"/>
              <a:ext cx="165415" cy="3149745"/>
            </a:xfrm>
            <a:custGeom>
              <a:avLst/>
              <a:gdLst/>
              <a:ahLst/>
              <a:cxnLst/>
              <a:rect l="l" t="t" r="r" b="b"/>
              <a:pathLst>
                <a:path w="165415" h="3149745">
                  <a:moveTo>
                    <a:pt x="0" y="0"/>
                  </a:moveTo>
                  <a:lnTo>
                    <a:pt x="165415" y="0"/>
                  </a:lnTo>
                  <a:lnTo>
                    <a:pt x="165415" y="3149745"/>
                  </a:lnTo>
                  <a:lnTo>
                    <a:pt x="0" y="3149745"/>
                  </a:lnTo>
                  <a:close/>
                </a:path>
              </a:pathLst>
            </a:custGeom>
            <a:gradFill rotWithShape="1">
              <a:gsLst>
                <a:gs pos="0">
                  <a:srgbClr val="BE6EFE">
                    <a:alpha val="100000"/>
                  </a:srgbClr>
                </a:gs>
                <a:gs pos="100000">
                  <a:srgbClr val="10110F">
                    <a:alpha val="100000"/>
                  </a:srgbClr>
                </a:gs>
              </a:gsLst>
              <a:lin ang="5400000"/>
            </a:gradFill>
          </p:spPr>
        </p:sp>
        <p:sp>
          <p:nvSpPr>
            <p:cNvPr id="10" name="TextBox 10"/>
            <p:cNvSpPr txBox="1"/>
            <p:nvPr/>
          </p:nvSpPr>
          <p:spPr>
            <a:xfrm>
              <a:off x="0" y="-38100"/>
              <a:ext cx="165415" cy="3187845"/>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2391419" y="1024330"/>
            <a:ext cx="5246370" cy="7576432"/>
            <a:chOff x="0" y="0"/>
            <a:chExt cx="812800" cy="1173788"/>
          </a:xfrm>
        </p:grpSpPr>
        <p:sp>
          <p:nvSpPr>
            <p:cNvPr id="12" name="Freeform 12"/>
            <p:cNvSpPr/>
            <p:nvPr/>
          </p:nvSpPr>
          <p:spPr>
            <a:xfrm>
              <a:off x="0" y="0"/>
              <a:ext cx="812800" cy="1173788"/>
            </a:xfrm>
            <a:custGeom>
              <a:avLst/>
              <a:gdLst/>
              <a:ahLst/>
              <a:cxnLst/>
              <a:rect l="l" t="t" r="r" b="b"/>
              <a:pathLst>
                <a:path w="812800" h="1173788">
                  <a:moveTo>
                    <a:pt x="0" y="0"/>
                  </a:moveTo>
                  <a:lnTo>
                    <a:pt x="812800" y="0"/>
                  </a:lnTo>
                  <a:lnTo>
                    <a:pt x="812800" y="1173788"/>
                  </a:lnTo>
                  <a:lnTo>
                    <a:pt x="0" y="1173788"/>
                  </a:lnTo>
                  <a:close/>
                </a:path>
              </a:pathLst>
            </a:custGeom>
            <a:blipFill>
              <a:blip r:embed="rId2"/>
              <a:stretch>
                <a:fillRect l="-86239" t="-19428" r="-72230"/>
              </a:stretch>
            </a:blipFill>
          </p:spPr>
        </p:sp>
      </p:grpSp>
      <p:grpSp>
        <p:nvGrpSpPr>
          <p:cNvPr id="13" name="Group 13"/>
          <p:cNvGrpSpPr/>
          <p:nvPr/>
        </p:nvGrpSpPr>
        <p:grpSpPr>
          <a:xfrm>
            <a:off x="7596517" y="7333771"/>
            <a:ext cx="2383175" cy="1248050"/>
            <a:chOff x="0" y="0"/>
            <a:chExt cx="595572" cy="311896"/>
          </a:xfrm>
        </p:grpSpPr>
        <p:sp>
          <p:nvSpPr>
            <p:cNvPr id="14" name="Freeform 14"/>
            <p:cNvSpPr/>
            <p:nvPr/>
          </p:nvSpPr>
          <p:spPr>
            <a:xfrm>
              <a:off x="0" y="0"/>
              <a:ext cx="595572" cy="311896"/>
            </a:xfrm>
            <a:custGeom>
              <a:avLst/>
              <a:gdLst/>
              <a:ahLst/>
              <a:cxnLst/>
              <a:rect l="l" t="t" r="r" b="b"/>
              <a:pathLst>
                <a:path w="595572" h="311896">
                  <a:moveTo>
                    <a:pt x="0" y="0"/>
                  </a:moveTo>
                  <a:lnTo>
                    <a:pt x="595572" y="0"/>
                  </a:lnTo>
                  <a:lnTo>
                    <a:pt x="595572" y="311896"/>
                  </a:lnTo>
                  <a:lnTo>
                    <a:pt x="0" y="311896"/>
                  </a:lnTo>
                  <a:close/>
                </a:path>
              </a:pathLst>
            </a:custGeom>
            <a:solidFill>
              <a:srgbClr val="BE6EFE"/>
            </a:solidFill>
          </p:spPr>
        </p:sp>
        <p:sp>
          <p:nvSpPr>
            <p:cNvPr id="15" name="TextBox 15"/>
            <p:cNvSpPr txBox="1"/>
            <p:nvPr/>
          </p:nvSpPr>
          <p:spPr>
            <a:xfrm>
              <a:off x="0" y="-38100"/>
              <a:ext cx="595572" cy="349996"/>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0" y="9625091"/>
            <a:ext cx="5684319" cy="661909"/>
            <a:chOff x="0" y="0"/>
            <a:chExt cx="1420550" cy="165415"/>
          </a:xfrm>
        </p:grpSpPr>
        <p:sp>
          <p:nvSpPr>
            <p:cNvPr id="17" name="Freeform 17"/>
            <p:cNvSpPr/>
            <p:nvPr/>
          </p:nvSpPr>
          <p:spPr>
            <a:xfrm>
              <a:off x="0" y="0"/>
              <a:ext cx="1420550" cy="165415"/>
            </a:xfrm>
            <a:custGeom>
              <a:avLst/>
              <a:gdLst/>
              <a:ahLst/>
              <a:cxnLst/>
              <a:rect l="l" t="t" r="r" b="b"/>
              <a:pathLst>
                <a:path w="1420550" h="165415">
                  <a:moveTo>
                    <a:pt x="0" y="0"/>
                  </a:moveTo>
                  <a:lnTo>
                    <a:pt x="1420550" y="0"/>
                  </a:lnTo>
                  <a:lnTo>
                    <a:pt x="1420550" y="165415"/>
                  </a:lnTo>
                  <a:lnTo>
                    <a:pt x="0" y="165415"/>
                  </a:lnTo>
                  <a:close/>
                </a:path>
              </a:pathLst>
            </a:custGeom>
            <a:solidFill>
              <a:srgbClr val="BE6EFE"/>
            </a:solidFill>
          </p:spPr>
        </p:sp>
        <p:sp>
          <p:nvSpPr>
            <p:cNvPr id="18" name="TextBox 18"/>
            <p:cNvSpPr txBox="1"/>
            <p:nvPr/>
          </p:nvSpPr>
          <p:spPr>
            <a:xfrm>
              <a:off x="0" y="-38100"/>
              <a:ext cx="1420550" cy="203515"/>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6803681" y="7379904"/>
            <a:ext cx="391101" cy="391814"/>
          </a:xfrm>
          <a:custGeom>
            <a:avLst/>
            <a:gdLst/>
            <a:ahLst/>
            <a:cxnLst/>
            <a:rect l="l" t="t" r="r" b="b"/>
            <a:pathLst>
              <a:path w="391101" h="391814">
                <a:moveTo>
                  <a:pt x="0" y="0"/>
                </a:moveTo>
                <a:lnTo>
                  <a:pt x="391102" y="0"/>
                </a:lnTo>
                <a:lnTo>
                  <a:pt x="391102" y="391814"/>
                </a:lnTo>
                <a:lnTo>
                  <a:pt x="0" y="3918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TextBox 20"/>
          <p:cNvSpPr txBox="1"/>
          <p:nvPr/>
        </p:nvSpPr>
        <p:spPr>
          <a:xfrm>
            <a:off x="1085191" y="1141027"/>
            <a:ext cx="4989821" cy="2246579"/>
          </a:xfrm>
          <a:prstGeom prst="rect">
            <a:avLst/>
          </a:prstGeom>
        </p:spPr>
        <p:txBody>
          <a:bodyPr lIns="0" tIns="0" rIns="0" bIns="0" rtlCol="0" anchor="t">
            <a:spAutoFit/>
          </a:bodyPr>
          <a:lstStyle/>
          <a:p>
            <a:pPr algn="l">
              <a:lnSpc>
                <a:spcPts val="16821"/>
              </a:lnSpc>
            </a:pPr>
            <a:r>
              <a:rPr lang="en-US" sz="16821" b="1" spc="-672">
                <a:solidFill>
                  <a:srgbClr val="FFFFFF"/>
                </a:solidFill>
                <a:latin typeface="Raleway Medium"/>
                <a:ea typeface="Raleway Medium"/>
                <a:cs typeface="Raleway Medium"/>
                <a:sym typeface="Raleway Medium"/>
              </a:rPr>
              <a:t>Vibe</a:t>
            </a:r>
          </a:p>
        </p:txBody>
      </p:sp>
      <p:sp>
        <p:nvSpPr>
          <p:cNvPr id="21" name="Freeform 21"/>
          <p:cNvSpPr/>
          <p:nvPr/>
        </p:nvSpPr>
        <p:spPr>
          <a:xfrm>
            <a:off x="5684319" y="1482243"/>
            <a:ext cx="759557" cy="785232"/>
          </a:xfrm>
          <a:custGeom>
            <a:avLst/>
            <a:gdLst/>
            <a:ahLst/>
            <a:cxnLst/>
            <a:rect l="l" t="t" r="r" b="b"/>
            <a:pathLst>
              <a:path w="759557" h="785232">
                <a:moveTo>
                  <a:pt x="0" y="0"/>
                </a:moveTo>
                <a:lnTo>
                  <a:pt x="759557" y="0"/>
                </a:lnTo>
                <a:lnTo>
                  <a:pt x="759557" y="785233"/>
                </a:lnTo>
                <a:lnTo>
                  <a:pt x="0" y="785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AutoShape 22"/>
          <p:cNvSpPr/>
          <p:nvPr/>
        </p:nvSpPr>
        <p:spPr>
          <a:xfrm flipV="1">
            <a:off x="5689082" y="5890899"/>
            <a:ext cx="0" cy="4396648"/>
          </a:xfrm>
          <a:prstGeom prst="line">
            <a:avLst/>
          </a:prstGeom>
          <a:ln w="9525" cap="flat">
            <a:solidFill>
              <a:srgbClr val="FFFFFF"/>
            </a:solidFill>
            <a:prstDash val="solid"/>
            <a:headEnd type="none" w="sm" len="sm"/>
            <a:tailEnd type="none" w="sm" len="sm"/>
          </a:ln>
        </p:spPr>
      </p:sp>
      <p:sp>
        <p:nvSpPr>
          <p:cNvPr id="23" name="TextBox 23"/>
          <p:cNvSpPr txBox="1"/>
          <p:nvPr/>
        </p:nvSpPr>
        <p:spPr>
          <a:xfrm>
            <a:off x="1085191" y="3085112"/>
            <a:ext cx="10100618" cy="2246579"/>
          </a:xfrm>
          <a:prstGeom prst="rect">
            <a:avLst/>
          </a:prstGeom>
        </p:spPr>
        <p:txBody>
          <a:bodyPr lIns="0" tIns="0" rIns="0" bIns="0" rtlCol="0" anchor="t">
            <a:spAutoFit/>
          </a:bodyPr>
          <a:lstStyle/>
          <a:p>
            <a:pPr algn="l">
              <a:lnSpc>
                <a:spcPts val="16821"/>
              </a:lnSpc>
            </a:pPr>
            <a:r>
              <a:rPr lang="en-US" sz="16821" b="1" spc="-672">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Marketing</a:t>
            </a:r>
          </a:p>
        </p:txBody>
      </p:sp>
      <p:sp>
        <p:nvSpPr>
          <p:cNvPr id="24" name="TextBox 24"/>
          <p:cNvSpPr txBox="1"/>
          <p:nvPr/>
        </p:nvSpPr>
        <p:spPr>
          <a:xfrm>
            <a:off x="1085191" y="7762193"/>
            <a:ext cx="2127351" cy="952500"/>
          </a:xfrm>
          <a:prstGeom prst="rect">
            <a:avLst/>
          </a:prstGeom>
        </p:spPr>
        <p:txBody>
          <a:bodyPr lIns="0" tIns="0" rIns="0" bIns="0" rtlCol="0" anchor="t">
            <a:spAutoFit/>
          </a:bodyPr>
          <a:lstStyle/>
          <a:p>
            <a:pPr algn="l">
              <a:lnSpc>
                <a:spcPts val="2519"/>
              </a:lnSpc>
            </a:pPr>
            <a:r>
              <a:rPr lang="en-US" sz="2099" b="1" spc="-83">
                <a:solidFill>
                  <a:srgbClr val="FFFFFF"/>
                </a:solidFill>
                <a:latin typeface="Inclusive Sans Bold"/>
                <a:ea typeface="Inclusive Sans Bold"/>
                <a:cs typeface="Inclusive Sans Bold"/>
                <a:sym typeface="Inclusive Sans Bold"/>
              </a:rPr>
              <a:t>Creating Connection Beyond Content</a:t>
            </a:r>
          </a:p>
        </p:txBody>
      </p:sp>
      <p:sp>
        <p:nvSpPr>
          <p:cNvPr id="25" name="TextBox 25"/>
          <p:cNvSpPr txBox="1"/>
          <p:nvPr/>
        </p:nvSpPr>
        <p:spPr>
          <a:xfrm>
            <a:off x="7987038" y="7674222"/>
            <a:ext cx="1602134" cy="212090"/>
          </a:xfrm>
          <a:prstGeom prst="rect">
            <a:avLst/>
          </a:prstGeom>
        </p:spPr>
        <p:txBody>
          <a:bodyPr lIns="0" tIns="0" rIns="0" bIns="0" rtlCol="0" anchor="t">
            <a:spAutoFit/>
          </a:bodyPr>
          <a:lstStyle/>
          <a:p>
            <a:pPr algn="ctr">
              <a:lnSpc>
                <a:spcPts val="1599"/>
              </a:lnSpc>
            </a:pPr>
            <a:r>
              <a:rPr lang="en-US" sz="1599" spc="-63">
                <a:solidFill>
                  <a:srgbClr val="FFFFFF"/>
                </a:solidFill>
                <a:latin typeface="Inclusive Sans"/>
                <a:ea typeface="Inclusive Sans"/>
                <a:cs typeface="Inclusive Sans"/>
                <a:sym typeface="Inclusive Sans"/>
              </a:rPr>
              <a:t>Presented by</a:t>
            </a:r>
          </a:p>
        </p:txBody>
      </p:sp>
      <p:sp>
        <p:nvSpPr>
          <p:cNvPr id="26" name="TextBox 26"/>
          <p:cNvSpPr txBox="1"/>
          <p:nvPr/>
        </p:nvSpPr>
        <p:spPr>
          <a:xfrm>
            <a:off x="7934218" y="7957796"/>
            <a:ext cx="1707774" cy="291428"/>
          </a:xfrm>
          <a:prstGeom prst="rect">
            <a:avLst/>
          </a:prstGeom>
        </p:spPr>
        <p:txBody>
          <a:bodyPr lIns="0" tIns="0" rIns="0" bIns="0" rtlCol="0" anchor="t">
            <a:spAutoFit/>
          </a:bodyPr>
          <a:lstStyle/>
          <a:p>
            <a:pPr algn="ctr">
              <a:lnSpc>
                <a:spcPts val="2100"/>
              </a:lnSpc>
            </a:pPr>
            <a:r>
              <a:rPr lang="en-US" sz="2100" b="1" spc="-84">
                <a:solidFill>
                  <a:srgbClr val="FFFFFF"/>
                </a:solidFill>
                <a:latin typeface="Inclusive Sans Bold"/>
                <a:ea typeface="Inclusive Sans Bold"/>
                <a:cs typeface="Inclusive Sans Bold"/>
                <a:sym typeface="Inclusive Sans Bold"/>
              </a:rPr>
              <a:t>Avery Davis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784269" y="-5064807"/>
            <a:ext cx="2719462" cy="18288000"/>
            <a:chOff x="0" y="0"/>
            <a:chExt cx="679612" cy="4570295"/>
          </a:xfrm>
        </p:grpSpPr>
        <p:sp>
          <p:nvSpPr>
            <p:cNvPr id="3" name="Freeform 3"/>
            <p:cNvSpPr/>
            <p:nvPr/>
          </p:nvSpPr>
          <p:spPr>
            <a:xfrm>
              <a:off x="0" y="0"/>
              <a:ext cx="679612" cy="4570295"/>
            </a:xfrm>
            <a:custGeom>
              <a:avLst/>
              <a:gdLst/>
              <a:ahLst/>
              <a:cxnLst/>
              <a:rect l="l" t="t" r="r" b="b"/>
              <a:pathLst>
                <a:path w="679612" h="4570295">
                  <a:moveTo>
                    <a:pt x="0" y="0"/>
                  </a:moveTo>
                  <a:lnTo>
                    <a:pt x="679612" y="0"/>
                  </a:lnTo>
                  <a:lnTo>
                    <a:pt x="679612" y="4570295"/>
                  </a:lnTo>
                  <a:lnTo>
                    <a:pt x="0" y="4570295"/>
                  </a:lnTo>
                  <a:close/>
                </a:path>
              </a:pathLst>
            </a:custGeom>
            <a:gradFill rotWithShape="1">
              <a:gsLst>
                <a:gs pos="0">
                  <a:srgbClr val="BE6EFE">
                    <a:alpha val="100000"/>
                  </a:srgbClr>
                </a:gs>
                <a:gs pos="100000">
                  <a:srgbClr val="10110F">
                    <a:alpha val="100000"/>
                  </a:srgbClr>
                </a:gs>
              </a:gsLst>
              <a:lin ang="5400000"/>
            </a:gradFill>
          </p:spPr>
        </p:sp>
        <p:sp>
          <p:nvSpPr>
            <p:cNvPr id="4" name="TextBox 4"/>
            <p:cNvSpPr txBox="1"/>
            <p:nvPr/>
          </p:nvSpPr>
          <p:spPr>
            <a:xfrm>
              <a:off x="0" y="-38100"/>
              <a:ext cx="679612" cy="460839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5400000">
            <a:off x="7784269" y="-7784269"/>
            <a:ext cx="2719462" cy="18288000"/>
            <a:chOff x="0" y="0"/>
            <a:chExt cx="679612" cy="4570295"/>
          </a:xfrm>
        </p:grpSpPr>
        <p:sp>
          <p:nvSpPr>
            <p:cNvPr id="6" name="Freeform 6"/>
            <p:cNvSpPr/>
            <p:nvPr/>
          </p:nvSpPr>
          <p:spPr>
            <a:xfrm>
              <a:off x="0" y="0"/>
              <a:ext cx="679612" cy="4570295"/>
            </a:xfrm>
            <a:custGeom>
              <a:avLst/>
              <a:gdLst/>
              <a:ahLst/>
              <a:cxnLst/>
              <a:rect l="l" t="t" r="r" b="b"/>
              <a:pathLst>
                <a:path w="679612" h="4570295">
                  <a:moveTo>
                    <a:pt x="0" y="0"/>
                  </a:moveTo>
                  <a:lnTo>
                    <a:pt x="679612" y="0"/>
                  </a:lnTo>
                  <a:lnTo>
                    <a:pt x="679612" y="4570295"/>
                  </a:lnTo>
                  <a:lnTo>
                    <a:pt x="0" y="4570295"/>
                  </a:lnTo>
                  <a:close/>
                </a:path>
              </a:pathLst>
            </a:custGeom>
            <a:gradFill rotWithShape="1">
              <a:gsLst>
                <a:gs pos="0">
                  <a:srgbClr val="BE6EFE">
                    <a:alpha val="100000"/>
                  </a:srgbClr>
                </a:gs>
                <a:gs pos="100000">
                  <a:srgbClr val="10110F">
                    <a:alpha val="100000"/>
                  </a:srgbClr>
                </a:gs>
              </a:gsLst>
              <a:lin ang="5400000"/>
            </a:gradFill>
          </p:spPr>
        </p:sp>
        <p:sp>
          <p:nvSpPr>
            <p:cNvPr id="7" name="TextBox 7"/>
            <p:cNvSpPr txBox="1"/>
            <p:nvPr/>
          </p:nvSpPr>
          <p:spPr>
            <a:xfrm>
              <a:off x="0" y="-38100"/>
              <a:ext cx="679612" cy="460839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590609" y="1024330"/>
            <a:ext cx="8668691" cy="5297758"/>
            <a:chOff x="0" y="0"/>
            <a:chExt cx="1343007" cy="820761"/>
          </a:xfrm>
        </p:grpSpPr>
        <p:sp>
          <p:nvSpPr>
            <p:cNvPr id="9" name="Freeform 9"/>
            <p:cNvSpPr/>
            <p:nvPr/>
          </p:nvSpPr>
          <p:spPr>
            <a:xfrm>
              <a:off x="0" y="0"/>
              <a:ext cx="1343007" cy="820761"/>
            </a:xfrm>
            <a:custGeom>
              <a:avLst/>
              <a:gdLst/>
              <a:ahLst/>
              <a:cxnLst/>
              <a:rect l="l" t="t" r="r" b="b"/>
              <a:pathLst>
                <a:path w="1343007" h="820761">
                  <a:moveTo>
                    <a:pt x="0" y="0"/>
                  </a:moveTo>
                  <a:lnTo>
                    <a:pt x="1343007" y="0"/>
                  </a:lnTo>
                  <a:lnTo>
                    <a:pt x="1343007" y="820761"/>
                  </a:lnTo>
                  <a:lnTo>
                    <a:pt x="0" y="820761"/>
                  </a:lnTo>
                  <a:close/>
                </a:path>
              </a:pathLst>
            </a:custGeom>
            <a:blipFill>
              <a:blip r:embed="rId2"/>
              <a:stretch>
                <a:fillRect t="-4611" b="-4611"/>
              </a:stretch>
            </a:blipFill>
          </p:spPr>
        </p:sp>
      </p:grpSp>
      <p:grpSp>
        <p:nvGrpSpPr>
          <p:cNvPr id="10" name="Group 10"/>
          <p:cNvGrpSpPr/>
          <p:nvPr/>
        </p:nvGrpSpPr>
        <p:grpSpPr>
          <a:xfrm>
            <a:off x="1942491" y="1492369"/>
            <a:ext cx="5919859" cy="3946555"/>
            <a:chOff x="0" y="0"/>
            <a:chExt cx="917141" cy="611425"/>
          </a:xfrm>
        </p:grpSpPr>
        <p:sp>
          <p:nvSpPr>
            <p:cNvPr id="11" name="Freeform 11"/>
            <p:cNvSpPr/>
            <p:nvPr/>
          </p:nvSpPr>
          <p:spPr>
            <a:xfrm>
              <a:off x="0" y="0"/>
              <a:ext cx="917141" cy="611425"/>
            </a:xfrm>
            <a:custGeom>
              <a:avLst/>
              <a:gdLst/>
              <a:ahLst/>
              <a:cxnLst/>
              <a:rect l="l" t="t" r="r" b="b"/>
              <a:pathLst>
                <a:path w="917141" h="611425">
                  <a:moveTo>
                    <a:pt x="0" y="0"/>
                  </a:moveTo>
                  <a:lnTo>
                    <a:pt x="917141" y="0"/>
                  </a:lnTo>
                  <a:lnTo>
                    <a:pt x="917141" y="611425"/>
                  </a:lnTo>
                  <a:lnTo>
                    <a:pt x="0" y="611425"/>
                  </a:lnTo>
                  <a:close/>
                </a:path>
              </a:pathLst>
            </a:custGeom>
            <a:blipFill>
              <a:blip r:embed="rId3"/>
              <a:stretch>
                <a:fillRect l="-77062" t="-76269" r="-314"/>
              </a:stretch>
            </a:blipFill>
          </p:spPr>
        </p:sp>
      </p:grpSp>
      <p:sp>
        <p:nvSpPr>
          <p:cNvPr id="12" name="TextBox 12"/>
          <p:cNvSpPr txBox="1"/>
          <p:nvPr/>
        </p:nvSpPr>
        <p:spPr>
          <a:xfrm>
            <a:off x="9144000" y="7673183"/>
            <a:ext cx="8115300" cy="1585117"/>
          </a:xfrm>
          <a:prstGeom prst="rect">
            <a:avLst/>
          </a:prstGeom>
        </p:spPr>
        <p:txBody>
          <a:bodyPr lIns="0" tIns="0" rIns="0" bIns="0" rtlCol="0" anchor="t">
            <a:spAutoFit/>
          </a:bodyPr>
          <a:lstStyle/>
          <a:p>
            <a:pPr algn="l">
              <a:lnSpc>
                <a:spcPts val="11850"/>
              </a:lnSpc>
            </a:pPr>
            <a:r>
              <a:rPr lang="en-US" sz="11850" b="1" spc="-474">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Introduction</a:t>
            </a:r>
          </a:p>
        </p:txBody>
      </p:sp>
      <p:sp>
        <p:nvSpPr>
          <p:cNvPr id="13" name="TextBox 13"/>
          <p:cNvSpPr txBox="1"/>
          <p:nvPr/>
        </p:nvSpPr>
        <p:spPr>
          <a:xfrm>
            <a:off x="3146768" y="6551185"/>
            <a:ext cx="3607938" cy="323850"/>
          </a:xfrm>
          <a:prstGeom prst="rect">
            <a:avLst/>
          </a:prstGeom>
        </p:spPr>
        <p:txBody>
          <a:bodyPr lIns="0" tIns="0" rIns="0" bIns="0" rtlCol="0" anchor="t">
            <a:spAutoFit/>
          </a:bodyPr>
          <a:lstStyle/>
          <a:p>
            <a:pPr algn="l">
              <a:lnSpc>
                <a:spcPts val="2519"/>
              </a:lnSpc>
            </a:pPr>
            <a:r>
              <a:rPr lang="en-US" sz="2099" b="1" spc="-83">
                <a:solidFill>
                  <a:srgbClr val="FFFFFF"/>
                </a:solidFill>
                <a:latin typeface="Inclusive Sans Bold"/>
                <a:ea typeface="Inclusive Sans Bold"/>
                <a:cs typeface="Inclusive Sans Bold"/>
                <a:sym typeface="Inclusive Sans Bold"/>
              </a:rPr>
              <a:t>From Products to Feelings</a:t>
            </a:r>
          </a:p>
        </p:txBody>
      </p:sp>
      <p:sp>
        <p:nvSpPr>
          <p:cNvPr id="14" name="TextBox 14"/>
          <p:cNvSpPr txBox="1"/>
          <p:nvPr/>
        </p:nvSpPr>
        <p:spPr>
          <a:xfrm>
            <a:off x="3146768" y="7336997"/>
            <a:ext cx="4378233" cy="1676140"/>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Vibe Marketing focuses on creating emotional experiences that align with the lifestyle, beliefs, and aspirations of an audience. It’s not just about selling; it’s about crafting a consistent mood or “vibe” that people connect with. By understanding how people feel, not just what they want, brands can create lasting loyalty.</a:t>
            </a:r>
          </a:p>
        </p:txBody>
      </p:sp>
      <p:grpSp>
        <p:nvGrpSpPr>
          <p:cNvPr id="15" name="Group 15"/>
          <p:cNvGrpSpPr/>
          <p:nvPr/>
        </p:nvGrpSpPr>
        <p:grpSpPr>
          <a:xfrm>
            <a:off x="1028700" y="7998985"/>
            <a:ext cx="913791" cy="1248050"/>
            <a:chOff x="0" y="0"/>
            <a:chExt cx="228362" cy="311896"/>
          </a:xfrm>
        </p:grpSpPr>
        <p:sp>
          <p:nvSpPr>
            <p:cNvPr id="16" name="Freeform 16"/>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17" name="TextBox 17"/>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1266380" y="8221881"/>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rot="5400000">
            <a:off x="12686766" y="2225931"/>
            <a:ext cx="476378" cy="8668691"/>
            <a:chOff x="0" y="0"/>
            <a:chExt cx="119050" cy="2166364"/>
          </a:xfrm>
        </p:grpSpPr>
        <p:sp>
          <p:nvSpPr>
            <p:cNvPr id="20" name="Freeform 20"/>
            <p:cNvSpPr/>
            <p:nvPr/>
          </p:nvSpPr>
          <p:spPr>
            <a:xfrm>
              <a:off x="0" y="0"/>
              <a:ext cx="119050" cy="2166364"/>
            </a:xfrm>
            <a:custGeom>
              <a:avLst/>
              <a:gdLst/>
              <a:ahLst/>
              <a:cxnLst/>
              <a:rect l="l" t="t" r="r" b="b"/>
              <a:pathLst>
                <a:path w="119050" h="2166364">
                  <a:moveTo>
                    <a:pt x="0" y="0"/>
                  </a:moveTo>
                  <a:lnTo>
                    <a:pt x="119050" y="0"/>
                  </a:lnTo>
                  <a:lnTo>
                    <a:pt x="119050" y="2166364"/>
                  </a:lnTo>
                  <a:lnTo>
                    <a:pt x="0" y="2166364"/>
                  </a:lnTo>
                  <a:close/>
                </a:path>
              </a:pathLst>
            </a:custGeom>
            <a:gradFill rotWithShape="1">
              <a:gsLst>
                <a:gs pos="0">
                  <a:srgbClr val="BE6EFE">
                    <a:alpha val="100000"/>
                  </a:srgbClr>
                </a:gs>
                <a:gs pos="100000">
                  <a:srgbClr val="10110F">
                    <a:alpha val="100000"/>
                  </a:srgbClr>
                </a:gs>
              </a:gsLst>
              <a:lin ang="5400000"/>
            </a:gradFill>
          </p:spPr>
        </p:sp>
        <p:sp>
          <p:nvSpPr>
            <p:cNvPr id="21" name="TextBox 21"/>
            <p:cNvSpPr txBox="1"/>
            <p:nvPr/>
          </p:nvSpPr>
          <p:spPr>
            <a:xfrm>
              <a:off x="0" y="-38100"/>
              <a:ext cx="119050" cy="2204464"/>
            </a:xfrm>
            <a:prstGeom prst="rect">
              <a:avLst/>
            </a:prstGeom>
          </p:spPr>
          <p:txBody>
            <a:bodyPr lIns="50800" tIns="50800" rIns="50800" bIns="50800" rtlCol="0" anchor="ctr"/>
            <a:lstStyle/>
            <a:p>
              <a:pPr algn="ctr">
                <a:lnSpc>
                  <a:spcPts val="2659"/>
                </a:lnSpc>
                <a:spcBef>
                  <a:spcPct val="0"/>
                </a:spcBef>
              </a:pPr>
              <a:endParaRPr/>
            </a:p>
          </p:txBody>
        </p:sp>
      </p:grpSp>
      <p:sp>
        <p:nvSpPr>
          <p:cNvPr id="22" name="AutoShape 22"/>
          <p:cNvSpPr/>
          <p:nvPr/>
        </p:nvSpPr>
        <p:spPr>
          <a:xfrm flipV="1">
            <a:off x="1937728" y="1492369"/>
            <a:ext cx="0" cy="5306097"/>
          </a:xfrm>
          <a:prstGeom prst="line">
            <a:avLst/>
          </a:prstGeom>
          <a:ln w="9525" cap="flat">
            <a:solidFill>
              <a:srgbClr val="FFFFFF"/>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sp>
        <p:nvSpPr>
          <p:cNvPr id="2" name="TextBox 2"/>
          <p:cNvSpPr txBox="1"/>
          <p:nvPr/>
        </p:nvSpPr>
        <p:spPr>
          <a:xfrm>
            <a:off x="8655772" y="1200150"/>
            <a:ext cx="8260454"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The Psychology</a:t>
            </a:r>
          </a:p>
        </p:txBody>
      </p:sp>
      <p:sp>
        <p:nvSpPr>
          <p:cNvPr id="3" name="TextBox 3"/>
          <p:cNvSpPr txBox="1"/>
          <p:nvPr/>
        </p:nvSpPr>
        <p:spPr>
          <a:xfrm>
            <a:off x="7177162" y="2463491"/>
            <a:ext cx="8260454"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Behind the Vibe</a:t>
            </a:r>
          </a:p>
        </p:txBody>
      </p:sp>
      <p:grpSp>
        <p:nvGrpSpPr>
          <p:cNvPr id="4" name="Group 4"/>
          <p:cNvGrpSpPr/>
          <p:nvPr/>
        </p:nvGrpSpPr>
        <p:grpSpPr>
          <a:xfrm rot="-10800000">
            <a:off x="2948291" y="0"/>
            <a:ext cx="2948291" cy="10287000"/>
            <a:chOff x="0" y="0"/>
            <a:chExt cx="736798" cy="2570791"/>
          </a:xfrm>
        </p:grpSpPr>
        <p:sp>
          <p:nvSpPr>
            <p:cNvPr id="5" name="Freeform 5"/>
            <p:cNvSpPr/>
            <p:nvPr/>
          </p:nvSpPr>
          <p:spPr>
            <a:xfrm>
              <a:off x="0" y="0"/>
              <a:ext cx="736798" cy="2570791"/>
            </a:xfrm>
            <a:custGeom>
              <a:avLst/>
              <a:gdLst/>
              <a:ahLst/>
              <a:cxnLst/>
              <a:rect l="l" t="t" r="r" b="b"/>
              <a:pathLst>
                <a:path w="736798" h="2570791">
                  <a:moveTo>
                    <a:pt x="0" y="0"/>
                  </a:moveTo>
                  <a:lnTo>
                    <a:pt x="736798" y="0"/>
                  </a:lnTo>
                  <a:lnTo>
                    <a:pt x="736798" y="2570791"/>
                  </a:lnTo>
                  <a:lnTo>
                    <a:pt x="0" y="2570791"/>
                  </a:lnTo>
                  <a:close/>
                </a:path>
              </a:pathLst>
            </a:custGeom>
            <a:gradFill rotWithShape="1">
              <a:gsLst>
                <a:gs pos="0">
                  <a:srgbClr val="BE6EFE">
                    <a:alpha val="100000"/>
                  </a:srgbClr>
                </a:gs>
                <a:gs pos="100000">
                  <a:srgbClr val="10110F">
                    <a:alpha val="100000"/>
                  </a:srgbClr>
                </a:gs>
              </a:gsLst>
              <a:lin ang="5400000"/>
            </a:gradFill>
          </p:spPr>
        </p:sp>
        <p:sp>
          <p:nvSpPr>
            <p:cNvPr id="6" name="TextBox 6"/>
            <p:cNvSpPr txBox="1"/>
            <p:nvPr/>
          </p:nvSpPr>
          <p:spPr>
            <a:xfrm>
              <a:off x="0" y="-38100"/>
              <a:ext cx="736798" cy="2608891"/>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0" y="0"/>
            <a:ext cx="2948291" cy="10287000"/>
            <a:chOff x="0" y="0"/>
            <a:chExt cx="736798" cy="2570791"/>
          </a:xfrm>
        </p:grpSpPr>
        <p:sp>
          <p:nvSpPr>
            <p:cNvPr id="8" name="Freeform 8"/>
            <p:cNvSpPr/>
            <p:nvPr/>
          </p:nvSpPr>
          <p:spPr>
            <a:xfrm>
              <a:off x="0" y="0"/>
              <a:ext cx="736798" cy="2570791"/>
            </a:xfrm>
            <a:custGeom>
              <a:avLst/>
              <a:gdLst/>
              <a:ahLst/>
              <a:cxnLst/>
              <a:rect l="l" t="t" r="r" b="b"/>
              <a:pathLst>
                <a:path w="736798" h="2570791">
                  <a:moveTo>
                    <a:pt x="0" y="0"/>
                  </a:moveTo>
                  <a:lnTo>
                    <a:pt x="736798" y="0"/>
                  </a:lnTo>
                  <a:lnTo>
                    <a:pt x="736798" y="2570791"/>
                  </a:lnTo>
                  <a:lnTo>
                    <a:pt x="0" y="2570791"/>
                  </a:lnTo>
                  <a:close/>
                </a:path>
              </a:pathLst>
            </a:custGeom>
            <a:gradFill rotWithShape="1">
              <a:gsLst>
                <a:gs pos="0">
                  <a:srgbClr val="BE6EFE">
                    <a:alpha val="100000"/>
                  </a:srgbClr>
                </a:gs>
                <a:gs pos="100000">
                  <a:srgbClr val="10110F">
                    <a:alpha val="100000"/>
                  </a:srgbClr>
                </a:gs>
              </a:gsLst>
              <a:lin ang="5400000"/>
            </a:gradFill>
          </p:spPr>
        </p:sp>
        <p:sp>
          <p:nvSpPr>
            <p:cNvPr id="9" name="TextBox 9"/>
            <p:cNvSpPr txBox="1"/>
            <p:nvPr/>
          </p:nvSpPr>
          <p:spPr>
            <a:xfrm>
              <a:off x="0" y="-38100"/>
              <a:ext cx="736798" cy="2608891"/>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0" y="1028700"/>
            <a:ext cx="5896581" cy="8229600"/>
            <a:chOff x="0" y="0"/>
            <a:chExt cx="913535" cy="1274980"/>
          </a:xfrm>
        </p:grpSpPr>
        <p:sp>
          <p:nvSpPr>
            <p:cNvPr id="11" name="Freeform 11"/>
            <p:cNvSpPr/>
            <p:nvPr/>
          </p:nvSpPr>
          <p:spPr>
            <a:xfrm>
              <a:off x="0" y="0"/>
              <a:ext cx="913535" cy="1274980"/>
            </a:xfrm>
            <a:custGeom>
              <a:avLst/>
              <a:gdLst/>
              <a:ahLst/>
              <a:cxnLst/>
              <a:rect l="l" t="t" r="r" b="b"/>
              <a:pathLst>
                <a:path w="913535" h="1274980">
                  <a:moveTo>
                    <a:pt x="0" y="0"/>
                  </a:moveTo>
                  <a:lnTo>
                    <a:pt x="913535" y="0"/>
                  </a:lnTo>
                  <a:lnTo>
                    <a:pt x="913535" y="1274980"/>
                  </a:lnTo>
                  <a:lnTo>
                    <a:pt x="0" y="1274980"/>
                  </a:lnTo>
                  <a:close/>
                </a:path>
              </a:pathLst>
            </a:custGeom>
            <a:blipFill>
              <a:blip r:embed="rId2"/>
              <a:stretch>
                <a:fillRect l="-43736" t="-15335" r="-134934" b="-17694"/>
              </a:stretch>
            </a:blipFill>
          </p:spPr>
        </p:sp>
      </p:grpSp>
      <p:grpSp>
        <p:nvGrpSpPr>
          <p:cNvPr id="12" name="Group 12"/>
          <p:cNvGrpSpPr/>
          <p:nvPr/>
        </p:nvGrpSpPr>
        <p:grpSpPr>
          <a:xfrm>
            <a:off x="14971698" y="4952873"/>
            <a:ext cx="2287602" cy="4305427"/>
            <a:chOff x="0" y="0"/>
            <a:chExt cx="354409" cy="667023"/>
          </a:xfrm>
        </p:grpSpPr>
        <p:sp>
          <p:nvSpPr>
            <p:cNvPr id="13" name="Freeform 13"/>
            <p:cNvSpPr/>
            <p:nvPr/>
          </p:nvSpPr>
          <p:spPr>
            <a:xfrm>
              <a:off x="0" y="0"/>
              <a:ext cx="354409" cy="667023"/>
            </a:xfrm>
            <a:custGeom>
              <a:avLst/>
              <a:gdLst/>
              <a:ahLst/>
              <a:cxnLst/>
              <a:rect l="l" t="t" r="r" b="b"/>
              <a:pathLst>
                <a:path w="354409" h="667023">
                  <a:moveTo>
                    <a:pt x="0" y="0"/>
                  </a:moveTo>
                  <a:lnTo>
                    <a:pt x="354409" y="0"/>
                  </a:lnTo>
                  <a:lnTo>
                    <a:pt x="354409" y="667023"/>
                  </a:lnTo>
                  <a:lnTo>
                    <a:pt x="0" y="667023"/>
                  </a:lnTo>
                  <a:close/>
                </a:path>
              </a:pathLst>
            </a:custGeom>
            <a:blipFill>
              <a:blip r:embed="rId3"/>
              <a:stretch>
                <a:fillRect l="-96713" r="-85244"/>
              </a:stretch>
            </a:blipFill>
          </p:spPr>
        </p:sp>
      </p:grpSp>
      <p:sp>
        <p:nvSpPr>
          <p:cNvPr id="14" name="TextBox 14"/>
          <p:cNvSpPr txBox="1"/>
          <p:nvPr/>
        </p:nvSpPr>
        <p:spPr>
          <a:xfrm>
            <a:off x="7709733" y="5621206"/>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Emotional Triggers</a:t>
            </a:r>
          </a:p>
        </p:txBody>
      </p:sp>
      <p:sp>
        <p:nvSpPr>
          <p:cNvPr id="15" name="TextBox 15"/>
          <p:cNvSpPr txBox="1"/>
          <p:nvPr/>
        </p:nvSpPr>
        <p:spPr>
          <a:xfrm>
            <a:off x="7709733" y="7807815"/>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Mirror Effect</a:t>
            </a:r>
          </a:p>
        </p:txBody>
      </p:sp>
      <p:sp>
        <p:nvSpPr>
          <p:cNvPr id="16" name="TextBox 16"/>
          <p:cNvSpPr txBox="1"/>
          <p:nvPr/>
        </p:nvSpPr>
        <p:spPr>
          <a:xfrm>
            <a:off x="11673829" y="5621206"/>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Cognitive Biases</a:t>
            </a:r>
          </a:p>
        </p:txBody>
      </p:sp>
      <p:sp>
        <p:nvSpPr>
          <p:cNvPr id="17" name="TextBox 17"/>
          <p:cNvSpPr txBox="1"/>
          <p:nvPr/>
        </p:nvSpPr>
        <p:spPr>
          <a:xfrm>
            <a:off x="11673829" y="7807815"/>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Memory Retention</a:t>
            </a:r>
          </a:p>
        </p:txBody>
      </p:sp>
      <p:sp>
        <p:nvSpPr>
          <p:cNvPr id="18" name="TextBox 18"/>
          <p:cNvSpPr txBox="1"/>
          <p:nvPr/>
        </p:nvSpPr>
        <p:spPr>
          <a:xfrm>
            <a:off x="7709733" y="6109815"/>
            <a:ext cx="2756913" cy="961876"/>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Happiness, nostalgia, or excitement influence perception and decision-making.</a:t>
            </a:r>
          </a:p>
        </p:txBody>
      </p:sp>
      <p:sp>
        <p:nvSpPr>
          <p:cNvPr id="19" name="TextBox 19"/>
          <p:cNvSpPr txBox="1"/>
          <p:nvPr/>
        </p:nvSpPr>
        <p:spPr>
          <a:xfrm>
            <a:off x="7709733" y="8296424"/>
            <a:ext cx="2756913" cy="723788"/>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People reflect the energy a brand gives off, leading to stronger identity alignment.</a:t>
            </a:r>
          </a:p>
        </p:txBody>
      </p:sp>
      <p:sp>
        <p:nvSpPr>
          <p:cNvPr id="20" name="TextBox 20"/>
          <p:cNvSpPr txBox="1"/>
          <p:nvPr/>
        </p:nvSpPr>
        <p:spPr>
          <a:xfrm>
            <a:off x="11673829" y="6109815"/>
            <a:ext cx="2438860" cy="723788"/>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Familiarity and consistency help audiences feel safe and loyal.</a:t>
            </a:r>
          </a:p>
        </p:txBody>
      </p:sp>
      <p:sp>
        <p:nvSpPr>
          <p:cNvPr id="21" name="TextBox 21"/>
          <p:cNvSpPr txBox="1"/>
          <p:nvPr/>
        </p:nvSpPr>
        <p:spPr>
          <a:xfrm>
            <a:off x="11673829" y="8296424"/>
            <a:ext cx="2532013" cy="723788"/>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Emotionally charged messages stay longer in memory.</a:t>
            </a:r>
          </a:p>
        </p:txBody>
      </p:sp>
      <p:grpSp>
        <p:nvGrpSpPr>
          <p:cNvPr id="22" name="Group 22"/>
          <p:cNvGrpSpPr/>
          <p:nvPr/>
        </p:nvGrpSpPr>
        <p:grpSpPr>
          <a:xfrm>
            <a:off x="16345509" y="4059051"/>
            <a:ext cx="913791" cy="1248050"/>
            <a:chOff x="0" y="0"/>
            <a:chExt cx="228362" cy="311896"/>
          </a:xfrm>
        </p:grpSpPr>
        <p:sp>
          <p:nvSpPr>
            <p:cNvPr id="23" name="Freeform 23"/>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24" name="TextBox 24"/>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16583190" y="4281948"/>
            <a:ext cx="438430" cy="439229"/>
          </a:xfrm>
          <a:custGeom>
            <a:avLst/>
            <a:gdLst/>
            <a:ahLst/>
            <a:cxnLst/>
            <a:rect l="l" t="t" r="r" b="b"/>
            <a:pathLst>
              <a:path w="438430" h="439229">
                <a:moveTo>
                  <a:pt x="0" y="0"/>
                </a:moveTo>
                <a:lnTo>
                  <a:pt x="438430" y="0"/>
                </a:lnTo>
                <a:lnTo>
                  <a:pt x="438430" y="439228"/>
                </a:lnTo>
                <a:lnTo>
                  <a:pt x="0" y="4392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7177162" y="5621206"/>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Freeform 27"/>
          <p:cNvSpPr/>
          <p:nvPr/>
        </p:nvSpPr>
        <p:spPr>
          <a:xfrm>
            <a:off x="7177162" y="7807815"/>
            <a:ext cx="257944" cy="266663"/>
          </a:xfrm>
          <a:custGeom>
            <a:avLst/>
            <a:gdLst/>
            <a:ahLst/>
            <a:cxnLst/>
            <a:rect l="l" t="t" r="r" b="b"/>
            <a:pathLst>
              <a:path w="257944" h="266663">
                <a:moveTo>
                  <a:pt x="0" y="0"/>
                </a:moveTo>
                <a:lnTo>
                  <a:pt x="257943" y="0"/>
                </a:lnTo>
                <a:lnTo>
                  <a:pt x="257943" y="266662"/>
                </a:lnTo>
                <a:lnTo>
                  <a:pt x="0" y="2666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a:off x="11141257" y="5621206"/>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Freeform 29"/>
          <p:cNvSpPr/>
          <p:nvPr/>
        </p:nvSpPr>
        <p:spPr>
          <a:xfrm>
            <a:off x="11141257" y="7807815"/>
            <a:ext cx="257944" cy="266663"/>
          </a:xfrm>
          <a:custGeom>
            <a:avLst/>
            <a:gdLst/>
            <a:ahLst/>
            <a:cxnLst/>
            <a:rect l="l" t="t" r="r" b="b"/>
            <a:pathLst>
              <a:path w="257944" h="266663">
                <a:moveTo>
                  <a:pt x="0" y="0"/>
                </a:moveTo>
                <a:lnTo>
                  <a:pt x="257943" y="0"/>
                </a:lnTo>
                <a:lnTo>
                  <a:pt x="257943" y="266662"/>
                </a:lnTo>
                <a:lnTo>
                  <a:pt x="0" y="2666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AutoShape 30"/>
          <p:cNvSpPr/>
          <p:nvPr/>
        </p:nvSpPr>
        <p:spPr>
          <a:xfrm flipH="1">
            <a:off x="7177162" y="4640955"/>
            <a:ext cx="5306097" cy="0"/>
          </a:xfrm>
          <a:prstGeom prst="line">
            <a:avLst/>
          </a:prstGeom>
          <a:ln w="9525" cap="flat">
            <a:solidFill>
              <a:srgbClr val="FFFFFF"/>
            </a:solidFill>
            <a:prstDash val="solid"/>
            <a:headEnd type="none" w="sm" len="sm"/>
            <a:tailEnd type="none" w="sm" len="sm"/>
          </a:ln>
        </p:spPr>
      </p:sp>
      <p:grpSp>
        <p:nvGrpSpPr>
          <p:cNvPr id="31" name="Group 31"/>
          <p:cNvGrpSpPr/>
          <p:nvPr/>
        </p:nvGrpSpPr>
        <p:grpSpPr>
          <a:xfrm>
            <a:off x="5420203" y="1028700"/>
            <a:ext cx="476378" cy="8229600"/>
            <a:chOff x="0" y="0"/>
            <a:chExt cx="119050" cy="2056633"/>
          </a:xfrm>
        </p:grpSpPr>
        <p:sp>
          <p:nvSpPr>
            <p:cNvPr id="32" name="Freeform 32"/>
            <p:cNvSpPr/>
            <p:nvPr/>
          </p:nvSpPr>
          <p:spPr>
            <a:xfrm>
              <a:off x="0" y="0"/>
              <a:ext cx="119050" cy="2056633"/>
            </a:xfrm>
            <a:custGeom>
              <a:avLst/>
              <a:gdLst/>
              <a:ahLst/>
              <a:cxnLst/>
              <a:rect l="l" t="t" r="r" b="b"/>
              <a:pathLst>
                <a:path w="119050" h="2056633">
                  <a:moveTo>
                    <a:pt x="0" y="0"/>
                  </a:moveTo>
                  <a:lnTo>
                    <a:pt x="119050" y="0"/>
                  </a:lnTo>
                  <a:lnTo>
                    <a:pt x="119050" y="2056633"/>
                  </a:lnTo>
                  <a:lnTo>
                    <a:pt x="0" y="2056633"/>
                  </a:lnTo>
                  <a:close/>
                </a:path>
              </a:pathLst>
            </a:custGeom>
            <a:gradFill rotWithShape="1">
              <a:gsLst>
                <a:gs pos="0">
                  <a:srgbClr val="BE6EFE">
                    <a:alpha val="100000"/>
                  </a:srgbClr>
                </a:gs>
                <a:gs pos="100000">
                  <a:srgbClr val="10110F">
                    <a:alpha val="100000"/>
                  </a:srgbClr>
                </a:gs>
              </a:gsLst>
              <a:lin ang="5400000"/>
            </a:gradFill>
          </p:spPr>
        </p:sp>
        <p:sp>
          <p:nvSpPr>
            <p:cNvPr id="33" name="TextBox 33"/>
            <p:cNvSpPr txBox="1"/>
            <p:nvPr/>
          </p:nvSpPr>
          <p:spPr>
            <a:xfrm>
              <a:off x="0" y="-38100"/>
              <a:ext cx="119050" cy="209473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sp>
        <p:nvSpPr>
          <p:cNvPr id="2" name="TextBox 2"/>
          <p:cNvSpPr txBox="1"/>
          <p:nvPr/>
        </p:nvSpPr>
        <p:spPr>
          <a:xfrm>
            <a:off x="1028700" y="1200150"/>
            <a:ext cx="11540235"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Understanding Your</a:t>
            </a:r>
          </a:p>
        </p:txBody>
      </p:sp>
      <p:sp>
        <p:nvSpPr>
          <p:cNvPr id="3" name="TextBox 3"/>
          <p:cNvSpPr txBox="1"/>
          <p:nvPr/>
        </p:nvSpPr>
        <p:spPr>
          <a:xfrm>
            <a:off x="1028700" y="2463491"/>
            <a:ext cx="6742384"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Audience</a:t>
            </a:r>
          </a:p>
        </p:txBody>
      </p:sp>
      <p:grpSp>
        <p:nvGrpSpPr>
          <p:cNvPr id="4" name="Group 4"/>
          <p:cNvGrpSpPr/>
          <p:nvPr/>
        </p:nvGrpSpPr>
        <p:grpSpPr>
          <a:xfrm>
            <a:off x="6927456" y="4541532"/>
            <a:ext cx="5295202" cy="4716768"/>
            <a:chOff x="0" y="0"/>
            <a:chExt cx="820365" cy="730751"/>
          </a:xfrm>
        </p:grpSpPr>
        <p:sp>
          <p:nvSpPr>
            <p:cNvPr id="5" name="Freeform 5"/>
            <p:cNvSpPr/>
            <p:nvPr/>
          </p:nvSpPr>
          <p:spPr>
            <a:xfrm>
              <a:off x="0" y="0"/>
              <a:ext cx="820365" cy="730751"/>
            </a:xfrm>
            <a:custGeom>
              <a:avLst/>
              <a:gdLst/>
              <a:ahLst/>
              <a:cxnLst/>
              <a:rect l="l" t="t" r="r" b="b"/>
              <a:pathLst>
                <a:path w="820365" h="730751">
                  <a:moveTo>
                    <a:pt x="0" y="0"/>
                  </a:moveTo>
                  <a:lnTo>
                    <a:pt x="820365" y="0"/>
                  </a:lnTo>
                  <a:lnTo>
                    <a:pt x="820365" y="730751"/>
                  </a:lnTo>
                  <a:lnTo>
                    <a:pt x="0" y="730751"/>
                  </a:lnTo>
                  <a:close/>
                </a:path>
              </a:pathLst>
            </a:custGeom>
            <a:blipFill>
              <a:blip r:embed="rId2"/>
              <a:stretch>
                <a:fillRect t="-59153" b="-9088"/>
              </a:stretch>
            </a:blipFill>
          </p:spPr>
        </p:sp>
      </p:grpSp>
      <p:grpSp>
        <p:nvGrpSpPr>
          <p:cNvPr id="6" name="Group 6"/>
          <p:cNvGrpSpPr/>
          <p:nvPr/>
        </p:nvGrpSpPr>
        <p:grpSpPr>
          <a:xfrm rot="-5400000">
            <a:off x="14167593" y="1625061"/>
            <a:ext cx="2872734" cy="5368080"/>
            <a:chOff x="0" y="0"/>
            <a:chExt cx="717916" cy="1341519"/>
          </a:xfrm>
        </p:grpSpPr>
        <p:sp>
          <p:nvSpPr>
            <p:cNvPr id="7" name="Freeform 7"/>
            <p:cNvSpPr/>
            <p:nvPr/>
          </p:nvSpPr>
          <p:spPr>
            <a:xfrm>
              <a:off x="0" y="0"/>
              <a:ext cx="717916" cy="1341519"/>
            </a:xfrm>
            <a:custGeom>
              <a:avLst/>
              <a:gdLst/>
              <a:ahLst/>
              <a:cxnLst/>
              <a:rect l="l" t="t" r="r" b="b"/>
              <a:pathLst>
                <a:path w="717916" h="1341519">
                  <a:moveTo>
                    <a:pt x="0" y="0"/>
                  </a:moveTo>
                  <a:lnTo>
                    <a:pt x="717916" y="0"/>
                  </a:lnTo>
                  <a:lnTo>
                    <a:pt x="717916" y="1341519"/>
                  </a:lnTo>
                  <a:lnTo>
                    <a:pt x="0" y="1341519"/>
                  </a:lnTo>
                  <a:close/>
                </a:path>
              </a:pathLst>
            </a:custGeom>
            <a:gradFill rotWithShape="1">
              <a:gsLst>
                <a:gs pos="0">
                  <a:srgbClr val="BE6EFE">
                    <a:alpha val="100000"/>
                  </a:srgbClr>
                </a:gs>
                <a:gs pos="100000">
                  <a:srgbClr val="10110F">
                    <a:alpha val="100000"/>
                  </a:srgbClr>
                </a:gs>
              </a:gsLst>
              <a:lin ang="5400000"/>
            </a:gradFill>
          </p:spPr>
        </p:sp>
        <p:sp>
          <p:nvSpPr>
            <p:cNvPr id="8" name="TextBox 8"/>
            <p:cNvSpPr txBox="1"/>
            <p:nvPr/>
          </p:nvSpPr>
          <p:spPr>
            <a:xfrm>
              <a:off x="0" y="-38100"/>
              <a:ext cx="717916" cy="137961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5400000">
            <a:off x="14167593" y="-1247673"/>
            <a:ext cx="2872734" cy="5368080"/>
            <a:chOff x="0" y="0"/>
            <a:chExt cx="717916" cy="1341519"/>
          </a:xfrm>
        </p:grpSpPr>
        <p:sp>
          <p:nvSpPr>
            <p:cNvPr id="10" name="Freeform 10"/>
            <p:cNvSpPr/>
            <p:nvPr/>
          </p:nvSpPr>
          <p:spPr>
            <a:xfrm>
              <a:off x="0" y="0"/>
              <a:ext cx="717916" cy="1341519"/>
            </a:xfrm>
            <a:custGeom>
              <a:avLst/>
              <a:gdLst/>
              <a:ahLst/>
              <a:cxnLst/>
              <a:rect l="l" t="t" r="r" b="b"/>
              <a:pathLst>
                <a:path w="717916" h="1341519">
                  <a:moveTo>
                    <a:pt x="0" y="0"/>
                  </a:moveTo>
                  <a:lnTo>
                    <a:pt x="717916" y="0"/>
                  </a:lnTo>
                  <a:lnTo>
                    <a:pt x="717916" y="1341519"/>
                  </a:lnTo>
                  <a:lnTo>
                    <a:pt x="0" y="1341519"/>
                  </a:lnTo>
                  <a:close/>
                </a:path>
              </a:pathLst>
            </a:custGeom>
            <a:gradFill rotWithShape="1">
              <a:gsLst>
                <a:gs pos="0">
                  <a:srgbClr val="BE6EFE">
                    <a:alpha val="100000"/>
                  </a:srgbClr>
                </a:gs>
                <a:gs pos="100000">
                  <a:srgbClr val="10110F">
                    <a:alpha val="100000"/>
                  </a:srgbClr>
                </a:gs>
              </a:gsLst>
              <a:lin ang="5400000"/>
            </a:gradFill>
          </p:spPr>
        </p:sp>
        <p:sp>
          <p:nvSpPr>
            <p:cNvPr id="11" name="TextBox 11"/>
            <p:cNvSpPr txBox="1"/>
            <p:nvPr/>
          </p:nvSpPr>
          <p:spPr>
            <a:xfrm>
              <a:off x="0" y="-38100"/>
              <a:ext cx="717916" cy="1379619"/>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2919920" y="1028700"/>
            <a:ext cx="4339380" cy="4716768"/>
            <a:chOff x="0" y="0"/>
            <a:chExt cx="672283" cy="730751"/>
          </a:xfrm>
        </p:grpSpPr>
        <p:sp>
          <p:nvSpPr>
            <p:cNvPr id="13" name="Freeform 13"/>
            <p:cNvSpPr/>
            <p:nvPr/>
          </p:nvSpPr>
          <p:spPr>
            <a:xfrm>
              <a:off x="0" y="0"/>
              <a:ext cx="672283" cy="730751"/>
            </a:xfrm>
            <a:custGeom>
              <a:avLst/>
              <a:gdLst/>
              <a:ahLst/>
              <a:cxnLst/>
              <a:rect l="l" t="t" r="r" b="b"/>
              <a:pathLst>
                <a:path w="672283" h="730751">
                  <a:moveTo>
                    <a:pt x="0" y="0"/>
                  </a:moveTo>
                  <a:lnTo>
                    <a:pt x="672283" y="0"/>
                  </a:lnTo>
                  <a:lnTo>
                    <a:pt x="672283" y="730751"/>
                  </a:lnTo>
                  <a:lnTo>
                    <a:pt x="0" y="730751"/>
                  </a:lnTo>
                  <a:close/>
                </a:path>
              </a:pathLst>
            </a:custGeom>
            <a:blipFill>
              <a:blip r:embed="rId3"/>
              <a:stretch>
                <a:fillRect l="-28250" r="-28250"/>
              </a:stretch>
            </a:blipFill>
          </p:spPr>
        </p:sp>
      </p:grpSp>
      <p:sp>
        <p:nvSpPr>
          <p:cNvPr id="14" name="TextBox 14"/>
          <p:cNvSpPr txBox="1"/>
          <p:nvPr/>
        </p:nvSpPr>
        <p:spPr>
          <a:xfrm>
            <a:off x="1028700" y="7034436"/>
            <a:ext cx="5036642" cy="323850"/>
          </a:xfrm>
          <a:prstGeom prst="rect">
            <a:avLst/>
          </a:prstGeom>
        </p:spPr>
        <p:txBody>
          <a:bodyPr lIns="0" tIns="0" rIns="0" bIns="0" rtlCol="0" anchor="t">
            <a:spAutoFit/>
          </a:bodyPr>
          <a:lstStyle/>
          <a:p>
            <a:pPr algn="l">
              <a:lnSpc>
                <a:spcPts val="2519"/>
              </a:lnSpc>
            </a:pPr>
            <a:r>
              <a:rPr lang="en-US" sz="2099" b="1" spc="-83">
                <a:solidFill>
                  <a:srgbClr val="FFFFFF"/>
                </a:solidFill>
                <a:latin typeface="Inclusive Sans Bold"/>
                <a:ea typeface="Inclusive Sans Bold"/>
                <a:cs typeface="Inclusive Sans Bold"/>
                <a:sym typeface="Inclusive Sans Bold"/>
              </a:rPr>
              <a:t>Emotional Insight Over Demographics</a:t>
            </a:r>
          </a:p>
        </p:txBody>
      </p:sp>
      <p:sp>
        <p:nvSpPr>
          <p:cNvPr id="15" name="TextBox 15"/>
          <p:cNvSpPr txBox="1"/>
          <p:nvPr/>
        </p:nvSpPr>
        <p:spPr>
          <a:xfrm>
            <a:off x="1028700" y="7820248"/>
            <a:ext cx="5036642" cy="1199964"/>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At the heart of Vibe Marketing lies empathy — the ability to feel what your audience feels. Understanding your audience isn’t just about identifying their age, location, or income level; it’s about uncovering the emotional triggers that guide their behaviors and decisions.</a:t>
            </a:r>
          </a:p>
        </p:txBody>
      </p:sp>
      <p:sp>
        <p:nvSpPr>
          <p:cNvPr id="16" name="TextBox 16"/>
          <p:cNvSpPr txBox="1"/>
          <p:nvPr/>
        </p:nvSpPr>
        <p:spPr>
          <a:xfrm>
            <a:off x="13647020" y="7820248"/>
            <a:ext cx="3612280" cy="1438052"/>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Today’s consumers seek more than just information or functionality — they crave connection, belonging, and authenticity. They want to align themselves with brands that mirror their values and reflect their emotional state.</a:t>
            </a:r>
          </a:p>
        </p:txBody>
      </p:sp>
      <p:grpSp>
        <p:nvGrpSpPr>
          <p:cNvPr id="17" name="Group 17"/>
          <p:cNvGrpSpPr/>
          <p:nvPr/>
        </p:nvGrpSpPr>
        <p:grpSpPr>
          <a:xfrm>
            <a:off x="1028700" y="4541532"/>
            <a:ext cx="913791" cy="1248050"/>
            <a:chOff x="0" y="0"/>
            <a:chExt cx="228362" cy="311896"/>
          </a:xfrm>
        </p:grpSpPr>
        <p:sp>
          <p:nvSpPr>
            <p:cNvPr id="18" name="Freeform 18"/>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19" name="TextBox 19"/>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266380" y="4764428"/>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AutoShape 21"/>
          <p:cNvSpPr/>
          <p:nvPr/>
        </p:nvSpPr>
        <p:spPr>
          <a:xfrm flipH="1">
            <a:off x="13647020" y="7196361"/>
            <a:ext cx="3612280" cy="0"/>
          </a:xfrm>
          <a:prstGeom prst="line">
            <a:avLst/>
          </a:prstGeom>
          <a:ln w="9525" cap="flat">
            <a:solidFill>
              <a:srgbClr val="FFFFFF"/>
            </a:solidFill>
            <a:prstDash val="solid"/>
            <a:headEnd type="none" w="sm" len="sm"/>
            <a:tailEnd type="none" w="sm" len="sm"/>
          </a:ln>
        </p:spPr>
      </p:sp>
      <p:grpSp>
        <p:nvGrpSpPr>
          <p:cNvPr id="22" name="Group 22"/>
          <p:cNvGrpSpPr/>
          <p:nvPr/>
        </p:nvGrpSpPr>
        <p:grpSpPr>
          <a:xfrm rot="5400000">
            <a:off x="9336868" y="2116827"/>
            <a:ext cx="476378" cy="5295202"/>
            <a:chOff x="0" y="0"/>
            <a:chExt cx="119050" cy="1323307"/>
          </a:xfrm>
        </p:grpSpPr>
        <p:sp>
          <p:nvSpPr>
            <p:cNvPr id="23" name="Freeform 23"/>
            <p:cNvSpPr/>
            <p:nvPr/>
          </p:nvSpPr>
          <p:spPr>
            <a:xfrm>
              <a:off x="0" y="0"/>
              <a:ext cx="119050" cy="1323307"/>
            </a:xfrm>
            <a:custGeom>
              <a:avLst/>
              <a:gdLst/>
              <a:ahLst/>
              <a:cxnLst/>
              <a:rect l="l" t="t" r="r" b="b"/>
              <a:pathLst>
                <a:path w="119050" h="1323307">
                  <a:moveTo>
                    <a:pt x="0" y="0"/>
                  </a:moveTo>
                  <a:lnTo>
                    <a:pt x="119050" y="0"/>
                  </a:lnTo>
                  <a:lnTo>
                    <a:pt x="119050" y="1323307"/>
                  </a:lnTo>
                  <a:lnTo>
                    <a:pt x="0" y="1323307"/>
                  </a:lnTo>
                  <a:close/>
                </a:path>
              </a:pathLst>
            </a:custGeom>
            <a:gradFill rotWithShape="1">
              <a:gsLst>
                <a:gs pos="0">
                  <a:srgbClr val="BE6EFE">
                    <a:alpha val="100000"/>
                  </a:srgbClr>
                </a:gs>
                <a:gs pos="100000">
                  <a:srgbClr val="10110F">
                    <a:alpha val="100000"/>
                  </a:srgbClr>
                </a:gs>
              </a:gsLst>
              <a:lin ang="5400000"/>
            </a:gradFill>
          </p:spPr>
        </p:sp>
        <p:sp>
          <p:nvSpPr>
            <p:cNvPr id="24" name="TextBox 24"/>
            <p:cNvSpPr txBox="1"/>
            <p:nvPr/>
          </p:nvSpPr>
          <p:spPr>
            <a:xfrm>
              <a:off x="0" y="-38100"/>
              <a:ext cx="119050" cy="1361407"/>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913791" cy="1248050"/>
            <a:chOff x="0" y="0"/>
            <a:chExt cx="228362" cy="311896"/>
          </a:xfrm>
        </p:grpSpPr>
        <p:sp>
          <p:nvSpPr>
            <p:cNvPr id="3" name="Freeform 3"/>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4" name="TextBox 4"/>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266380" y="1251596"/>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rot="-5400000">
            <a:off x="7707633" y="-3102520"/>
            <a:ext cx="2872734" cy="18288000"/>
            <a:chOff x="0" y="0"/>
            <a:chExt cx="717916" cy="4570295"/>
          </a:xfrm>
        </p:grpSpPr>
        <p:sp>
          <p:nvSpPr>
            <p:cNvPr id="7" name="Freeform 7"/>
            <p:cNvSpPr/>
            <p:nvPr/>
          </p:nvSpPr>
          <p:spPr>
            <a:xfrm>
              <a:off x="0" y="0"/>
              <a:ext cx="717916" cy="4570295"/>
            </a:xfrm>
            <a:custGeom>
              <a:avLst/>
              <a:gdLst/>
              <a:ahLst/>
              <a:cxnLst/>
              <a:rect l="l" t="t" r="r" b="b"/>
              <a:pathLst>
                <a:path w="717916" h="4570295">
                  <a:moveTo>
                    <a:pt x="0" y="0"/>
                  </a:moveTo>
                  <a:lnTo>
                    <a:pt x="717916" y="0"/>
                  </a:lnTo>
                  <a:lnTo>
                    <a:pt x="717916" y="4570295"/>
                  </a:lnTo>
                  <a:lnTo>
                    <a:pt x="0" y="4570295"/>
                  </a:lnTo>
                  <a:close/>
                </a:path>
              </a:pathLst>
            </a:custGeom>
            <a:gradFill rotWithShape="1">
              <a:gsLst>
                <a:gs pos="0">
                  <a:srgbClr val="BE6EFE">
                    <a:alpha val="100000"/>
                  </a:srgbClr>
                </a:gs>
                <a:gs pos="100000">
                  <a:srgbClr val="10110F">
                    <a:alpha val="100000"/>
                  </a:srgbClr>
                </a:gs>
              </a:gsLst>
              <a:lin ang="5400000"/>
            </a:gradFill>
          </p:spPr>
        </p:sp>
        <p:sp>
          <p:nvSpPr>
            <p:cNvPr id="8" name="TextBox 8"/>
            <p:cNvSpPr txBox="1"/>
            <p:nvPr/>
          </p:nvSpPr>
          <p:spPr>
            <a:xfrm>
              <a:off x="0" y="-38100"/>
              <a:ext cx="717916" cy="460839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4605113"/>
            <a:ext cx="3598388" cy="2872734"/>
            <a:chOff x="0" y="0"/>
            <a:chExt cx="557485" cy="445062"/>
          </a:xfrm>
        </p:grpSpPr>
        <p:sp>
          <p:nvSpPr>
            <p:cNvPr id="10" name="Freeform 10"/>
            <p:cNvSpPr/>
            <p:nvPr/>
          </p:nvSpPr>
          <p:spPr>
            <a:xfrm>
              <a:off x="0" y="0"/>
              <a:ext cx="557484" cy="445062"/>
            </a:xfrm>
            <a:custGeom>
              <a:avLst/>
              <a:gdLst/>
              <a:ahLst/>
              <a:cxnLst/>
              <a:rect l="l" t="t" r="r" b="b"/>
              <a:pathLst>
                <a:path w="557484" h="445062">
                  <a:moveTo>
                    <a:pt x="0" y="0"/>
                  </a:moveTo>
                  <a:lnTo>
                    <a:pt x="557484" y="0"/>
                  </a:lnTo>
                  <a:lnTo>
                    <a:pt x="557484" y="445062"/>
                  </a:lnTo>
                  <a:lnTo>
                    <a:pt x="0" y="445062"/>
                  </a:lnTo>
                  <a:close/>
                </a:path>
              </a:pathLst>
            </a:custGeom>
            <a:blipFill>
              <a:blip r:embed="rId4"/>
              <a:stretch>
                <a:fillRect l="-34389" t="-119388" b="-32887"/>
              </a:stretch>
            </a:blipFill>
          </p:spPr>
        </p:sp>
      </p:grpSp>
      <p:sp>
        <p:nvSpPr>
          <p:cNvPr id="11" name="Freeform 11"/>
          <p:cNvSpPr/>
          <p:nvPr/>
        </p:nvSpPr>
        <p:spPr>
          <a:xfrm>
            <a:off x="1028700" y="8045902"/>
            <a:ext cx="257944" cy="266663"/>
          </a:xfrm>
          <a:custGeom>
            <a:avLst/>
            <a:gdLst/>
            <a:ahLst/>
            <a:cxnLst/>
            <a:rect l="l" t="t" r="r" b="b"/>
            <a:pathLst>
              <a:path w="257944" h="266663">
                <a:moveTo>
                  <a:pt x="0" y="0"/>
                </a:moveTo>
                <a:lnTo>
                  <a:pt x="257944" y="0"/>
                </a:lnTo>
                <a:lnTo>
                  <a:pt x="257944"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5239437" y="4605113"/>
            <a:ext cx="3598388" cy="2872734"/>
            <a:chOff x="0" y="0"/>
            <a:chExt cx="557485" cy="445062"/>
          </a:xfrm>
        </p:grpSpPr>
        <p:sp>
          <p:nvSpPr>
            <p:cNvPr id="13" name="Freeform 13"/>
            <p:cNvSpPr/>
            <p:nvPr/>
          </p:nvSpPr>
          <p:spPr>
            <a:xfrm>
              <a:off x="0" y="0"/>
              <a:ext cx="557484" cy="445062"/>
            </a:xfrm>
            <a:custGeom>
              <a:avLst/>
              <a:gdLst/>
              <a:ahLst/>
              <a:cxnLst/>
              <a:rect l="l" t="t" r="r" b="b"/>
              <a:pathLst>
                <a:path w="557484" h="445062">
                  <a:moveTo>
                    <a:pt x="0" y="0"/>
                  </a:moveTo>
                  <a:lnTo>
                    <a:pt x="557484" y="0"/>
                  </a:lnTo>
                  <a:lnTo>
                    <a:pt x="557484" y="445062"/>
                  </a:lnTo>
                  <a:lnTo>
                    <a:pt x="0" y="445062"/>
                  </a:lnTo>
                  <a:close/>
                </a:path>
              </a:pathLst>
            </a:custGeom>
            <a:blipFill>
              <a:blip r:embed="rId7"/>
              <a:stretch>
                <a:fillRect l="-9821" r="-9821"/>
              </a:stretch>
            </a:blipFill>
          </p:spPr>
        </p:sp>
      </p:grpSp>
      <p:sp>
        <p:nvSpPr>
          <p:cNvPr id="14" name="Freeform 14"/>
          <p:cNvSpPr/>
          <p:nvPr/>
        </p:nvSpPr>
        <p:spPr>
          <a:xfrm>
            <a:off x="5239437" y="8045902"/>
            <a:ext cx="257944" cy="266663"/>
          </a:xfrm>
          <a:custGeom>
            <a:avLst/>
            <a:gdLst/>
            <a:ahLst/>
            <a:cxnLst/>
            <a:rect l="l" t="t" r="r" b="b"/>
            <a:pathLst>
              <a:path w="257944" h="266663">
                <a:moveTo>
                  <a:pt x="0" y="0"/>
                </a:moveTo>
                <a:lnTo>
                  <a:pt x="257944" y="0"/>
                </a:lnTo>
                <a:lnTo>
                  <a:pt x="257944"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5" name="Group 15"/>
          <p:cNvGrpSpPr/>
          <p:nvPr/>
        </p:nvGrpSpPr>
        <p:grpSpPr>
          <a:xfrm>
            <a:off x="9450175" y="4605113"/>
            <a:ext cx="3598388" cy="2872734"/>
            <a:chOff x="0" y="0"/>
            <a:chExt cx="557485" cy="445062"/>
          </a:xfrm>
        </p:grpSpPr>
        <p:sp>
          <p:nvSpPr>
            <p:cNvPr id="16" name="Freeform 16"/>
            <p:cNvSpPr/>
            <p:nvPr/>
          </p:nvSpPr>
          <p:spPr>
            <a:xfrm>
              <a:off x="0" y="0"/>
              <a:ext cx="557484" cy="445062"/>
            </a:xfrm>
            <a:custGeom>
              <a:avLst/>
              <a:gdLst/>
              <a:ahLst/>
              <a:cxnLst/>
              <a:rect l="l" t="t" r="r" b="b"/>
              <a:pathLst>
                <a:path w="557484" h="445062">
                  <a:moveTo>
                    <a:pt x="0" y="0"/>
                  </a:moveTo>
                  <a:lnTo>
                    <a:pt x="557484" y="0"/>
                  </a:lnTo>
                  <a:lnTo>
                    <a:pt x="557484" y="445062"/>
                  </a:lnTo>
                  <a:lnTo>
                    <a:pt x="0" y="445062"/>
                  </a:lnTo>
                  <a:close/>
                </a:path>
              </a:pathLst>
            </a:custGeom>
            <a:blipFill>
              <a:blip r:embed="rId8"/>
              <a:stretch>
                <a:fillRect t="-30144" b="-57574"/>
              </a:stretch>
            </a:blipFill>
          </p:spPr>
        </p:sp>
      </p:grpSp>
      <p:sp>
        <p:nvSpPr>
          <p:cNvPr id="17" name="Freeform 17"/>
          <p:cNvSpPr/>
          <p:nvPr/>
        </p:nvSpPr>
        <p:spPr>
          <a:xfrm>
            <a:off x="9450175" y="8045902"/>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8" name="Group 18"/>
          <p:cNvGrpSpPr/>
          <p:nvPr/>
        </p:nvGrpSpPr>
        <p:grpSpPr>
          <a:xfrm>
            <a:off x="13660912" y="4605113"/>
            <a:ext cx="3598388" cy="2872734"/>
            <a:chOff x="0" y="0"/>
            <a:chExt cx="557485" cy="445062"/>
          </a:xfrm>
        </p:grpSpPr>
        <p:sp>
          <p:nvSpPr>
            <p:cNvPr id="19" name="Freeform 19"/>
            <p:cNvSpPr/>
            <p:nvPr/>
          </p:nvSpPr>
          <p:spPr>
            <a:xfrm>
              <a:off x="0" y="0"/>
              <a:ext cx="557484" cy="445062"/>
            </a:xfrm>
            <a:custGeom>
              <a:avLst/>
              <a:gdLst/>
              <a:ahLst/>
              <a:cxnLst/>
              <a:rect l="l" t="t" r="r" b="b"/>
              <a:pathLst>
                <a:path w="557484" h="445062">
                  <a:moveTo>
                    <a:pt x="0" y="0"/>
                  </a:moveTo>
                  <a:lnTo>
                    <a:pt x="557484" y="0"/>
                  </a:lnTo>
                  <a:lnTo>
                    <a:pt x="557484" y="445062"/>
                  </a:lnTo>
                  <a:lnTo>
                    <a:pt x="0" y="445062"/>
                  </a:lnTo>
                  <a:close/>
                </a:path>
              </a:pathLst>
            </a:custGeom>
            <a:blipFill>
              <a:blip r:embed="rId9"/>
              <a:stretch>
                <a:fillRect l="-9821" r="-9821"/>
              </a:stretch>
            </a:blipFill>
          </p:spPr>
        </p:sp>
      </p:grpSp>
      <p:sp>
        <p:nvSpPr>
          <p:cNvPr id="20" name="Freeform 20"/>
          <p:cNvSpPr/>
          <p:nvPr/>
        </p:nvSpPr>
        <p:spPr>
          <a:xfrm>
            <a:off x="13660912" y="8045902"/>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3596300" y="1200150"/>
            <a:ext cx="11540235"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Elements of a Strong</a:t>
            </a:r>
          </a:p>
        </p:txBody>
      </p:sp>
      <p:sp>
        <p:nvSpPr>
          <p:cNvPr id="22" name="TextBox 22"/>
          <p:cNvSpPr txBox="1"/>
          <p:nvPr/>
        </p:nvSpPr>
        <p:spPr>
          <a:xfrm>
            <a:off x="5151853" y="2463491"/>
            <a:ext cx="6742384"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Brand Vibe</a:t>
            </a:r>
          </a:p>
        </p:txBody>
      </p:sp>
      <p:sp>
        <p:nvSpPr>
          <p:cNvPr id="23" name="TextBox 23"/>
          <p:cNvSpPr txBox="1"/>
          <p:nvPr/>
        </p:nvSpPr>
        <p:spPr>
          <a:xfrm>
            <a:off x="1561272" y="804590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Visual Aesthetics</a:t>
            </a:r>
          </a:p>
        </p:txBody>
      </p:sp>
      <p:sp>
        <p:nvSpPr>
          <p:cNvPr id="24" name="TextBox 24"/>
          <p:cNvSpPr txBox="1"/>
          <p:nvPr/>
        </p:nvSpPr>
        <p:spPr>
          <a:xfrm>
            <a:off x="1561272" y="8534512"/>
            <a:ext cx="3065817"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Color, typography, and imagery convey subconscious meaning.</a:t>
            </a:r>
          </a:p>
        </p:txBody>
      </p:sp>
      <p:sp>
        <p:nvSpPr>
          <p:cNvPr id="25" name="TextBox 25"/>
          <p:cNvSpPr txBox="1"/>
          <p:nvPr/>
        </p:nvSpPr>
        <p:spPr>
          <a:xfrm>
            <a:off x="5772009" y="804590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Tone of Voice</a:t>
            </a:r>
          </a:p>
        </p:txBody>
      </p:sp>
      <p:sp>
        <p:nvSpPr>
          <p:cNvPr id="26" name="TextBox 26"/>
          <p:cNvSpPr txBox="1"/>
          <p:nvPr/>
        </p:nvSpPr>
        <p:spPr>
          <a:xfrm>
            <a:off x="5772009" y="8534512"/>
            <a:ext cx="3065817"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The personality behind every word — calm, bold, or playful.</a:t>
            </a:r>
          </a:p>
        </p:txBody>
      </p:sp>
      <p:sp>
        <p:nvSpPr>
          <p:cNvPr id="27" name="TextBox 27"/>
          <p:cNvSpPr txBox="1"/>
          <p:nvPr/>
        </p:nvSpPr>
        <p:spPr>
          <a:xfrm>
            <a:off x="9982746" y="804590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Cultural Relevance</a:t>
            </a:r>
          </a:p>
        </p:txBody>
      </p:sp>
      <p:sp>
        <p:nvSpPr>
          <p:cNvPr id="28" name="TextBox 28"/>
          <p:cNvSpPr txBox="1"/>
          <p:nvPr/>
        </p:nvSpPr>
        <p:spPr>
          <a:xfrm>
            <a:off x="9982746" y="8534512"/>
            <a:ext cx="3065817"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The vibe must evolve with social trends.</a:t>
            </a:r>
          </a:p>
        </p:txBody>
      </p:sp>
      <p:sp>
        <p:nvSpPr>
          <p:cNvPr id="29" name="TextBox 29"/>
          <p:cNvSpPr txBox="1"/>
          <p:nvPr/>
        </p:nvSpPr>
        <p:spPr>
          <a:xfrm>
            <a:off x="14193483" y="804590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Sound and Motion</a:t>
            </a:r>
          </a:p>
        </p:txBody>
      </p:sp>
      <p:sp>
        <p:nvSpPr>
          <p:cNvPr id="30" name="TextBox 30"/>
          <p:cNvSpPr txBox="1"/>
          <p:nvPr/>
        </p:nvSpPr>
        <p:spPr>
          <a:xfrm>
            <a:off x="14193483" y="8534512"/>
            <a:ext cx="3065817"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Music, rhythm, and animation enhance sensory memory.</a:t>
            </a:r>
          </a:p>
        </p:txBody>
      </p:sp>
      <p:grpSp>
        <p:nvGrpSpPr>
          <p:cNvPr id="31" name="Group 31"/>
          <p:cNvGrpSpPr/>
          <p:nvPr/>
        </p:nvGrpSpPr>
        <p:grpSpPr>
          <a:xfrm rot="5400000">
            <a:off x="15570829" y="1887942"/>
            <a:ext cx="2872734" cy="2561608"/>
            <a:chOff x="0" y="0"/>
            <a:chExt cx="717916" cy="640163"/>
          </a:xfrm>
        </p:grpSpPr>
        <p:sp>
          <p:nvSpPr>
            <p:cNvPr id="32" name="Freeform 32"/>
            <p:cNvSpPr/>
            <p:nvPr/>
          </p:nvSpPr>
          <p:spPr>
            <a:xfrm>
              <a:off x="0" y="0"/>
              <a:ext cx="717916" cy="640163"/>
            </a:xfrm>
            <a:custGeom>
              <a:avLst/>
              <a:gdLst/>
              <a:ahLst/>
              <a:cxnLst/>
              <a:rect l="l" t="t" r="r" b="b"/>
              <a:pathLst>
                <a:path w="717916" h="640163">
                  <a:moveTo>
                    <a:pt x="0" y="0"/>
                  </a:moveTo>
                  <a:lnTo>
                    <a:pt x="717916" y="0"/>
                  </a:lnTo>
                  <a:lnTo>
                    <a:pt x="717916" y="640163"/>
                  </a:lnTo>
                  <a:lnTo>
                    <a:pt x="0" y="640163"/>
                  </a:lnTo>
                  <a:close/>
                </a:path>
              </a:pathLst>
            </a:custGeom>
            <a:gradFill rotWithShape="1">
              <a:gsLst>
                <a:gs pos="0">
                  <a:srgbClr val="BE6EFE">
                    <a:alpha val="100000"/>
                  </a:srgbClr>
                </a:gs>
                <a:gs pos="100000">
                  <a:srgbClr val="10110F">
                    <a:alpha val="100000"/>
                  </a:srgbClr>
                </a:gs>
              </a:gsLst>
              <a:lin ang="5400000"/>
            </a:gradFill>
          </p:spPr>
        </p:sp>
        <p:sp>
          <p:nvSpPr>
            <p:cNvPr id="33" name="TextBox 33"/>
            <p:cNvSpPr txBox="1"/>
            <p:nvPr/>
          </p:nvSpPr>
          <p:spPr>
            <a:xfrm>
              <a:off x="0" y="-38100"/>
              <a:ext cx="717916" cy="678263"/>
            </a:xfrm>
            <a:prstGeom prst="rect">
              <a:avLst/>
            </a:prstGeom>
          </p:spPr>
          <p:txBody>
            <a:bodyPr lIns="50800" tIns="50800" rIns="50800" bIns="50800" rtlCol="0" anchor="ctr"/>
            <a:lstStyle/>
            <a:p>
              <a:pPr algn="ctr">
                <a:lnSpc>
                  <a:spcPts val="2659"/>
                </a:lnSpc>
                <a:spcBef>
                  <a:spcPct val="0"/>
                </a:spcBef>
              </a:pPr>
              <a:endParaRPr/>
            </a:p>
          </p:txBody>
        </p:sp>
      </p:grpSp>
      <p:sp>
        <p:nvSpPr>
          <p:cNvPr id="34" name="AutoShape 34"/>
          <p:cNvSpPr/>
          <p:nvPr/>
        </p:nvSpPr>
        <p:spPr>
          <a:xfrm flipH="1">
            <a:off x="11134654" y="3076384"/>
            <a:ext cx="2526257" cy="0"/>
          </a:xfrm>
          <a:prstGeom prst="line">
            <a:avLst/>
          </a:prstGeom>
          <a:ln w="9525" cap="flat">
            <a:solidFill>
              <a:srgbClr val="FFFFFF"/>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sp>
        <p:nvSpPr>
          <p:cNvPr id="2" name="TextBox 2"/>
          <p:cNvSpPr txBox="1"/>
          <p:nvPr/>
        </p:nvSpPr>
        <p:spPr>
          <a:xfrm>
            <a:off x="1028700" y="6797747"/>
            <a:ext cx="7324376"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Crafting Your</a:t>
            </a:r>
          </a:p>
        </p:txBody>
      </p:sp>
      <p:sp>
        <p:nvSpPr>
          <p:cNvPr id="3" name="TextBox 3"/>
          <p:cNvSpPr txBox="1"/>
          <p:nvPr/>
        </p:nvSpPr>
        <p:spPr>
          <a:xfrm>
            <a:off x="2356830" y="8061087"/>
            <a:ext cx="9954310"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Brand’s Moodboard</a:t>
            </a:r>
          </a:p>
        </p:txBody>
      </p:sp>
      <p:grpSp>
        <p:nvGrpSpPr>
          <p:cNvPr id="4" name="Group 4"/>
          <p:cNvGrpSpPr/>
          <p:nvPr/>
        </p:nvGrpSpPr>
        <p:grpSpPr>
          <a:xfrm>
            <a:off x="1028700" y="1028700"/>
            <a:ext cx="5295202" cy="4716768"/>
            <a:chOff x="0" y="0"/>
            <a:chExt cx="820365" cy="730751"/>
          </a:xfrm>
        </p:grpSpPr>
        <p:sp>
          <p:nvSpPr>
            <p:cNvPr id="5" name="Freeform 5"/>
            <p:cNvSpPr/>
            <p:nvPr/>
          </p:nvSpPr>
          <p:spPr>
            <a:xfrm>
              <a:off x="0" y="0"/>
              <a:ext cx="820365" cy="730751"/>
            </a:xfrm>
            <a:custGeom>
              <a:avLst/>
              <a:gdLst/>
              <a:ahLst/>
              <a:cxnLst/>
              <a:rect l="l" t="t" r="r" b="b"/>
              <a:pathLst>
                <a:path w="820365" h="730751">
                  <a:moveTo>
                    <a:pt x="0" y="0"/>
                  </a:moveTo>
                  <a:lnTo>
                    <a:pt x="820365" y="0"/>
                  </a:lnTo>
                  <a:lnTo>
                    <a:pt x="820365" y="730751"/>
                  </a:lnTo>
                  <a:lnTo>
                    <a:pt x="0" y="730751"/>
                  </a:lnTo>
                  <a:close/>
                </a:path>
              </a:pathLst>
            </a:custGeom>
            <a:blipFill>
              <a:blip r:embed="rId2"/>
              <a:stretch>
                <a:fillRect l="-38716" r="-16807" b="-16397"/>
              </a:stretch>
            </a:blipFill>
          </p:spPr>
        </p:sp>
      </p:grpSp>
      <p:grpSp>
        <p:nvGrpSpPr>
          <p:cNvPr id="6" name="Group 6"/>
          <p:cNvGrpSpPr/>
          <p:nvPr/>
        </p:nvGrpSpPr>
        <p:grpSpPr>
          <a:xfrm>
            <a:off x="12919920" y="5745468"/>
            <a:ext cx="4339380" cy="3512832"/>
            <a:chOff x="0" y="0"/>
            <a:chExt cx="672283" cy="544230"/>
          </a:xfrm>
        </p:grpSpPr>
        <p:sp>
          <p:nvSpPr>
            <p:cNvPr id="7" name="Freeform 7"/>
            <p:cNvSpPr/>
            <p:nvPr/>
          </p:nvSpPr>
          <p:spPr>
            <a:xfrm>
              <a:off x="0" y="0"/>
              <a:ext cx="672283" cy="544230"/>
            </a:xfrm>
            <a:custGeom>
              <a:avLst/>
              <a:gdLst/>
              <a:ahLst/>
              <a:cxnLst/>
              <a:rect l="l" t="t" r="r" b="b"/>
              <a:pathLst>
                <a:path w="672283" h="544230">
                  <a:moveTo>
                    <a:pt x="0" y="0"/>
                  </a:moveTo>
                  <a:lnTo>
                    <a:pt x="672283" y="0"/>
                  </a:lnTo>
                  <a:lnTo>
                    <a:pt x="672283" y="544230"/>
                  </a:lnTo>
                  <a:lnTo>
                    <a:pt x="0" y="544230"/>
                  </a:lnTo>
                  <a:close/>
                </a:path>
              </a:pathLst>
            </a:custGeom>
            <a:blipFill>
              <a:blip r:embed="rId3"/>
              <a:stretch>
                <a:fillRect l="-22045" r="-22045"/>
              </a:stretch>
            </a:blipFill>
          </p:spPr>
        </p:sp>
      </p:grpSp>
      <p:grpSp>
        <p:nvGrpSpPr>
          <p:cNvPr id="8" name="Group 8"/>
          <p:cNvGrpSpPr/>
          <p:nvPr/>
        </p:nvGrpSpPr>
        <p:grpSpPr>
          <a:xfrm rot="5400000">
            <a:off x="3438112" y="-1396005"/>
            <a:ext cx="476378" cy="5295202"/>
            <a:chOff x="0" y="0"/>
            <a:chExt cx="119050" cy="1323307"/>
          </a:xfrm>
        </p:grpSpPr>
        <p:sp>
          <p:nvSpPr>
            <p:cNvPr id="9" name="Freeform 9"/>
            <p:cNvSpPr/>
            <p:nvPr/>
          </p:nvSpPr>
          <p:spPr>
            <a:xfrm>
              <a:off x="0" y="0"/>
              <a:ext cx="119050" cy="1323307"/>
            </a:xfrm>
            <a:custGeom>
              <a:avLst/>
              <a:gdLst/>
              <a:ahLst/>
              <a:cxnLst/>
              <a:rect l="l" t="t" r="r" b="b"/>
              <a:pathLst>
                <a:path w="119050" h="1323307">
                  <a:moveTo>
                    <a:pt x="0" y="0"/>
                  </a:moveTo>
                  <a:lnTo>
                    <a:pt x="119050" y="0"/>
                  </a:lnTo>
                  <a:lnTo>
                    <a:pt x="119050" y="1323307"/>
                  </a:lnTo>
                  <a:lnTo>
                    <a:pt x="0" y="1323307"/>
                  </a:lnTo>
                  <a:close/>
                </a:path>
              </a:pathLst>
            </a:custGeom>
            <a:gradFill rotWithShape="1">
              <a:gsLst>
                <a:gs pos="0">
                  <a:srgbClr val="BE6EFE">
                    <a:alpha val="100000"/>
                  </a:srgbClr>
                </a:gs>
                <a:gs pos="100000">
                  <a:srgbClr val="10110F">
                    <a:alpha val="100000"/>
                  </a:srgbClr>
                </a:gs>
              </a:gsLst>
              <a:lin ang="5400000"/>
            </a:gradFill>
          </p:spPr>
        </p:sp>
        <p:sp>
          <p:nvSpPr>
            <p:cNvPr id="10" name="TextBox 10"/>
            <p:cNvSpPr txBox="1"/>
            <p:nvPr/>
          </p:nvSpPr>
          <p:spPr>
            <a:xfrm>
              <a:off x="0" y="-38100"/>
              <a:ext cx="119050" cy="136140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577626" y="1019175"/>
            <a:ext cx="4378233" cy="323850"/>
          </a:xfrm>
          <a:prstGeom prst="rect">
            <a:avLst/>
          </a:prstGeom>
        </p:spPr>
        <p:txBody>
          <a:bodyPr lIns="0" tIns="0" rIns="0" bIns="0" rtlCol="0" anchor="t">
            <a:spAutoFit/>
          </a:bodyPr>
          <a:lstStyle/>
          <a:p>
            <a:pPr algn="l">
              <a:lnSpc>
                <a:spcPts val="2519"/>
              </a:lnSpc>
            </a:pPr>
            <a:r>
              <a:rPr lang="en-US" sz="2099" b="1" spc="-83">
                <a:solidFill>
                  <a:srgbClr val="FFFFFF"/>
                </a:solidFill>
                <a:latin typeface="Inclusive Sans Bold"/>
                <a:ea typeface="Inclusive Sans Bold"/>
                <a:cs typeface="Inclusive Sans Bold"/>
                <a:sym typeface="Inclusive Sans Bold"/>
              </a:rPr>
              <a:t>Translating Feelings Into Aesthetics</a:t>
            </a:r>
          </a:p>
        </p:txBody>
      </p:sp>
      <p:sp>
        <p:nvSpPr>
          <p:cNvPr id="12" name="TextBox 12"/>
          <p:cNvSpPr txBox="1"/>
          <p:nvPr/>
        </p:nvSpPr>
        <p:spPr>
          <a:xfrm>
            <a:off x="7577626" y="1804987"/>
            <a:ext cx="4378233" cy="1914227"/>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A brand’s moodboard is the visual heart of its emotional identity — a curated collection of images, colors, textures, typography, and visual references that capture the essence of the brand’s feeling. It helps translate intangible emotions into tangible design direction, ensuring that every creative decision aligns with a consistent emotional tone.</a:t>
            </a:r>
          </a:p>
        </p:txBody>
      </p:sp>
      <p:sp>
        <p:nvSpPr>
          <p:cNvPr id="13" name="TextBox 13"/>
          <p:cNvSpPr txBox="1"/>
          <p:nvPr/>
        </p:nvSpPr>
        <p:spPr>
          <a:xfrm>
            <a:off x="13724872" y="1804987"/>
            <a:ext cx="3534428" cy="2866579"/>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The moodboard serves as a compass for designers, marketers, and content creators to stay visually coherent across campaigns and platforms. Whether the goal is to express calm sophistication, youthful energy, or nostalgic warmth, the moodboard bridges the gap between strategic intent and sensory experience. It guides how a brand feels, not just how it looks, turning emotion into a visual language that resonates deeply with audiences.</a:t>
            </a:r>
          </a:p>
        </p:txBody>
      </p:sp>
      <p:sp>
        <p:nvSpPr>
          <p:cNvPr id="14" name="AutoShape 14"/>
          <p:cNvSpPr/>
          <p:nvPr/>
        </p:nvSpPr>
        <p:spPr>
          <a:xfrm flipH="1" flipV="1">
            <a:off x="12915158" y="1814512"/>
            <a:ext cx="0" cy="7464833"/>
          </a:xfrm>
          <a:prstGeom prst="line">
            <a:avLst/>
          </a:prstGeom>
          <a:ln w="9525" cap="flat">
            <a:solidFill>
              <a:srgbClr val="FFFFFF"/>
            </a:solidFill>
            <a:prstDash val="solid"/>
            <a:headEnd type="none" w="sm" len="sm"/>
            <a:tailEnd type="none" w="sm" len="sm"/>
          </a:ln>
        </p:spPr>
      </p:sp>
      <p:grpSp>
        <p:nvGrpSpPr>
          <p:cNvPr id="15" name="Group 15"/>
          <p:cNvGrpSpPr/>
          <p:nvPr/>
        </p:nvGrpSpPr>
        <p:grpSpPr>
          <a:xfrm>
            <a:off x="10811818" y="5378247"/>
            <a:ext cx="913791" cy="1248050"/>
            <a:chOff x="0" y="0"/>
            <a:chExt cx="228362" cy="311896"/>
          </a:xfrm>
        </p:grpSpPr>
        <p:sp>
          <p:nvSpPr>
            <p:cNvPr id="16" name="Freeform 16"/>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17" name="TextBox 17"/>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11049498" y="5601143"/>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AutoShape 19"/>
          <p:cNvSpPr/>
          <p:nvPr/>
        </p:nvSpPr>
        <p:spPr>
          <a:xfrm flipH="1">
            <a:off x="7577626" y="5373484"/>
            <a:ext cx="2526257" cy="0"/>
          </a:xfrm>
          <a:prstGeom prst="line">
            <a:avLst/>
          </a:prstGeom>
          <a:ln w="9525" cap="flat">
            <a:solidFill>
              <a:srgbClr val="FFFFFF"/>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838157" y="5576109"/>
            <a:ext cx="2872734" cy="6549047"/>
            <a:chOff x="0" y="0"/>
            <a:chExt cx="717916" cy="1636651"/>
          </a:xfrm>
        </p:grpSpPr>
        <p:sp>
          <p:nvSpPr>
            <p:cNvPr id="3" name="Freeform 3"/>
            <p:cNvSpPr/>
            <p:nvPr/>
          </p:nvSpPr>
          <p:spPr>
            <a:xfrm>
              <a:off x="0" y="0"/>
              <a:ext cx="717916" cy="1636651"/>
            </a:xfrm>
            <a:custGeom>
              <a:avLst/>
              <a:gdLst/>
              <a:ahLst/>
              <a:cxnLst/>
              <a:rect l="l" t="t" r="r" b="b"/>
              <a:pathLst>
                <a:path w="717916" h="1636651">
                  <a:moveTo>
                    <a:pt x="0" y="0"/>
                  </a:moveTo>
                  <a:lnTo>
                    <a:pt x="717916" y="0"/>
                  </a:lnTo>
                  <a:lnTo>
                    <a:pt x="717916" y="1636651"/>
                  </a:lnTo>
                  <a:lnTo>
                    <a:pt x="0" y="1636651"/>
                  </a:lnTo>
                  <a:close/>
                </a:path>
              </a:pathLst>
            </a:custGeom>
            <a:gradFill rotWithShape="1">
              <a:gsLst>
                <a:gs pos="0">
                  <a:srgbClr val="BE6EFE">
                    <a:alpha val="100000"/>
                  </a:srgbClr>
                </a:gs>
                <a:gs pos="100000">
                  <a:srgbClr val="10110F">
                    <a:alpha val="100000"/>
                  </a:srgbClr>
                </a:gs>
              </a:gsLst>
              <a:lin ang="5400000"/>
            </a:gradFill>
          </p:spPr>
        </p:sp>
        <p:sp>
          <p:nvSpPr>
            <p:cNvPr id="4" name="TextBox 4"/>
            <p:cNvSpPr txBox="1"/>
            <p:nvPr/>
          </p:nvSpPr>
          <p:spPr>
            <a:xfrm>
              <a:off x="0" y="-38100"/>
              <a:ext cx="717916" cy="167475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5400000">
            <a:off x="1838157" y="2703375"/>
            <a:ext cx="2872734" cy="6549047"/>
            <a:chOff x="0" y="0"/>
            <a:chExt cx="717916" cy="1636651"/>
          </a:xfrm>
        </p:grpSpPr>
        <p:sp>
          <p:nvSpPr>
            <p:cNvPr id="6" name="Freeform 6"/>
            <p:cNvSpPr/>
            <p:nvPr/>
          </p:nvSpPr>
          <p:spPr>
            <a:xfrm>
              <a:off x="0" y="0"/>
              <a:ext cx="717916" cy="1636651"/>
            </a:xfrm>
            <a:custGeom>
              <a:avLst/>
              <a:gdLst/>
              <a:ahLst/>
              <a:cxnLst/>
              <a:rect l="l" t="t" r="r" b="b"/>
              <a:pathLst>
                <a:path w="717916" h="1636651">
                  <a:moveTo>
                    <a:pt x="0" y="0"/>
                  </a:moveTo>
                  <a:lnTo>
                    <a:pt x="717916" y="0"/>
                  </a:lnTo>
                  <a:lnTo>
                    <a:pt x="717916" y="1636651"/>
                  </a:lnTo>
                  <a:lnTo>
                    <a:pt x="0" y="1636651"/>
                  </a:lnTo>
                  <a:close/>
                </a:path>
              </a:pathLst>
            </a:custGeom>
            <a:gradFill rotWithShape="1">
              <a:gsLst>
                <a:gs pos="0">
                  <a:srgbClr val="BE6EFE">
                    <a:alpha val="100000"/>
                  </a:srgbClr>
                </a:gs>
                <a:gs pos="100000">
                  <a:srgbClr val="10110F">
                    <a:alpha val="100000"/>
                  </a:srgbClr>
                </a:gs>
              </a:gsLst>
              <a:lin ang="5400000"/>
            </a:gradFill>
          </p:spPr>
        </p:sp>
        <p:sp>
          <p:nvSpPr>
            <p:cNvPr id="7" name="TextBox 7"/>
            <p:cNvSpPr txBox="1"/>
            <p:nvPr/>
          </p:nvSpPr>
          <p:spPr>
            <a:xfrm>
              <a:off x="0" y="-38100"/>
              <a:ext cx="717916" cy="167475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45509" y="1028700"/>
            <a:ext cx="913791" cy="1248050"/>
            <a:chOff x="0" y="0"/>
            <a:chExt cx="228362" cy="311896"/>
          </a:xfrm>
        </p:grpSpPr>
        <p:sp>
          <p:nvSpPr>
            <p:cNvPr id="9" name="Freeform 9"/>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10" name="TextBox 10"/>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6583190" y="1251596"/>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7359917" y="1200150"/>
            <a:ext cx="6386446"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The Role of</a:t>
            </a:r>
          </a:p>
        </p:txBody>
      </p:sp>
      <p:sp>
        <p:nvSpPr>
          <p:cNvPr id="13" name="TextBox 13"/>
          <p:cNvSpPr txBox="1"/>
          <p:nvPr/>
        </p:nvSpPr>
        <p:spPr>
          <a:xfrm>
            <a:off x="8155888" y="2463491"/>
            <a:ext cx="6742384"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Storytelling</a:t>
            </a:r>
          </a:p>
        </p:txBody>
      </p:sp>
      <p:grpSp>
        <p:nvGrpSpPr>
          <p:cNvPr id="14" name="Group 14"/>
          <p:cNvGrpSpPr/>
          <p:nvPr/>
        </p:nvGrpSpPr>
        <p:grpSpPr>
          <a:xfrm>
            <a:off x="2950659" y="5137516"/>
            <a:ext cx="3598388" cy="4120784"/>
            <a:chOff x="0" y="0"/>
            <a:chExt cx="557485" cy="638417"/>
          </a:xfrm>
        </p:grpSpPr>
        <p:sp>
          <p:nvSpPr>
            <p:cNvPr id="15" name="Freeform 15"/>
            <p:cNvSpPr/>
            <p:nvPr/>
          </p:nvSpPr>
          <p:spPr>
            <a:xfrm>
              <a:off x="0" y="0"/>
              <a:ext cx="557484" cy="638417"/>
            </a:xfrm>
            <a:custGeom>
              <a:avLst/>
              <a:gdLst/>
              <a:ahLst/>
              <a:cxnLst/>
              <a:rect l="l" t="t" r="r" b="b"/>
              <a:pathLst>
                <a:path w="557484" h="638417">
                  <a:moveTo>
                    <a:pt x="0" y="0"/>
                  </a:moveTo>
                  <a:lnTo>
                    <a:pt x="557484" y="0"/>
                  </a:lnTo>
                  <a:lnTo>
                    <a:pt x="557484" y="638417"/>
                  </a:lnTo>
                  <a:lnTo>
                    <a:pt x="0" y="638417"/>
                  </a:lnTo>
                  <a:close/>
                </a:path>
              </a:pathLst>
            </a:custGeom>
            <a:blipFill>
              <a:blip r:embed="rId4"/>
              <a:stretch>
                <a:fillRect l="-59460" r="-65711" b="-31203"/>
              </a:stretch>
            </a:blipFill>
          </p:spPr>
        </p:sp>
      </p:grpSp>
      <p:grpSp>
        <p:nvGrpSpPr>
          <p:cNvPr id="16" name="Group 16"/>
          <p:cNvGrpSpPr/>
          <p:nvPr/>
        </p:nvGrpSpPr>
        <p:grpSpPr>
          <a:xfrm>
            <a:off x="10609064" y="5137516"/>
            <a:ext cx="3598388" cy="4120784"/>
            <a:chOff x="0" y="0"/>
            <a:chExt cx="557485" cy="638417"/>
          </a:xfrm>
        </p:grpSpPr>
        <p:sp>
          <p:nvSpPr>
            <p:cNvPr id="17" name="Freeform 17"/>
            <p:cNvSpPr/>
            <p:nvPr/>
          </p:nvSpPr>
          <p:spPr>
            <a:xfrm>
              <a:off x="0" y="0"/>
              <a:ext cx="557484" cy="638417"/>
            </a:xfrm>
            <a:custGeom>
              <a:avLst/>
              <a:gdLst/>
              <a:ahLst/>
              <a:cxnLst/>
              <a:rect l="l" t="t" r="r" b="b"/>
              <a:pathLst>
                <a:path w="557484" h="638417">
                  <a:moveTo>
                    <a:pt x="0" y="0"/>
                  </a:moveTo>
                  <a:lnTo>
                    <a:pt x="557484" y="0"/>
                  </a:lnTo>
                  <a:lnTo>
                    <a:pt x="557484" y="638417"/>
                  </a:lnTo>
                  <a:lnTo>
                    <a:pt x="0" y="638417"/>
                  </a:lnTo>
                  <a:close/>
                </a:path>
              </a:pathLst>
            </a:custGeom>
            <a:blipFill>
              <a:blip r:embed="rId5"/>
              <a:stretch>
                <a:fillRect l="-51916" r="-51916"/>
              </a:stretch>
            </a:blipFill>
          </p:spPr>
        </p:sp>
      </p:grpSp>
      <p:sp>
        <p:nvSpPr>
          <p:cNvPr id="18" name="Freeform 18"/>
          <p:cNvSpPr/>
          <p:nvPr/>
        </p:nvSpPr>
        <p:spPr>
          <a:xfrm>
            <a:off x="7137383" y="5137516"/>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14795788" y="5137516"/>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7669955" y="5137516"/>
            <a:ext cx="1444947" cy="533326"/>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Character Connection</a:t>
            </a:r>
          </a:p>
        </p:txBody>
      </p:sp>
      <p:sp>
        <p:nvSpPr>
          <p:cNvPr id="21" name="TextBox 21"/>
          <p:cNvSpPr txBox="1"/>
          <p:nvPr/>
        </p:nvSpPr>
        <p:spPr>
          <a:xfrm>
            <a:off x="15328359" y="5137516"/>
            <a:ext cx="1444947" cy="533326"/>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Conflict &amp; Resolution</a:t>
            </a:r>
          </a:p>
        </p:txBody>
      </p:sp>
      <p:sp>
        <p:nvSpPr>
          <p:cNvPr id="22" name="TextBox 22"/>
          <p:cNvSpPr txBox="1"/>
          <p:nvPr/>
        </p:nvSpPr>
        <p:spPr>
          <a:xfrm>
            <a:off x="7137383" y="6043884"/>
            <a:ext cx="2463512" cy="2866579"/>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People connect to people, not corporations. By building relatable characters — whether real customers, brand mascots, or narrative personas — brands humanize their stories. Characters act as emotional anchors, embodying the audience’s aspirations, struggles, or dreams.</a:t>
            </a:r>
          </a:p>
        </p:txBody>
      </p:sp>
      <p:sp>
        <p:nvSpPr>
          <p:cNvPr id="23" name="TextBox 23"/>
          <p:cNvSpPr txBox="1"/>
          <p:nvPr/>
        </p:nvSpPr>
        <p:spPr>
          <a:xfrm>
            <a:off x="14795788" y="6043884"/>
            <a:ext cx="2463512" cy="1914227"/>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Every memorable story follows a journey of challenge and triumph. Introducing tension keeps audiences emotionally invested, while the resolution delivers satisfaction and meaning.</a:t>
            </a:r>
          </a:p>
        </p:txBody>
      </p:sp>
      <p:sp>
        <p:nvSpPr>
          <p:cNvPr id="24" name="TextBox 24"/>
          <p:cNvSpPr txBox="1"/>
          <p:nvPr/>
        </p:nvSpPr>
        <p:spPr>
          <a:xfrm>
            <a:off x="1028700" y="1019175"/>
            <a:ext cx="2463512" cy="1914227"/>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Storytelling lies at the core of Vibe Marketing — it’s how brands breathe emotion into their identity. A good story does more than entertain; it connects values, evokes feelings, and creates shared meaning.</a:t>
            </a:r>
          </a:p>
        </p:txBody>
      </p:sp>
      <p:sp>
        <p:nvSpPr>
          <p:cNvPr id="25" name="AutoShape 25"/>
          <p:cNvSpPr/>
          <p:nvPr/>
        </p:nvSpPr>
        <p:spPr>
          <a:xfrm flipV="1">
            <a:off x="5669230" y="1028700"/>
            <a:ext cx="0" cy="2632003"/>
          </a:xfrm>
          <a:prstGeom prst="line">
            <a:avLst/>
          </a:prstGeom>
          <a:ln w="9525" cap="flat">
            <a:solidFill>
              <a:srgbClr val="FFFFFF"/>
            </a:soli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2948291" y="4541532"/>
            <a:ext cx="2948291" cy="5745468"/>
            <a:chOff x="0" y="0"/>
            <a:chExt cx="736798" cy="1435831"/>
          </a:xfrm>
        </p:grpSpPr>
        <p:sp>
          <p:nvSpPr>
            <p:cNvPr id="3" name="Freeform 3"/>
            <p:cNvSpPr/>
            <p:nvPr/>
          </p:nvSpPr>
          <p:spPr>
            <a:xfrm>
              <a:off x="0" y="0"/>
              <a:ext cx="736798" cy="1435831"/>
            </a:xfrm>
            <a:custGeom>
              <a:avLst/>
              <a:gdLst/>
              <a:ahLst/>
              <a:cxnLst/>
              <a:rect l="l" t="t" r="r" b="b"/>
              <a:pathLst>
                <a:path w="736798" h="1435831">
                  <a:moveTo>
                    <a:pt x="0" y="0"/>
                  </a:moveTo>
                  <a:lnTo>
                    <a:pt x="736798" y="0"/>
                  </a:lnTo>
                  <a:lnTo>
                    <a:pt x="736798" y="1435831"/>
                  </a:lnTo>
                  <a:lnTo>
                    <a:pt x="0" y="1435831"/>
                  </a:lnTo>
                  <a:close/>
                </a:path>
              </a:pathLst>
            </a:custGeom>
            <a:gradFill rotWithShape="1">
              <a:gsLst>
                <a:gs pos="0">
                  <a:srgbClr val="BE6EFE">
                    <a:alpha val="100000"/>
                  </a:srgbClr>
                </a:gs>
                <a:gs pos="100000">
                  <a:srgbClr val="10110F">
                    <a:alpha val="100000"/>
                  </a:srgbClr>
                </a:gs>
              </a:gsLst>
              <a:lin ang="5400000"/>
            </a:gradFill>
          </p:spPr>
        </p:sp>
        <p:sp>
          <p:nvSpPr>
            <p:cNvPr id="4" name="TextBox 4"/>
            <p:cNvSpPr txBox="1"/>
            <p:nvPr/>
          </p:nvSpPr>
          <p:spPr>
            <a:xfrm>
              <a:off x="0" y="-38100"/>
              <a:ext cx="736798" cy="147393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0" y="4541532"/>
            <a:ext cx="2948291" cy="5745468"/>
            <a:chOff x="0" y="0"/>
            <a:chExt cx="736798" cy="1435831"/>
          </a:xfrm>
        </p:grpSpPr>
        <p:sp>
          <p:nvSpPr>
            <p:cNvPr id="6" name="Freeform 6"/>
            <p:cNvSpPr/>
            <p:nvPr/>
          </p:nvSpPr>
          <p:spPr>
            <a:xfrm>
              <a:off x="0" y="0"/>
              <a:ext cx="736798" cy="1435831"/>
            </a:xfrm>
            <a:custGeom>
              <a:avLst/>
              <a:gdLst/>
              <a:ahLst/>
              <a:cxnLst/>
              <a:rect l="l" t="t" r="r" b="b"/>
              <a:pathLst>
                <a:path w="736798" h="1435831">
                  <a:moveTo>
                    <a:pt x="0" y="0"/>
                  </a:moveTo>
                  <a:lnTo>
                    <a:pt x="736798" y="0"/>
                  </a:lnTo>
                  <a:lnTo>
                    <a:pt x="736798" y="1435831"/>
                  </a:lnTo>
                  <a:lnTo>
                    <a:pt x="0" y="1435831"/>
                  </a:lnTo>
                  <a:close/>
                </a:path>
              </a:pathLst>
            </a:custGeom>
            <a:gradFill rotWithShape="1">
              <a:gsLst>
                <a:gs pos="0">
                  <a:srgbClr val="BE6EFE">
                    <a:alpha val="100000"/>
                  </a:srgbClr>
                </a:gs>
                <a:gs pos="100000">
                  <a:srgbClr val="10110F">
                    <a:alpha val="100000"/>
                  </a:srgbClr>
                </a:gs>
              </a:gsLst>
              <a:lin ang="5400000"/>
            </a:gradFill>
          </p:spPr>
        </p:sp>
        <p:sp>
          <p:nvSpPr>
            <p:cNvPr id="7" name="TextBox 7"/>
            <p:cNvSpPr txBox="1"/>
            <p:nvPr/>
          </p:nvSpPr>
          <p:spPr>
            <a:xfrm>
              <a:off x="0" y="-38100"/>
              <a:ext cx="736798" cy="147393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1200150"/>
            <a:ext cx="9266902"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Vibe Marketing in</a:t>
            </a:r>
          </a:p>
        </p:txBody>
      </p:sp>
      <p:sp>
        <p:nvSpPr>
          <p:cNvPr id="9" name="TextBox 9"/>
          <p:cNvSpPr txBox="1"/>
          <p:nvPr/>
        </p:nvSpPr>
        <p:spPr>
          <a:xfrm>
            <a:off x="1028700" y="2463491"/>
            <a:ext cx="6742384"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Social Media</a:t>
            </a:r>
          </a:p>
        </p:txBody>
      </p:sp>
      <p:grpSp>
        <p:nvGrpSpPr>
          <p:cNvPr id="10" name="Group 10"/>
          <p:cNvGrpSpPr/>
          <p:nvPr/>
        </p:nvGrpSpPr>
        <p:grpSpPr>
          <a:xfrm>
            <a:off x="12919920" y="1028700"/>
            <a:ext cx="4339380" cy="4716768"/>
            <a:chOff x="0" y="0"/>
            <a:chExt cx="672283" cy="730751"/>
          </a:xfrm>
        </p:grpSpPr>
        <p:sp>
          <p:nvSpPr>
            <p:cNvPr id="11" name="Freeform 11"/>
            <p:cNvSpPr/>
            <p:nvPr/>
          </p:nvSpPr>
          <p:spPr>
            <a:xfrm>
              <a:off x="0" y="0"/>
              <a:ext cx="672283" cy="730751"/>
            </a:xfrm>
            <a:custGeom>
              <a:avLst/>
              <a:gdLst/>
              <a:ahLst/>
              <a:cxnLst/>
              <a:rect l="l" t="t" r="r" b="b"/>
              <a:pathLst>
                <a:path w="672283" h="730751">
                  <a:moveTo>
                    <a:pt x="0" y="0"/>
                  </a:moveTo>
                  <a:lnTo>
                    <a:pt x="672283" y="0"/>
                  </a:lnTo>
                  <a:lnTo>
                    <a:pt x="672283" y="730751"/>
                  </a:lnTo>
                  <a:lnTo>
                    <a:pt x="0" y="730751"/>
                  </a:lnTo>
                  <a:close/>
                </a:path>
              </a:pathLst>
            </a:custGeom>
            <a:blipFill>
              <a:blip r:embed="rId2"/>
              <a:stretch>
                <a:fillRect l="-46691" t="-14376" r="-44523" b="-3007"/>
              </a:stretch>
            </a:blipFill>
          </p:spPr>
        </p:sp>
      </p:grpSp>
      <p:grpSp>
        <p:nvGrpSpPr>
          <p:cNvPr id="12" name="Group 12"/>
          <p:cNvGrpSpPr/>
          <p:nvPr/>
        </p:nvGrpSpPr>
        <p:grpSpPr>
          <a:xfrm>
            <a:off x="1028700" y="4541532"/>
            <a:ext cx="5295202" cy="4716768"/>
            <a:chOff x="0" y="0"/>
            <a:chExt cx="820365" cy="730751"/>
          </a:xfrm>
        </p:grpSpPr>
        <p:sp>
          <p:nvSpPr>
            <p:cNvPr id="13" name="Freeform 13"/>
            <p:cNvSpPr/>
            <p:nvPr/>
          </p:nvSpPr>
          <p:spPr>
            <a:xfrm>
              <a:off x="0" y="0"/>
              <a:ext cx="820365" cy="730751"/>
            </a:xfrm>
            <a:custGeom>
              <a:avLst/>
              <a:gdLst/>
              <a:ahLst/>
              <a:cxnLst/>
              <a:rect l="l" t="t" r="r" b="b"/>
              <a:pathLst>
                <a:path w="820365" h="730751">
                  <a:moveTo>
                    <a:pt x="0" y="0"/>
                  </a:moveTo>
                  <a:lnTo>
                    <a:pt x="820365" y="0"/>
                  </a:lnTo>
                  <a:lnTo>
                    <a:pt x="820365" y="730751"/>
                  </a:lnTo>
                  <a:lnTo>
                    <a:pt x="0" y="730751"/>
                  </a:lnTo>
                  <a:close/>
                </a:path>
              </a:pathLst>
            </a:custGeom>
            <a:blipFill>
              <a:blip r:embed="rId3"/>
              <a:stretch>
                <a:fillRect l="-35145" t="-12447" r="-19425" b="-3341"/>
              </a:stretch>
            </a:blipFill>
          </p:spPr>
        </p:sp>
      </p:grpSp>
      <p:grpSp>
        <p:nvGrpSpPr>
          <p:cNvPr id="14" name="Group 14"/>
          <p:cNvGrpSpPr/>
          <p:nvPr/>
        </p:nvGrpSpPr>
        <p:grpSpPr>
          <a:xfrm rot="5400000">
            <a:off x="14851421" y="3381703"/>
            <a:ext cx="476378" cy="4339380"/>
            <a:chOff x="0" y="0"/>
            <a:chExt cx="119050" cy="1084440"/>
          </a:xfrm>
        </p:grpSpPr>
        <p:sp>
          <p:nvSpPr>
            <p:cNvPr id="15" name="Freeform 15"/>
            <p:cNvSpPr/>
            <p:nvPr/>
          </p:nvSpPr>
          <p:spPr>
            <a:xfrm>
              <a:off x="0" y="0"/>
              <a:ext cx="119050" cy="1084440"/>
            </a:xfrm>
            <a:custGeom>
              <a:avLst/>
              <a:gdLst/>
              <a:ahLst/>
              <a:cxnLst/>
              <a:rect l="l" t="t" r="r" b="b"/>
              <a:pathLst>
                <a:path w="119050" h="1084440">
                  <a:moveTo>
                    <a:pt x="0" y="0"/>
                  </a:moveTo>
                  <a:lnTo>
                    <a:pt x="119050" y="0"/>
                  </a:lnTo>
                  <a:lnTo>
                    <a:pt x="119050" y="1084440"/>
                  </a:lnTo>
                  <a:lnTo>
                    <a:pt x="0" y="1084440"/>
                  </a:lnTo>
                  <a:close/>
                </a:path>
              </a:pathLst>
            </a:custGeom>
            <a:gradFill rotWithShape="1">
              <a:gsLst>
                <a:gs pos="0">
                  <a:srgbClr val="BE6EFE">
                    <a:alpha val="100000"/>
                  </a:srgbClr>
                </a:gs>
                <a:gs pos="100000">
                  <a:srgbClr val="10110F">
                    <a:alpha val="100000"/>
                  </a:srgbClr>
                </a:gs>
              </a:gsLst>
              <a:lin ang="5400000"/>
            </a:gradFill>
          </p:spPr>
        </p:sp>
        <p:sp>
          <p:nvSpPr>
            <p:cNvPr id="16" name="TextBox 16"/>
            <p:cNvSpPr txBox="1"/>
            <p:nvPr/>
          </p:nvSpPr>
          <p:spPr>
            <a:xfrm>
              <a:off x="0" y="-38100"/>
              <a:ext cx="119050" cy="112254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7313796" y="4879807"/>
            <a:ext cx="2262929" cy="638175"/>
          </a:xfrm>
          <a:prstGeom prst="rect">
            <a:avLst/>
          </a:prstGeom>
        </p:spPr>
        <p:txBody>
          <a:bodyPr lIns="0" tIns="0" rIns="0" bIns="0" rtlCol="0" anchor="t">
            <a:spAutoFit/>
          </a:bodyPr>
          <a:lstStyle/>
          <a:p>
            <a:pPr algn="l">
              <a:lnSpc>
                <a:spcPts val="2519"/>
              </a:lnSpc>
            </a:pPr>
            <a:r>
              <a:rPr lang="en-US" sz="2099" b="1" spc="-83">
                <a:solidFill>
                  <a:srgbClr val="FFFFFF"/>
                </a:solidFill>
                <a:latin typeface="Inclusive Sans Bold"/>
                <a:ea typeface="Inclusive Sans Bold"/>
                <a:cs typeface="Inclusive Sans Bold"/>
                <a:sym typeface="Inclusive Sans Bold"/>
              </a:rPr>
              <a:t>Turning Followers into Feelers</a:t>
            </a:r>
          </a:p>
        </p:txBody>
      </p:sp>
      <p:grpSp>
        <p:nvGrpSpPr>
          <p:cNvPr id="18" name="Group 18"/>
          <p:cNvGrpSpPr/>
          <p:nvPr/>
        </p:nvGrpSpPr>
        <p:grpSpPr>
          <a:xfrm>
            <a:off x="11096132" y="4541532"/>
            <a:ext cx="913791" cy="1248050"/>
            <a:chOff x="0" y="0"/>
            <a:chExt cx="228362" cy="311896"/>
          </a:xfrm>
        </p:grpSpPr>
        <p:sp>
          <p:nvSpPr>
            <p:cNvPr id="19" name="Freeform 19"/>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20" name="TextBox 20"/>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11333812" y="4764428"/>
            <a:ext cx="438430" cy="439229"/>
          </a:xfrm>
          <a:custGeom>
            <a:avLst/>
            <a:gdLst/>
            <a:ahLst/>
            <a:cxnLst/>
            <a:rect l="l" t="t" r="r" b="b"/>
            <a:pathLst>
              <a:path w="438430" h="439229">
                <a:moveTo>
                  <a:pt x="0" y="0"/>
                </a:moveTo>
                <a:lnTo>
                  <a:pt x="438430" y="0"/>
                </a:lnTo>
                <a:lnTo>
                  <a:pt x="438430" y="439229"/>
                </a:lnTo>
                <a:lnTo>
                  <a:pt x="0" y="4392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AutoShape 22"/>
          <p:cNvSpPr/>
          <p:nvPr/>
        </p:nvSpPr>
        <p:spPr>
          <a:xfrm flipH="1">
            <a:off x="7912172" y="3114484"/>
            <a:ext cx="2383430" cy="0"/>
          </a:xfrm>
          <a:prstGeom prst="line">
            <a:avLst/>
          </a:prstGeom>
          <a:ln w="9525" cap="flat">
            <a:solidFill>
              <a:srgbClr val="FFFFFF"/>
            </a:solidFill>
            <a:prstDash val="solid"/>
            <a:headEnd type="none" w="sm" len="sm"/>
            <a:tailEnd type="none" w="sm" len="sm"/>
          </a:ln>
        </p:spPr>
      </p:sp>
      <p:sp>
        <p:nvSpPr>
          <p:cNvPr id="23" name="Freeform 23"/>
          <p:cNvSpPr/>
          <p:nvPr/>
        </p:nvSpPr>
        <p:spPr>
          <a:xfrm>
            <a:off x="7344806" y="7196361"/>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TextBox 24"/>
          <p:cNvSpPr txBox="1"/>
          <p:nvPr/>
        </p:nvSpPr>
        <p:spPr>
          <a:xfrm>
            <a:off x="7313796" y="7807046"/>
            <a:ext cx="2262929" cy="533326"/>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Emotional Tone Consistency</a:t>
            </a:r>
          </a:p>
        </p:txBody>
      </p:sp>
      <p:sp>
        <p:nvSpPr>
          <p:cNvPr id="25" name="TextBox 25"/>
          <p:cNvSpPr txBox="1"/>
          <p:nvPr/>
        </p:nvSpPr>
        <p:spPr>
          <a:xfrm>
            <a:off x="7313796" y="8534512"/>
            <a:ext cx="2486344"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Keep your posts aligned with your brand energy.</a:t>
            </a:r>
          </a:p>
        </p:txBody>
      </p:sp>
      <p:sp>
        <p:nvSpPr>
          <p:cNvPr id="26" name="Freeform 26"/>
          <p:cNvSpPr/>
          <p:nvPr/>
        </p:nvSpPr>
        <p:spPr>
          <a:xfrm>
            <a:off x="11074386" y="7196361"/>
            <a:ext cx="257944" cy="266663"/>
          </a:xfrm>
          <a:custGeom>
            <a:avLst/>
            <a:gdLst/>
            <a:ahLst/>
            <a:cxnLst/>
            <a:rect l="l" t="t" r="r" b="b"/>
            <a:pathLst>
              <a:path w="257944" h="266663">
                <a:moveTo>
                  <a:pt x="0" y="0"/>
                </a:moveTo>
                <a:lnTo>
                  <a:pt x="257944" y="0"/>
                </a:lnTo>
                <a:lnTo>
                  <a:pt x="257944"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TextBox 27"/>
          <p:cNvSpPr txBox="1"/>
          <p:nvPr/>
        </p:nvSpPr>
        <p:spPr>
          <a:xfrm>
            <a:off x="11043376" y="7807046"/>
            <a:ext cx="2262929"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Micro-Storytelling</a:t>
            </a:r>
          </a:p>
        </p:txBody>
      </p:sp>
      <p:sp>
        <p:nvSpPr>
          <p:cNvPr id="28" name="TextBox 28"/>
          <p:cNvSpPr txBox="1"/>
          <p:nvPr/>
        </p:nvSpPr>
        <p:spPr>
          <a:xfrm>
            <a:off x="11043376" y="8407084"/>
            <a:ext cx="2486344"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Share small, impactful narratives.</a:t>
            </a:r>
          </a:p>
        </p:txBody>
      </p:sp>
      <p:sp>
        <p:nvSpPr>
          <p:cNvPr id="29" name="Freeform 29"/>
          <p:cNvSpPr/>
          <p:nvPr/>
        </p:nvSpPr>
        <p:spPr>
          <a:xfrm>
            <a:off x="14803966" y="7196361"/>
            <a:ext cx="257944" cy="266663"/>
          </a:xfrm>
          <a:custGeom>
            <a:avLst/>
            <a:gdLst/>
            <a:ahLst/>
            <a:cxnLst/>
            <a:rect l="l" t="t" r="r" b="b"/>
            <a:pathLst>
              <a:path w="257944" h="266663">
                <a:moveTo>
                  <a:pt x="0" y="0"/>
                </a:moveTo>
                <a:lnTo>
                  <a:pt x="257944" y="0"/>
                </a:lnTo>
                <a:lnTo>
                  <a:pt x="257944" y="266663"/>
                </a:lnTo>
                <a:lnTo>
                  <a:pt x="0" y="2666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TextBox 30"/>
          <p:cNvSpPr txBox="1"/>
          <p:nvPr/>
        </p:nvSpPr>
        <p:spPr>
          <a:xfrm>
            <a:off x="14772956" y="7807046"/>
            <a:ext cx="2262929"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Interactive Emotion</a:t>
            </a:r>
          </a:p>
        </p:txBody>
      </p:sp>
      <p:sp>
        <p:nvSpPr>
          <p:cNvPr id="31" name="TextBox 31"/>
          <p:cNvSpPr txBox="1"/>
          <p:nvPr/>
        </p:nvSpPr>
        <p:spPr>
          <a:xfrm>
            <a:off x="14772956" y="8407084"/>
            <a:ext cx="2486344" cy="723788"/>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Polls, reactions, and live sessions invite shared energy.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sp>
        <p:nvSpPr>
          <p:cNvPr id="2" name="TextBox 2"/>
          <p:cNvSpPr txBox="1"/>
          <p:nvPr/>
        </p:nvSpPr>
        <p:spPr>
          <a:xfrm>
            <a:off x="6017618" y="1200150"/>
            <a:ext cx="11004002" cy="1197213"/>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Content Strategies for</a:t>
            </a:r>
          </a:p>
        </p:txBody>
      </p:sp>
      <p:sp>
        <p:nvSpPr>
          <p:cNvPr id="3" name="TextBox 3"/>
          <p:cNvSpPr txBox="1"/>
          <p:nvPr/>
        </p:nvSpPr>
        <p:spPr>
          <a:xfrm>
            <a:off x="7177162" y="2463491"/>
            <a:ext cx="9625243"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Emotional Impact</a:t>
            </a:r>
          </a:p>
        </p:txBody>
      </p:sp>
      <p:grpSp>
        <p:nvGrpSpPr>
          <p:cNvPr id="4" name="Group 4"/>
          <p:cNvGrpSpPr/>
          <p:nvPr/>
        </p:nvGrpSpPr>
        <p:grpSpPr>
          <a:xfrm rot="-10800000">
            <a:off x="2948291" y="3214931"/>
            <a:ext cx="2948291" cy="7072069"/>
            <a:chOff x="0" y="0"/>
            <a:chExt cx="736798" cy="1767358"/>
          </a:xfrm>
        </p:grpSpPr>
        <p:sp>
          <p:nvSpPr>
            <p:cNvPr id="5" name="Freeform 5"/>
            <p:cNvSpPr/>
            <p:nvPr/>
          </p:nvSpPr>
          <p:spPr>
            <a:xfrm>
              <a:off x="0" y="0"/>
              <a:ext cx="736798" cy="1767358"/>
            </a:xfrm>
            <a:custGeom>
              <a:avLst/>
              <a:gdLst/>
              <a:ahLst/>
              <a:cxnLst/>
              <a:rect l="l" t="t" r="r" b="b"/>
              <a:pathLst>
                <a:path w="736798" h="1767358">
                  <a:moveTo>
                    <a:pt x="0" y="0"/>
                  </a:moveTo>
                  <a:lnTo>
                    <a:pt x="736798" y="0"/>
                  </a:lnTo>
                  <a:lnTo>
                    <a:pt x="736798" y="1767358"/>
                  </a:lnTo>
                  <a:lnTo>
                    <a:pt x="0" y="1767358"/>
                  </a:lnTo>
                  <a:close/>
                </a:path>
              </a:pathLst>
            </a:custGeom>
            <a:gradFill rotWithShape="1">
              <a:gsLst>
                <a:gs pos="0">
                  <a:srgbClr val="BE6EFE">
                    <a:alpha val="100000"/>
                  </a:srgbClr>
                </a:gs>
                <a:gs pos="100000">
                  <a:srgbClr val="10110F">
                    <a:alpha val="100000"/>
                  </a:srgbClr>
                </a:gs>
              </a:gsLst>
              <a:lin ang="5400000"/>
            </a:gradFill>
          </p:spPr>
        </p:sp>
        <p:sp>
          <p:nvSpPr>
            <p:cNvPr id="6" name="TextBox 6"/>
            <p:cNvSpPr txBox="1"/>
            <p:nvPr/>
          </p:nvSpPr>
          <p:spPr>
            <a:xfrm>
              <a:off x="0" y="-38100"/>
              <a:ext cx="736798" cy="180545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0" y="0"/>
            <a:ext cx="2948291" cy="10287000"/>
            <a:chOff x="0" y="0"/>
            <a:chExt cx="736798" cy="2570791"/>
          </a:xfrm>
        </p:grpSpPr>
        <p:sp>
          <p:nvSpPr>
            <p:cNvPr id="8" name="Freeform 8"/>
            <p:cNvSpPr/>
            <p:nvPr/>
          </p:nvSpPr>
          <p:spPr>
            <a:xfrm>
              <a:off x="0" y="0"/>
              <a:ext cx="736798" cy="2570791"/>
            </a:xfrm>
            <a:custGeom>
              <a:avLst/>
              <a:gdLst/>
              <a:ahLst/>
              <a:cxnLst/>
              <a:rect l="l" t="t" r="r" b="b"/>
              <a:pathLst>
                <a:path w="736798" h="2570791">
                  <a:moveTo>
                    <a:pt x="0" y="0"/>
                  </a:moveTo>
                  <a:lnTo>
                    <a:pt x="736798" y="0"/>
                  </a:lnTo>
                  <a:lnTo>
                    <a:pt x="736798" y="2570791"/>
                  </a:lnTo>
                  <a:lnTo>
                    <a:pt x="0" y="2570791"/>
                  </a:lnTo>
                  <a:close/>
                </a:path>
              </a:pathLst>
            </a:custGeom>
            <a:gradFill rotWithShape="1">
              <a:gsLst>
                <a:gs pos="0">
                  <a:srgbClr val="BE6EFE">
                    <a:alpha val="100000"/>
                  </a:srgbClr>
                </a:gs>
                <a:gs pos="100000">
                  <a:srgbClr val="10110F">
                    <a:alpha val="100000"/>
                  </a:srgbClr>
                </a:gs>
              </a:gsLst>
              <a:lin ang="5400000"/>
            </a:gradFill>
          </p:spPr>
        </p:sp>
        <p:sp>
          <p:nvSpPr>
            <p:cNvPr id="9" name="TextBox 9"/>
            <p:cNvSpPr txBox="1"/>
            <p:nvPr/>
          </p:nvSpPr>
          <p:spPr>
            <a:xfrm>
              <a:off x="0" y="-38100"/>
              <a:ext cx="736798" cy="2608891"/>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0" y="3214931"/>
            <a:ext cx="5896581" cy="6043369"/>
            <a:chOff x="0" y="0"/>
            <a:chExt cx="913535" cy="936276"/>
          </a:xfrm>
        </p:grpSpPr>
        <p:sp>
          <p:nvSpPr>
            <p:cNvPr id="11" name="Freeform 11"/>
            <p:cNvSpPr/>
            <p:nvPr/>
          </p:nvSpPr>
          <p:spPr>
            <a:xfrm>
              <a:off x="0" y="0"/>
              <a:ext cx="913535" cy="936276"/>
            </a:xfrm>
            <a:custGeom>
              <a:avLst/>
              <a:gdLst/>
              <a:ahLst/>
              <a:cxnLst/>
              <a:rect l="l" t="t" r="r" b="b"/>
              <a:pathLst>
                <a:path w="913535" h="936276">
                  <a:moveTo>
                    <a:pt x="0" y="0"/>
                  </a:moveTo>
                  <a:lnTo>
                    <a:pt x="913535" y="0"/>
                  </a:lnTo>
                  <a:lnTo>
                    <a:pt x="913535" y="936276"/>
                  </a:lnTo>
                  <a:lnTo>
                    <a:pt x="0" y="936276"/>
                  </a:lnTo>
                  <a:close/>
                </a:path>
              </a:pathLst>
            </a:custGeom>
            <a:blipFill>
              <a:blip r:embed="rId2"/>
              <a:stretch>
                <a:fillRect l="-26915" r="-26915"/>
              </a:stretch>
            </a:blipFill>
          </p:spPr>
        </p:sp>
      </p:grpSp>
      <p:sp>
        <p:nvSpPr>
          <p:cNvPr id="12" name="TextBox 12"/>
          <p:cNvSpPr txBox="1"/>
          <p:nvPr/>
        </p:nvSpPr>
        <p:spPr>
          <a:xfrm>
            <a:off x="7709733" y="460868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Emotional Calendar</a:t>
            </a:r>
          </a:p>
        </p:txBody>
      </p:sp>
      <p:sp>
        <p:nvSpPr>
          <p:cNvPr id="13" name="TextBox 13"/>
          <p:cNvSpPr txBox="1"/>
          <p:nvPr/>
        </p:nvSpPr>
        <p:spPr>
          <a:xfrm>
            <a:off x="7709733" y="5906172"/>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Value-Driven Topics</a:t>
            </a:r>
          </a:p>
        </p:txBody>
      </p:sp>
      <p:sp>
        <p:nvSpPr>
          <p:cNvPr id="14" name="TextBox 14"/>
          <p:cNvSpPr txBox="1"/>
          <p:nvPr/>
        </p:nvSpPr>
        <p:spPr>
          <a:xfrm>
            <a:off x="11742996" y="4595218"/>
            <a:ext cx="2756913"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Align content with mood-driven events and seasons.</a:t>
            </a:r>
          </a:p>
        </p:txBody>
      </p:sp>
      <p:sp>
        <p:nvSpPr>
          <p:cNvPr id="15" name="TextBox 15"/>
          <p:cNvSpPr txBox="1"/>
          <p:nvPr/>
        </p:nvSpPr>
        <p:spPr>
          <a:xfrm>
            <a:off x="11742996" y="5892708"/>
            <a:ext cx="2756913"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Focus on inspiration, belonging, or self-expression.</a:t>
            </a:r>
          </a:p>
        </p:txBody>
      </p:sp>
      <p:grpSp>
        <p:nvGrpSpPr>
          <p:cNvPr id="16" name="Group 16"/>
          <p:cNvGrpSpPr/>
          <p:nvPr/>
        </p:nvGrpSpPr>
        <p:grpSpPr>
          <a:xfrm>
            <a:off x="3508645" y="1028700"/>
            <a:ext cx="913791" cy="1248050"/>
            <a:chOff x="0" y="0"/>
            <a:chExt cx="228362" cy="311896"/>
          </a:xfrm>
        </p:grpSpPr>
        <p:sp>
          <p:nvSpPr>
            <p:cNvPr id="17" name="Freeform 17"/>
            <p:cNvSpPr/>
            <p:nvPr/>
          </p:nvSpPr>
          <p:spPr>
            <a:xfrm>
              <a:off x="0" y="0"/>
              <a:ext cx="228362" cy="311896"/>
            </a:xfrm>
            <a:custGeom>
              <a:avLst/>
              <a:gdLst/>
              <a:ahLst/>
              <a:cxnLst/>
              <a:rect l="l" t="t" r="r" b="b"/>
              <a:pathLst>
                <a:path w="228362" h="311896">
                  <a:moveTo>
                    <a:pt x="0" y="0"/>
                  </a:moveTo>
                  <a:lnTo>
                    <a:pt x="228362" y="0"/>
                  </a:lnTo>
                  <a:lnTo>
                    <a:pt x="228362" y="311896"/>
                  </a:lnTo>
                  <a:lnTo>
                    <a:pt x="0" y="311896"/>
                  </a:lnTo>
                  <a:close/>
                </a:path>
              </a:pathLst>
            </a:custGeom>
            <a:solidFill>
              <a:srgbClr val="BE6EFE"/>
            </a:solidFill>
          </p:spPr>
        </p:sp>
        <p:sp>
          <p:nvSpPr>
            <p:cNvPr id="18" name="TextBox 18"/>
            <p:cNvSpPr txBox="1"/>
            <p:nvPr/>
          </p:nvSpPr>
          <p:spPr>
            <a:xfrm>
              <a:off x="0" y="-38100"/>
              <a:ext cx="228362" cy="349996"/>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46325" y="1251596"/>
            <a:ext cx="438430" cy="439229"/>
          </a:xfrm>
          <a:custGeom>
            <a:avLst/>
            <a:gdLst/>
            <a:ahLst/>
            <a:cxnLst/>
            <a:rect l="l" t="t" r="r" b="b"/>
            <a:pathLst>
              <a:path w="438430" h="439229">
                <a:moveTo>
                  <a:pt x="0" y="0"/>
                </a:moveTo>
                <a:lnTo>
                  <a:pt x="438431" y="0"/>
                </a:lnTo>
                <a:lnTo>
                  <a:pt x="438431" y="439229"/>
                </a:lnTo>
                <a:lnTo>
                  <a:pt x="0" y="4392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7177162" y="4608682"/>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7177162" y="5906172"/>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AutoShape 22"/>
          <p:cNvSpPr/>
          <p:nvPr/>
        </p:nvSpPr>
        <p:spPr>
          <a:xfrm flipH="1">
            <a:off x="7177162" y="5425040"/>
            <a:ext cx="10082138" cy="0"/>
          </a:xfrm>
          <a:prstGeom prst="line">
            <a:avLst/>
          </a:prstGeom>
          <a:ln w="9525" cap="flat">
            <a:solidFill>
              <a:srgbClr val="FFFFFF"/>
            </a:solidFill>
            <a:prstDash val="solid"/>
            <a:headEnd type="none" w="sm" len="sm"/>
            <a:tailEnd type="none" w="sm" len="sm"/>
          </a:ln>
        </p:spPr>
      </p:sp>
      <p:sp>
        <p:nvSpPr>
          <p:cNvPr id="23" name="AutoShape 23"/>
          <p:cNvSpPr/>
          <p:nvPr/>
        </p:nvSpPr>
        <p:spPr>
          <a:xfrm flipH="1">
            <a:off x="7177162" y="6722530"/>
            <a:ext cx="10082138" cy="0"/>
          </a:xfrm>
          <a:prstGeom prst="line">
            <a:avLst/>
          </a:prstGeom>
          <a:ln w="9525" cap="flat">
            <a:solidFill>
              <a:srgbClr val="FFFFFF"/>
            </a:solidFill>
            <a:prstDash val="solid"/>
            <a:headEnd type="none" w="sm" len="sm"/>
            <a:tailEnd type="none" w="sm" len="sm"/>
          </a:ln>
        </p:spPr>
      </p:sp>
      <p:grpSp>
        <p:nvGrpSpPr>
          <p:cNvPr id="24" name="Group 24"/>
          <p:cNvGrpSpPr/>
          <p:nvPr/>
        </p:nvGrpSpPr>
        <p:grpSpPr>
          <a:xfrm>
            <a:off x="5420203" y="3214931"/>
            <a:ext cx="476378" cy="6043369"/>
            <a:chOff x="0" y="0"/>
            <a:chExt cx="119050" cy="1510279"/>
          </a:xfrm>
        </p:grpSpPr>
        <p:sp>
          <p:nvSpPr>
            <p:cNvPr id="25" name="Freeform 25"/>
            <p:cNvSpPr/>
            <p:nvPr/>
          </p:nvSpPr>
          <p:spPr>
            <a:xfrm>
              <a:off x="0" y="0"/>
              <a:ext cx="119050" cy="1510279"/>
            </a:xfrm>
            <a:custGeom>
              <a:avLst/>
              <a:gdLst/>
              <a:ahLst/>
              <a:cxnLst/>
              <a:rect l="l" t="t" r="r" b="b"/>
              <a:pathLst>
                <a:path w="119050" h="1510279">
                  <a:moveTo>
                    <a:pt x="0" y="0"/>
                  </a:moveTo>
                  <a:lnTo>
                    <a:pt x="119050" y="0"/>
                  </a:lnTo>
                  <a:lnTo>
                    <a:pt x="119050" y="1510279"/>
                  </a:lnTo>
                  <a:lnTo>
                    <a:pt x="0" y="1510279"/>
                  </a:lnTo>
                  <a:close/>
                </a:path>
              </a:pathLst>
            </a:custGeom>
            <a:gradFill rotWithShape="1">
              <a:gsLst>
                <a:gs pos="0">
                  <a:srgbClr val="BE6EFE">
                    <a:alpha val="100000"/>
                  </a:srgbClr>
                </a:gs>
                <a:gs pos="100000">
                  <a:srgbClr val="10110F">
                    <a:alpha val="100000"/>
                  </a:srgbClr>
                </a:gs>
              </a:gsLst>
              <a:lin ang="5400000"/>
            </a:gradFill>
          </p:spPr>
        </p:sp>
        <p:sp>
          <p:nvSpPr>
            <p:cNvPr id="26" name="TextBox 26"/>
            <p:cNvSpPr txBox="1"/>
            <p:nvPr/>
          </p:nvSpPr>
          <p:spPr>
            <a:xfrm>
              <a:off x="0" y="-38100"/>
              <a:ext cx="119050" cy="1548379"/>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27"/>
          <p:cNvSpPr txBox="1"/>
          <p:nvPr/>
        </p:nvSpPr>
        <p:spPr>
          <a:xfrm>
            <a:off x="7709733" y="7203661"/>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Multi-Sensory Storytelling</a:t>
            </a:r>
          </a:p>
        </p:txBody>
      </p:sp>
      <p:sp>
        <p:nvSpPr>
          <p:cNvPr id="28" name="TextBox 28"/>
          <p:cNvSpPr txBox="1"/>
          <p:nvPr/>
        </p:nvSpPr>
        <p:spPr>
          <a:xfrm>
            <a:off x="11742996" y="7190198"/>
            <a:ext cx="2756913"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Use visuals, sound, and language for depth.</a:t>
            </a:r>
          </a:p>
        </p:txBody>
      </p:sp>
      <p:sp>
        <p:nvSpPr>
          <p:cNvPr id="29" name="Freeform 29"/>
          <p:cNvSpPr/>
          <p:nvPr/>
        </p:nvSpPr>
        <p:spPr>
          <a:xfrm>
            <a:off x="7177162" y="7203661"/>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AutoShape 30"/>
          <p:cNvSpPr/>
          <p:nvPr/>
        </p:nvSpPr>
        <p:spPr>
          <a:xfrm flipH="1">
            <a:off x="7177162" y="8020020"/>
            <a:ext cx="10082138" cy="0"/>
          </a:xfrm>
          <a:prstGeom prst="line">
            <a:avLst/>
          </a:prstGeom>
          <a:ln w="9525" cap="flat">
            <a:solidFill>
              <a:srgbClr val="FFFFFF"/>
            </a:solidFill>
            <a:prstDash val="solid"/>
            <a:headEnd type="none" w="sm" len="sm"/>
            <a:tailEnd type="none" w="sm" len="sm"/>
          </a:ln>
        </p:spPr>
      </p:sp>
      <p:sp>
        <p:nvSpPr>
          <p:cNvPr id="31" name="TextBox 31"/>
          <p:cNvSpPr txBox="1"/>
          <p:nvPr/>
        </p:nvSpPr>
        <p:spPr>
          <a:xfrm>
            <a:off x="7709733" y="8501151"/>
            <a:ext cx="2756913" cy="266663"/>
          </a:xfrm>
          <a:prstGeom prst="rect">
            <a:avLst/>
          </a:prstGeom>
        </p:spPr>
        <p:txBody>
          <a:bodyPr lIns="0" tIns="0" rIns="0" bIns="0" rtlCol="0" anchor="t">
            <a:spAutoFit/>
          </a:bodyPr>
          <a:lstStyle/>
          <a:p>
            <a:pPr algn="l">
              <a:lnSpc>
                <a:spcPts val="2159"/>
              </a:lnSpc>
            </a:pPr>
            <a:r>
              <a:rPr lang="en-US" sz="1799" b="1" spc="-71">
                <a:solidFill>
                  <a:srgbClr val="FFFFFF"/>
                </a:solidFill>
                <a:latin typeface="Inclusive Sans Bold"/>
                <a:ea typeface="Inclusive Sans Bold"/>
                <a:cs typeface="Inclusive Sans Bold"/>
                <a:sym typeface="Inclusive Sans Bold"/>
              </a:rPr>
              <a:t>Engagement Rituals</a:t>
            </a:r>
          </a:p>
        </p:txBody>
      </p:sp>
      <p:sp>
        <p:nvSpPr>
          <p:cNvPr id="32" name="TextBox 32"/>
          <p:cNvSpPr txBox="1"/>
          <p:nvPr/>
        </p:nvSpPr>
        <p:spPr>
          <a:xfrm>
            <a:off x="11742996" y="8487687"/>
            <a:ext cx="2756913" cy="485701"/>
          </a:xfrm>
          <a:prstGeom prst="rect">
            <a:avLst/>
          </a:prstGeom>
        </p:spPr>
        <p:txBody>
          <a:bodyPr lIns="0" tIns="0" rIns="0" bIns="0" rtlCol="0" anchor="t">
            <a:spAutoFit/>
          </a:bodyPr>
          <a:lstStyle/>
          <a:p>
            <a:pPr algn="l">
              <a:lnSpc>
                <a:spcPts val="1919"/>
              </a:lnSpc>
            </a:pPr>
            <a:r>
              <a:rPr lang="en-US" sz="1599" spc="-63">
                <a:solidFill>
                  <a:srgbClr val="FFFFFF"/>
                </a:solidFill>
                <a:latin typeface="Inclusive Sans"/>
                <a:ea typeface="Inclusive Sans"/>
                <a:cs typeface="Inclusive Sans"/>
                <a:sym typeface="Inclusive Sans"/>
              </a:rPr>
              <a:t>Create recurring formats your audience emotionally expects.</a:t>
            </a:r>
          </a:p>
        </p:txBody>
      </p:sp>
      <p:sp>
        <p:nvSpPr>
          <p:cNvPr id="33" name="Freeform 33"/>
          <p:cNvSpPr/>
          <p:nvPr/>
        </p:nvSpPr>
        <p:spPr>
          <a:xfrm>
            <a:off x="7177162" y="8501151"/>
            <a:ext cx="257944" cy="266663"/>
          </a:xfrm>
          <a:custGeom>
            <a:avLst/>
            <a:gdLst/>
            <a:ahLst/>
            <a:cxnLst/>
            <a:rect l="l" t="t" r="r" b="b"/>
            <a:pathLst>
              <a:path w="257944" h="266663">
                <a:moveTo>
                  <a:pt x="0" y="0"/>
                </a:moveTo>
                <a:lnTo>
                  <a:pt x="257943" y="0"/>
                </a:lnTo>
                <a:lnTo>
                  <a:pt x="257943" y="266663"/>
                </a:lnTo>
                <a:lnTo>
                  <a:pt x="0" y="2666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10F"/>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5014604" y="0"/>
            <a:ext cx="3273396" cy="9625091"/>
            <a:chOff x="0" y="0"/>
            <a:chExt cx="818044" cy="2405375"/>
          </a:xfrm>
        </p:grpSpPr>
        <p:sp>
          <p:nvSpPr>
            <p:cNvPr id="3" name="Freeform 3"/>
            <p:cNvSpPr/>
            <p:nvPr/>
          </p:nvSpPr>
          <p:spPr>
            <a:xfrm>
              <a:off x="0" y="0"/>
              <a:ext cx="818044" cy="2405375"/>
            </a:xfrm>
            <a:custGeom>
              <a:avLst/>
              <a:gdLst/>
              <a:ahLst/>
              <a:cxnLst/>
              <a:rect l="l" t="t" r="r" b="b"/>
              <a:pathLst>
                <a:path w="818044" h="2405375">
                  <a:moveTo>
                    <a:pt x="0" y="0"/>
                  </a:moveTo>
                  <a:lnTo>
                    <a:pt x="818044" y="0"/>
                  </a:lnTo>
                  <a:lnTo>
                    <a:pt x="818044" y="2405375"/>
                  </a:lnTo>
                  <a:lnTo>
                    <a:pt x="0" y="2405375"/>
                  </a:lnTo>
                  <a:close/>
                </a:path>
              </a:pathLst>
            </a:custGeom>
            <a:gradFill rotWithShape="1">
              <a:gsLst>
                <a:gs pos="0">
                  <a:srgbClr val="BE6EFE">
                    <a:alpha val="100000"/>
                  </a:srgbClr>
                </a:gs>
                <a:gs pos="100000">
                  <a:srgbClr val="10110F">
                    <a:alpha val="100000"/>
                  </a:srgbClr>
                </a:gs>
              </a:gsLst>
              <a:lin ang="5400000"/>
            </a:gradFill>
          </p:spPr>
        </p:sp>
        <p:sp>
          <p:nvSpPr>
            <p:cNvPr id="4" name="TextBox 4"/>
            <p:cNvSpPr txBox="1"/>
            <p:nvPr/>
          </p:nvSpPr>
          <p:spPr>
            <a:xfrm>
              <a:off x="0" y="-38100"/>
              <a:ext cx="818044" cy="244347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741208" y="0"/>
            <a:ext cx="3273396" cy="9625091"/>
            <a:chOff x="0" y="0"/>
            <a:chExt cx="818044" cy="2405375"/>
          </a:xfrm>
        </p:grpSpPr>
        <p:sp>
          <p:nvSpPr>
            <p:cNvPr id="6" name="Freeform 6"/>
            <p:cNvSpPr/>
            <p:nvPr/>
          </p:nvSpPr>
          <p:spPr>
            <a:xfrm>
              <a:off x="0" y="0"/>
              <a:ext cx="818044" cy="2405375"/>
            </a:xfrm>
            <a:custGeom>
              <a:avLst/>
              <a:gdLst/>
              <a:ahLst/>
              <a:cxnLst/>
              <a:rect l="l" t="t" r="r" b="b"/>
              <a:pathLst>
                <a:path w="818044" h="2405375">
                  <a:moveTo>
                    <a:pt x="0" y="0"/>
                  </a:moveTo>
                  <a:lnTo>
                    <a:pt x="818044" y="0"/>
                  </a:lnTo>
                  <a:lnTo>
                    <a:pt x="818044" y="2405375"/>
                  </a:lnTo>
                  <a:lnTo>
                    <a:pt x="0" y="2405375"/>
                  </a:lnTo>
                  <a:close/>
                </a:path>
              </a:pathLst>
            </a:custGeom>
            <a:gradFill rotWithShape="1">
              <a:gsLst>
                <a:gs pos="0">
                  <a:srgbClr val="BE6EFE">
                    <a:alpha val="100000"/>
                  </a:srgbClr>
                </a:gs>
                <a:gs pos="100000">
                  <a:srgbClr val="10110F">
                    <a:alpha val="100000"/>
                  </a:srgbClr>
                </a:gs>
              </a:gsLst>
              <a:lin ang="5400000"/>
            </a:gradFill>
          </p:spPr>
        </p:sp>
        <p:sp>
          <p:nvSpPr>
            <p:cNvPr id="7" name="TextBox 7"/>
            <p:cNvSpPr txBox="1"/>
            <p:nvPr/>
          </p:nvSpPr>
          <p:spPr>
            <a:xfrm>
              <a:off x="0" y="-38100"/>
              <a:ext cx="818044" cy="244347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5400000">
            <a:off x="14202004" y="6201004"/>
            <a:ext cx="661909" cy="7510083"/>
            <a:chOff x="0" y="0"/>
            <a:chExt cx="165415" cy="1876821"/>
          </a:xfrm>
        </p:grpSpPr>
        <p:sp>
          <p:nvSpPr>
            <p:cNvPr id="9" name="Freeform 9"/>
            <p:cNvSpPr/>
            <p:nvPr/>
          </p:nvSpPr>
          <p:spPr>
            <a:xfrm>
              <a:off x="0" y="0"/>
              <a:ext cx="165415" cy="1876821"/>
            </a:xfrm>
            <a:custGeom>
              <a:avLst/>
              <a:gdLst/>
              <a:ahLst/>
              <a:cxnLst/>
              <a:rect l="l" t="t" r="r" b="b"/>
              <a:pathLst>
                <a:path w="165415" h="1876821">
                  <a:moveTo>
                    <a:pt x="0" y="0"/>
                  </a:moveTo>
                  <a:lnTo>
                    <a:pt x="165415" y="0"/>
                  </a:lnTo>
                  <a:lnTo>
                    <a:pt x="165415" y="1876821"/>
                  </a:lnTo>
                  <a:lnTo>
                    <a:pt x="0" y="1876821"/>
                  </a:lnTo>
                  <a:close/>
                </a:path>
              </a:pathLst>
            </a:custGeom>
            <a:gradFill rotWithShape="1">
              <a:gsLst>
                <a:gs pos="0">
                  <a:srgbClr val="BE6EFE">
                    <a:alpha val="100000"/>
                  </a:srgbClr>
                </a:gs>
                <a:gs pos="100000">
                  <a:srgbClr val="10110F">
                    <a:alpha val="100000"/>
                  </a:srgbClr>
                </a:gs>
              </a:gsLst>
              <a:lin ang="5400000"/>
            </a:gradFill>
          </p:spPr>
        </p:sp>
        <p:sp>
          <p:nvSpPr>
            <p:cNvPr id="10" name="TextBox 10"/>
            <p:cNvSpPr txBox="1"/>
            <p:nvPr/>
          </p:nvSpPr>
          <p:spPr>
            <a:xfrm>
              <a:off x="0" y="-38100"/>
              <a:ext cx="165415" cy="191492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2391419" y="1024330"/>
            <a:ext cx="5246370" cy="7576432"/>
            <a:chOff x="0" y="0"/>
            <a:chExt cx="812800" cy="1173788"/>
          </a:xfrm>
        </p:grpSpPr>
        <p:sp>
          <p:nvSpPr>
            <p:cNvPr id="12" name="Freeform 12"/>
            <p:cNvSpPr/>
            <p:nvPr/>
          </p:nvSpPr>
          <p:spPr>
            <a:xfrm>
              <a:off x="0" y="0"/>
              <a:ext cx="812800" cy="1173788"/>
            </a:xfrm>
            <a:custGeom>
              <a:avLst/>
              <a:gdLst/>
              <a:ahLst/>
              <a:cxnLst/>
              <a:rect l="l" t="t" r="r" b="b"/>
              <a:pathLst>
                <a:path w="812800" h="1173788">
                  <a:moveTo>
                    <a:pt x="0" y="0"/>
                  </a:moveTo>
                  <a:lnTo>
                    <a:pt x="812800" y="0"/>
                  </a:lnTo>
                  <a:lnTo>
                    <a:pt x="812800" y="1173788"/>
                  </a:lnTo>
                  <a:lnTo>
                    <a:pt x="0" y="1173788"/>
                  </a:lnTo>
                  <a:close/>
                </a:path>
              </a:pathLst>
            </a:custGeom>
            <a:blipFill>
              <a:blip r:embed="rId2"/>
              <a:stretch>
                <a:fillRect l="-58211" r="-58211"/>
              </a:stretch>
            </a:blipFill>
          </p:spPr>
        </p:sp>
      </p:grpSp>
      <p:grpSp>
        <p:nvGrpSpPr>
          <p:cNvPr id="13" name="Group 13"/>
          <p:cNvGrpSpPr/>
          <p:nvPr/>
        </p:nvGrpSpPr>
        <p:grpSpPr>
          <a:xfrm>
            <a:off x="1028700" y="8337637"/>
            <a:ext cx="491173" cy="488369"/>
            <a:chOff x="0" y="0"/>
            <a:chExt cx="122748" cy="122047"/>
          </a:xfrm>
        </p:grpSpPr>
        <p:sp>
          <p:nvSpPr>
            <p:cNvPr id="14" name="Freeform 14"/>
            <p:cNvSpPr/>
            <p:nvPr/>
          </p:nvSpPr>
          <p:spPr>
            <a:xfrm>
              <a:off x="0" y="0"/>
              <a:ext cx="122748" cy="122047"/>
            </a:xfrm>
            <a:custGeom>
              <a:avLst/>
              <a:gdLst/>
              <a:ahLst/>
              <a:cxnLst/>
              <a:rect l="l" t="t" r="r" b="b"/>
              <a:pathLst>
                <a:path w="122748" h="122047">
                  <a:moveTo>
                    <a:pt x="0" y="0"/>
                  </a:moveTo>
                  <a:lnTo>
                    <a:pt x="122748" y="0"/>
                  </a:lnTo>
                  <a:lnTo>
                    <a:pt x="122748" y="122047"/>
                  </a:lnTo>
                  <a:lnTo>
                    <a:pt x="0" y="122047"/>
                  </a:lnTo>
                  <a:close/>
                </a:path>
              </a:pathLst>
            </a:custGeom>
            <a:solidFill>
              <a:srgbClr val="BE6EFE"/>
            </a:solidFill>
          </p:spPr>
        </p:sp>
        <p:sp>
          <p:nvSpPr>
            <p:cNvPr id="15" name="TextBox 15"/>
            <p:cNvSpPr txBox="1"/>
            <p:nvPr/>
          </p:nvSpPr>
          <p:spPr>
            <a:xfrm>
              <a:off x="0" y="-38100"/>
              <a:ext cx="122748" cy="160147"/>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028700" y="7412709"/>
            <a:ext cx="491173" cy="488369"/>
            <a:chOff x="0" y="0"/>
            <a:chExt cx="122748" cy="122047"/>
          </a:xfrm>
        </p:grpSpPr>
        <p:sp>
          <p:nvSpPr>
            <p:cNvPr id="17" name="Freeform 17"/>
            <p:cNvSpPr/>
            <p:nvPr/>
          </p:nvSpPr>
          <p:spPr>
            <a:xfrm>
              <a:off x="0" y="0"/>
              <a:ext cx="122748" cy="122047"/>
            </a:xfrm>
            <a:custGeom>
              <a:avLst/>
              <a:gdLst/>
              <a:ahLst/>
              <a:cxnLst/>
              <a:rect l="l" t="t" r="r" b="b"/>
              <a:pathLst>
                <a:path w="122748" h="122047">
                  <a:moveTo>
                    <a:pt x="0" y="0"/>
                  </a:moveTo>
                  <a:lnTo>
                    <a:pt x="122748" y="0"/>
                  </a:lnTo>
                  <a:lnTo>
                    <a:pt x="122748" y="122047"/>
                  </a:lnTo>
                  <a:lnTo>
                    <a:pt x="0" y="122047"/>
                  </a:lnTo>
                  <a:close/>
                </a:path>
              </a:pathLst>
            </a:custGeom>
            <a:solidFill>
              <a:srgbClr val="BE6EFE"/>
            </a:solidFill>
          </p:spPr>
        </p:sp>
        <p:sp>
          <p:nvSpPr>
            <p:cNvPr id="18" name="TextBox 18"/>
            <p:cNvSpPr txBox="1"/>
            <p:nvPr/>
          </p:nvSpPr>
          <p:spPr>
            <a:xfrm>
              <a:off x="0" y="-38100"/>
              <a:ext cx="122748" cy="160147"/>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4513914" y="8337637"/>
            <a:ext cx="491173" cy="488369"/>
            <a:chOff x="0" y="0"/>
            <a:chExt cx="122748" cy="122047"/>
          </a:xfrm>
        </p:grpSpPr>
        <p:sp>
          <p:nvSpPr>
            <p:cNvPr id="20" name="Freeform 20"/>
            <p:cNvSpPr/>
            <p:nvPr/>
          </p:nvSpPr>
          <p:spPr>
            <a:xfrm>
              <a:off x="0" y="0"/>
              <a:ext cx="122748" cy="122047"/>
            </a:xfrm>
            <a:custGeom>
              <a:avLst/>
              <a:gdLst/>
              <a:ahLst/>
              <a:cxnLst/>
              <a:rect l="l" t="t" r="r" b="b"/>
              <a:pathLst>
                <a:path w="122748" h="122047">
                  <a:moveTo>
                    <a:pt x="0" y="0"/>
                  </a:moveTo>
                  <a:lnTo>
                    <a:pt x="122748" y="0"/>
                  </a:lnTo>
                  <a:lnTo>
                    <a:pt x="122748" y="122047"/>
                  </a:lnTo>
                  <a:lnTo>
                    <a:pt x="0" y="122047"/>
                  </a:lnTo>
                  <a:close/>
                </a:path>
              </a:pathLst>
            </a:custGeom>
            <a:solidFill>
              <a:srgbClr val="BE6EFE"/>
            </a:solidFill>
          </p:spPr>
        </p:sp>
        <p:sp>
          <p:nvSpPr>
            <p:cNvPr id="21" name="TextBox 21"/>
            <p:cNvSpPr txBox="1"/>
            <p:nvPr/>
          </p:nvSpPr>
          <p:spPr>
            <a:xfrm>
              <a:off x="0" y="-38100"/>
              <a:ext cx="122748" cy="160147"/>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4513914" y="7412709"/>
            <a:ext cx="491173" cy="488369"/>
            <a:chOff x="0" y="0"/>
            <a:chExt cx="122748" cy="122047"/>
          </a:xfrm>
        </p:grpSpPr>
        <p:sp>
          <p:nvSpPr>
            <p:cNvPr id="23" name="Freeform 23"/>
            <p:cNvSpPr/>
            <p:nvPr/>
          </p:nvSpPr>
          <p:spPr>
            <a:xfrm>
              <a:off x="0" y="0"/>
              <a:ext cx="122748" cy="122047"/>
            </a:xfrm>
            <a:custGeom>
              <a:avLst/>
              <a:gdLst/>
              <a:ahLst/>
              <a:cxnLst/>
              <a:rect l="l" t="t" r="r" b="b"/>
              <a:pathLst>
                <a:path w="122748" h="122047">
                  <a:moveTo>
                    <a:pt x="0" y="0"/>
                  </a:moveTo>
                  <a:lnTo>
                    <a:pt x="122748" y="0"/>
                  </a:lnTo>
                  <a:lnTo>
                    <a:pt x="122748" y="122047"/>
                  </a:lnTo>
                  <a:lnTo>
                    <a:pt x="0" y="122047"/>
                  </a:lnTo>
                  <a:close/>
                </a:path>
              </a:pathLst>
            </a:custGeom>
            <a:solidFill>
              <a:srgbClr val="BE6EFE"/>
            </a:solidFill>
          </p:spPr>
        </p:sp>
        <p:sp>
          <p:nvSpPr>
            <p:cNvPr id="24" name="TextBox 24"/>
            <p:cNvSpPr txBox="1"/>
            <p:nvPr/>
          </p:nvSpPr>
          <p:spPr>
            <a:xfrm>
              <a:off x="0" y="-38100"/>
              <a:ext cx="122748" cy="160147"/>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0" y="9625091"/>
            <a:ext cx="10777917" cy="661909"/>
            <a:chOff x="0" y="0"/>
            <a:chExt cx="2693474" cy="165415"/>
          </a:xfrm>
        </p:grpSpPr>
        <p:sp>
          <p:nvSpPr>
            <p:cNvPr id="26" name="Freeform 26"/>
            <p:cNvSpPr/>
            <p:nvPr/>
          </p:nvSpPr>
          <p:spPr>
            <a:xfrm>
              <a:off x="0" y="0"/>
              <a:ext cx="2693474" cy="165415"/>
            </a:xfrm>
            <a:custGeom>
              <a:avLst/>
              <a:gdLst/>
              <a:ahLst/>
              <a:cxnLst/>
              <a:rect l="l" t="t" r="r" b="b"/>
              <a:pathLst>
                <a:path w="2693474" h="165415">
                  <a:moveTo>
                    <a:pt x="0" y="0"/>
                  </a:moveTo>
                  <a:lnTo>
                    <a:pt x="2693474" y="0"/>
                  </a:lnTo>
                  <a:lnTo>
                    <a:pt x="2693474" y="165415"/>
                  </a:lnTo>
                  <a:lnTo>
                    <a:pt x="0" y="165415"/>
                  </a:lnTo>
                  <a:close/>
                </a:path>
              </a:pathLst>
            </a:custGeom>
            <a:solidFill>
              <a:srgbClr val="BE6EFE"/>
            </a:solidFill>
          </p:spPr>
        </p:sp>
        <p:sp>
          <p:nvSpPr>
            <p:cNvPr id="27" name="TextBox 27"/>
            <p:cNvSpPr txBox="1"/>
            <p:nvPr/>
          </p:nvSpPr>
          <p:spPr>
            <a:xfrm>
              <a:off x="0" y="-38100"/>
              <a:ext cx="2693474" cy="203515"/>
            </a:xfrm>
            <a:prstGeom prst="rect">
              <a:avLst/>
            </a:prstGeom>
          </p:spPr>
          <p:txBody>
            <a:bodyPr lIns="50800" tIns="50800" rIns="50800" bIns="50800" rtlCol="0" anchor="ctr"/>
            <a:lstStyle/>
            <a:p>
              <a:pPr algn="ctr">
                <a:lnSpc>
                  <a:spcPts val="2659"/>
                </a:lnSpc>
                <a:spcBef>
                  <a:spcPct val="0"/>
                </a:spcBef>
              </a:pPr>
              <a:endParaRPr/>
            </a:p>
          </p:txBody>
        </p:sp>
      </p:grpSp>
      <p:sp>
        <p:nvSpPr>
          <p:cNvPr id="28" name="AutoShape 28"/>
          <p:cNvSpPr/>
          <p:nvPr/>
        </p:nvSpPr>
        <p:spPr>
          <a:xfrm flipV="1">
            <a:off x="10777917" y="5890899"/>
            <a:ext cx="0" cy="4396648"/>
          </a:xfrm>
          <a:prstGeom prst="line">
            <a:avLst/>
          </a:prstGeom>
          <a:ln w="9525" cap="flat">
            <a:solidFill>
              <a:srgbClr val="FFFFFF"/>
            </a:solidFill>
            <a:prstDash val="solid"/>
            <a:headEnd type="none" w="sm" len="sm"/>
            <a:tailEnd type="none" w="sm" len="sm"/>
          </a:ln>
        </p:spPr>
      </p:sp>
      <p:sp>
        <p:nvSpPr>
          <p:cNvPr id="29" name="Freeform 29"/>
          <p:cNvSpPr/>
          <p:nvPr/>
        </p:nvSpPr>
        <p:spPr>
          <a:xfrm>
            <a:off x="1143423" y="7527134"/>
            <a:ext cx="257897" cy="259519"/>
          </a:xfrm>
          <a:custGeom>
            <a:avLst/>
            <a:gdLst/>
            <a:ahLst/>
            <a:cxnLst/>
            <a:rect l="l" t="t" r="r" b="b"/>
            <a:pathLst>
              <a:path w="257897" h="259519">
                <a:moveTo>
                  <a:pt x="0" y="0"/>
                </a:moveTo>
                <a:lnTo>
                  <a:pt x="257898" y="0"/>
                </a:lnTo>
                <a:lnTo>
                  <a:pt x="257898" y="259519"/>
                </a:lnTo>
                <a:lnTo>
                  <a:pt x="0" y="2595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0" name="Freeform 30"/>
          <p:cNvSpPr/>
          <p:nvPr/>
        </p:nvSpPr>
        <p:spPr>
          <a:xfrm>
            <a:off x="4618311" y="8440632"/>
            <a:ext cx="282379" cy="282379"/>
          </a:xfrm>
          <a:custGeom>
            <a:avLst/>
            <a:gdLst/>
            <a:ahLst/>
            <a:cxnLst/>
            <a:rect l="l" t="t" r="r" b="b"/>
            <a:pathLst>
              <a:path w="282379" h="282379">
                <a:moveTo>
                  <a:pt x="0" y="0"/>
                </a:moveTo>
                <a:lnTo>
                  <a:pt x="282379" y="0"/>
                </a:lnTo>
                <a:lnTo>
                  <a:pt x="282379" y="282379"/>
                </a:lnTo>
                <a:lnTo>
                  <a:pt x="0" y="2823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1" name="Freeform 31"/>
          <p:cNvSpPr/>
          <p:nvPr/>
        </p:nvSpPr>
        <p:spPr>
          <a:xfrm>
            <a:off x="1143423" y="8481660"/>
            <a:ext cx="257897" cy="238203"/>
          </a:xfrm>
          <a:custGeom>
            <a:avLst/>
            <a:gdLst/>
            <a:ahLst/>
            <a:cxnLst/>
            <a:rect l="l" t="t" r="r" b="b"/>
            <a:pathLst>
              <a:path w="257897" h="238203">
                <a:moveTo>
                  <a:pt x="0" y="0"/>
                </a:moveTo>
                <a:lnTo>
                  <a:pt x="257898" y="0"/>
                </a:lnTo>
                <a:lnTo>
                  <a:pt x="257898" y="238203"/>
                </a:lnTo>
                <a:lnTo>
                  <a:pt x="0" y="23820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2" name="Freeform 32"/>
          <p:cNvSpPr/>
          <p:nvPr/>
        </p:nvSpPr>
        <p:spPr>
          <a:xfrm>
            <a:off x="4642197" y="7578740"/>
            <a:ext cx="234607" cy="156307"/>
          </a:xfrm>
          <a:custGeom>
            <a:avLst/>
            <a:gdLst/>
            <a:ahLst/>
            <a:cxnLst/>
            <a:rect l="l" t="t" r="r" b="b"/>
            <a:pathLst>
              <a:path w="234607" h="156307">
                <a:moveTo>
                  <a:pt x="0" y="0"/>
                </a:moveTo>
                <a:lnTo>
                  <a:pt x="234607" y="0"/>
                </a:lnTo>
                <a:lnTo>
                  <a:pt x="234607" y="156307"/>
                </a:lnTo>
                <a:lnTo>
                  <a:pt x="0" y="15630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TextBox 33"/>
          <p:cNvSpPr txBox="1"/>
          <p:nvPr/>
        </p:nvSpPr>
        <p:spPr>
          <a:xfrm>
            <a:off x="1028700" y="1200150"/>
            <a:ext cx="6567817" cy="2337525"/>
          </a:xfrm>
          <a:prstGeom prst="rect">
            <a:avLst/>
          </a:prstGeom>
        </p:spPr>
        <p:txBody>
          <a:bodyPr lIns="0" tIns="0" rIns="0" bIns="0" rtlCol="0" anchor="t">
            <a:spAutoFit/>
          </a:bodyPr>
          <a:lstStyle/>
          <a:p>
            <a:pPr algn="l">
              <a:lnSpc>
                <a:spcPts val="8990"/>
              </a:lnSpc>
            </a:pPr>
            <a:r>
              <a:rPr lang="en-US" sz="8990" b="1" spc="-359">
                <a:gradFill>
                  <a:gsLst>
                    <a:gs pos="0">
                      <a:srgbClr val="BE6EFE">
                        <a:alpha val="100000"/>
                      </a:srgbClr>
                    </a:gs>
                    <a:gs pos="50000">
                      <a:srgbClr val="FFFFFF">
                        <a:alpha val="100000"/>
                      </a:srgbClr>
                    </a:gs>
                    <a:gs pos="100000">
                      <a:srgbClr val="FFFFFF">
                        <a:alpha val="100000"/>
                      </a:srgbClr>
                    </a:gs>
                  </a:gsLst>
                  <a:lin ang="2700000"/>
                </a:gradFill>
                <a:latin typeface="Raleway Medium"/>
                <a:ea typeface="Raleway Medium"/>
                <a:cs typeface="Raleway Medium"/>
                <a:sym typeface="Raleway Medium"/>
              </a:rPr>
              <a:t>Make People Feel, Not</a:t>
            </a:r>
          </a:p>
        </p:txBody>
      </p:sp>
      <p:sp>
        <p:nvSpPr>
          <p:cNvPr id="34" name="TextBox 34"/>
          <p:cNvSpPr txBox="1"/>
          <p:nvPr/>
        </p:nvSpPr>
        <p:spPr>
          <a:xfrm>
            <a:off x="1028700" y="3475009"/>
            <a:ext cx="4660382" cy="1197213"/>
          </a:xfrm>
          <a:prstGeom prst="rect">
            <a:avLst/>
          </a:prstGeom>
        </p:spPr>
        <p:txBody>
          <a:bodyPr lIns="0" tIns="0" rIns="0" bIns="0" rtlCol="0" anchor="t">
            <a:spAutoFit/>
          </a:bodyPr>
          <a:lstStyle/>
          <a:p>
            <a:pPr algn="l">
              <a:lnSpc>
                <a:spcPts val="8990"/>
              </a:lnSpc>
            </a:pPr>
            <a:r>
              <a:rPr lang="en-US" sz="8990" b="1" spc="-359">
                <a:solidFill>
                  <a:srgbClr val="FFFFFF"/>
                </a:solidFill>
                <a:latin typeface="Raleway Medium"/>
                <a:ea typeface="Raleway Medium"/>
                <a:cs typeface="Raleway Medium"/>
                <a:sym typeface="Raleway Medium"/>
              </a:rPr>
              <a:t>Just See</a:t>
            </a:r>
          </a:p>
        </p:txBody>
      </p:sp>
      <p:sp>
        <p:nvSpPr>
          <p:cNvPr id="35" name="TextBox 35"/>
          <p:cNvSpPr txBox="1"/>
          <p:nvPr/>
        </p:nvSpPr>
        <p:spPr>
          <a:xfrm>
            <a:off x="1800166" y="8452062"/>
            <a:ext cx="1813510" cy="269304"/>
          </a:xfrm>
          <a:prstGeom prst="rect">
            <a:avLst/>
          </a:prstGeom>
        </p:spPr>
        <p:txBody>
          <a:bodyPr lIns="0" tIns="0" rIns="0" bIns="0" rtlCol="0" anchor="t">
            <a:spAutoFit/>
          </a:bodyPr>
          <a:lstStyle/>
          <a:p>
            <a:pPr marL="0" lvl="0" indent="0" algn="l">
              <a:lnSpc>
                <a:spcPts val="2159"/>
              </a:lnSpc>
              <a:spcBef>
                <a:spcPct val="0"/>
              </a:spcBef>
            </a:pPr>
            <a:r>
              <a:rPr lang="en-US" sz="1799" b="1" spc="-71">
                <a:solidFill>
                  <a:srgbClr val="FFFFFF"/>
                </a:solidFill>
                <a:latin typeface="Inclusive Sans Bold"/>
                <a:ea typeface="Inclusive Sans Bold"/>
                <a:cs typeface="Inclusive Sans Bold"/>
                <a:sym typeface="Inclusive Sans Bold"/>
              </a:rPr>
              <a:t>@powerpointrus</a:t>
            </a:r>
            <a:endParaRPr lang="en-US" sz="1799" b="1" spc="-71" dirty="0">
              <a:solidFill>
                <a:srgbClr val="FFFFFF"/>
              </a:solidFill>
              <a:latin typeface="Inclusive Sans Bold"/>
              <a:ea typeface="Inclusive Sans Bold"/>
              <a:cs typeface="Inclusive Sans Bold"/>
              <a:sym typeface="Inclusive Sans Bold"/>
            </a:endParaRPr>
          </a:p>
        </p:txBody>
      </p:sp>
      <p:sp>
        <p:nvSpPr>
          <p:cNvPr id="36" name="TextBox 36"/>
          <p:cNvSpPr txBox="1"/>
          <p:nvPr/>
        </p:nvSpPr>
        <p:spPr>
          <a:xfrm>
            <a:off x="1800166" y="7527134"/>
            <a:ext cx="1694240" cy="266663"/>
          </a:xfrm>
          <a:prstGeom prst="rect">
            <a:avLst/>
          </a:prstGeom>
        </p:spPr>
        <p:txBody>
          <a:bodyPr lIns="0" tIns="0" rIns="0" bIns="0" rtlCol="0" anchor="t">
            <a:spAutoFit/>
          </a:bodyPr>
          <a:lstStyle/>
          <a:p>
            <a:pPr marL="0" lvl="0" indent="0" algn="l">
              <a:lnSpc>
                <a:spcPts val="2159"/>
              </a:lnSpc>
              <a:spcBef>
                <a:spcPct val="0"/>
              </a:spcBef>
            </a:pPr>
            <a:r>
              <a:rPr lang="en-US" sz="1799" b="1" u="none" strike="noStrike" spc="-71">
                <a:solidFill>
                  <a:srgbClr val="FFFFFF"/>
                </a:solidFill>
                <a:latin typeface="Inclusive Sans Bold"/>
                <a:ea typeface="Inclusive Sans Bold"/>
                <a:cs typeface="Inclusive Sans Bold"/>
                <a:sym typeface="Inclusive Sans Bold"/>
              </a:rPr>
              <a:t>+123-456-7890</a:t>
            </a:r>
          </a:p>
        </p:txBody>
      </p:sp>
      <p:sp>
        <p:nvSpPr>
          <p:cNvPr id="37" name="TextBox 37"/>
          <p:cNvSpPr txBox="1"/>
          <p:nvPr/>
        </p:nvSpPr>
        <p:spPr>
          <a:xfrm>
            <a:off x="5285380" y="8452062"/>
            <a:ext cx="2668946" cy="266663"/>
          </a:xfrm>
          <a:prstGeom prst="rect">
            <a:avLst/>
          </a:prstGeom>
        </p:spPr>
        <p:txBody>
          <a:bodyPr lIns="0" tIns="0" rIns="0" bIns="0" rtlCol="0" anchor="t">
            <a:spAutoFit/>
          </a:bodyPr>
          <a:lstStyle/>
          <a:p>
            <a:pPr marL="0" lvl="0" indent="0" algn="l">
              <a:lnSpc>
                <a:spcPts val="2159"/>
              </a:lnSpc>
              <a:spcBef>
                <a:spcPct val="0"/>
              </a:spcBef>
            </a:pPr>
            <a:r>
              <a:rPr lang="en-US" sz="1799" b="1" u="none" strike="noStrike" spc="-71" dirty="0">
                <a:solidFill>
                  <a:srgbClr val="FFFFFF"/>
                </a:solidFill>
                <a:latin typeface="Inclusive Sans Bold"/>
                <a:ea typeface="Inclusive Sans Bold"/>
                <a:cs typeface="Inclusive Sans Bold"/>
                <a:sym typeface="Inclusive Sans Bold"/>
              </a:rPr>
              <a:t>www.reallygreatsite.com</a:t>
            </a:r>
          </a:p>
        </p:txBody>
      </p:sp>
      <p:sp>
        <p:nvSpPr>
          <p:cNvPr id="38" name="TextBox 38"/>
          <p:cNvSpPr txBox="1"/>
          <p:nvPr/>
        </p:nvSpPr>
        <p:spPr>
          <a:xfrm>
            <a:off x="5285380" y="7527134"/>
            <a:ext cx="3053259" cy="266663"/>
          </a:xfrm>
          <a:prstGeom prst="rect">
            <a:avLst/>
          </a:prstGeom>
        </p:spPr>
        <p:txBody>
          <a:bodyPr lIns="0" tIns="0" rIns="0" bIns="0" rtlCol="0" anchor="t">
            <a:spAutoFit/>
          </a:bodyPr>
          <a:lstStyle/>
          <a:p>
            <a:pPr marL="0" lvl="0" indent="0" algn="l">
              <a:lnSpc>
                <a:spcPts val="2159"/>
              </a:lnSpc>
              <a:spcBef>
                <a:spcPct val="0"/>
              </a:spcBef>
            </a:pPr>
            <a:r>
              <a:rPr lang="en-US" sz="1799" b="1" spc="-71" dirty="0">
                <a:solidFill>
                  <a:srgbClr val="FFFFFF"/>
                </a:solidFill>
                <a:latin typeface="Inclusive Sans Bold"/>
                <a:ea typeface="Inclusive Sans Bold"/>
                <a:cs typeface="Inclusive Sans Bold"/>
                <a:sym typeface="Inclusive Sans Bold"/>
              </a:rPr>
              <a:t>hello@</a:t>
            </a:r>
            <a:r>
              <a:rPr lang="en-US" sz="1799" b="1" u="none" strike="noStrike" spc="-71" dirty="0">
                <a:solidFill>
                  <a:srgbClr val="FFFFFF"/>
                </a:solidFill>
                <a:latin typeface="Inclusive Sans Bold"/>
                <a:ea typeface="Inclusive Sans Bold"/>
                <a:cs typeface="Inclusive Sans Bold"/>
                <a:sym typeface="Inclusive Sans Bold"/>
              </a:rPr>
              <a:t>reallygreatsite.com</a:t>
            </a:r>
          </a:p>
        </p:txBody>
      </p:sp>
      <p:sp>
        <p:nvSpPr>
          <p:cNvPr id="39" name="AutoShape 39"/>
          <p:cNvSpPr/>
          <p:nvPr/>
        </p:nvSpPr>
        <p:spPr>
          <a:xfrm flipH="1">
            <a:off x="1028700" y="6503071"/>
            <a:ext cx="5958985" cy="0"/>
          </a:xfrm>
          <a:prstGeom prst="line">
            <a:avLst/>
          </a:prstGeom>
          <a:ln w="9525" cap="flat">
            <a:solidFill>
              <a:srgbClr val="FFFFFF"/>
            </a:solidFill>
            <a:prstDash val="solid"/>
            <a:headEnd type="none" w="sm" len="sm"/>
            <a:tailEnd type="none" w="sm" len="sm"/>
          </a:ln>
        </p:spPr>
      </p:sp>
      <p:sp>
        <p:nvSpPr>
          <p:cNvPr id="40" name="Freeform 40"/>
          <p:cNvSpPr/>
          <p:nvPr/>
        </p:nvSpPr>
        <p:spPr>
          <a:xfrm>
            <a:off x="9700817" y="1362936"/>
            <a:ext cx="759557" cy="785232"/>
          </a:xfrm>
          <a:custGeom>
            <a:avLst/>
            <a:gdLst/>
            <a:ahLst/>
            <a:cxnLst/>
            <a:rect l="l" t="t" r="r" b="b"/>
            <a:pathLst>
              <a:path w="759557" h="785232">
                <a:moveTo>
                  <a:pt x="0" y="0"/>
                </a:moveTo>
                <a:lnTo>
                  <a:pt x="759557" y="0"/>
                </a:lnTo>
                <a:lnTo>
                  <a:pt x="759557" y="785232"/>
                </a:lnTo>
                <a:lnTo>
                  <a:pt x="0" y="7852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649</Words>
  <Application>Microsoft Office PowerPoint</Application>
  <PresentationFormat>Произвольный</PresentationFormat>
  <Paragraphs>70</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Arial</vt:lpstr>
      <vt:lpstr>Calibri</vt:lpstr>
      <vt:lpstr>Raleway Medium</vt:lpstr>
      <vt:lpstr>Inclusive Sans</vt:lpstr>
      <vt:lpstr>Inclusive Sans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Purple Modern Marketing Presentation</dc:title>
  <cp:lastModifiedBy>sekal sekal</cp:lastModifiedBy>
  <cp:revision>2</cp:revision>
  <dcterms:created xsi:type="dcterms:W3CDTF">2006-08-16T00:00:00Z</dcterms:created>
  <dcterms:modified xsi:type="dcterms:W3CDTF">2026-03-25T17:28:08Z</dcterms:modified>
  <dc:identifier>DAHE-fE0-2w</dc:identifier>
</cp:coreProperties>
</file>