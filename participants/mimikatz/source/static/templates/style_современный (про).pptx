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Anton" pitchFamily="2" charset="0"/>
      <p:regular r:id="rId12"/>
    </p:embeddedFont>
    <p:embeddedFont>
      <p:font typeface="Open Sauce" panose="020B0604020202020204" charset="0"/>
      <p:regular r:id="rId13"/>
    </p:embeddedFont>
    <p:embeddedFont>
      <p:font typeface="Open Sauce 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8" d="100"/>
          <a:sy n="48" d="100"/>
        </p:scale>
        <p:origin x="714"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Freeform 2"/>
          <p:cNvSpPr/>
          <p:nvPr/>
        </p:nvSpPr>
        <p:spPr>
          <a:xfrm>
            <a:off x="9144000" y="301874"/>
            <a:ext cx="9931541" cy="9683252"/>
          </a:xfrm>
          <a:custGeom>
            <a:avLst/>
            <a:gdLst/>
            <a:ahLst/>
            <a:cxnLst/>
            <a:rect l="l" t="t" r="r" b="b"/>
            <a:pathLst>
              <a:path w="9931541" h="9683252">
                <a:moveTo>
                  <a:pt x="0" y="0"/>
                </a:moveTo>
                <a:lnTo>
                  <a:pt x="9931541" y="0"/>
                </a:lnTo>
                <a:lnTo>
                  <a:pt x="9931541" y="9683252"/>
                </a:lnTo>
                <a:lnTo>
                  <a:pt x="0" y="9683252"/>
                </a:lnTo>
                <a:lnTo>
                  <a:pt x="0" y="0"/>
                </a:lnTo>
                <a:close/>
              </a:path>
            </a:pathLst>
          </a:custGeom>
          <a:blipFill>
            <a:blip r:embed="rId2"/>
            <a:stretch>
              <a:fillRect/>
            </a:stretch>
          </a:blipFill>
        </p:spPr>
      </p:sp>
      <p:sp>
        <p:nvSpPr>
          <p:cNvPr id="3" name="TextBox 3"/>
          <p:cNvSpPr txBox="1"/>
          <p:nvPr/>
        </p:nvSpPr>
        <p:spPr>
          <a:xfrm>
            <a:off x="1707188" y="3290867"/>
            <a:ext cx="9191223" cy="2082348"/>
          </a:xfrm>
          <a:prstGeom prst="rect">
            <a:avLst/>
          </a:prstGeom>
        </p:spPr>
        <p:txBody>
          <a:bodyPr lIns="0" tIns="0" rIns="0" bIns="0" rtlCol="0" anchor="t">
            <a:spAutoFit/>
          </a:bodyPr>
          <a:lstStyle/>
          <a:p>
            <a:pPr algn="l">
              <a:lnSpc>
                <a:spcPts val="14998"/>
              </a:lnSpc>
            </a:pPr>
            <a:r>
              <a:rPr lang="en-US" sz="17239" dirty="0">
                <a:solidFill>
                  <a:srgbClr val="711BE4"/>
                </a:solidFill>
                <a:latin typeface="Anton"/>
                <a:ea typeface="Anton"/>
                <a:cs typeface="Anton"/>
                <a:sym typeface="Anton"/>
              </a:rPr>
              <a:t>MARKETING</a:t>
            </a:r>
          </a:p>
        </p:txBody>
      </p:sp>
      <p:sp>
        <p:nvSpPr>
          <p:cNvPr id="4" name="TextBox 4"/>
          <p:cNvSpPr txBox="1"/>
          <p:nvPr/>
        </p:nvSpPr>
        <p:spPr>
          <a:xfrm>
            <a:off x="4920481" y="5473220"/>
            <a:ext cx="8947919" cy="2082348"/>
          </a:xfrm>
          <a:prstGeom prst="rect">
            <a:avLst/>
          </a:prstGeom>
        </p:spPr>
        <p:txBody>
          <a:bodyPr wrap="square" lIns="0" tIns="0" rIns="0" bIns="0" rtlCol="0" anchor="t">
            <a:spAutoFit/>
          </a:bodyPr>
          <a:lstStyle/>
          <a:p>
            <a:pPr algn="l">
              <a:lnSpc>
                <a:spcPts val="14998"/>
              </a:lnSpc>
            </a:pPr>
            <a:r>
              <a:rPr lang="en-US" sz="17239" dirty="0">
                <a:solidFill>
                  <a:srgbClr val="FFFFFF"/>
                </a:solidFill>
                <a:latin typeface="Anton"/>
                <a:ea typeface="Anton"/>
                <a:cs typeface="Anton"/>
                <a:sym typeface="Anton"/>
              </a:rPr>
              <a:t>PROPOSAL</a:t>
            </a:r>
          </a:p>
        </p:txBody>
      </p:sp>
      <p:sp>
        <p:nvSpPr>
          <p:cNvPr id="5" name="TextBox 5"/>
          <p:cNvSpPr txBox="1"/>
          <p:nvPr/>
        </p:nvSpPr>
        <p:spPr>
          <a:xfrm>
            <a:off x="1028700" y="981075"/>
            <a:ext cx="3246280" cy="405765"/>
          </a:xfrm>
          <a:prstGeom prst="rect">
            <a:avLst/>
          </a:prstGeom>
        </p:spPr>
        <p:txBody>
          <a:bodyPr lIns="0" tIns="0" rIns="0" bIns="0" rtlCol="0" anchor="t">
            <a:spAutoFit/>
          </a:bodyPr>
          <a:lstStyle/>
          <a:p>
            <a:pPr algn="l">
              <a:lnSpc>
                <a:spcPts val="3359"/>
              </a:lnSpc>
              <a:spcBef>
                <a:spcPct val="0"/>
              </a:spcBef>
            </a:pPr>
            <a:r>
              <a:rPr lang="en-US" sz="2400" spc="-74">
                <a:solidFill>
                  <a:srgbClr val="FFFFFF"/>
                </a:solidFill>
                <a:latin typeface="Open Sauce"/>
                <a:ea typeface="Open Sauce"/>
                <a:cs typeface="Open Sauce"/>
                <a:sym typeface="Open Sauce"/>
              </a:rPr>
              <a:t>Aldenaire &amp; Partners</a:t>
            </a:r>
          </a:p>
        </p:txBody>
      </p:sp>
      <p:sp>
        <p:nvSpPr>
          <p:cNvPr id="6" name="TextBox 6"/>
          <p:cNvSpPr txBox="1"/>
          <p:nvPr/>
        </p:nvSpPr>
        <p:spPr>
          <a:xfrm>
            <a:off x="16078546" y="981075"/>
            <a:ext cx="1180754" cy="405765"/>
          </a:xfrm>
          <a:prstGeom prst="rect">
            <a:avLst/>
          </a:prstGeom>
        </p:spPr>
        <p:txBody>
          <a:bodyPr lIns="0" tIns="0" rIns="0" bIns="0" rtlCol="0" anchor="t">
            <a:spAutoFit/>
          </a:bodyPr>
          <a:lstStyle/>
          <a:p>
            <a:pPr algn="r">
              <a:lnSpc>
                <a:spcPts val="3359"/>
              </a:lnSpc>
              <a:spcBef>
                <a:spcPct val="0"/>
              </a:spcBef>
            </a:pPr>
            <a:r>
              <a:rPr lang="en-US" sz="2400" spc="-74">
                <a:solidFill>
                  <a:srgbClr val="FFFFFF"/>
                </a:solidFill>
                <a:latin typeface="Open Sauce"/>
                <a:ea typeface="Open Sauce"/>
                <a:cs typeface="Open Sauce"/>
                <a:sym typeface="Open Sauce"/>
              </a:rPr>
              <a:t>2030</a:t>
            </a:r>
          </a:p>
        </p:txBody>
      </p:sp>
      <p:sp>
        <p:nvSpPr>
          <p:cNvPr id="7" name="Freeform 7"/>
          <p:cNvSpPr/>
          <p:nvPr/>
        </p:nvSpPr>
        <p:spPr>
          <a:xfrm>
            <a:off x="-3906463" y="6123963"/>
            <a:ext cx="6442877" cy="5943554"/>
          </a:xfrm>
          <a:custGeom>
            <a:avLst/>
            <a:gdLst/>
            <a:ahLst/>
            <a:cxnLst/>
            <a:rect l="l" t="t" r="r" b="b"/>
            <a:pathLst>
              <a:path w="6442877" h="5943554">
                <a:moveTo>
                  <a:pt x="0" y="0"/>
                </a:moveTo>
                <a:lnTo>
                  <a:pt x="6442877" y="0"/>
                </a:lnTo>
                <a:lnTo>
                  <a:pt x="6442877" y="5943554"/>
                </a:lnTo>
                <a:lnTo>
                  <a:pt x="0" y="5943554"/>
                </a:lnTo>
                <a:lnTo>
                  <a:pt x="0" y="0"/>
                </a:lnTo>
                <a:close/>
              </a:path>
            </a:pathLst>
          </a:custGeom>
          <a:blipFill>
            <a:blip r:embed="rId3"/>
            <a:stretch>
              <a:fillRect/>
            </a:stretch>
          </a:blipFill>
        </p:spPr>
      </p:sp>
      <p:sp>
        <p:nvSpPr>
          <p:cNvPr id="8" name="TextBox 8"/>
          <p:cNvSpPr txBox="1"/>
          <p:nvPr/>
        </p:nvSpPr>
        <p:spPr>
          <a:xfrm>
            <a:off x="2813664" y="8892857"/>
            <a:ext cx="4535989" cy="405765"/>
          </a:xfrm>
          <a:prstGeom prst="rect">
            <a:avLst/>
          </a:prstGeom>
        </p:spPr>
        <p:txBody>
          <a:bodyPr lIns="0" tIns="0" rIns="0" bIns="0" rtlCol="0" anchor="t">
            <a:spAutoFit/>
          </a:bodyPr>
          <a:lstStyle/>
          <a:p>
            <a:pPr algn="l">
              <a:lnSpc>
                <a:spcPts val="3359"/>
              </a:lnSpc>
              <a:spcBef>
                <a:spcPct val="0"/>
              </a:spcBef>
            </a:pPr>
            <a:r>
              <a:rPr lang="en-US" sz="2400" spc="-74" dirty="0">
                <a:solidFill>
                  <a:srgbClr val="FFFFFF"/>
                </a:solidFill>
                <a:latin typeface="Open Sauce"/>
                <a:ea typeface="Open Sauce"/>
                <a:cs typeface="Open Sauce"/>
                <a:sym typeface="Open Sauce"/>
              </a:rPr>
              <a:t>www.reallygreatsite.com</a:t>
            </a:r>
          </a:p>
        </p:txBody>
      </p:sp>
      <p:sp>
        <p:nvSpPr>
          <p:cNvPr id="9" name="TextBox 9"/>
          <p:cNvSpPr txBox="1"/>
          <p:nvPr/>
        </p:nvSpPr>
        <p:spPr>
          <a:xfrm>
            <a:off x="1028700" y="5695482"/>
            <a:ext cx="3622936" cy="986155"/>
          </a:xfrm>
          <a:prstGeom prst="rect">
            <a:avLst/>
          </a:prstGeom>
        </p:spPr>
        <p:txBody>
          <a:bodyPr lIns="0" tIns="0" rIns="0" bIns="0" rtlCol="0" anchor="t">
            <a:spAutoFit/>
          </a:bodyPr>
          <a:lstStyle/>
          <a:p>
            <a:pPr algn="r">
              <a:lnSpc>
                <a:spcPts val="3919"/>
              </a:lnSpc>
              <a:spcBef>
                <a:spcPct val="0"/>
              </a:spcBef>
            </a:pPr>
            <a:r>
              <a:rPr lang="en-US" sz="2799" b="1" spc="-86">
                <a:solidFill>
                  <a:srgbClr val="FFFFFF"/>
                </a:solidFill>
                <a:latin typeface="Open Sauce Bold"/>
                <a:ea typeface="Open Sauce Bold"/>
                <a:cs typeface="Open Sauce Bold"/>
                <a:sym typeface="Open Sauce Bold"/>
              </a:rPr>
              <a:t>Presentation By: Rosa Maria Aguado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grpSp>
        <p:nvGrpSpPr>
          <p:cNvPr id="2" name="Group 2"/>
          <p:cNvGrpSpPr/>
          <p:nvPr/>
        </p:nvGrpSpPr>
        <p:grpSpPr>
          <a:xfrm>
            <a:off x="1028700" y="4218940"/>
            <a:ext cx="1164351" cy="116435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11BE4"/>
            </a:solidFill>
            <a:ln cap="sq">
              <a:noFill/>
              <a:prstDash val="solid"/>
              <a:miter/>
            </a:ln>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360"/>
                </a:lnSpc>
              </a:pPr>
              <a:r>
                <a:rPr lang="en-US" sz="2400" spc="-74">
                  <a:solidFill>
                    <a:srgbClr val="FFFFFF"/>
                  </a:solidFill>
                  <a:latin typeface="Open Sauce"/>
                  <a:ea typeface="Open Sauce"/>
                  <a:cs typeface="Open Sauce"/>
                  <a:sym typeface="Open Sauce"/>
                </a:rPr>
                <a:t>01</a:t>
              </a:r>
            </a:p>
          </p:txBody>
        </p:sp>
      </p:grpSp>
      <p:grpSp>
        <p:nvGrpSpPr>
          <p:cNvPr id="5" name="Group 5"/>
          <p:cNvGrpSpPr/>
          <p:nvPr/>
        </p:nvGrpSpPr>
        <p:grpSpPr>
          <a:xfrm>
            <a:off x="6273165" y="4218940"/>
            <a:ext cx="1164351" cy="116435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11BE4"/>
            </a:solidFill>
            <a:ln cap="sq">
              <a:noFill/>
              <a:prstDash val="solid"/>
              <a:miter/>
            </a:ln>
          </p:spPr>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3360"/>
                </a:lnSpc>
              </a:pPr>
              <a:r>
                <a:rPr lang="en-US" sz="2400" spc="-74">
                  <a:solidFill>
                    <a:srgbClr val="FFFFFF"/>
                  </a:solidFill>
                  <a:latin typeface="Open Sauce"/>
                  <a:ea typeface="Open Sauce"/>
                  <a:cs typeface="Open Sauce"/>
                  <a:sym typeface="Open Sauce"/>
                </a:rPr>
                <a:t>02</a:t>
              </a:r>
            </a:p>
          </p:txBody>
        </p:sp>
      </p:grpSp>
      <p:sp>
        <p:nvSpPr>
          <p:cNvPr id="8" name="Freeform 8"/>
          <p:cNvSpPr/>
          <p:nvPr/>
        </p:nvSpPr>
        <p:spPr>
          <a:xfrm>
            <a:off x="-2236464" y="7450168"/>
            <a:ext cx="4429515" cy="4086228"/>
          </a:xfrm>
          <a:custGeom>
            <a:avLst/>
            <a:gdLst/>
            <a:ahLst/>
            <a:cxnLst/>
            <a:rect l="l" t="t" r="r" b="b"/>
            <a:pathLst>
              <a:path w="4429515" h="4086228">
                <a:moveTo>
                  <a:pt x="0" y="0"/>
                </a:moveTo>
                <a:lnTo>
                  <a:pt x="4429515" y="0"/>
                </a:lnTo>
                <a:lnTo>
                  <a:pt x="4429515" y="4086228"/>
                </a:lnTo>
                <a:lnTo>
                  <a:pt x="0" y="4086228"/>
                </a:lnTo>
                <a:lnTo>
                  <a:pt x="0" y="0"/>
                </a:lnTo>
                <a:close/>
              </a:path>
            </a:pathLst>
          </a:custGeom>
          <a:blipFill>
            <a:blip r:embed="rId2"/>
            <a:stretch>
              <a:fillRect/>
            </a:stretch>
          </a:blipFill>
        </p:spPr>
      </p:sp>
      <p:sp>
        <p:nvSpPr>
          <p:cNvPr id="9" name="Freeform 9"/>
          <p:cNvSpPr/>
          <p:nvPr/>
        </p:nvSpPr>
        <p:spPr>
          <a:xfrm>
            <a:off x="14353581" y="-1735459"/>
            <a:ext cx="8440615" cy="8229600"/>
          </a:xfrm>
          <a:custGeom>
            <a:avLst/>
            <a:gdLst/>
            <a:ahLst/>
            <a:cxnLst/>
            <a:rect l="l" t="t" r="r" b="b"/>
            <a:pathLst>
              <a:path w="8440615" h="8229600">
                <a:moveTo>
                  <a:pt x="0" y="0"/>
                </a:moveTo>
                <a:lnTo>
                  <a:pt x="8440616" y="0"/>
                </a:lnTo>
                <a:lnTo>
                  <a:pt x="8440616" y="8229600"/>
                </a:lnTo>
                <a:lnTo>
                  <a:pt x="0" y="8229600"/>
                </a:lnTo>
                <a:lnTo>
                  <a:pt x="0" y="0"/>
                </a:lnTo>
                <a:close/>
              </a:path>
            </a:pathLst>
          </a:custGeom>
          <a:blipFill>
            <a:blip r:embed="rId3"/>
            <a:stretch>
              <a:fillRect/>
            </a:stretch>
          </a:blipFill>
        </p:spPr>
      </p:sp>
      <p:grpSp>
        <p:nvGrpSpPr>
          <p:cNvPr id="10" name="Group 10"/>
          <p:cNvGrpSpPr/>
          <p:nvPr/>
        </p:nvGrpSpPr>
        <p:grpSpPr>
          <a:xfrm>
            <a:off x="11447862" y="2757557"/>
            <a:ext cx="5811438" cy="6427718"/>
            <a:chOff x="0" y="0"/>
            <a:chExt cx="1047398" cy="1158471"/>
          </a:xfrm>
        </p:grpSpPr>
        <p:sp>
          <p:nvSpPr>
            <p:cNvPr id="11" name="Freeform 11"/>
            <p:cNvSpPr/>
            <p:nvPr/>
          </p:nvSpPr>
          <p:spPr>
            <a:xfrm>
              <a:off x="0" y="0"/>
              <a:ext cx="1047398" cy="1158471"/>
            </a:xfrm>
            <a:custGeom>
              <a:avLst/>
              <a:gdLst/>
              <a:ahLst/>
              <a:cxnLst/>
              <a:rect l="l" t="t" r="r" b="b"/>
              <a:pathLst>
                <a:path w="1047398" h="1158471">
                  <a:moveTo>
                    <a:pt x="70606" y="0"/>
                  </a:moveTo>
                  <a:lnTo>
                    <a:pt x="976792" y="0"/>
                  </a:lnTo>
                  <a:cubicBezTo>
                    <a:pt x="995518" y="0"/>
                    <a:pt x="1013477" y="7439"/>
                    <a:pt x="1026718" y="20680"/>
                  </a:cubicBezTo>
                  <a:cubicBezTo>
                    <a:pt x="1039959" y="33921"/>
                    <a:pt x="1047398" y="51880"/>
                    <a:pt x="1047398" y="70606"/>
                  </a:cubicBezTo>
                  <a:lnTo>
                    <a:pt x="1047398" y="1087865"/>
                  </a:lnTo>
                  <a:cubicBezTo>
                    <a:pt x="1047398" y="1106590"/>
                    <a:pt x="1039959" y="1124549"/>
                    <a:pt x="1026718" y="1137791"/>
                  </a:cubicBezTo>
                  <a:cubicBezTo>
                    <a:pt x="1013477" y="1151032"/>
                    <a:pt x="995518" y="1158471"/>
                    <a:pt x="976792" y="1158471"/>
                  </a:cubicBezTo>
                  <a:lnTo>
                    <a:pt x="70606" y="1158471"/>
                  </a:lnTo>
                  <a:cubicBezTo>
                    <a:pt x="31611" y="1158471"/>
                    <a:pt x="0" y="1126859"/>
                    <a:pt x="0" y="1087865"/>
                  </a:cubicBezTo>
                  <a:lnTo>
                    <a:pt x="0" y="70606"/>
                  </a:lnTo>
                  <a:cubicBezTo>
                    <a:pt x="0" y="31611"/>
                    <a:pt x="31611" y="0"/>
                    <a:pt x="70606" y="0"/>
                  </a:cubicBezTo>
                  <a:close/>
                </a:path>
              </a:pathLst>
            </a:custGeom>
            <a:blipFill>
              <a:blip r:embed="rId4"/>
              <a:stretch>
                <a:fillRect l="-32953" r="-32953"/>
              </a:stretch>
            </a:blipFill>
          </p:spPr>
        </p:sp>
      </p:grpSp>
      <p:sp>
        <p:nvSpPr>
          <p:cNvPr id="12" name="TextBox 12"/>
          <p:cNvSpPr txBox="1"/>
          <p:nvPr/>
        </p:nvSpPr>
        <p:spPr>
          <a:xfrm>
            <a:off x="1028700" y="981075"/>
            <a:ext cx="3246280" cy="405765"/>
          </a:xfrm>
          <a:prstGeom prst="rect">
            <a:avLst/>
          </a:prstGeom>
        </p:spPr>
        <p:txBody>
          <a:bodyPr lIns="0" tIns="0" rIns="0" bIns="0" rtlCol="0" anchor="t">
            <a:spAutoFit/>
          </a:bodyPr>
          <a:lstStyle/>
          <a:p>
            <a:pPr algn="l">
              <a:lnSpc>
                <a:spcPts val="3359"/>
              </a:lnSpc>
              <a:spcBef>
                <a:spcPct val="0"/>
              </a:spcBef>
            </a:pPr>
            <a:r>
              <a:rPr lang="en-US" sz="2400" spc="-74">
                <a:solidFill>
                  <a:srgbClr val="FFFFFF"/>
                </a:solidFill>
                <a:latin typeface="Open Sauce"/>
                <a:ea typeface="Open Sauce"/>
                <a:cs typeface="Open Sauce"/>
                <a:sym typeface="Open Sauce"/>
              </a:rPr>
              <a:t>Aldenaire &amp; Partners</a:t>
            </a:r>
          </a:p>
        </p:txBody>
      </p:sp>
      <p:sp>
        <p:nvSpPr>
          <p:cNvPr id="13" name="TextBox 13"/>
          <p:cNvSpPr txBox="1"/>
          <p:nvPr/>
        </p:nvSpPr>
        <p:spPr>
          <a:xfrm>
            <a:off x="16078546" y="981075"/>
            <a:ext cx="1180754" cy="349250"/>
          </a:xfrm>
          <a:prstGeom prst="rect">
            <a:avLst/>
          </a:prstGeom>
        </p:spPr>
        <p:txBody>
          <a:bodyPr lIns="0" tIns="0" rIns="0" bIns="0" rtlCol="0" anchor="t">
            <a:spAutoFit/>
          </a:bodyPr>
          <a:lstStyle/>
          <a:p>
            <a:pPr algn="r">
              <a:lnSpc>
                <a:spcPts val="2800"/>
              </a:lnSpc>
              <a:spcBef>
                <a:spcPct val="0"/>
              </a:spcBef>
            </a:pPr>
            <a:r>
              <a:rPr lang="en-US" sz="2000" spc="-62">
                <a:solidFill>
                  <a:srgbClr val="FFFFFF"/>
                </a:solidFill>
                <a:latin typeface="Open Sauce"/>
                <a:ea typeface="Open Sauce"/>
                <a:cs typeface="Open Sauce"/>
                <a:sym typeface="Open Sauce"/>
              </a:rPr>
              <a:t>2030</a:t>
            </a:r>
          </a:p>
        </p:txBody>
      </p:sp>
      <p:sp>
        <p:nvSpPr>
          <p:cNvPr id="14" name="TextBox 14"/>
          <p:cNvSpPr txBox="1"/>
          <p:nvPr/>
        </p:nvSpPr>
        <p:spPr>
          <a:xfrm>
            <a:off x="1028700" y="8878570"/>
            <a:ext cx="4535989" cy="306705"/>
          </a:xfrm>
          <a:prstGeom prst="rect">
            <a:avLst/>
          </a:prstGeom>
        </p:spPr>
        <p:txBody>
          <a:bodyPr lIns="0" tIns="0" rIns="0" bIns="0" rtlCol="0" anchor="t">
            <a:spAutoFit/>
          </a:bodyPr>
          <a:lstStyle/>
          <a:p>
            <a:pPr algn="l">
              <a:lnSpc>
                <a:spcPts val="2520"/>
              </a:lnSpc>
              <a:spcBef>
                <a:spcPct val="0"/>
              </a:spcBef>
            </a:pPr>
            <a:r>
              <a:rPr lang="en-US" sz="1800" spc="-55">
                <a:solidFill>
                  <a:srgbClr val="FFFFFF"/>
                </a:solidFill>
                <a:latin typeface="Open Sauce"/>
                <a:ea typeface="Open Sauce"/>
                <a:cs typeface="Open Sauce"/>
                <a:sym typeface="Open Sauce"/>
              </a:rPr>
              <a:t>www.reallygreatsite.com</a:t>
            </a:r>
          </a:p>
        </p:txBody>
      </p:sp>
      <p:sp>
        <p:nvSpPr>
          <p:cNvPr id="15" name="TextBox 15"/>
          <p:cNvSpPr txBox="1"/>
          <p:nvPr/>
        </p:nvSpPr>
        <p:spPr>
          <a:xfrm>
            <a:off x="1028700" y="2279904"/>
            <a:ext cx="9545121" cy="1293114"/>
          </a:xfrm>
          <a:prstGeom prst="rect">
            <a:avLst/>
          </a:prstGeom>
        </p:spPr>
        <p:txBody>
          <a:bodyPr lIns="0" tIns="0" rIns="0" bIns="0" rtlCol="0" anchor="t">
            <a:spAutoFit/>
          </a:bodyPr>
          <a:lstStyle/>
          <a:p>
            <a:pPr algn="l">
              <a:lnSpc>
                <a:spcPts val="9888"/>
              </a:lnSpc>
            </a:pPr>
            <a:r>
              <a:rPr lang="en-US" sz="9600">
                <a:solidFill>
                  <a:srgbClr val="FFFFFF"/>
                </a:solidFill>
                <a:latin typeface="Anton"/>
                <a:ea typeface="Anton"/>
                <a:cs typeface="Anton"/>
                <a:sym typeface="Anton"/>
              </a:rPr>
              <a:t>EXECUTIVE SUMMARY</a:t>
            </a:r>
          </a:p>
        </p:txBody>
      </p:sp>
      <p:sp>
        <p:nvSpPr>
          <p:cNvPr id="16" name="TextBox 16"/>
          <p:cNvSpPr txBox="1"/>
          <p:nvPr/>
        </p:nvSpPr>
        <p:spPr>
          <a:xfrm>
            <a:off x="1028700" y="5637818"/>
            <a:ext cx="4469847" cy="405765"/>
          </a:xfrm>
          <a:prstGeom prst="rect">
            <a:avLst/>
          </a:prstGeom>
        </p:spPr>
        <p:txBody>
          <a:bodyPr lIns="0" tIns="0" rIns="0" bIns="0" rtlCol="0" anchor="t">
            <a:spAutoFit/>
          </a:bodyPr>
          <a:lstStyle/>
          <a:p>
            <a:pPr algn="l">
              <a:lnSpc>
                <a:spcPts val="3359"/>
              </a:lnSpc>
              <a:spcBef>
                <a:spcPct val="0"/>
              </a:spcBef>
            </a:pPr>
            <a:r>
              <a:rPr lang="en-US" sz="2400" b="1" spc="-74">
                <a:solidFill>
                  <a:srgbClr val="FFFFFF"/>
                </a:solidFill>
                <a:latin typeface="Open Sauce Bold"/>
                <a:ea typeface="Open Sauce Bold"/>
                <a:cs typeface="Open Sauce Bold"/>
                <a:sym typeface="Open Sauce Bold"/>
              </a:rPr>
              <a:t>Proposed Solution</a:t>
            </a:r>
          </a:p>
        </p:txBody>
      </p:sp>
      <p:sp>
        <p:nvSpPr>
          <p:cNvPr id="17" name="TextBox 17"/>
          <p:cNvSpPr txBox="1"/>
          <p:nvPr/>
        </p:nvSpPr>
        <p:spPr>
          <a:xfrm>
            <a:off x="6273165" y="5637818"/>
            <a:ext cx="4469847" cy="405765"/>
          </a:xfrm>
          <a:prstGeom prst="rect">
            <a:avLst/>
          </a:prstGeom>
        </p:spPr>
        <p:txBody>
          <a:bodyPr lIns="0" tIns="0" rIns="0" bIns="0" rtlCol="0" anchor="t">
            <a:spAutoFit/>
          </a:bodyPr>
          <a:lstStyle/>
          <a:p>
            <a:pPr algn="l">
              <a:lnSpc>
                <a:spcPts val="3359"/>
              </a:lnSpc>
              <a:spcBef>
                <a:spcPct val="0"/>
              </a:spcBef>
            </a:pPr>
            <a:r>
              <a:rPr lang="en-US" sz="2400" b="1" spc="-74">
                <a:solidFill>
                  <a:srgbClr val="FFFFFF"/>
                </a:solidFill>
                <a:latin typeface="Open Sauce Bold"/>
                <a:ea typeface="Open Sauce Bold"/>
                <a:cs typeface="Open Sauce Bold"/>
                <a:sym typeface="Open Sauce Bold"/>
              </a:rPr>
              <a:t>Expected Outcome</a:t>
            </a:r>
          </a:p>
        </p:txBody>
      </p:sp>
      <p:sp>
        <p:nvSpPr>
          <p:cNvPr id="18" name="TextBox 18"/>
          <p:cNvSpPr txBox="1"/>
          <p:nvPr/>
        </p:nvSpPr>
        <p:spPr>
          <a:xfrm>
            <a:off x="6273165" y="6200140"/>
            <a:ext cx="4469847" cy="2192655"/>
          </a:xfrm>
          <a:prstGeom prst="rect">
            <a:avLst/>
          </a:prstGeom>
        </p:spPr>
        <p:txBody>
          <a:bodyPr lIns="0" tIns="0" rIns="0" bIns="0" rtlCol="0" anchor="t">
            <a:spAutoFit/>
          </a:bodyPr>
          <a:lstStyle/>
          <a:p>
            <a:pPr algn="l">
              <a:lnSpc>
                <a:spcPts val="2520"/>
              </a:lnSpc>
              <a:spcBef>
                <a:spcPct val="0"/>
              </a:spcBef>
            </a:pPr>
            <a:r>
              <a:rPr lang="en-US" sz="1800" spc="-55">
                <a:solidFill>
                  <a:srgbClr val="FFFFFF"/>
                </a:solidFill>
                <a:latin typeface="Open Sauce"/>
                <a:ea typeface="Open Sauce"/>
                <a:cs typeface="Open Sauce"/>
                <a:sym typeface="Open Sauce"/>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id="19" name="TextBox 19"/>
          <p:cNvSpPr txBox="1"/>
          <p:nvPr/>
        </p:nvSpPr>
        <p:spPr>
          <a:xfrm>
            <a:off x="1028700" y="6200140"/>
            <a:ext cx="4469847" cy="2192655"/>
          </a:xfrm>
          <a:prstGeom prst="rect">
            <a:avLst/>
          </a:prstGeom>
        </p:spPr>
        <p:txBody>
          <a:bodyPr lIns="0" tIns="0" rIns="0" bIns="0" rtlCol="0" anchor="t">
            <a:spAutoFit/>
          </a:bodyPr>
          <a:lstStyle/>
          <a:p>
            <a:pPr algn="l">
              <a:lnSpc>
                <a:spcPts val="2520"/>
              </a:lnSpc>
              <a:spcBef>
                <a:spcPct val="0"/>
              </a:spcBef>
            </a:pPr>
            <a:r>
              <a:rPr lang="en-US" sz="1800" spc="-55">
                <a:solidFill>
                  <a:srgbClr val="FFFFFF"/>
                </a:solidFill>
                <a:latin typeface="Open Sauce"/>
                <a:ea typeface="Open Sauce"/>
                <a:cs typeface="Open Sauce"/>
                <a:sym typeface="Open Sauce"/>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Freeform 2"/>
          <p:cNvSpPr/>
          <p:nvPr/>
        </p:nvSpPr>
        <p:spPr>
          <a:xfrm>
            <a:off x="-2236464" y="7450168"/>
            <a:ext cx="4429515" cy="4086228"/>
          </a:xfrm>
          <a:custGeom>
            <a:avLst/>
            <a:gdLst/>
            <a:ahLst/>
            <a:cxnLst/>
            <a:rect l="l" t="t" r="r" b="b"/>
            <a:pathLst>
              <a:path w="4429515" h="4086228">
                <a:moveTo>
                  <a:pt x="0" y="0"/>
                </a:moveTo>
                <a:lnTo>
                  <a:pt x="4429515" y="0"/>
                </a:lnTo>
                <a:lnTo>
                  <a:pt x="4429515" y="4086228"/>
                </a:lnTo>
                <a:lnTo>
                  <a:pt x="0" y="4086228"/>
                </a:lnTo>
                <a:lnTo>
                  <a:pt x="0" y="0"/>
                </a:lnTo>
                <a:close/>
              </a:path>
            </a:pathLst>
          </a:custGeom>
          <a:blipFill>
            <a:blip r:embed="rId2"/>
            <a:stretch>
              <a:fillRect/>
            </a:stretch>
          </a:blipFill>
        </p:spPr>
      </p:sp>
      <p:sp>
        <p:nvSpPr>
          <p:cNvPr id="3" name="TextBox 3"/>
          <p:cNvSpPr txBox="1"/>
          <p:nvPr/>
        </p:nvSpPr>
        <p:spPr>
          <a:xfrm>
            <a:off x="1028700" y="981075"/>
            <a:ext cx="3246280" cy="405765"/>
          </a:xfrm>
          <a:prstGeom prst="rect">
            <a:avLst/>
          </a:prstGeom>
        </p:spPr>
        <p:txBody>
          <a:bodyPr lIns="0" tIns="0" rIns="0" bIns="0" rtlCol="0" anchor="t">
            <a:spAutoFit/>
          </a:bodyPr>
          <a:lstStyle/>
          <a:p>
            <a:pPr algn="l">
              <a:lnSpc>
                <a:spcPts val="3359"/>
              </a:lnSpc>
              <a:spcBef>
                <a:spcPct val="0"/>
              </a:spcBef>
            </a:pPr>
            <a:r>
              <a:rPr lang="en-US" sz="2400" spc="-74">
                <a:solidFill>
                  <a:srgbClr val="FFFFFF"/>
                </a:solidFill>
                <a:latin typeface="Open Sauce"/>
                <a:ea typeface="Open Sauce"/>
                <a:cs typeface="Open Sauce"/>
                <a:sym typeface="Open Sauce"/>
              </a:rPr>
              <a:t>Aldenaire &amp; Partners</a:t>
            </a:r>
          </a:p>
        </p:txBody>
      </p:sp>
      <p:sp>
        <p:nvSpPr>
          <p:cNvPr id="4" name="TextBox 4"/>
          <p:cNvSpPr txBox="1"/>
          <p:nvPr/>
        </p:nvSpPr>
        <p:spPr>
          <a:xfrm>
            <a:off x="16078546" y="981075"/>
            <a:ext cx="1180754" cy="349250"/>
          </a:xfrm>
          <a:prstGeom prst="rect">
            <a:avLst/>
          </a:prstGeom>
        </p:spPr>
        <p:txBody>
          <a:bodyPr lIns="0" tIns="0" rIns="0" bIns="0" rtlCol="0" anchor="t">
            <a:spAutoFit/>
          </a:bodyPr>
          <a:lstStyle/>
          <a:p>
            <a:pPr algn="r">
              <a:lnSpc>
                <a:spcPts val="2800"/>
              </a:lnSpc>
              <a:spcBef>
                <a:spcPct val="0"/>
              </a:spcBef>
            </a:pPr>
            <a:r>
              <a:rPr lang="en-US" sz="2000" spc="-62">
                <a:solidFill>
                  <a:srgbClr val="FFFFFF"/>
                </a:solidFill>
                <a:latin typeface="Open Sauce"/>
                <a:ea typeface="Open Sauce"/>
                <a:cs typeface="Open Sauce"/>
                <a:sym typeface="Open Sauce"/>
              </a:rPr>
              <a:t>2030</a:t>
            </a:r>
          </a:p>
        </p:txBody>
      </p:sp>
      <p:sp>
        <p:nvSpPr>
          <p:cNvPr id="5" name="TextBox 5"/>
          <p:cNvSpPr txBox="1"/>
          <p:nvPr/>
        </p:nvSpPr>
        <p:spPr>
          <a:xfrm>
            <a:off x="1028700" y="8878570"/>
            <a:ext cx="4535989" cy="306705"/>
          </a:xfrm>
          <a:prstGeom prst="rect">
            <a:avLst/>
          </a:prstGeom>
        </p:spPr>
        <p:txBody>
          <a:bodyPr lIns="0" tIns="0" rIns="0" bIns="0" rtlCol="0" anchor="t">
            <a:spAutoFit/>
          </a:bodyPr>
          <a:lstStyle/>
          <a:p>
            <a:pPr algn="l">
              <a:lnSpc>
                <a:spcPts val="2520"/>
              </a:lnSpc>
              <a:spcBef>
                <a:spcPct val="0"/>
              </a:spcBef>
            </a:pPr>
            <a:r>
              <a:rPr lang="en-US" sz="1800" spc="-55">
                <a:solidFill>
                  <a:srgbClr val="FFFFFF"/>
                </a:solidFill>
                <a:latin typeface="Open Sauce"/>
                <a:ea typeface="Open Sauce"/>
                <a:cs typeface="Open Sauce"/>
                <a:sym typeface="Open Sauce"/>
              </a:rPr>
              <a:t>www.reallygreatsite.com</a:t>
            </a:r>
          </a:p>
        </p:txBody>
      </p:sp>
      <p:sp>
        <p:nvSpPr>
          <p:cNvPr id="6" name="TextBox 6"/>
          <p:cNvSpPr txBox="1"/>
          <p:nvPr/>
        </p:nvSpPr>
        <p:spPr>
          <a:xfrm>
            <a:off x="1028700" y="2252154"/>
            <a:ext cx="6180311" cy="2540889"/>
          </a:xfrm>
          <a:prstGeom prst="rect">
            <a:avLst/>
          </a:prstGeom>
        </p:spPr>
        <p:txBody>
          <a:bodyPr lIns="0" tIns="0" rIns="0" bIns="0" rtlCol="0" anchor="t">
            <a:spAutoFit/>
          </a:bodyPr>
          <a:lstStyle/>
          <a:p>
            <a:pPr algn="l">
              <a:lnSpc>
                <a:spcPts val="9888"/>
              </a:lnSpc>
            </a:pPr>
            <a:r>
              <a:rPr lang="en-US" sz="9600">
                <a:solidFill>
                  <a:srgbClr val="FFFFFF"/>
                </a:solidFill>
                <a:latin typeface="Anton"/>
                <a:ea typeface="Anton"/>
                <a:cs typeface="Anton"/>
                <a:sym typeface="Anton"/>
              </a:rPr>
              <a:t>EXECUTIVE SUMMARY</a:t>
            </a:r>
          </a:p>
        </p:txBody>
      </p:sp>
      <p:sp>
        <p:nvSpPr>
          <p:cNvPr id="7" name="TextBox 7"/>
          <p:cNvSpPr txBox="1"/>
          <p:nvPr/>
        </p:nvSpPr>
        <p:spPr>
          <a:xfrm>
            <a:off x="1028700" y="5077651"/>
            <a:ext cx="6180311" cy="3135630"/>
          </a:xfrm>
          <a:prstGeom prst="rect">
            <a:avLst/>
          </a:prstGeom>
        </p:spPr>
        <p:txBody>
          <a:bodyPr lIns="0" tIns="0" rIns="0" bIns="0" rtlCol="0" anchor="t">
            <a:spAutoFit/>
          </a:bodyPr>
          <a:lstStyle/>
          <a:p>
            <a:pPr algn="l">
              <a:lnSpc>
                <a:spcPts val="2520"/>
              </a:lnSpc>
              <a:spcBef>
                <a:spcPct val="0"/>
              </a:spcBef>
            </a:pPr>
            <a:r>
              <a:rPr lang="en-US" sz="1800" spc="-55">
                <a:solidFill>
                  <a:srgbClr val="FFFFFF"/>
                </a:solidFill>
                <a:latin typeface="Open Sauce"/>
                <a:ea typeface="Open Sauce"/>
                <a:cs typeface="Open Sauce"/>
                <a:sym typeface="Open Sauce"/>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grpSp>
        <p:nvGrpSpPr>
          <p:cNvPr id="8" name="Group 8"/>
          <p:cNvGrpSpPr/>
          <p:nvPr/>
        </p:nvGrpSpPr>
        <p:grpSpPr>
          <a:xfrm>
            <a:off x="8501054" y="1783794"/>
            <a:ext cx="4304901" cy="3756660"/>
            <a:chOff x="0" y="0"/>
            <a:chExt cx="1133801" cy="989408"/>
          </a:xfrm>
        </p:grpSpPr>
        <p:sp>
          <p:nvSpPr>
            <p:cNvPr id="9" name="Freeform 9"/>
            <p:cNvSpPr/>
            <p:nvPr/>
          </p:nvSpPr>
          <p:spPr>
            <a:xfrm>
              <a:off x="0" y="0"/>
              <a:ext cx="1133801" cy="989408"/>
            </a:xfrm>
            <a:custGeom>
              <a:avLst/>
              <a:gdLst/>
              <a:ahLst/>
              <a:cxnLst/>
              <a:rect l="l" t="t" r="r" b="b"/>
              <a:pathLst>
                <a:path w="1133801" h="989408">
                  <a:moveTo>
                    <a:pt x="75533" y="0"/>
                  </a:moveTo>
                  <a:lnTo>
                    <a:pt x="1058268" y="0"/>
                  </a:lnTo>
                  <a:cubicBezTo>
                    <a:pt x="1099984" y="0"/>
                    <a:pt x="1133801" y="33817"/>
                    <a:pt x="1133801" y="75533"/>
                  </a:cubicBezTo>
                  <a:lnTo>
                    <a:pt x="1133801" y="913876"/>
                  </a:lnTo>
                  <a:cubicBezTo>
                    <a:pt x="1133801" y="955591"/>
                    <a:pt x="1099984" y="989408"/>
                    <a:pt x="1058268" y="989408"/>
                  </a:cubicBezTo>
                  <a:lnTo>
                    <a:pt x="75533" y="989408"/>
                  </a:lnTo>
                  <a:cubicBezTo>
                    <a:pt x="33817" y="989408"/>
                    <a:pt x="0" y="955591"/>
                    <a:pt x="0" y="913876"/>
                  </a:cubicBezTo>
                  <a:lnTo>
                    <a:pt x="0" y="75533"/>
                  </a:lnTo>
                  <a:cubicBezTo>
                    <a:pt x="0" y="33817"/>
                    <a:pt x="33817" y="0"/>
                    <a:pt x="75533" y="0"/>
                  </a:cubicBezTo>
                  <a:close/>
                </a:path>
              </a:pathLst>
            </a:custGeom>
            <a:solidFill>
              <a:srgbClr val="711BE4"/>
            </a:solidFill>
          </p:spPr>
        </p:sp>
        <p:sp>
          <p:nvSpPr>
            <p:cNvPr id="10" name="TextBox 10"/>
            <p:cNvSpPr txBox="1"/>
            <p:nvPr/>
          </p:nvSpPr>
          <p:spPr>
            <a:xfrm>
              <a:off x="0" y="-47625"/>
              <a:ext cx="1133801" cy="1037033"/>
            </a:xfrm>
            <a:prstGeom prst="rect">
              <a:avLst/>
            </a:prstGeom>
          </p:spPr>
          <p:txBody>
            <a:bodyPr lIns="50800" tIns="50800" rIns="50800" bIns="50800" rtlCol="0" anchor="ctr"/>
            <a:lstStyle/>
            <a:p>
              <a:pPr algn="ctr">
                <a:lnSpc>
                  <a:spcPts val="3360"/>
                </a:lnSpc>
              </a:pPr>
              <a:endParaRPr/>
            </a:p>
          </p:txBody>
        </p:sp>
      </p:grpSp>
      <p:grpSp>
        <p:nvGrpSpPr>
          <p:cNvPr id="11" name="Group 11"/>
          <p:cNvGrpSpPr/>
          <p:nvPr/>
        </p:nvGrpSpPr>
        <p:grpSpPr>
          <a:xfrm>
            <a:off x="8501054" y="5645229"/>
            <a:ext cx="4304901" cy="3756660"/>
            <a:chOff x="0" y="0"/>
            <a:chExt cx="1133801" cy="989408"/>
          </a:xfrm>
        </p:grpSpPr>
        <p:sp>
          <p:nvSpPr>
            <p:cNvPr id="12" name="Freeform 12"/>
            <p:cNvSpPr/>
            <p:nvPr/>
          </p:nvSpPr>
          <p:spPr>
            <a:xfrm>
              <a:off x="0" y="0"/>
              <a:ext cx="1133801" cy="989408"/>
            </a:xfrm>
            <a:custGeom>
              <a:avLst/>
              <a:gdLst/>
              <a:ahLst/>
              <a:cxnLst/>
              <a:rect l="l" t="t" r="r" b="b"/>
              <a:pathLst>
                <a:path w="1133801" h="989408">
                  <a:moveTo>
                    <a:pt x="75533" y="0"/>
                  </a:moveTo>
                  <a:lnTo>
                    <a:pt x="1058268" y="0"/>
                  </a:lnTo>
                  <a:cubicBezTo>
                    <a:pt x="1099984" y="0"/>
                    <a:pt x="1133801" y="33817"/>
                    <a:pt x="1133801" y="75533"/>
                  </a:cubicBezTo>
                  <a:lnTo>
                    <a:pt x="1133801" y="913876"/>
                  </a:lnTo>
                  <a:cubicBezTo>
                    <a:pt x="1133801" y="955591"/>
                    <a:pt x="1099984" y="989408"/>
                    <a:pt x="1058268" y="989408"/>
                  </a:cubicBezTo>
                  <a:lnTo>
                    <a:pt x="75533" y="989408"/>
                  </a:lnTo>
                  <a:cubicBezTo>
                    <a:pt x="33817" y="989408"/>
                    <a:pt x="0" y="955591"/>
                    <a:pt x="0" y="913876"/>
                  </a:cubicBezTo>
                  <a:lnTo>
                    <a:pt x="0" y="75533"/>
                  </a:lnTo>
                  <a:cubicBezTo>
                    <a:pt x="0" y="33817"/>
                    <a:pt x="33817" y="0"/>
                    <a:pt x="75533" y="0"/>
                  </a:cubicBezTo>
                  <a:close/>
                </a:path>
              </a:pathLst>
            </a:custGeom>
            <a:solidFill>
              <a:srgbClr val="711BE4"/>
            </a:solidFill>
          </p:spPr>
        </p:sp>
        <p:sp>
          <p:nvSpPr>
            <p:cNvPr id="13" name="TextBox 13"/>
            <p:cNvSpPr txBox="1"/>
            <p:nvPr/>
          </p:nvSpPr>
          <p:spPr>
            <a:xfrm>
              <a:off x="0" y="-47625"/>
              <a:ext cx="1133801" cy="1037033"/>
            </a:xfrm>
            <a:prstGeom prst="rect">
              <a:avLst/>
            </a:prstGeom>
          </p:spPr>
          <p:txBody>
            <a:bodyPr lIns="50800" tIns="50800" rIns="50800" bIns="50800" rtlCol="0" anchor="ctr"/>
            <a:lstStyle/>
            <a:p>
              <a:pPr algn="ctr">
                <a:lnSpc>
                  <a:spcPts val="3360"/>
                </a:lnSpc>
              </a:pPr>
              <a:endParaRPr/>
            </a:p>
          </p:txBody>
        </p:sp>
      </p:grpSp>
      <p:grpSp>
        <p:nvGrpSpPr>
          <p:cNvPr id="14" name="Group 14"/>
          <p:cNvGrpSpPr/>
          <p:nvPr/>
        </p:nvGrpSpPr>
        <p:grpSpPr>
          <a:xfrm>
            <a:off x="12954399" y="1783794"/>
            <a:ext cx="4304901" cy="3756660"/>
            <a:chOff x="0" y="0"/>
            <a:chExt cx="1133801" cy="989408"/>
          </a:xfrm>
        </p:grpSpPr>
        <p:sp>
          <p:nvSpPr>
            <p:cNvPr id="15" name="Freeform 15"/>
            <p:cNvSpPr/>
            <p:nvPr/>
          </p:nvSpPr>
          <p:spPr>
            <a:xfrm>
              <a:off x="0" y="0"/>
              <a:ext cx="1133801" cy="989408"/>
            </a:xfrm>
            <a:custGeom>
              <a:avLst/>
              <a:gdLst/>
              <a:ahLst/>
              <a:cxnLst/>
              <a:rect l="l" t="t" r="r" b="b"/>
              <a:pathLst>
                <a:path w="1133801" h="989408">
                  <a:moveTo>
                    <a:pt x="75533" y="0"/>
                  </a:moveTo>
                  <a:lnTo>
                    <a:pt x="1058268" y="0"/>
                  </a:lnTo>
                  <a:cubicBezTo>
                    <a:pt x="1099984" y="0"/>
                    <a:pt x="1133801" y="33817"/>
                    <a:pt x="1133801" y="75533"/>
                  </a:cubicBezTo>
                  <a:lnTo>
                    <a:pt x="1133801" y="913876"/>
                  </a:lnTo>
                  <a:cubicBezTo>
                    <a:pt x="1133801" y="955591"/>
                    <a:pt x="1099984" y="989408"/>
                    <a:pt x="1058268" y="989408"/>
                  </a:cubicBezTo>
                  <a:lnTo>
                    <a:pt x="75533" y="989408"/>
                  </a:lnTo>
                  <a:cubicBezTo>
                    <a:pt x="33817" y="989408"/>
                    <a:pt x="0" y="955591"/>
                    <a:pt x="0" y="913876"/>
                  </a:cubicBezTo>
                  <a:lnTo>
                    <a:pt x="0" y="75533"/>
                  </a:lnTo>
                  <a:cubicBezTo>
                    <a:pt x="0" y="33817"/>
                    <a:pt x="33817" y="0"/>
                    <a:pt x="75533" y="0"/>
                  </a:cubicBezTo>
                  <a:close/>
                </a:path>
              </a:pathLst>
            </a:custGeom>
            <a:solidFill>
              <a:srgbClr val="711BE4"/>
            </a:solidFill>
          </p:spPr>
        </p:sp>
        <p:sp>
          <p:nvSpPr>
            <p:cNvPr id="16" name="TextBox 16"/>
            <p:cNvSpPr txBox="1"/>
            <p:nvPr/>
          </p:nvSpPr>
          <p:spPr>
            <a:xfrm>
              <a:off x="0" y="-47625"/>
              <a:ext cx="1133801" cy="1037033"/>
            </a:xfrm>
            <a:prstGeom prst="rect">
              <a:avLst/>
            </a:prstGeom>
          </p:spPr>
          <p:txBody>
            <a:bodyPr lIns="50800" tIns="50800" rIns="50800" bIns="50800" rtlCol="0" anchor="ctr"/>
            <a:lstStyle/>
            <a:p>
              <a:pPr algn="ctr">
                <a:lnSpc>
                  <a:spcPts val="3360"/>
                </a:lnSpc>
              </a:pPr>
              <a:endParaRPr/>
            </a:p>
          </p:txBody>
        </p:sp>
      </p:grpSp>
      <p:grpSp>
        <p:nvGrpSpPr>
          <p:cNvPr id="17" name="Group 17"/>
          <p:cNvGrpSpPr/>
          <p:nvPr/>
        </p:nvGrpSpPr>
        <p:grpSpPr>
          <a:xfrm>
            <a:off x="12954399" y="5645229"/>
            <a:ext cx="4304901" cy="3756660"/>
            <a:chOff x="0" y="0"/>
            <a:chExt cx="1133801" cy="989408"/>
          </a:xfrm>
        </p:grpSpPr>
        <p:sp>
          <p:nvSpPr>
            <p:cNvPr id="18" name="Freeform 18"/>
            <p:cNvSpPr/>
            <p:nvPr/>
          </p:nvSpPr>
          <p:spPr>
            <a:xfrm>
              <a:off x="0" y="0"/>
              <a:ext cx="1133801" cy="989408"/>
            </a:xfrm>
            <a:custGeom>
              <a:avLst/>
              <a:gdLst/>
              <a:ahLst/>
              <a:cxnLst/>
              <a:rect l="l" t="t" r="r" b="b"/>
              <a:pathLst>
                <a:path w="1133801" h="989408">
                  <a:moveTo>
                    <a:pt x="75533" y="0"/>
                  </a:moveTo>
                  <a:lnTo>
                    <a:pt x="1058268" y="0"/>
                  </a:lnTo>
                  <a:cubicBezTo>
                    <a:pt x="1099984" y="0"/>
                    <a:pt x="1133801" y="33817"/>
                    <a:pt x="1133801" y="75533"/>
                  </a:cubicBezTo>
                  <a:lnTo>
                    <a:pt x="1133801" y="913876"/>
                  </a:lnTo>
                  <a:cubicBezTo>
                    <a:pt x="1133801" y="955591"/>
                    <a:pt x="1099984" y="989408"/>
                    <a:pt x="1058268" y="989408"/>
                  </a:cubicBezTo>
                  <a:lnTo>
                    <a:pt x="75533" y="989408"/>
                  </a:lnTo>
                  <a:cubicBezTo>
                    <a:pt x="33817" y="989408"/>
                    <a:pt x="0" y="955591"/>
                    <a:pt x="0" y="913876"/>
                  </a:cubicBezTo>
                  <a:lnTo>
                    <a:pt x="0" y="75533"/>
                  </a:lnTo>
                  <a:cubicBezTo>
                    <a:pt x="0" y="33817"/>
                    <a:pt x="33817" y="0"/>
                    <a:pt x="75533" y="0"/>
                  </a:cubicBezTo>
                  <a:close/>
                </a:path>
              </a:pathLst>
            </a:custGeom>
            <a:solidFill>
              <a:srgbClr val="711BE4"/>
            </a:solidFill>
          </p:spPr>
        </p:sp>
        <p:sp>
          <p:nvSpPr>
            <p:cNvPr id="19" name="TextBox 19"/>
            <p:cNvSpPr txBox="1"/>
            <p:nvPr/>
          </p:nvSpPr>
          <p:spPr>
            <a:xfrm>
              <a:off x="0" y="-47625"/>
              <a:ext cx="1133801" cy="1037033"/>
            </a:xfrm>
            <a:prstGeom prst="rect">
              <a:avLst/>
            </a:prstGeom>
          </p:spPr>
          <p:txBody>
            <a:bodyPr lIns="50800" tIns="50800" rIns="50800" bIns="50800" rtlCol="0" anchor="ctr"/>
            <a:lstStyle/>
            <a:p>
              <a:pPr algn="ctr">
                <a:lnSpc>
                  <a:spcPts val="3360"/>
                </a:lnSpc>
              </a:pPr>
              <a:endParaRPr/>
            </a:p>
          </p:txBody>
        </p:sp>
      </p:grpSp>
      <p:grpSp>
        <p:nvGrpSpPr>
          <p:cNvPr id="20" name="Group 20"/>
          <p:cNvGrpSpPr/>
          <p:nvPr/>
        </p:nvGrpSpPr>
        <p:grpSpPr>
          <a:xfrm>
            <a:off x="11526151" y="2214114"/>
            <a:ext cx="879634" cy="879634"/>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B72D9"/>
            </a:solidFill>
          </p:spPr>
        </p:sp>
        <p:sp>
          <p:nvSpPr>
            <p:cNvPr id="22" name="TextBox 22"/>
            <p:cNvSpPr txBox="1"/>
            <p:nvPr/>
          </p:nvSpPr>
          <p:spPr>
            <a:xfrm>
              <a:off x="76200" y="28575"/>
              <a:ext cx="660400" cy="708025"/>
            </a:xfrm>
            <a:prstGeom prst="rect">
              <a:avLst/>
            </a:prstGeom>
          </p:spPr>
          <p:txBody>
            <a:bodyPr lIns="50800" tIns="50800" rIns="50800" bIns="50800" rtlCol="0" anchor="ctr"/>
            <a:lstStyle/>
            <a:p>
              <a:pPr algn="ctr">
                <a:lnSpc>
                  <a:spcPts val="3360"/>
                </a:lnSpc>
              </a:pPr>
              <a:endParaRPr/>
            </a:p>
          </p:txBody>
        </p:sp>
      </p:grpSp>
      <p:grpSp>
        <p:nvGrpSpPr>
          <p:cNvPr id="23" name="Group 23"/>
          <p:cNvGrpSpPr/>
          <p:nvPr/>
        </p:nvGrpSpPr>
        <p:grpSpPr>
          <a:xfrm>
            <a:off x="11526151" y="6099087"/>
            <a:ext cx="879634" cy="879634"/>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B72D9"/>
            </a:solidFill>
          </p:spPr>
        </p:sp>
        <p:sp>
          <p:nvSpPr>
            <p:cNvPr id="25" name="TextBox 25"/>
            <p:cNvSpPr txBox="1"/>
            <p:nvPr/>
          </p:nvSpPr>
          <p:spPr>
            <a:xfrm>
              <a:off x="76200" y="28575"/>
              <a:ext cx="660400" cy="708025"/>
            </a:xfrm>
            <a:prstGeom prst="rect">
              <a:avLst/>
            </a:prstGeom>
          </p:spPr>
          <p:txBody>
            <a:bodyPr lIns="50800" tIns="50800" rIns="50800" bIns="50800" rtlCol="0" anchor="ctr"/>
            <a:lstStyle/>
            <a:p>
              <a:pPr algn="ctr">
                <a:lnSpc>
                  <a:spcPts val="3360"/>
                </a:lnSpc>
              </a:pPr>
              <a:endParaRPr/>
            </a:p>
          </p:txBody>
        </p:sp>
      </p:grpSp>
      <p:grpSp>
        <p:nvGrpSpPr>
          <p:cNvPr id="26" name="Group 26"/>
          <p:cNvGrpSpPr/>
          <p:nvPr/>
        </p:nvGrpSpPr>
        <p:grpSpPr>
          <a:xfrm>
            <a:off x="15979496" y="2214114"/>
            <a:ext cx="879634" cy="879634"/>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B72D9"/>
            </a:solidFill>
          </p:spPr>
        </p:sp>
        <p:sp>
          <p:nvSpPr>
            <p:cNvPr id="28" name="TextBox 28"/>
            <p:cNvSpPr txBox="1"/>
            <p:nvPr/>
          </p:nvSpPr>
          <p:spPr>
            <a:xfrm>
              <a:off x="76200" y="28575"/>
              <a:ext cx="660400" cy="708025"/>
            </a:xfrm>
            <a:prstGeom prst="rect">
              <a:avLst/>
            </a:prstGeom>
          </p:spPr>
          <p:txBody>
            <a:bodyPr lIns="50800" tIns="50800" rIns="50800" bIns="50800" rtlCol="0" anchor="ctr"/>
            <a:lstStyle/>
            <a:p>
              <a:pPr algn="ctr">
                <a:lnSpc>
                  <a:spcPts val="3360"/>
                </a:lnSpc>
              </a:pPr>
              <a:endParaRPr/>
            </a:p>
          </p:txBody>
        </p:sp>
      </p:grpSp>
      <p:grpSp>
        <p:nvGrpSpPr>
          <p:cNvPr id="29" name="Group 29"/>
          <p:cNvGrpSpPr/>
          <p:nvPr/>
        </p:nvGrpSpPr>
        <p:grpSpPr>
          <a:xfrm>
            <a:off x="15979496" y="6099087"/>
            <a:ext cx="879634" cy="879634"/>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B72D9"/>
            </a:solidFill>
          </p:spPr>
        </p:sp>
        <p:sp>
          <p:nvSpPr>
            <p:cNvPr id="31" name="TextBox 31"/>
            <p:cNvSpPr txBox="1"/>
            <p:nvPr/>
          </p:nvSpPr>
          <p:spPr>
            <a:xfrm>
              <a:off x="76200" y="28575"/>
              <a:ext cx="660400" cy="708025"/>
            </a:xfrm>
            <a:prstGeom prst="rect">
              <a:avLst/>
            </a:prstGeom>
          </p:spPr>
          <p:txBody>
            <a:bodyPr lIns="50800" tIns="50800" rIns="50800" bIns="50800" rtlCol="0" anchor="ctr"/>
            <a:lstStyle/>
            <a:p>
              <a:pPr algn="ctr">
                <a:lnSpc>
                  <a:spcPts val="3360"/>
                </a:lnSpc>
              </a:pPr>
              <a:endParaRPr/>
            </a:p>
          </p:txBody>
        </p:sp>
      </p:grpSp>
      <p:sp>
        <p:nvSpPr>
          <p:cNvPr id="32" name="Freeform 32"/>
          <p:cNvSpPr/>
          <p:nvPr/>
        </p:nvSpPr>
        <p:spPr>
          <a:xfrm>
            <a:off x="11758314" y="2470143"/>
            <a:ext cx="434357" cy="367575"/>
          </a:xfrm>
          <a:custGeom>
            <a:avLst/>
            <a:gdLst/>
            <a:ahLst/>
            <a:cxnLst/>
            <a:rect l="l" t="t" r="r" b="b"/>
            <a:pathLst>
              <a:path w="434357" h="367575">
                <a:moveTo>
                  <a:pt x="0" y="0"/>
                </a:moveTo>
                <a:lnTo>
                  <a:pt x="434358" y="0"/>
                </a:lnTo>
                <a:lnTo>
                  <a:pt x="434358" y="367575"/>
                </a:lnTo>
                <a:lnTo>
                  <a:pt x="0" y="36757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3" name="Freeform 33"/>
          <p:cNvSpPr/>
          <p:nvPr/>
        </p:nvSpPr>
        <p:spPr>
          <a:xfrm>
            <a:off x="11716028" y="6313601"/>
            <a:ext cx="518931" cy="450605"/>
          </a:xfrm>
          <a:custGeom>
            <a:avLst/>
            <a:gdLst/>
            <a:ahLst/>
            <a:cxnLst/>
            <a:rect l="l" t="t" r="r" b="b"/>
            <a:pathLst>
              <a:path w="518931" h="450605">
                <a:moveTo>
                  <a:pt x="0" y="0"/>
                </a:moveTo>
                <a:lnTo>
                  <a:pt x="518931" y="0"/>
                </a:lnTo>
                <a:lnTo>
                  <a:pt x="518931" y="450605"/>
                </a:lnTo>
                <a:lnTo>
                  <a:pt x="0" y="450605"/>
                </a:lnTo>
                <a:lnTo>
                  <a:pt x="0" y="0"/>
                </a:lnTo>
                <a:close/>
              </a:path>
            </a:pathLst>
          </a:custGeom>
          <a:blipFill>
            <a:blip>
              <a:extLst>
                <a:ext uri="{96DAC541-7B7A-43D3-8B79-37D633B846F1}">
                  <asvg:svgBlip xmlns:asvg="http://schemas.microsoft.com/office/drawing/2016/SVG/main" r:embed="rId4"/>
                </a:ext>
              </a:extLst>
            </a:blip>
            <a:stretch>
              <a:fillRect/>
            </a:stretch>
          </a:blipFill>
          <a:ln cap="sq">
            <a:noFill/>
            <a:prstDash val="solid"/>
            <a:miter/>
          </a:ln>
        </p:spPr>
      </p:sp>
      <p:sp>
        <p:nvSpPr>
          <p:cNvPr id="34" name="Freeform 34"/>
          <p:cNvSpPr/>
          <p:nvPr/>
        </p:nvSpPr>
        <p:spPr>
          <a:xfrm>
            <a:off x="16206778" y="2428628"/>
            <a:ext cx="425071" cy="450605"/>
          </a:xfrm>
          <a:custGeom>
            <a:avLst/>
            <a:gdLst/>
            <a:ahLst/>
            <a:cxnLst/>
            <a:rect l="l" t="t" r="r" b="b"/>
            <a:pathLst>
              <a:path w="425071" h="450605">
                <a:moveTo>
                  <a:pt x="0" y="0"/>
                </a:moveTo>
                <a:lnTo>
                  <a:pt x="425071" y="0"/>
                </a:lnTo>
                <a:lnTo>
                  <a:pt x="425071" y="450605"/>
                </a:lnTo>
                <a:lnTo>
                  <a:pt x="0" y="450605"/>
                </a:lnTo>
                <a:lnTo>
                  <a:pt x="0" y="0"/>
                </a:lnTo>
                <a:close/>
              </a:path>
            </a:pathLst>
          </a:custGeom>
          <a:blipFill>
            <a:blip>
              <a:extLst>
                <a:ext uri="{96DAC541-7B7A-43D3-8B79-37D633B846F1}">
                  <asvg:svgBlip xmlns:asvg="http://schemas.microsoft.com/office/drawing/2016/SVG/main" r:embed="rId5"/>
                </a:ext>
              </a:extLst>
            </a:blip>
            <a:stretch>
              <a:fillRect/>
            </a:stretch>
          </a:blipFill>
          <a:ln cap="sq">
            <a:noFill/>
            <a:prstDash val="solid"/>
            <a:miter/>
          </a:ln>
        </p:spPr>
      </p:sp>
      <p:sp>
        <p:nvSpPr>
          <p:cNvPr id="35" name="Freeform 35"/>
          <p:cNvSpPr/>
          <p:nvPr/>
        </p:nvSpPr>
        <p:spPr>
          <a:xfrm>
            <a:off x="16222361" y="6313601"/>
            <a:ext cx="409487" cy="450605"/>
          </a:xfrm>
          <a:custGeom>
            <a:avLst/>
            <a:gdLst/>
            <a:ahLst/>
            <a:cxnLst/>
            <a:rect l="l" t="t" r="r" b="b"/>
            <a:pathLst>
              <a:path w="409487" h="450605">
                <a:moveTo>
                  <a:pt x="0" y="0"/>
                </a:moveTo>
                <a:lnTo>
                  <a:pt x="409488" y="0"/>
                </a:lnTo>
                <a:lnTo>
                  <a:pt x="409488" y="450605"/>
                </a:lnTo>
                <a:lnTo>
                  <a:pt x="0" y="450605"/>
                </a:lnTo>
                <a:lnTo>
                  <a:pt x="0" y="0"/>
                </a:lnTo>
                <a:close/>
              </a:path>
            </a:pathLst>
          </a:custGeom>
          <a:blipFill>
            <a:blip>
              <a:extLst>
                <a:ext uri="{96DAC541-7B7A-43D3-8B79-37D633B846F1}">
                  <asvg:svgBlip xmlns:asvg="http://schemas.microsoft.com/office/drawing/2016/SVG/main" r:embed="rId6"/>
                </a:ext>
              </a:extLst>
            </a:blip>
            <a:stretch>
              <a:fillRect/>
            </a:stretch>
          </a:blipFill>
          <a:ln cap="sq">
            <a:noFill/>
            <a:prstDash val="solid"/>
            <a:miter/>
          </a:ln>
        </p:spPr>
      </p:sp>
      <p:sp>
        <p:nvSpPr>
          <p:cNvPr id="36" name="TextBox 36"/>
          <p:cNvSpPr txBox="1"/>
          <p:nvPr/>
        </p:nvSpPr>
        <p:spPr>
          <a:xfrm>
            <a:off x="8901224" y="3269142"/>
            <a:ext cx="2624927" cy="613410"/>
          </a:xfrm>
          <a:prstGeom prst="rect">
            <a:avLst/>
          </a:prstGeom>
        </p:spPr>
        <p:txBody>
          <a:bodyPr lIns="0" tIns="0" rIns="0" bIns="0" rtlCol="0" anchor="t">
            <a:spAutoFit/>
          </a:bodyPr>
          <a:lstStyle/>
          <a:p>
            <a:pPr algn="l">
              <a:lnSpc>
                <a:spcPts val="5040"/>
              </a:lnSpc>
              <a:spcBef>
                <a:spcPct val="0"/>
              </a:spcBef>
            </a:pPr>
            <a:r>
              <a:rPr lang="en-US" sz="3600" b="1" spc="-111">
                <a:solidFill>
                  <a:srgbClr val="FFFFFF"/>
                </a:solidFill>
                <a:latin typeface="Open Sauce Bold"/>
                <a:ea typeface="Open Sauce Bold"/>
                <a:cs typeface="Open Sauce Bold"/>
                <a:sym typeface="Open Sauce Bold"/>
              </a:rPr>
              <a:t>25%</a:t>
            </a:r>
          </a:p>
        </p:txBody>
      </p:sp>
      <p:sp>
        <p:nvSpPr>
          <p:cNvPr id="37" name="TextBox 37"/>
          <p:cNvSpPr txBox="1"/>
          <p:nvPr/>
        </p:nvSpPr>
        <p:spPr>
          <a:xfrm>
            <a:off x="8901224" y="7154115"/>
            <a:ext cx="2624927" cy="613410"/>
          </a:xfrm>
          <a:prstGeom prst="rect">
            <a:avLst/>
          </a:prstGeom>
        </p:spPr>
        <p:txBody>
          <a:bodyPr lIns="0" tIns="0" rIns="0" bIns="0" rtlCol="0" anchor="t">
            <a:spAutoFit/>
          </a:bodyPr>
          <a:lstStyle/>
          <a:p>
            <a:pPr algn="l">
              <a:lnSpc>
                <a:spcPts val="5040"/>
              </a:lnSpc>
              <a:spcBef>
                <a:spcPct val="0"/>
              </a:spcBef>
            </a:pPr>
            <a:r>
              <a:rPr lang="en-US" sz="3600" b="1" spc="-111">
                <a:solidFill>
                  <a:srgbClr val="FFFFFF"/>
                </a:solidFill>
                <a:latin typeface="Open Sauce Bold"/>
                <a:ea typeface="Open Sauce Bold"/>
                <a:cs typeface="Open Sauce Bold"/>
                <a:sym typeface="Open Sauce Bold"/>
              </a:rPr>
              <a:t>30%</a:t>
            </a:r>
          </a:p>
        </p:txBody>
      </p:sp>
      <p:sp>
        <p:nvSpPr>
          <p:cNvPr id="38" name="TextBox 38"/>
          <p:cNvSpPr txBox="1"/>
          <p:nvPr/>
        </p:nvSpPr>
        <p:spPr>
          <a:xfrm>
            <a:off x="13354569" y="3269142"/>
            <a:ext cx="2624927" cy="613410"/>
          </a:xfrm>
          <a:prstGeom prst="rect">
            <a:avLst/>
          </a:prstGeom>
        </p:spPr>
        <p:txBody>
          <a:bodyPr lIns="0" tIns="0" rIns="0" bIns="0" rtlCol="0" anchor="t">
            <a:spAutoFit/>
          </a:bodyPr>
          <a:lstStyle/>
          <a:p>
            <a:pPr algn="l">
              <a:lnSpc>
                <a:spcPts val="5040"/>
              </a:lnSpc>
              <a:spcBef>
                <a:spcPct val="0"/>
              </a:spcBef>
            </a:pPr>
            <a:r>
              <a:rPr lang="en-US" sz="3600" b="1" spc="-111">
                <a:solidFill>
                  <a:srgbClr val="FFFFFF"/>
                </a:solidFill>
                <a:latin typeface="Open Sauce Bold"/>
                <a:ea typeface="Open Sauce Bold"/>
                <a:cs typeface="Open Sauce Bold"/>
                <a:sym typeface="Open Sauce Bold"/>
              </a:rPr>
              <a:t>15%</a:t>
            </a:r>
          </a:p>
        </p:txBody>
      </p:sp>
      <p:sp>
        <p:nvSpPr>
          <p:cNvPr id="39" name="TextBox 39"/>
          <p:cNvSpPr txBox="1"/>
          <p:nvPr/>
        </p:nvSpPr>
        <p:spPr>
          <a:xfrm>
            <a:off x="13354569" y="7154115"/>
            <a:ext cx="2624927" cy="613410"/>
          </a:xfrm>
          <a:prstGeom prst="rect">
            <a:avLst/>
          </a:prstGeom>
        </p:spPr>
        <p:txBody>
          <a:bodyPr lIns="0" tIns="0" rIns="0" bIns="0" rtlCol="0" anchor="t">
            <a:spAutoFit/>
          </a:bodyPr>
          <a:lstStyle/>
          <a:p>
            <a:pPr algn="l">
              <a:lnSpc>
                <a:spcPts val="5040"/>
              </a:lnSpc>
              <a:spcBef>
                <a:spcPct val="0"/>
              </a:spcBef>
            </a:pPr>
            <a:r>
              <a:rPr lang="en-US" sz="3600" b="1" spc="-111">
                <a:solidFill>
                  <a:srgbClr val="FFFFFF"/>
                </a:solidFill>
                <a:latin typeface="Open Sauce Bold"/>
                <a:ea typeface="Open Sauce Bold"/>
                <a:cs typeface="Open Sauce Bold"/>
                <a:sym typeface="Open Sauce Bold"/>
              </a:rPr>
              <a:t>Top 3</a:t>
            </a:r>
          </a:p>
        </p:txBody>
      </p:sp>
      <p:sp>
        <p:nvSpPr>
          <p:cNvPr id="40" name="TextBox 40"/>
          <p:cNvSpPr txBox="1"/>
          <p:nvPr/>
        </p:nvSpPr>
        <p:spPr>
          <a:xfrm>
            <a:off x="8901224" y="4174780"/>
            <a:ext cx="3064744" cy="621030"/>
          </a:xfrm>
          <a:prstGeom prst="rect">
            <a:avLst/>
          </a:prstGeom>
        </p:spPr>
        <p:txBody>
          <a:bodyPr lIns="0" tIns="0" rIns="0" bIns="0" rtlCol="0" anchor="t">
            <a:spAutoFit/>
          </a:bodyPr>
          <a:lstStyle/>
          <a:p>
            <a:pPr algn="l">
              <a:lnSpc>
                <a:spcPts val="2520"/>
              </a:lnSpc>
              <a:spcBef>
                <a:spcPct val="0"/>
              </a:spcBef>
            </a:pPr>
            <a:r>
              <a:rPr lang="en-US" sz="1800" spc="-55">
                <a:solidFill>
                  <a:srgbClr val="FFFFFF"/>
                </a:solidFill>
                <a:latin typeface="Open Sauce"/>
                <a:ea typeface="Open Sauce"/>
                <a:cs typeface="Open Sauce"/>
                <a:sym typeface="Open Sauce"/>
              </a:rPr>
              <a:t>Increase brand awareness by 25% within 6 months</a:t>
            </a:r>
          </a:p>
        </p:txBody>
      </p:sp>
      <p:sp>
        <p:nvSpPr>
          <p:cNvPr id="41" name="TextBox 41"/>
          <p:cNvSpPr txBox="1"/>
          <p:nvPr/>
        </p:nvSpPr>
        <p:spPr>
          <a:xfrm>
            <a:off x="8901224" y="8059753"/>
            <a:ext cx="3504562" cy="621030"/>
          </a:xfrm>
          <a:prstGeom prst="rect">
            <a:avLst/>
          </a:prstGeom>
        </p:spPr>
        <p:txBody>
          <a:bodyPr lIns="0" tIns="0" rIns="0" bIns="0" rtlCol="0" anchor="t">
            <a:spAutoFit/>
          </a:bodyPr>
          <a:lstStyle/>
          <a:p>
            <a:pPr algn="l">
              <a:lnSpc>
                <a:spcPts val="2520"/>
              </a:lnSpc>
              <a:spcBef>
                <a:spcPct val="0"/>
              </a:spcBef>
            </a:pPr>
            <a:r>
              <a:rPr lang="en-US" sz="1800" spc="-55">
                <a:solidFill>
                  <a:srgbClr val="FFFFFF"/>
                </a:solidFill>
                <a:latin typeface="Open Sauce"/>
                <a:ea typeface="Open Sauce"/>
                <a:cs typeface="Open Sauce"/>
                <a:sym typeface="Open Sauce"/>
              </a:rPr>
              <a:t>Improve engagement rate on digital platforms by 30%</a:t>
            </a:r>
          </a:p>
        </p:txBody>
      </p:sp>
      <p:sp>
        <p:nvSpPr>
          <p:cNvPr id="42" name="TextBox 42"/>
          <p:cNvSpPr txBox="1"/>
          <p:nvPr/>
        </p:nvSpPr>
        <p:spPr>
          <a:xfrm>
            <a:off x="13354569" y="4174780"/>
            <a:ext cx="3064744" cy="621030"/>
          </a:xfrm>
          <a:prstGeom prst="rect">
            <a:avLst/>
          </a:prstGeom>
        </p:spPr>
        <p:txBody>
          <a:bodyPr lIns="0" tIns="0" rIns="0" bIns="0" rtlCol="0" anchor="t">
            <a:spAutoFit/>
          </a:bodyPr>
          <a:lstStyle/>
          <a:p>
            <a:pPr algn="l">
              <a:lnSpc>
                <a:spcPts val="2520"/>
              </a:lnSpc>
              <a:spcBef>
                <a:spcPct val="0"/>
              </a:spcBef>
            </a:pPr>
            <a:r>
              <a:rPr lang="en-US" sz="1800" spc="-55">
                <a:solidFill>
                  <a:srgbClr val="FFFFFF"/>
                </a:solidFill>
                <a:latin typeface="Open Sauce"/>
                <a:ea typeface="Open Sauce"/>
                <a:cs typeface="Open Sauce"/>
                <a:sym typeface="Open Sauce"/>
              </a:rPr>
              <a:t>Drive qualified leads by 15% monthly</a:t>
            </a:r>
          </a:p>
        </p:txBody>
      </p:sp>
      <p:sp>
        <p:nvSpPr>
          <p:cNvPr id="43" name="TextBox 43"/>
          <p:cNvSpPr txBox="1"/>
          <p:nvPr/>
        </p:nvSpPr>
        <p:spPr>
          <a:xfrm>
            <a:off x="13354569" y="8059753"/>
            <a:ext cx="3314354" cy="621030"/>
          </a:xfrm>
          <a:prstGeom prst="rect">
            <a:avLst/>
          </a:prstGeom>
        </p:spPr>
        <p:txBody>
          <a:bodyPr lIns="0" tIns="0" rIns="0" bIns="0" rtlCol="0" anchor="t">
            <a:spAutoFit/>
          </a:bodyPr>
          <a:lstStyle/>
          <a:p>
            <a:pPr algn="l">
              <a:lnSpc>
                <a:spcPts val="2520"/>
              </a:lnSpc>
              <a:spcBef>
                <a:spcPct val="0"/>
              </a:spcBef>
            </a:pPr>
            <a:r>
              <a:rPr lang="en-US" sz="1800" spc="-55">
                <a:solidFill>
                  <a:srgbClr val="FFFFFF"/>
                </a:solidFill>
                <a:latin typeface="Open Sauce"/>
                <a:ea typeface="Open Sauce"/>
                <a:cs typeface="Open Sauce"/>
                <a:sym typeface="Open Sauce"/>
              </a:rPr>
              <a:t>Strengthen market positioning in top 3 categories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Freeform 2"/>
          <p:cNvSpPr/>
          <p:nvPr/>
        </p:nvSpPr>
        <p:spPr>
          <a:xfrm>
            <a:off x="-2236464" y="7450168"/>
            <a:ext cx="4429515" cy="4086228"/>
          </a:xfrm>
          <a:custGeom>
            <a:avLst/>
            <a:gdLst/>
            <a:ahLst/>
            <a:cxnLst/>
            <a:rect l="l" t="t" r="r" b="b"/>
            <a:pathLst>
              <a:path w="4429515" h="4086228">
                <a:moveTo>
                  <a:pt x="0" y="0"/>
                </a:moveTo>
                <a:lnTo>
                  <a:pt x="4429515" y="0"/>
                </a:lnTo>
                <a:lnTo>
                  <a:pt x="4429515" y="4086228"/>
                </a:lnTo>
                <a:lnTo>
                  <a:pt x="0" y="4086228"/>
                </a:lnTo>
                <a:lnTo>
                  <a:pt x="0" y="0"/>
                </a:lnTo>
                <a:close/>
              </a:path>
            </a:pathLst>
          </a:custGeom>
          <a:blipFill>
            <a:blip r:embed="rId2"/>
            <a:stretch>
              <a:fillRect/>
            </a:stretch>
          </a:blipFill>
        </p:spPr>
      </p:sp>
      <p:grpSp>
        <p:nvGrpSpPr>
          <p:cNvPr id="3" name="Group 3"/>
          <p:cNvGrpSpPr/>
          <p:nvPr/>
        </p:nvGrpSpPr>
        <p:grpSpPr>
          <a:xfrm>
            <a:off x="1028700" y="3902487"/>
            <a:ext cx="1164351" cy="116435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11BE4"/>
            </a:solidFill>
            <a:ln cap="sq">
              <a:noFill/>
              <a:prstDash val="solid"/>
              <a:miter/>
            </a:ln>
          </p:spPr>
        </p:sp>
        <p:sp>
          <p:nvSpPr>
            <p:cNvPr id="5" name="TextBox 5"/>
            <p:cNvSpPr txBox="1"/>
            <p:nvPr/>
          </p:nvSpPr>
          <p:spPr>
            <a:xfrm>
              <a:off x="76200" y="28575"/>
              <a:ext cx="660400" cy="708025"/>
            </a:xfrm>
            <a:prstGeom prst="rect">
              <a:avLst/>
            </a:prstGeom>
          </p:spPr>
          <p:txBody>
            <a:bodyPr lIns="50800" tIns="50800" rIns="50800" bIns="50800" rtlCol="0" anchor="ctr"/>
            <a:lstStyle/>
            <a:p>
              <a:pPr marL="0" lvl="0" indent="0" algn="ctr">
                <a:lnSpc>
                  <a:spcPts val="3360"/>
                </a:lnSpc>
                <a:spcBef>
                  <a:spcPct val="0"/>
                </a:spcBef>
              </a:pPr>
              <a:r>
                <a:rPr lang="en-US" sz="2400" u="none" strike="noStrike" spc="-74">
                  <a:solidFill>
                    <a:srgbClr val="FFFFFF"/>
                  </a:solidFill>
                  <a:latin typeface="Open Sauce"/>
                  <a:ea typeface="Open Sauce"/>
                  <a:cs typeface="Open Sauce"/>
                  <a:sym typeface="Open Sauce"/>
                </a:rPr>
                <a:t>01</a:t>
              </a:r>
            </a:p>
          </p:txBody>
        </p:sp>
      </p:grpSp>
      <p:grpSp>
        <p:nvGrpSpPr>
          <p:cNvPr id="6" name="Group 6"/>
          <p:cNvGrpSpPr/>
          <p:nvPr/>
        </p:nvGrpSpPr>
        <p:grpSpPr>
          <a:xfrm>
            <a:off x="6140892" y="3902487"/>
            <a:ext cx="1164351" cy="116435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11BE4"/>
            </a:solidFill>
            <a:ln cap="sq">
              <a:noFill/>
              <a:prstDash val="solid"/>
              <a:miter/>
            </a:ln>
          </p:spPr>
        </p:sp>
        <p:sp>
          <p:nvSpPr>
            <p:cNvPr id="8" name="TextBox 8"/>
            <p:cNvSpPr txBox="1"/>
            <p:nvPr/>
          </p:nvSpPr>
          <p:spPr>
            <a:xfrm>
              <a:off x="76200" y="28575"/>
              <a:ext cx="660400" cy="708025"/>
            </a:xfrm>
            <a:prstGeom prst="rect">
              <a:avLst/>
            </a:prstGeom>
          </p:spPr>
          <p:txBody>
            <a:bodyPr lIns="50800" tIns="50800" rIns="50800" bIns="50800" rtlCol="0" anchor="ctr"/>
            <a:lstStyle/>
            <a:p>
              <a:pPr marL="0" lvl="0" indent="0" algn="ctr">
                <a:lnSpc>
                  <a:spcPts val="3360"/>
                </a:lnSpc>
                <a:spcBef>
                  <a:spcPct val="0"/>
                </a:spcBef>
              </a:pPr>
              <a:r>
                <a:rPr lang="en-US" sz="2400" u="none" strike="noStrike" spc="-74">
                  <a:solidFill>
                    <a:srgbClr val="FFFFFF"/>
                  </a:solidFill>
                  <a:latin typeface="Open Sauce"/>
                  <a:ea typeface="Open Sauce"/>
                  <a:cs typeface="Open Sauce"/>
                  <a:sym typeface="Open Sauce"/>
                </a:rPr>
                <a:t>02</a:t>
              </a:r>
            </a:p>
          </p:txBody>
        </p:sp>
      </p:grpSp>
      <p:grpSp>
        <p:nvGrpSpPr>
          <p:cNvPr id="9" name="Group 9"/>
          <p:cNvGrpSpPr/>
          <p:nvPr/>
        </p:nvGrpSpPr>
        <p:grpSpPr>
          <a:xfrm>
            <a:off x="11253084" y="4197762"/>
            <a:ext cx="1164351" cy="1164351"/>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11BE4"/>
            </a:solidFill>
            <a:ln cap="sq">
              <a:no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marL="0" lvl="0" indent="0" algn="ctr">
                <a:lnSpc>
                  <a:spcPts val="3360"/>
                </a:lnSpc>
                <a:spcBef>
                  <a:spcPct val="0"/>
                </a:spcBef>
              </a:pPr>
              <a:r>
                <a:rPr lang="en-US" sz="2400" u="none" strike="noStrike" spc="-74">
                  <a:solidFill>
                    <a:srgbClr val="FFFFFF"/>
                  </a:solidFill>
                  <a:latin typeface="Open Sauce"/>
                  <a:ea typeface="Open Sauce"/>
                  <a:cs typeface="Open Sauce"/>
                  <a:sym typeface="Open Sauce"/>
                </a:rPr>
                <a:t>03</a:t>
              </a:r>
            </a:p>
          </p:txBody>
        </p:sp>
      </p:grpSp>
      <p:sp>
        <p:nvSpPr>
          <p:cNvPr id="12" name="Freeform 12"/>
          <p:cNvSpPr/>
          <p:nvPr/>
        </p:nvSpPr>
        <p:spPr>
          <a:xfrm>
            <a:off x="14884411" y="-1996821"/>
            <a:ext cx="8440615" cy="8229600"/>
          </a:xfrm>
          <a:custGeom>
            <a:avLst/>
            <a:gdLst/>
            <a:ahLst/>
            <a:cxnLst/>
            <a:rect l="l" t="t" r="r" b="b"/>
            <a:pathLst>
              <a:path w="8440615" h="8229600">
                <a:moveTo>
                  <a:pt x="0" y="0"/>
                </a:moveTo>
                <a:lnTo>
                  <a:pt x="8440615" y="0"/>
                </a:lnTo>
                <a:lnTo>
                  <a:pt x="8440615" y="8229600"/>
                </a:lnTo>
                <a:lnTo>
                  <a:pt x="0" y="8229600"/>
                </a:lnTo>
                <a:lnTo>
                  <a:pt x="0" y="0"/>
                </a:lnTo>
                <a:close/>
              </a:path>
            </a:pathLst>
          </a:custGeom>
          <a:blipFill>
            <a:blip r:embed="rId3"/>
            <a:stretch>
              <a:fillRect/>
            </a:stretch>
          </a:blipFill>
        </p:spPr>
      </p:sp>
      <p:sp>
        <p:nvSpPr>
          <p:cNvPr id="13" name="TextBox 13"/>
          <p:cNvSpPr txBox="1"/>
          <p:nvPr/>
        </p:nvSpPr>
        <p:spPr>
          <a:xfrm>
            <a:off x="1028700" y="981075"/>
            <a:ext cx="3246280" cy="405765"/>
          </a:xfrm>
          <a:prstGeom prst="rect">
            <a:avLst/>
          </a:prstGeom>
        </p:spPr>
        <p:txBody>
          <a:bodyPr lIns="0" tIns="0" rIns="0" bIns="0" rtlCol="0" anchor="t">
            <a:spAutoFit/>
          </a:bodyPr>
          <a:lstStyle/>
          <a:p>
            <a:pPr algn="l">
              <a:lnSpc>
                <a:spcPts val="3359"/>
              </a:lnSpc>
              <a:spcBef>
                <a:spcPct val="0"/>
              </a:spcBef>
            </a:pPr>
            <a:r>
              <a:rPr lang="en-US" sz="2400" spc="-74">
                <a:solidFill>
                  <a:srgbClr val="FFFFFF"/>
                </a:solidFill>
                <a:latin typeface="Open Sauce"/>
                <a:ea typeface="Open Sauce"/>
                <a:cs typeface="Open Sauce"/>
                <a:sym typeface="Open Sauce"/>
              </a:rPr>
              <a:t>Aldenaire &amp; Partners</a:t>
            </a:r>
          </a:p>
        </p:txBody>
      </p:sp>
      <p:sp>
        <p:nvSpPr>
          <p:cNvPr id="14" name="TextBox 14"/>
          <p:cNvSpPr txBox="1"/>
          <p:nvPr/>
        </p:nvSpPr>
        <p:spPr>
          <a:xfrm>
            <a:off x="16078546" y="981075"/>
            <a:ext cx="1180754" cy="349250"/>
          </a:xfrm>
          <a:prstGeom prst="rect">
            <a:avLst/>
          </a:prstGeom>
        </p:spPr>
        <p:txBody>
          <a:bodyPr lIns="0" tIns="0" rIns="0" bIns="0" rtlCol="0" anchor="t">
            <a:spAutoFit/>
          </a:bodyPr>
          <a:lstStyle/>
          <a:p>
            <a:pPr algn="r">
              <a:lnSpc>
                <a:spcPts val="2800"/>
              </a:lnSpc>
              <a:spcBef>
                <a:spcPct val="0"/>
              </a:spcBef>
            </a:pPr>
            <a:r>
              <a:rPr lang="en-US" sz="2000" spc="-62">
                <a:solidFill>
                  <a:srgbClr val="FFFFFF"/>
                </a:solidFill>
                <a:latin typeface="Open Sauce"/>
                <a:ea typeface="Open Sauce"/>
                <a:cs typeface="Open Sauce"/>
                <a:sym typeface="Open Sauce"/>
              </a:rPr>
              <a:t>2030</a:t>
            </a:r>
          </a:p>
        </p:txBody>
      </p:sp>
      <p:sp>
        <p:nvSpPr>
          <p:cNvPr id="15" name="TextBox 15"/>
          <p:cNvSpPr txBox="1"/>
          <p:nvPr/>
        </p:nvSpPr>
        <p:spPr>
          <a:xfrm>
            <a:off x="1028700" y="9142095"/>
            <a:ext cx="4535989" cy="306705"/>
          </a:xfrm>
          <a:prstGeom prst="rect">
            <a:avLst/>
          </a:prstGeom>
        </p:spPr>
        <p:txBody>
          <a:bodyPr lIns="0" tIns="0" rIns="0" bIns="0" rtlCol="0" anchor="t">
            <a:spAutoFit/>
          </a:bodyPr>
          <a:lstStyle/>
          <a:p>
            <a:pPr algn="l">
              <a:lnSpc>
                <a:spcPts val="2520"/>
              </a:lnSpc>
              <a:spcBef>
                <a:spcPct val="0"/>
              </a:spcBef>
            </a:pPr>
            <a:r>
              <a:rPr lang="en-US" sz="1800" spc="-55">
                <a:solidFill>
                  <a:srgbClr val="FFFFFF"/>
                </a:solidFill>
                <a:latin typeface="Open Sauce"/>
                <a:ea typeface="Open Sauce"/>
                <a:cs typeface="Open Sauce"/>
                <a:sym typeface="Open Sauce"/>
              </a:rPr>
              <a:t>www.reallygreatsite.com</a:t>
            </a:r>
          </a:p>
        </p:txBody>
      </p:sp>
      <p:sp>
        <p:nvSpPr>
          <p:cNvPr id="16" name="TextBox 16"/>
          <p:cNvSpPr txBox="1"/>
          <p:nvPr/>
        </p:nvSpPr>
        <p:spPr>
          <a:xfrm>
            <a:off x="1028700" y="2279904"/>
            <a:ext cx="7754124" cy="1293114"/>
          </a:xfrm>
          <a:prstGeom prst="rect">
            <a:avLst/>
          </a:prstGeom>
        </p:spPr>
        <p:txBody>
          <a:bodyPr lIns="0" tIns="0" rIns="0" bIns="0" rtlCol="0" anchor="t">
            <a:spAutoFit/>
          </a:bodyPr>
          <a:lstStyle/>
          <a:p>
            <a:pPr algn="l">
              <a:lnSpc>
                <a:spcPts val="9888"/>
              </a:lnSpc>
            </a:pPr>
            <a:r>
              <a:rPr lang="en-US" sz="9600">
                <a:solidFill>
                  <a:srgbClr val="FFFFFF"/>
                </a:solidFill>
                <a:latin typeface="Anton"/>
                <a:ea typeface="Anton"/>
                <a:cs typeface="Anton"/>
                <a:sym typeface="Anton"/>
              </a:rPr>
              <a:t>TARGET AUDIENCE</a:t>
            </a:r>
          </a:p>
        </p:txBody>
      </p:sp>
      <p:sp>
        <p:nvSpPr>
          <p:cNvPr id="17" name="TextBox 17"/>
          <p:cNvSpPr txBox="1"/>
          <p:nvPr/>
        </p:nvSpPr>
        <p:spPr>
          <a:xfrm>
            <a:off x="1028700" y="5238289"/>
            <a:ext cx="4524919" cy="824865"/>
          </a:xfrm>
          <a:prstGeom prst="rect">
            <a:avLst/>
          </a:prstGeom>
        </p:spPr>
        <p:txBody>
          <a:bodyPr lIns="0" tIns="0" rIns="0" bIns="0" rtlCol="0" anchor="t">
            <a:spAutoFit/>
          </a:bodyPr>
          <a:lstStyle/>
          <a:p>
            <a:pPr algn="l">
              <a:lnSpc>
                <a:spcPts val="3359"/>
              </a:lnSpc>
              <a:spcBef>
                <a:spcPct val="0"/>
              </a:spcBef>
            </a:pPr>
            <a:r>
              <a:rPr lang="en-US" sz="2400" b="1" spc="-74">
                <a:solidFill>
                  <a:srgbClr val="FFFFFF"/>
                </a:solidFill>
                <a:latin typeface="Open Sauce Bold"/>
                <a:ea typeface="Open Sauce Bold"/>
                <a:cs typeface="Open Sauce Bold"/>
                <a:sym typeface="Open Sauce Bold"/>
              </a:rPr>
              <a:t>Demographics and psychographics audience</a:t>
            </a:r>
          </a:p>
        </p:txBody>
      </p:sp>
      <p:sp>
        <p:nvSpPr>
          <p:cNvPr id="18" name="TextBox 18"/>
          <p:cNvSpPr txBox="1"/>
          <p:nvPr/>
        </p:nvSpPr>
        <p:spPr>
          <a:xfrm>
            <a:off x="6140892" y="5238289"/>
            <a:ext cx="4524919" cy="824865"/>
          </a:xfrm>
          <a:prstGeom prst="rect">
            <a:avLst/>
          </a:prstGeom>
        </p:spPr>
        <p:txBody>
          <a:bodyPr lIns="0" tIns="0" rIns="0" bIns="0" rtlCol="0" anchor="t">
            <a:spAutoFit/>
          </a:bodyPr>
          <a:lstStyle/>
          <a:p>
            <a:pPr algn="l">
              <a:lnSpc>
                <a:spcPts val="3359"/>
              </a:lnSpc>
              <a:spcBef>
                <a:spcPct val="0"/>
              </a:spcBef>
            </a:pPr>
            <a:r>
              <a:rPr lang="en-US" sz="2400" b="1" spc="-74">
                <a:solidFill>
                  <a:srgbClr val="FFFFFF"/>
                </a:solidFill>
                <a:latin typeface="Open Sauce Bold"/>
                <a:ea typeface="Open Sauce Bold"/>
                <a:cs typeface="Open Sauce Bold"/>
                <a:sym typeface="Open Sauce Bold"/>
              </a:rPr>
              <a:t>Pain points, needs, and behaviors</a:t>
            </a:r>
          </a:p>
        </p:txBody>
      </p:sp>
      <p:sp>
        <p:nvSpPr>
          <p:cNvPr id="19" name="TextBox 19"/>
          <p:cNvSpPr txBox="1"/>
          <p:nvPr/>
        </p:nvSpPr>
        <p:spPr>
          <a:xfrm>
            <a:off x="1028700" y="6229236"/>
            <a:ext cx="4524919" cy="2192655"/>
          </a:xfrm>
          <a:prstGeom prst="rect">
            <a:avLst/>
          </a:prstGeom>
        </p:spPr>
        <p:txBody>
          <a:bodyPr lIns="0" tIns="0" rIns="0" bIns="0" rtlCol="0" anchor="t">
            <a:spAutoFit/>
          </a:bodyPr>
          <a:lstStyle/>
          <a:p>
            <a:pPr algn="l">
              <a:lnSpc>
                <a:spcPts val="2520"/>
              </a:lnSpc>
              <a:spcBef>
                <a:spcPct val="0"/>
              </a:spcBef>
            </a:pPr>
            <a:r>
              <a:rPr lang="en-US" sz="1800" spc="-55">
                <a:solidFill>
                  <a:srgbClr val="FFFFFF"/>
                </a:solidFill>
                <a:latin typeface="Open Sauce"/>
                <a:ea typeface="Open Sauce"/>
                <a:cs typeface="Open Sauce"/>
                <a:sym typeface="Open Sauce"/>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id="20" name="TextBox 20"/>
          <p:cNvSpPr txBox="1"/>
          <p:nvPr/>
        </p:nvSpPr>
        <p:spPr>
          <a:xfrm>
            <a:off x="6140892" y="6229236"/>
            <a:ext cx="4524919" cy="2192655"/>
          </a:xfrm>
          <a:prstGeom prst="rect">
            <a:avLst/>
          </a:prstGeom>
        </p:spPr>
        <p:txBody>
          <a:bodyPr lIns="0" tIns="0" rIns="0" bIns="0" rtlCol="0" anchor="t">
            <a:spAutoFit/>
          </a:bodyPr>
          <a:lstStyle/>
          <a:p>
            <a:pPr algn="l">
              <a:lnSpc>
                <a:spcPts val="2520"/>
              </a:lnSpc>
              <a:spcBef>
                <a:spcPct val="0"/>
              </a:spcBef>
            </a:pPr>
            <a:r>
              <a:rPr lang="en-US" sz="1800" spc="-55">
                <a:solidFill>
                  <a:srgbClr val="FFFFFF"/>
                </a:solidFill>
                <a:latin typeface="Open Sauce"/>
                <a:ea typeface="Open Sauce"/>
                <a:cs typeface="Open Sauce"/>
                <a:sym typeface="Open Sauce"/>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id="21" name="TextBox 21"/>
          <p:cNvSpPr txBox="1"/>
          <p:nvPr/>
        </p:nvSpPr>
        <p:spPr>
          <a:xfrm>
            <a:off x="11253084" y="5657389"/>
            <a:ext cx="4524919" cy="405765"/>
          </a:xfrm>
          <a:prstGeom prst="rect">
            <a:avLst/>
          </a:prstGeom>
        </p:spPr>
        <p:txBody>
          <a:bodyPr lIns="0" tIns="0" rIns="0" bIns="0" rtlCol="0" anchor="t">
            <a:spAutoFit/>
          </a:bodyPr>
          <a:lstStyle/>
          <a:p>
            <a:pPr algn="l">
              <a:lnSpc>
                <a:spcPts val="3359"/>
              </a:lnSpc>
              <a:spcBef>
                <a:spcPct val="0"/>
              </a:spcBef>
            </a:pPr>
            <a:r>
              <a:rPr lang="en-US" sz="2400" b="1" spc="-74">
                <a:solidFill>
                  <a:srgbClr val="FFFFFF"/>
                </a:solidFill>
                <a:latin typeface="Open Sauce Bold"/>
                <a:ea typeface="Open Sauce Bold"/>
                <a:cs typeface="Open Sauce Bold"/>
                <a:sym typeface="Open Sauce Bold"/>
              </a:rPr>
              <a:t>Buying journey overview</a:t>
            </a:r>
          </a:p>
        </p:txBody>
      </p:sp>
      <p:sp>
        <p:nvSpPr>
          <p:cNvPr id="22" name="TextBox 22"/>
          <p:cNvSpPr txBox="1"/>
          <p:nvPr/>
        </p:nvSpPr>
        <p:spPr>
          <a:xfrm>
            <a:off x="11253084" y="6229236"/>
            <a:ext cx="4524919" cy="2192655"/>
          </a:xfrm>
          <a:prstGeom prst="rect">
            <a:avLst/>
          </a:prstGeom>
        </p:spPr>
        <p:txBody>
          <a:bodyPr lIns="0" tIns="0" rIns="0" bIns="0" rtlCol="0" anchor="t">
            <a:spAutoFit/>
          </a:bodyPr>
          <a:lstStyle/>
          <a:p>
            <a:pPr algn="l">
              <a:lnSpc>
                <a:spcPts val="2520"/>
              </a:lnSpc>
              <a:spcBef>
                <a:spcPct val="0"/>
              </a:spcBef>
            </a:pPr>
            <a:r>
              <a:rPr lang="en-US" sz="1800" spc="-55">
                <a:solidFill>
                  <a:srgbClr val="FFFFFF"/>
                </a:solidFill>
                <a:latin typeface="Open Sauce"/>
                <a:ea typeface="Open Sauce"/>
                <a:cs typeface="Open Sauce"/>
                <a:sym typeface="Open Sauce"/>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Freeform 2"/>
          <p:cNvSpPr/>
          <p:nvPr/>
        </p:nvSpPr>
        <p:spPr>
          <a:xfrm>
            <a:off x="-2236464" y="7450168"/>
            <a:ext cx="4429515" cy="4086228"/>
          </a:xfrm>
          <a:custGeom>
            <a:avLst/>
            <a:gdLst/>
            <a:ahLst/>
            <a:cxnLst/>
            <a:rect l="l" t="t" r="r" b="b"/>
            <a:pathLst>
              <a:path w="4429515" h="4086228">
                <a:moveTo>
                  <a:pt x="0" y="0"/>
                </a:moveTo>
                <a:lnTo>
                  <a:pt x="4429515" y="0"/>
                </a:lnTo>
                <a:lnTo>
                  <a:pt x="4429515" y="4086228"/>
                </a:lnTo>
                <a:lnTo>
                  <a:pt x="0" y="4086228"/>
                </a:lnTo>
                <a:lnTo>
                  <a:pt x="0" y="0"/>
                </a:lnTo>
                <a:close/>
              </a:path>
            </a:pathLst>
          </a:custGeom>
          <a:blipFill>
            <a:blip r:embed="rId2"/>
            <a:stretch>
              <a:fillRect/>
            </a:stretch>
          </a:blipFill>
        </p:spPr>
      </p:sp>
      <p:grpSp>
        <p:nvGrpSpPr>
          <p:cNvPr id="3" name="Group 3"/>
          <p:cNvGrpSpPr/>
          <p:nvPr/>
        </p:nvGrpSpPr>
        <p:grpSpPr>
          <a:xfrm>
            <a:off x="1028700" y="4208924"/>
            <a:ext cx="1164351" cy="116435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11BE4"/>
            </a:solidFill>
            <a:ln cap="sq">
              <a:noFill/>
              <a:prstDash val="solid"/>
              <a:miter/>
            </a:ln>
          </p:spPr>
        </p:sp>
        <p:sp>
          <p:nvSpPr>
            <p:cNvPr id="5" name="TextBox 5"/>
            <p:cNvSpPr txBox="1"/>
            <p:nvPr/>
          </p:nvSpPr>
          <p:spPr>
            <a:xfrm>
              <a:off x="76200" y="28575"/>
              <a:ext cx="660400" cy="708025"/>
            </a:xfrm>
            <a:prstGeom prst="rect">
              <a:avLst/>
            </a:prstGeom>
          </p:spPr>
          <p:txBody>
            <a:bodyPr lIns="50800" tIns="50800" rIns="50800" bIns="50800" rtlCol="0" anchor="ctr"/>
            <a:lstStyle/>
            <a:p>
              <a:pPr marL="0" lvl="0" indent="0" algn="ctr">
                <a:lnSpc>
                  <a:spcPts val="3360"/>
                </a:lnSpc>
                <a:spcBef>
                  <a:spcPct val="0"/>
                </a:spcBef>
              </a:pPr>
              <a:r>
                <a:rPr lang="en-US" sz="2400" u="none" strike="noStrike" spc="-74">
                  <a:solidFill>
                    <a:srgbClr val="FFFFFF"/>
                  </a:solidFill>
                  <a:latin typeface="Open Sauce"/>
                  <a:ea typeface="Open Sauce"/>
                  <a:cs typeface="Open Sauce"/>
                  <a:sym typeface="Open Sauce"/>
                </a:rPr>
                <a:t>01</a:t>
              </a:r>
            </a:p>
          </p:txBody>
        </p:sp>
      </p:grpSp>
      <p:grpSp>
        <p:nvGrpSpPr>
          <p:cNvPr id="6" name="Group 6"/>
          <p:cNvGrpSpPr/>
          <p:nvPr/>
        </p:nvGrpSpPr>
        <p:grpSpPr>
          <a:xfrm>
            <a:off x="8827710" y="4208924"/>
            <a:ext cx="1164351" cy="116435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11BE4"/>
            </a:solidFill>
            <a:ln cap="sq">
              <a:noFill/>
              <a:prstDash val="solid"/>
              <a:miter/>
            </a:ln>
          </p:spPr>
        </p:sp>
        <p:sp>
          <p:nvSpPr>
            <p:cNvPr id="8" name="TextBox 8"/>
            <p:cNvSpPr txBox="1"/>
            <p:nvPr/>
          </p:nvSpPr>
          <p:spPr>
            <a:xfrm>
              <a:off x="76200" y="28575"/>
              <a:ext cx="660400" cy="708025"/>
            </a:xfrm>
            <a:prstGeom prst="rect">
              <a:avLst/>
            </a:prstGeom>
          </p:spPr>
          <p:txBody>
            <a:bodyPr lIns="50800" tIns="50800" rIns="50800" bIns="50800" rtlCol="0" anchor="ctr"/>
            <a:lstStyle/>
            <a:p>
              <a:pPr marL="0" lvl="0" indent="0" algn="ctr">
                <a:lnSpc>
                  <a:spcPts val="3360"/>
                </a:lnSpc>
                <a:spcBef>
                  <a:spcPct val="0"/>
                </a:spcBef>
              </a:pPr>
              <a:r>
                <a:rPr lang="en-US" sz="2400" u="none" strike="noStrike" spc="-74">
                  <a:solidFill>
                    <a:srgbClr val="FFFFFF"/>
                  </a:solidFill>
                  <a:latin typeface="Open Sauce"/>
                  <a:ea typeface="Open Sauce"/>
                  <a:cs typeface="Open Sauce"/>
                  <a:sym typeface="Open Sauce"/>
                </a:rPr>
                <a:t>03</a:t>
              </a:r>
            </a:p>
          </p:txBody>
        </p:sp>
      </p:grpSp>
      <p:grpSp>
        <p:nvGrpSpPr>
          <p:cNvPr id="9" name="Group 9"/>
          <p:cNvGrpSpPr/>
          <p:nvPr/>
        </p:nvGrpSpPr>
        <p:grpSpPr>
          <a:xfrm>
            <a:off x="1028700" y="6779911"/>
            <a:ext cx="1164351" cy="1164351"/>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11BE4"/>
            </a:solidFill>
            <a:ln cap="sq">
              <a:no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marL="0" lvl="0" indent="0" algn="ctr">
                <a:lnSpc>
                  <a:spcPts val="3360"/>
                </a:lnSpc>
                <a:spcBef>
                  <a:spcPct val="0"/>
                </a:spcBef>
              </a:pPr>
              <a:r>
                <a:rPr lang="en-US" sz="2400" u="none" strike="noStrike" spc="-74">
                  <a:solidFill>
                    <a:srgbClr val="FFFFFF"/>
                  </a:solidFill>
                  <a:latin typeface="Open Sauce"/>
                  <a:ea typeface="Open Sauce"/>
                  <a:cs typeface="Open Sauce"/>
                  <a:sym typeface="Open Sauce"/>
                </a:rPr>
                <a:t>02</a:t>
              </a:r>
            </a:p>
          </p:txBody>
        </p:sp>
      </p:grpSp>
      <p:grpSp>
        <p:nvGrpSpPr>
          <p:cNvPr id="12" name="Group 12"/>
          <p:cNvGrpSpPr/>
          <p:nvPr/>
        </p:nvGrpSpPr>
        <p:grpSpPr>
          <a:xfrm>
            <a:off x="8827710" y="6779911"/>
            <a:ext cx="1164351" cy="1164351"/>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11BE4"/>
            </a:solidFill>
            <a:ln cap="sq">
              <a:noFill/>
              <a:prstDash val="solid"/>
              <a:miter/>
            </a:ln>
          </p:spPr>
        </p:sp>
        <p:sp>
          <p:nvSpPr>
            <p:cNvPr id="14" name="TextBox 14"/>
            <p:cNvSpPr txBox="1"/>
            <p:nvPr/>
          </p:nvSpPr>
          <p:spPr>
            <a:xfrm>
              <a:off x="76200" y="28575"/>
              <a:ext cx="660400" cy="708025"/>
            </a:xfrm>
            <a:prstGeom prst="rect">
              <a:avLst/>
            </a:prstGeom>
          </p:spPr>
          <p:txBody>
            <a:bodyPr lIns="50800" tIns="50800" rIns="50800" bIns="50800" rtlCol="0" anchor="ctr"/>
            <a:lstStyle/>
            <a:p>
              <a:pPr marL="0" lvl="0" indent="0" algn="ctr">
                <a:lnSpc>
                  <a:spcPts val="3360"/>
                </a:lnSpc>
                <a:spcBef>
                  <a:spcPct val="0"/>
                </a:spcBef>
              </a:pPr>
              <a:r>
                <a:rPr lang="en-US" sz="2400" u="none" strike="noStrike" spc="-74">
                  <a:solidFill>
                    <a:srgbClr val="FFFFFF"/>
                  </a:solidFill>
                  <a:latin typeface="Open Sauce"/>
                  <a:ea typeface="Open Sauce"/>
                  <a:cs typeface="Open Sauce"/>
                  <a:sym typeface="Open Sauce"/>
                </a:rPr>
                <a:t>04</a:t>
              </a:r>
            </a:p>
          </p:txBody>
        </p:sp>
      </p:grpSp>
      <p:sp>
        <p:nvSpPr>
          <p:cNvPr id="15" name="Freeform 15"/>
          <p:cNvSpPr/>
          <p:nvPr/>
        </p:nvSpPr>
        <p:spPr>
          <a:xfrm>
            <a:off x="14992115" y="-3467879"/>
            <a:ext cx="8440615" cy="8229600"/>
          </a:xfrm>
          <a:custGeom>
            <a:avLst/>
            <a:gdLst/>
            <a:ahLst/>
            <a:cxnLst/>
            <a:rect l="l" t="t" r="r" b="b"/>
            <a:pathLst>
              <a:path w="8440615" h="8229600">
                <a:moveTo>
                  <a:pt x="0" y="0"/>
                </a:moveTo>
                <a:lnTo>
                  <a:pt x="8440615" y="0"/>
                </a:lnTo>
                <a:lnTo>
                  <a:pt x="8440615" y="8229600"/>
                </a:lnTo>
                <a:lnTo>
                  <a:pt x="0" y="8229600"/>
                </a:lnTo>
                <a:lnTo>
                  <a:pt x="0" y="0"/>
                </a:lnTo>
                <a:close/>
              </a:path>
            </a:pathLst>
          </a:custGeom>
          <a:blipFill>
            <a:blip r:embed="rId3"/>
            <a:stretch>
              <a:fillRect/>
            </a:stretch>
          </a:blipFill>
        </p:spPr>
      </p:sp>
      <p:sp>
        <p:nvSpPr>
          <p:cNvPr id="16" name="TextBox 16"/>
          <p:cNvSpPr txBox="1"/>
          <p:nvPr/>
        </p:nvSpPr>
        <p:spPr>
          <a:xfrm>
            <a:off x="1028700" y="981075"/>
            <a:ext cx="3246280" cy="405765"/>
          </a:xfrm>
          <a:prstGeom prst="rect">
            <a:avLst/>
          </a:prstGeom>
        </p:spPr>
        <p:txBody>
          <a:bodyPr lIns="0" tIns="0" rIns="0" bIns="0" rtlCol="0" anchor="t">
            <a:spAutoFit/>
          </a:bodyPr>
          <a:lstStyle/>
          <a:p>
            <a:pPr algn="l">
              <a:lnSpc>
                <a:spcPts val="3359"/>
              </a:lnSpc>
              <a:spcBef>
                <a:spcPct val="0"/>
              </a:spcBef>
            </a:pPr>
            <a:r>
              <a:rPr lang="en-US" sz="2400" spc="-74">
                <a:solidFill>
                  <a:srgbClr val="FFFFFF"/>
                </a:solidFill>
                <a:latin typeface="Open Sauce"/>
                <a:ea typeface="Open Sauce"/>
                <a:cs typeface="Open Sauce"/>
                <a:sym typeface="Open Sauce"/>
              </a:rPr>
              <a:t>Aldenaire &amp; Partners</a:t>
            </a:r>
          </a:p>
        </p:txBody>
      </p:sp>
      <p:sp>
        <p:nvSpPr>
          <p:cNvPr id="17" name="TextBox 17"/>
          <p:cNvSpPr txBox="1"/>
          <p:nvPr/>
        </p:nvSpPr>
        <p:spPr>
          <a:xfrm>
            <a:off x="16078546" y="981075"/>
            <a:ext cx="1180754" cy="349250"/>
          </a:xfrm>
          <a:prstGeom prst="rect">
            <a:avLst/>
          </a:prstGeom>
        </p:spPr>
        <p:txBody>
          <a:bodyPr lIns="0" tIns="0" rIns="0" bIns="0" rtlCol="0" anchor="t">
            <a:spAutoFit/>
          </a:bodyPr>
          <a:lstStyle/>
          <a:p>
            <a:pPr algn="r">
              <a:lnSpc>
                <a:spcPts val="2800"/>
              </a:lnSpc>
              <a:spcBef>
                <a:spcPct val="0"/>
              </a:spcBef>
            </a:pPr>
            <a:r>
              <a:rPr lang="en-US" sz="2000" spc="-62">
                <a:solidFill>
                  <a:srgbClr val="FFFFFF"/>
                </a:solidFill>
                <a:latin typeface="Open Sauce"/>
                <a:ea typeface="Open Sauce"/>
                <a:cs typeface="Open Sauce"/>
                <a:sym typeface="Open Sauce"/>
              </a:rPr>
              <a:t>2030</a:t>
            </a:r>
          </a:p>
        </p:txBody>
      </p:sp>
      <p:sp>
        <p:nvSpPr>
          <p:cNvPr id="18" name="TextBox 18"/>
          <p:cNvSpPr txBox="1"/>
          <p:nvPr/>
        </p:nvSpPr>
        <p:spPr>
          <a:xfrm>
            <a:off x="1028700" y="9142095"/>
            <a:ext cx="4535989" cy="306705"/>
          </a:xfrm>
          <a:prstGeom prst="rect">
            <a:avLst/>
          </a:prstGeom>
        </p:spPr>
        <p:txBody>
          <a:bodyPr lIns="0" tIns="0" rIns="0" bIns="0" rtlCol="0" anchor="t">
            <a:spAutoFit/>
          </a:bodyPr>
          <a:lstStyle/>
          <a:p>
            <a:pPr algn="l">
              <a:lnSpc>
                <a:spcPts val="2520"/>
              </a:lnSpc>
              <a:spcBef>
                <a:spcPct val="0"/>
              </a:spcBef>
            </a:pPr>
            <a:r>
              <a:rPr lang="en-US" sz="1800" spc="-55">
                <a:solidFill>
                  <a:srgbClr val="FFFFFF"/>
                </a:solidFill>
                <a:latin typeface="Open Sauce"/>
                <a:ea typeface="Open Sauce"/>
                <a:cs typeface="Open Sauce"/>
                <a:sym typeface="Open Sauce"/>
              </a:rPr>
              <a:t>www.reallygreatsite.com</a:t>
            </a:r>
          </a:p>
        </p:txBody>
      </p:sp>
      <p:sp>
        <p:nvSpPr>
          <p:cNvPr id="19" name="TextBox 19"/>
          <p:cNvSpPr txBox="1"/>
          <p:nvPr/>
        </p:nvSpPr>
        <p:spPr>
          <a:xfrm>
            <a:off x="1028700" y="2279904"/>
            <a:ext cx="10538758" cy="1293114"/>
          </a:xfrm>
          <a:prstGeom prst="rect">
            <a:avLst/>
          </a:prstGeom>
        </p:spPr>
        <p:txBody>
          <a:bodyPr lIns="0" tIns="0" rIns="0" bIns="0" rtlCol="0" anchor="t">
            <a:spAutoFit/>
          </a:bodyPr>
          <a:lstStyle/>
          <a:p>
            <a:pPr algn="l">
              <a:lnSpc>
                <a:spcPts val="9888"/>
              </a:lnSpc>
            </a:pPr>
            <a:r>
              <a:rPr lang="en-US" sz="9600">
                <a:solidFill>
                  <a:srgbClr val="FFFFFF"/>
                </a:solidFill>
                <a:latin typeface="Anton"/>
                <a:ea typeface="Anton"/>
                <a:cs typeface="Anton"/>
                <a:sym typeface="Anton"/>
              </a:rPr>
              <a:t>MARKETING STRATEGIES</a:t>
            </a:r>
          </a:p>
        </p:txBody>
      </p:sp>
      <p:sp>
        <p:nvSpPr>
          <p:cNvPr id="20" name="TextBox 20"/>
          <p:cNvSpPr txBox="1"/>
          <p:nvPr/>
        </p:nvSpPr>
        <p:spPr>
          <a:xfrm>
            <a:off x="2562792" y="4161299"/>
            <a:ext cx="5716743" cy="405765"/>
          </a:xfrm>
          <a:prstGeom prst="rect">
            <a:avLst/>
          </a:prstGeom>
        </p:spPr>
        <p:txBody>
          <a:bodyPr lIns="0" tIns="0" rIns="0" bIns="0" rtlCol="0" anchor="t">
            <a:spAutoFit/>
          </a:bodyPr>
          <a:lstStyle/>
          <a:p>
            <a:pPr algn="l">
              <a:lnSpc>
                <a:spcPts val="3359"/>
              </a:lnSpc>
              <a:spcBef>
                <a:spcPct val="0"/>
              </a:spcBef>
            </a:pPr>
            <a:r>
              <a:rPr lang="en-US" sz="2400" b="1" spc="-74">
                <a:solidFill>
                  <a:srgbClr val="FFFFFF"/>
                </a:solidFill>
                <a:latin typeface="Open Sauce Bold"/>
                <a:ea typeface="Open Sauce Bold"/>
                <a:cs typeface="Open Sauce Bold"/>
                <a:sym typeface="Open Sauce Bold"/>
              </a:rPr>
              <a:t>Content Marketing</a:t>
            </a:r>
          </a:p>
        </p:txBody>
      </p:sp>
      <p:sp>
        <p:nvSpPr>
          <p:cNvPr id="21" name="TextBox 21"/>
          <p:cNvSpPr txBox="1"/>
          <p:nvPr/>
        </p:nvSpPr>
        <p:spPr>
          <a:xfrm>
            <a:off x="10361802" y="4161299"/>
            <a:ext cx="5716743" cy="405765"/>
          </a:xfrm>
          <a:prstGeom prst="rect">
            <a:avLst/>
          </a:prstGeom>
        </p:spPr>
        <p:txBody>
          <a:bodyPr lIns="0" tIns="0" rIns="0" bIns="0" rtlCol="0" anchor="t">
            <a:spAutoFit/>
          </a:bodyPr>
          <a:lstStyle/>
          <a:p>
            <a:pPr algn="l">
              <a:lnSpc>
                <a:spcPts val="3359"/>
              </a:lnSpc>
              <a:spcBef>
                <a:spcPct val="0"/>
              </a:spcBef>
            </a:pPr>
            <a:r>
              <a:rPr lang="en-US" sz="2400" b="1" spc="-74">
                <a:solidFill>
                  <a:srgbClr val="FFFFFF"/>
                </a:solidFill>
                <a:latin typeface="Open Sauce Bold"/>
                <a:ea typeface="Open Sauce Bold"/>
                <a:cs typeface="Open Sauce Bold"/>
                <a:sym typeface="Open Sauce Bold"/>
              </a:rPr>
              <a:t>Influencer Outreach</a:t>
            </a:r>
          </a:p>
        </p:txBody>
      </p:sp>
      <p:sp>
        <p:nvSpPr>
          <p:cNvPr id="22" name="TextBox 22"/>
          <p:cNvSpPr txBox="1"/>
          <p:nvPr/>
        </p:nvSpPr>
        <p:spPr>
          <a:xfrm>
            <a:off x="2562792" y="6732286"/>
            <a:ext cx="5716743" cy="405765"/>
          </a:xfrm>
          <a:prstGeom prst="rect">
            <a:avLst/>
          </a:prstGeom>
        </p:spPr>
        <p:txBody>
          <a:bodyPr lIns="0" tIns="0" rIns="0" bIns="0" rtlCol="0" anchor="t">
            <a:spAutoFit/>
          </a:bodyPr>
          <a:lstStyle/>
          <a:p>
            <a:pPr algn="l">
              <a:lnSpc>
                <a:spcPts val="3359"/>
              </a:lnSpc>
              <a:spcBef>
                <a:spcPct val="0"/>
              </a:spcBef>
            </a:pPr>
            <a:r>
              <a:rPr lang="en-US" sz="2400" b="1" spc="-74">
                <a:solidFill>
                  <a:srgbClr val="FFFFFF"/>
                </a:solidFill>
                <a:latin typeface="Open Sauce Bold"/>
                <a:ea typeface="Open Sauce Bold"/>
                <a:cs typeface="Open Sauce Bold"/>
                <a:sym typeface="Open Sauce Bold"/>
              </a:rPr>
              <a:t>Digital Advertising</a:t>
            </a:r>
          </a:p>
        </p:txBody>
      </p:sp>
      <p:sp>
        <p:nvSpPr>
          <p:cNvPr id="23" name="TextBox 23"/>
          <p:cNvSpPr txBox="1"/>
          <p:nvPr/>
        </p:nvSpPr>
        <p:spPr>
          <a:xfrm>
            <a:off x="10361802" y="6732286"/>
            <a:ext cx="5716743" cy="405765"/>
          </a:xfrm>
          <a:prstGeom prst="rect">
            <a:avLst/>
          </a:prstGeom>
        </p:spPr>
        <p:txBody>
          <a:bodyPr lIns="0" tIns="0" rIns="0" bIns="0" rtlCol="0" anchor="t">
            <a:spAutoFit/>
          </a:bodyPr>
          <a:lstStyle/>
          <a:p>
            <a:pPr algn="l">
              <a:lnSpc>
                <a:spcPts val="3359"/>
              </a:lnSpc>
              <a:spcBef>
                <a:spcPct val="0"/>
              </a:spcBef>
            </a:pPr>
            <a:r>
              <a:rPr lang="en-US" sz="2400" b="1" spc="-74">
                <a:solidFill>
                  <a:srgbClr val="FFFFFF"/>
                </a:solidFill>
                <a:latin typeface="Open Sauce Bold"/>
                <a:ea typeface="Open Sauce Bold"/>
                <a:cs typeface="Open Sauce Bold"/>
                <a:sym typeface="Open Sauce Bold"/>
              </a:rPr>
              <a:t>Email Marketing</a:t>
            </a:r>
          </a:p>
        </p:txBody>
      </p:sp>
      <p:sp>
        <p:nvSpPr>
          <p:cNvPr id="24" name="TextBox 24"/>
          <p:cNvSpPr txBox="1"/>
          <p:nvPr/>
        </p:nvSpPr>
        <p:spPr>
          <a:xfrm>
            <a:off x="2562792" y="4723621"/>
            <a:ext cx="5716743" cy="1249680"/>
          </a:xfrm>
          <a:prstGeom prst="rect">
            <a:avLst/>
          </a:prstGeom>
        </p:spPr>
        <p:txBody>
          <a:bodyPr lIns="0" tIns="0" rIns="0" bIns="0" rtlCol="0" anchor="t">
            <a:spAutoFit/>
          </a:bodyPr>
          <a:lstStyle/>
          <a:p>
            <a:pPr algn="l">
              <a:lnSpc>
                <a:spcPts val="2520"/>
              </a:lnSpc>
              <a:spcBef>
                <a:spcPct val="0"/>
              </a:spcBef>
            </a:pPr>
            <a:r>
              <a:rPr lang="en-US" sz="1800" spc="-55">
                <a:solidFill>
                  <a:srgbClr val="FFFFFF"/>
                </a:solidFill>
                <a:latin typeface="Open Sauce"/>
                <a:ea typeface="Open Sauce"/>
                <a:cs typeface="Open Sauce"/>
                <a:sym typeface="Open Sauce"/>
              </a:rPr>
              <a:t>Lorem ipsum dolor sit amet, consectetur adipiscing elit. Quisque molestie nisl eu sem tristique, sit amet convallis ex aliquam. Maecenas varius lectus hendrerit augue blandit.</a:t>
            </a:r>
          </a:p>
        </p:txBody>
      </p:sp>
      <p:sp>
        <p:nvSpPr>
          <p:cNvPr id="25" name="TextBox 25"/>
          <p:cNvSpPr txBox="1"/>
          <p:nvPr/>
        </p:nvSpPr>
        <p:spPr>
          <a:xfrm>
            <a:off x="10361802" y="4723621"/>
            <a:ext cx="5716743" cy="1249680"/>
          </a:xfrm>
          <a:prstGeom prst="rect">
            <a:avLst/>
          </a:prstGeom>
        </p:spPr>
        <p:txBody>
          <a:bodyPr lIns="0" tIns="0" rIns="0" bIns="0" rtlCol="0" anchor="t">
            <a:spAutoFit/>
          </a:bodyPr>
          <a:lstStyle/>
          <a:p>
            <a:pPr algn="l">
              <a:lnSpc>
                <a:spcPts val="2520"/>
              </a:lnSpc>
              <a:spcBef>
                <a:spcPct val="0"/>
              </a:spcBef>
            </a:pPr>
            <a:r>
              <a:rPr lang="en-US" sz="1800" spc="-55">
                <a:solidFill>
                  <a:srgbClr val="FFFFFF"/>
                </a:solidFill>
                <a:latin typeface="Open Sauce"/>
                <a:ea typeface="Open Sauce"/>
                <a:cs typeface="Open Sauce"/>
                <a:sym typeface="Open Sauce"/>
              </a:rPr>
              <a:t>Lorem ipsum dolor sit amet, consectetur adipiscing elit. Quisque molestie nisl eu sem tristique, sit amet convallis ex aliquam. Maecenas varius lectus hendrerit augue blandit.</a:t>
            </a:r>
          </a:p>
        </p:txBody>
      </p:sp>
      <p:sp>
        <p:nvSpPr>
          <p:cNvPr id="26" name="TextBox 26"/>
          <p:cNvSpPr txBox="1"/>
          <p:nvPr/>
        </p:nvSpPr>
        <p:spPr>
          <a:xfrm>
            <a:off x="2562792" y="7294609"/>
            <a:ext cx="5716743" cy="1249680"/>
          </a:xfrm>
          <a:prstGeom prst="rect">
            <a:avLst/>
          </a:prstGeom>
        </p:spPr>
        <p:txBody>
          <a:bodyPr lIns="0" tIns="0" rIns="0" bIns="0" rtlCol="0" anchor="t">
            <a:spAutoFit/>
          </a:bodyPr>
          <a:lstStyle/>
          <a:p>
            <a:pPr algn="l">
              <a:lnSpc>
                <a:spcPts val="2520"/>
              </a:lnSpc>
              <a:spcBef>
                <a:spcPct val="0"/>
              </a:spcBef>
            </a:pPr>
            <a:r>
              <a:rPr lang="en-US" sz="1800" spc="-55">
                <a:solidFill>
                  <a:srgbClr val="FFFFFF"/>
                </a:solidFill>
                <a:latin typeface="Open Sauce"/>
                <a:ea typeface="Open Sauce"/>
                <a:cs typeface="Open Sauce"/>
                <a:sym typeface="Open Sauce"/>
              </a:rPr>
              <a:t>Lorem ipsum dolor sit amet, consectetur adipiscing elit. Quisque molestie nisl eu sem tristique, sit amet convallis ex aliquam. Maecenas varius lectus hendrerit augue blandit.</a:t>
            </a:r>
          </a:p>
        </p:txBody>
      </p:sp>
      <p:sp>
        <p:nvSpPr>
          <p:cNvPr id="27" name="TextBox 27"/>
          <p:cNvSpPr txBox="1"/>
          <p:nvPr/>
        </p:nvSpPr>
        <p:spPr>
          <a:xfrm>
            <a:off x="10361802" y="7294609"/>
            <a:ext cx="5716743" cy="1249680"/>
          </a:xfrm>
          <a:prstGeom prst="rect">
            <a:avLst/>
          </a:prstGeom>
        </p:spPr>
        <p:txBody>
          <a:bodyPr lIns="0" tIns="0" rIns="0" bIns="0" rtlCol="0" anchor="t">
            <a:spAutoFit/>
          </a:bodyPr>
          <a:lstStyle/>
          <a:p>
            <a:pPr algn="l">
              <a:lnSpc>
                <a:spcPts val="2520"/>
              </a:lnSpc>
              <a:spcBef>
                <a:spcPct val="0"/>
              </a:spcBef>
            </a:pPr>
            <a:r>
              <a:rPr lang="en-US" sz="1800" spc="-55">
                <a:solidFill>
                  <a:srgbClr val="FFFFFF"/>
                </a:solidFill>
                <a:latin typeface="Open Sauce"/>
                <a:ea typeface="Open Sauce"/>
                <a:cs typeface="Open Sauce"/>
                <a:sym typeface="Open Sauce"/>
              </a:rPr>
              <a:t>Lorem ipsum dolor sit amet, consectetur adipiscing elit. Quisque molestie nisl eu sem tristique, sit amet convallis ex aliquam. Maecenas varius lectus hendrerit augue blandit.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Freeform 2"/>
          <p:cNvSpPr/>
          <p:nvPr/>
        </p:nvSpPr>
        <p:spPr>
          <a:xfrm>
            <a:off x="-2236464" y="7450168"/>
            <a:ext cx="4429515" cy="4086228"/>
          </a:xfrm>
          <a:custGeom>
            <a:avLst/>
            <a:gdLst/>
            <a:ahLst/>
            <a:cxnLst/>
            <a:rect l="l" t="t" r="r" b="b"/>
            <a:pathLst>
              <a:path w="4429515" h="4086228">
                <a:moveTo>
                  <a:pt x="0" y="0"/>
                </a:moveTo>
                <a:lnTo>
                  <a:pt x="4429515" y="0"/>
                </a:lnTo>
                <a:lnTo>
                  <a:pt x="4429515" y="4086228"/>
                </a:lnTo>
                <a:lnTo>
                  <a:pt x="0" y="4086228"/>
                </a:lnTo>
                <a:lnTo>
                  <a:pt x="0" y="0"/>
                </a:lnTo>
                <a:close/>
              </a:path>
            </a:pathLst>
          </a:custGeom>
          <a:blipFill>
            <a:blip r:embed="rId2"/>
            <a:stretch>
              <a:fillRect/>
            </a:stretch>
          </a:blipFill>
        </p:spPr>
      </p:sp>
      <p:sp>
        <p:nvSpPr>
          <p:cNvPr id="3" name="TextBox 3"/>
          <p:cNvSpPr txBox="1"/>
          <p:nvPr/>
        </p:nvSpPr>
        <p:spPr>
          <a:xfrm>
            <a:off x="1028700" y="981075"/>
            <a:ext cx="3246280" cy="405765"/>
          </a:xfrm>
          <a:prstGeom prst="rect">
            <a:avLst/>
          </a:prstGeom>
        </p:spPr>
        <p:txBody>
          <a:bodyPr lIns="0" tIns="0" rIns="0" bIns="0" rtlCol="0" anchor="t">
            <a:spAutoFit/>
          </a:bodyPr>
          <a:lstStyle/>
          <a:p>
            <a:pPr algn="l">
              <a:lnSpc>
                <a:spcPts val="3359"/>
              </a:lnSpc>
              <a:spcBef>
                <a:spcPct val="0"/>
              </a:spcBef>
            </a:pPr>
            <a:r>
              <a:rPr lang="en-US" sz="2400" spc="-74">
                <a:solidFill>
                  <a:srgbClr val="FFFFFF"/>
                </a:solidFill>
                <a:latin typeface="Open Sauce"/>
                <a:ea typeface="Open Sauce"/>
                <a:cs typeface="Open Sauce"/>
                <a:sym typeface="Open Sauce"/>
              </a:rPr>
              <a:t>Aldenaire &amp; Partners</a:t>
            </a:r>
          </a:p>
        </p:txBody>
      </p:sp>
      <p:sp>
        <p:nvSpPr>
          <p:cNvPr id="4" name="TextBox 4"/>
          <p:cNvSpPr txBox="1"/>
          <p:nvPr/>
        </p:nvSpPr>
        <p:spPr>
          <a:xfrm>
            <a:off x="16078546" y="981075"/>
            <a:ext cx="1180754" cy="349250"/>
          </a:xfrm>
          <a:prstGeom prst="rect">
            <a:avLst/>
          </a:prstGeom>
        </p:spPr>
        <p:txBody>
          <a:bodyPr lIns="0" tIns="0" rIns="0" bIns="0" rtlCol="0" anchor="t">
            <a:spAutoFit/>
          </a:bodyPr>
          <a:lstStyle/>
          <a:p>
            <a:pPr algn="r">
              <a:lnSpc>
                <a:spcPts val="2800"/>
              </a:lnSpc>
              <a:spcBef>
                <a:spcPct val="0"/>
              </a:spcBef>
            </a:pPr>
            <a:r>
              <a:rPr lang="en-US" sz="2000" spc="-62">
                <a:solidFill>
                  <a:srgbClr val="FFFFFF"/>
                </a:solidFill>
                <a:latin typeface="Open Sauce"/>
                <a:ea typeface="Open Sauce"/>
                <a:cs typeface="Open Sauce"/>
                <a:sym typeface="Open Sauce"/>
              </a:rPr>
              <a:t>2030</a:t>
            </a:r>
          </a:p>
        </p:txBody>
      </p:sp>
      <p:sp>
        <p:nvSpPr>
          <p:cNvPr id="5" name="TextBox 5"/>
          <p:cNvSpPr txBox="1"/>
          <p:nvPr/>
        </p:nvSpPr>
        <p:spPr>
          <a:xfrm>
            <a:off x="1028700" y="8878570"/>
            <a:ext cx="4535989" cy="306705"/>
          </a:xfrm>
          <a:prstGeom prst="rect">
            <a:avLst/>
          </a:prstGeom>
        </p:spPr>
        <p:txBody>
          <a:bodyPr lIns="0" tIns="0" rIns="0" bIns="0" rtlCol="0" anchor="t">
            <a:spAutoFit/>
          </a:bodyPr>
          <a:lstStyle/>
          <a:p>
            <a:pPr algn="l">
              <a:lnSpc>
                <a:spcPts val="2520"/>
              </a:lnSpc>
              <a:spcBef>
                <a:spcPct val="0"/>
              </a:spcBef>
            </a:pPr>
            <a:r>
              <a:rPr lang="en-US" sz="1800" spc="-55">
                <a:solidFill>
                  <a:srgbClr val="FFFFFF"/>
                </a:solidFill>
                <a:latin typeface="Open Sauce"/>
                <a:ea typeface="Open Sauce"/>
                <a:cs typeface="Open Sauce"/>
                <a:sym typeface="Open Sauce"/>
              </a:rPr>
              <a:t>www.reallygreatsite.com</a:t>
            </a:r>
          </a:p>
        </p:txBody>
      </p:sp>
      <p:sp>
        <p:nvSpPr>
          <p:cNvPr id="6" name="TextBox 6"/>
          <p:cNvSpPr txBox="1"/>
          <p:nvPr/>
        </p:nvSpPr>
        <p:spPr>
          <a:xfrm>
            <a:off x="1028700" y="2347404"/>
            <a:ext cx="6180311" cy="2540889"/>
          </a:xfrm>
          <a:prstGeom prst="rect">
            <a:avLst/>
          </a:prstGeom>
        </p:spPr>
        <p:txBody>
          <a:bodyPr lIns="0" tIns="0" rIns="0" bIns="0" rtlCol="0" anchor="t">
            <a:spAutoFit/>
          </a:bodyPr>
          <a:lstStyle/>
          <a:p>
            <a:pPr algn="l">
              <a:lnSpc>
                <a:spcPts val="9888"/>
              </a:lnSpc>
            </a:pPr>
            <a:r>
              <a:rPr lang="en-US" sz="9600">
                <a:solidFill>
                  <a:srgbClr val="FFFFFF"/>
                </a:solidFill>
                <a:latin typeface="Anton"/>
                <a:ea typeface="Anton"/>
                <a:cs typeface="Anton"/>
                <a:sym typeface="Anton"/>
              </a:rPr>
              <a:t>MARKETING CHANNELS</a:t>
            </a:r>
          </a:p>
        </p:txBody>
      </p:sp>
      <p:sp>
        <p:nvSpPr>
          <p:cNvPr id="7" name="TextBox 7"/>
          <p:cNvSpPr txBox="1"/>
          <p:nvPr/>
        </p:nvSpPr>
        <p:spPr>
          <a:xfrm>
            <a:off x="1028700" y="5077651"/>
            <a:ext cx="6180311" cy="3135630"/>
          </a:xfrm>
          <a:prstGeom prst="rect">
            <a:avLst/>
          </a:prstGeom>
        </p:spPr>
        <p:txBody>
          <a:bodyPr lIns="0" tIns="0" rIns="0" bIns="0" rtlCol="0" anchor="t">
            <a:spAutoFit/>
          </a:bodyPr>
          <a:lstStyle/>
          <a:p>
            <a:pPr algn="l">
              <a:lnSpc>
                <a:spcPts val="2520"/>
              </a:lnSpc>
              <a:spcBef>
                <a:spcPct val="0"/>
              </a:spcBef>
            </a:pPr>
            <a:r>
              <a:rPr lang="en-US" sz="1800" spc="-55">
                <a:solidFill>
                  <a:srgbClr val="FFFFFF"/>
                </a:solidFill>
                <a:latin typeface="Open Sauce"/>
                <a:ea typeface="Open Sauce"/>
                <a:cs typeface="Open Sauce"/>
                <a:sym typeface="Open Sauce"/>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grpSp>
        <p:nvGrpSpPr>
          <p:cNvPr id="8" name="Group 8"/>
          <p:cNvGrpSpPr/>
          <p:nvPr/>
        </p:nvGrpSpPr>
        <p:grpSpPr>
          <a:xfrm>
            <a:off x="9418087" y="1229266"/>
            <a:ext cx="1164351" cy="116435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11BE4"/>
            </a:solidFill>
            <a:ln cap="sq">
              <a:noFill/>
              <a:prstDash val="solid"/>
              <a:miter/>
            </a:ln>
          </p:spPr>
        </p:sp>
        <p:sp>
          <p:nvSpPr>
            <p:cNvPr id="10" name="TextBox 10"/>
            <p:cNvSpPr txBox="1"/>
            <p:nvPr/>
          </p:nvSpPr>
          <p:spPr>
            <a:xfrm>
              <a:off x="76200" y="28575"/>
              <a:ext cx="660400" cy="708025"/>
            </a:xfrm>
            <a:prstGeom prst="rect">
              <a:avLst/>
            </a:prstGeom>
          </p:spPr>
          <p:txBody>
            <a:bodyPr lIns="50800" tIns="50800" rIns="50800" bIns="50800" rtlCol="0" anchor="ctr"/>
            <a:lstStyle/>
            <a:p>
              <a:pPr marL="0" lvl="0" indent="0" algn="ctr">
                <a:lnSpc>
                  <a:spcPts val="3360"/>
                </a:lnSpc>
                <a:spcBef>
                  <a:spcPct val="0"/>
                </a:spcBef>
              </a:pPr>
              <a:r>
                <a:rPr lang="en-US" sz="2400" u="none" strike="noStrike" spc="-74">
                  <a:solidFill>
                    <a:srgbClr val="FFFFFF"/>
                  </a:solidFill>
                  <a:latin typeface="Open Sauce"/>
                  <a:ea typeface="Open Sauce"/>
                  <a:cs typeface="Open Sauce"/>
                  <a:sym typeface="Open Sauce"/>
                </a:rPr>
                <a:t>01</a:t>
              </a:r>
            </a:p>
          </p:txBody>
        </p:sp>
      </p:grpSp>
      <p:grpSp>
        <p:nvGrpSpPr>
          <p:cNvPr id="11" name="Group 11"/>
          <p:cNvGrpSpPr/>
          <p:nvPr/>
        </p:nvGrpSpPr>
        <p:grpSpPr>
          <a:xfrm>
            <a:off x="9418087" y="4035522"/>
            <a:ext cx="1164351" cy="1164351"/>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11BE4"/>
            </a:solidFill>
            <a:ln cap="sq">
              <a:noFill/>
              <a:prstDash val="solid"/>
              <a:miter/>
            </a:ln>
          </p:spPr>
        </p:sp>
        <p:sp>
          <p:nvSpPr>
            <p:cNvPr id="13" name="TextBox 13"/>
            <p:cNvSpPr txBox="1"/>
            <p:nvPr/>
          </p:nvSpPr>
          <p:spPr>
            <a:xfrm>
              <a:off x="76200" y="28575"/>
              <a:ext cx="660400" cy="708025"/>
            </a:xfrm>
            <a:prstGeom prst="rect">
              <a:avLst/>
            </a:prstGeom>
          </p:spPr>
          <p:txBody>
            <a:bodyPr lIns="50800" tIns="50800" rIns="50800" bIns="50800" rtlCol="0" anchor="ctr"/>
            <a:lstStyle/>
            <a:p>
              <a:pPr marL="0" lvl="0" indent="0" algn="ctr">
                <a:lnSpc>
                  <a:spcPts val="3360"/>
                </a:lnSpc>
                <a:spcBef>
                  <a:spcPct val="0"/>
                </a:spcBef>
              </a:pPr>
              <a:r>
                <a:rPr lang="en-US" sz="2400" u="none" strike="noStrike" spc="-74">
                  <a:solidFill>
                    <a:srgbClr val="FFFFFF"/>
                  </a:solidFill>
                  <a:latin typeface="Open Sauce"/>
                  <a:ea typeface="Open Sauce"/>
                  <a:cs typeface="Open Sauce"/>
                  <a:sym typeface="Open Sauce"/>
                </a:rPr>
                <a:t>02</a:t>
              </a:r>
            </a:p>
          </p:txBody>
        </p:sp>
      </p:grpSp>
      <p:grpSp>
        <p:nvGrpSpPr>
          <p:cNvPr id="14" name="Group 14"/>
          <p:cNvGrpSpPr/>
          <p:nvPr/>
        </p:nvGrpSpPr>
        <p:grpSpPr>
          <a:xfrm>
            <a:off x="9418087" y="6972270"/>
            <a:ext cx="1164351" cy="1164351"/>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11BE4"/>
            </a:solidFill>
            <a:ln cap="sq">
              <a:noFill/>
              <a:prstDash val="solid"/>
              <a:miter/>
            </a:ln>
          </p:spPr>
        </p:sp>
        <p:sp>
          <p:nvSpPr>
            <p:cNvPr id="16" name="TextBox 16"/>
            <p:cNvSpPr txBox="1"/>
            <p:nvPr/>
          </p:nvSpPr>
          <p:spPr>
            <a:xfrm>
              <a:off x="76200" y="28575"/>
              <a:ext cx="660400" cy="708025"/>
            </a:xfrm>
            <a:prstGeom prst="rect">
              <a:avLst/>
            </a:prstGeom>
          </p:spPr>
          <p:txBody>
            <a:bodyPr lIns="50800" tIns="50800" rIns="50800" bIns="50800" rtlCol="0" anchor="ctr"/>
            <a:lstStyle/>
            <a:p>
              <a:pPr marL="0" lvl="0" indent="0" algn="ctr">
                <a:lnSpc>
                  <a:spcPts val="3360"/>
                </a:lnSpc>
                <a:spcBef>
                  <a:spcPct val="0"/>
                </a:spcBef>
              </a:pPr>
              <a:r>
                <a:rPr lang="en-US" sz="2400" u="none" strike="noStrike" spc="-74">
                  <a:solidFill>
                    <a:srgbClr val="FFFFFF"/>
                  </a:solidFill>
                  <a:latin typeface="Open Sauce"/>
                  <a:ea typeface="Open Sauce"/>
                  <a:cs typeface="Open Sauce"/>
                  <a:sym typeface="Open Sauce"/>
                </a:rPr>
                <a:t>03</a:t>
              </a:r>
            </a:p>
          </p:txBody>
        </p:sp>
      </p:grpSp>
      <p:sp>
        <p:nvSpPr>
          <p:cNvPr id="17" name="TextBox 17"/>
          <p:cNvSpPr txBox="1"/>
          <p:nvPr/>
        </p:nvSpPr>
        <p:spPr>
          <a:xfrm>
            <a:off x="10952180" y="1181641"/>
            <a:ext cx="5716743" cy="405765"/>
          </a:xfrm>
          <a:prstGeom prst="rect">
            <a:avLst/>
          </a:prstGeom>
        </p:spPr>
        <p:txBody>
          <a:bodyPr lIns="0" tIns="0" rIns="0" bIns="0" rtlCol="0" anchor="t">
            <a:spAutoFit/>
          </a:bodyPr>
          <a:lstStyle/>
          <a:p>
            <a:pPr algn="l">
              <a:lnSpc>
                <a:spcPts val="3359"/>
              </a:lnSpc>
              <a:spcBef>
                <a:spcPct val="0"/>
              </a:spcBef>
            </a:pPr>
            <a:r>
              <a:rPr lang="en-US" sz="2400" b="1" spc="-74">
                <a:solidFill>
                  <a:srgbClr val="FFFFFF"/>
                </a:solidFill>
                <a:latin typeface="Open Sauce Bold"/>
                <a:ea typeface="Open Sauce Bold"/>
                <a:cs typeface="Open Sauce Bold"/>
                <a:sym typeface="Open Sauce Bold"/>
              </a:rPr>
              <a:t>Paid Channels</a:t>
            </a:r>
          </a:p>
        </p:txBody>
      </p:sp>
      <p:sp>
        <p:nvSpPr>
          <p:cNvPr id="18" name="TextBox 18"/>
          <p:cNvSpPr txBox="1"/>
          <p:nvPr/>
        </p:nvSpPr>
        <p:spPr>
          <a:xfrm>
            <a:off x="10952180" y="3987897"/>
            <a:ext cx="5716743" cy="405765"/>
          </a:xfrm>
          <a:prstGeom prst="rect">
            <a:avLst/>
          </a:prstGeom>
        </p:spPr>
        <p:txBody>
          <a:bodyPr lIns="0" tIns="0" rIns="0" bIns="0" rtlCol="0" anchor="t">
            <a:spAutoFit/>
          </a:bodyPr>
          <a:lstStyle/>
          <a:p>
            <a:pPr algn="l">
              <a:lnSpc>
                <a:spcPts val="3359"/>
              </a:lnSpc>
              <a:spcBef>
                <a:spcPct val="0"/>
              </a:spcBef>
            </a:pPr>
            <a:r>
              <a:rPr lang="en-US" sz="2400" b="1" spc="-74">
                <a:solidFill>
                  <a:srgbClr val="FFFFFF"/>
                </a:solidFill>
                <a:latin typeface="Open Sauce Bold"/>
                <a:ea typeface="Open Sauce Bold"/>
                <a:cs typeface="Open Sauce Bold"/>
                <a:sym typeface="Open Sauce Bold"/>
              </a:rPr>
              <a:t>Owned Channels</a:t>
            </a:r>
          </a:p>
        </p:txBody>
      </p:sp>
      <p:sp>
        <p:nvSpPr>
          <p:cNvPr id="19" name="TextBox 19"/>
          <p:cNvSpPr txBox="1"/>
          <p:nvPr/>
        </p:nvSpPr>
        <p:spPr>
          <a:xfrm>
            <a:off x="10952180" y="6924645"/>
            <a:ext cx="5716743" cy="405765"/>
          </a:xfrm>
          <a:prstGeom prst="rect">
            <a:avLst/>
          </a:prstGeom>
        </p:spPr>
        <p:txBody>
          <a:bodyPr lIns="0" tIns="0" rIns="0" bIns="0" rtlCol="0" anchor="t">
            <a:spAutoFit/>
          </a:bodyPr>
          <a:lstStyle/>
          <a:p>
            <a:pPr algn="l">
              <a:lnSpc>
                <a:spcPts val="3359"/>
              </a:lnSpc>
              <a:spcBef>
                <a:spcPct val="0"/>
              </a:spcBef>
            </a:pPr>
            <a:r>
              <a:rPr lang="en-US" sz="2400" b="1" spc="-74">
                <a:solidFill>
                  <a:srgbClr val="FFFFFF"/>
                </a:solidFill>
                <a:latin typeface="Open Sauce Bold"/>
                <a:ea typeface="Open Sauce Bold"/>
                <a:cs typeface="Open Sauce Bold"/>
                <a:sym typeface="Open Sauce Bold"/>
              </a:rPr>
              <a:t>Earned Channels</a:t>
            </a:r>
          </a:p>
        </p:txBody>
      </p:sp>
      <p:sp>
        <p:nvSpPr>
          <p:cNvPr id="20" name="TextBox 20"/>
          <p:cNvSpPr txBox="1"/>
          <p:nvPr/>
        </p:nvSpPr>
        <p:spPr>
          <a:xfrm>
            <a:off x="10952180" y="1743964"/>
            <a:ext cx="5716743" cy="1564005"/>
          </a:xfrm>
          <a:prstGeom prst="rect">
            <a:avLst/>
          </a:prstGeom>
        </p:spPr>
        <p:txBody>
          <a:bodyPr lIns="0" tIns="0" rIns="0" bIns="0" rtlCol="0" anchor="t">
            <a:spAutoFit/>
          </a:bodyPr>
          <a:lstStyle/>
          <a:p>
            <a:pPr algn="l">
              <a:lnSpc>
                <a:spcPts val="2520"/>
              </a:lnSpc>
              <a:spcBef>
                <a:spcPct val="0"/>
              </a:spcBef>
            </a:pPr>
            <a:r>
              <a:rPr lang="en-US" sz="1800" spc="-55">
                <a:solidFill>
                  <a:srgbClr val="FFFFFF"/>
                </a:solidFill>
                <a:latin typeface="Open Sauce"/>
                <a:ea typeface="Open Sauce"/>
                <a:cs typeface="Open Sauce"/>
                <a:sym typeface="Open Sauce"/>
              </a:rPr>
              <a:t>Lorem ipsum dolor sit amet, consectetur adipiscing elit. Quisque molestie nisl eu sem tristique, sit amet convallis ex aliquam. Maecenas varius lectus hendrerit augue blandit, ut posuere erat aliquam. Praesent auctor tellus eget nisl blandit.</a:t>
            </a:r>
          </a:p>
        </p:txBody>
      </p:sp>
      <p:sp>
        <p:nvSpPr>
          <p:cNvPr id="21" name="TextBox 21"/>
          <p:cNvSpPr txBox="1"/>
          <p:nvPr/>
        </p:nvSpPr>
        <p:spPr>
          <a:xfrm>
            <a:off x="10952180" y="4550219"/>
            <a:ext cx="5716743" cy="1564005"/>
          </a:xfrm>
          <a:prstGeom prst="rect">
            <a:avLst/>
          </a:prstGeom>
        </p:spPr>
        <p:txBody>
          <a:bodyPr lIns="0" tIns="0" rIns="0" bIns="0" rtlCol="0" anchor="t">
            <a:spAutoFit/>
          </a:bodyPr>
          <a:lstStyle/>
          <a:p>
            <a:pPr algn="l">
              <a:lnSpc>
                <a:spcPts val="2520"/>
              </a:lnSpc>
              <a:spcBef>
                <a:spcPct val="0"/>
              </a:spcBef>
            </a:pPr>
            <a:r>
              <a:rPr lang="en-US" sz="1800" spc="-55">
                <a:solidFill>
                  <a:srgbClr val="FFFFFF"/>
                </a:solidFill>
                <a:latin typeface="Open Sauce"/>
                <a:ea typeface="Open Sauce"/>
                <a:cs typeface="Open Sauce"/>
                <a:sym typeface="Open Sauce"/>
              </a:rPr>
              <a:t>Lorem ipsum dolor sit amet, consectetur adipiscing elit. Quisque molestie nisl eu sem tristique, sit amet convallis ex aliquam. Maecenas varius lectus hendrerit augue blandit, ut posuere erat aliquam. Praesent auctor tellus eget nisl blandit.</a:t>
            </a:r>
          </a:p>
        </p:txBody>
      </p:sp>
      <p:sp>
        <p:nvSpPr>
          <p:cNvPr id="22" name="TextBox 22"/>
          <p:cNvSpPr txBox="1"/>
          <p:nvPr/>
        </p:nvSpPr>
        <p:spPr>
          <a:xfrm>
            <a:off x="10952180" y="7486968"/>
            <a:ext cx="5716743" cy="1564005"/>
          </a:xfrm>
          <a:prstGeom prst="rect">
            <a:avLst/>
          </a:prstGeom>
        </p:spPr>
        <p:txBody>
          <a:bodyPr lIns="0" tIns="0" rIns="0" bIns="0" rtlCol="0" anchor="t">
            <a:spAutoFit/>
          </a:bodyPr>
          <a:lstStyle/>
          <a:p>
            <a:pPr algn="l">
              <a:lnSpc>
                <a:spcPts val="2520"/>
              </a:lnSpc>
              <a:spcBef>
                <a:spcPct val="0"/>
              </a:spcBef>
            </a:pPr>
            <a:r>
              <a:rPr lang="en-US" sz="1800" spc="-55">
                <a:solidFill>
                  <a:srgbClr val="FFFFFF"/>
                </a:solidFill>
                <a:latin typeface="Open Sauce"/>
                <a:ea typeface="Open Sauce"/>
                <a:cs typeface="Open Sauce"/>
                <a:sym typeface="Open Sauce"/>
              </a:rPr>
              <a:t>Lorem ipsum dolor sit amet, consectetur adipiscing elit. Quisque molestie nisl eu sem tristique, sit amet convallis ex aliquam. Maecenas varius lectus hendrerit augue blandit, ut posuere erat aliquam. Praesent auctor tellus eget nisl blandit.</a:t>
            </a:r>
          </a:p>
        </p:txBody>
      </p:sp>
      <p:sp>
        <p:nvSpPr>
          <p:cNvPr id="23" name="AutoShape 23"/>
          <p:cNvSpPr/>
          <p:nvPr/>
        </p:nvSpPr>
        <p:spPr>
          <a:xfrm>
            <a:off x="9418087" y="3671745"/>
            <a:ext cx="7250835" cy="0"/>
          </a:xfrm>
          <a:prstGeom prst="line">
            <a:avLst/>
          </a:prstGeom>
          <a:ln w="38100" cap="flat">
            <a:solidFill>
              <a:srgbClr val="FFFFFF">
                <a:alpha val="15686"/>
              </a:srgbClr>
            </a:solidFill>
            <a:prstDash val="solid"/>
            <a:headEnd type="none" w="sm" len="sm"/>
            <a:tailEnd type="none" w="sm" len="sm"/>
          </a:ln>
        </p:spPr>
      </p:sp>
      <p:sp>
        <p:nvSpPr>
          <p:cNvPr id="24" name="AutoShape 24"/>
          <p:cNvSpPr/>
          <p:nvPr/>
        </p:nvSpPr>
        <p:spPr>
          <a:xfrm>
            <a:off x="9418087" y="6543247"/>
            <a:ext cx="7250835" cy="0"/>
          </a:xfrm>
          <a:prstGeom prst="line">
            <a:avLst/>
          </a:prstGeom>
          <a:ln w="38100" cap="flat">
            <a:solidFill>
              <a:srgbClr val="FFFFFF">
                <a:alpha val="15686"/>
              </a:srgbClr>
            </a:solidFill>
            <a:prstDash val="solid"/>
            <a:headEnd type="none" w="sm" len="sm"/>
            <a:tailEnd type="none" w="sm" len="sm"/>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Freeform 2"/>
          <p:cNvSpPr/>
          <p:nvPr/>
        </p:nvSpPr>
        <p:spPr>
          <a:xfrm>
            <a:off x="-2236464" y="7450168"/>
            <a:ext cx="4429515" cy="4086228"/>
          </a:xfrm>
          <a:custGeom>
            <a:avLst/>
            <a:gdLst/>
            <a:ahLst/>
            <a:cxnLst/>
            <a:rect l="l" t="t" r="r" b="b"/>
            <a:pathLst>
              <a:path w="4429515" h="4086228">
                <a:moveTo>
                  <a:pt x="0" y="0"/>
                </a:moveTo>
                <a:lnTo>
                  <a:pt x="4429515" y="0"/>
                </a:lnTo>
                <a:lnTo>
                  <a:pt x="4429515" y="4086228"/>
                </a:lnTo>
                <a:lnTo>
                  <a:pt x="0" y="4086228"/>
                </a:lnTo>
                <a:lnTo>
                  <a:pt x="0" y="0"/>
                </a:lnTo>
                <a:close/>
              </a:path>
            </a:pathLst>
          </a:custGeom>
          <a:blipFill>
            <a:blip r:embed="rId2"/>
            <a:stretch>
              <a:fillRect/>
            </a:stretch>
          </a:blipFill>
        </p:spPr>
      </p:sp>
      <p:grpSp>
        <p:nvGrpSpPr>
          <p:cNvPr id="3" name="Group 3"/>
          <p:cNvGrpSpPr/>
          <p:nvPr/>
        </p:nvGrpSpPr>
        <p:grpSpPr>
          <a:xfrm>
            <a:off x="1028700" y="4004193"/>
            <a:ext cx="1164351" cy="116435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11BE4"/>
            </a:solidFill>
            <a:ln cap="sq">
              <a:noFill/>
              <a:prstDash val="solid"/>
              <a:miter/>
            </a:ln>
          </p:spPr>
        </p:sp>
        <p:sp>
          <p:nvSpPr>
            <p:cNvPr id="5" name="TextBox 5"/>
            <p:cNvSpPr txBox="1"/>
            <p:nvPr/>
          </p:nvSpPr>
          <p:spPr>
            <a:xfrm>
              <a:off x="76200" y="28575"/>
              <a:ext cx="660400" cy="708025"/>
            </a:xfrm>
            <a:prstGeom prst="rect">
              <a:avLst/>
            </a:prstGeom>
          </p:spPr>
          <p:txBody>
            <a:bodyPr lIns="50800" tIns="50800" rIns="50800" bIns="50800" rtlCol="0" anchor="ctr"/>
            <a:lstStyle/>
            <a:p>
              <a:pPr marL="0" lvl="0" indent="0" algn="ctr">
                <a:lnSpc>
                  <a:spcPts val="3360"/>
                </a:lnSpc>
                <a:spcBef>
                  <a:spcPct val="0"/>
                </a:spcBef>
              </a:pPr>
              <a:r>
                <a:rPr lang="en-US" sz="2400" u="none" strike="noStrike" spc="-74">
                  <a:solidFill>
                    <a:srgbClr val="FFFFFF"/>
                  </a:solidFill>
                  <a:latin typeface="Open Sauce"/>
                  <a:ea typeface="Open Sauce"/>
                  <a:cs typeface="Open Sauce"/>
                  <a:sym typeface="Open Sauce"/>
                </a:rPr>
                <a:t>01</a:t>
              </a:r>
            </a:p>
          </p:txBody>
        </p:sp>
      </p:grpSp>
      <p:grpSp>
        <p:nvGrpSpPr>
          <p:cNvPr id="6" name="Group 6"/>
          <p:cNvGrpSpPr/>
          <p:nvPr/>
        </p:nvGrpSpPr>
        <p:grpSpPr>
          <a:xfrm>
            <a:off x="6140892" y="4004193"/>
            <a:ext cx="1164351" cy="116435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11BE4"/>
            </a:solidFill>
            <a:ln cap="sq">
              <a:noFill/>
              <a:prstDash val="solid"/>
              <a:miter/>
            </a:ln>
          </p:spPr>
        </p:sp>
        <p:sp>
          <p:nvSpPr>
            <p:cNvPr id="8" name="TextBox 8"/>
            <p:cNvSpPr txBox="1"/>
            <p:nvPr/>
          </p:nvSpPr>
          <p:spPr>
            <a:xfrm>
              <a:off x="76200" y="28575"/>
              <a:ext cx="660400" cy="708025"/>
            </a:xfrm>
            <a:prstGeom prst="rect">
              <a:avLst/>
            </a:prstGeom>
          </p:spPr>
          <p:txBody>
            <a:bodyPr lIns="50800" tIns="50800" rIns="50800" bIns="50800" rtlCol="0" anchor="ctr"/>
            <a:lstStyle/>
            <a:p>
              <a:pPr marL="0" lvl="0" indent="0" algn="ctr">
                <a:lnSpc>
                  <a:spcPts val="3360"/>
                </a:lnSpc>
                <a:spcBef>
                  <a:spcPct val="0"/>
                </a:spcBef>
              </a:pPr>
              <a:r>
                <a:rPr lang="en-US" sz="2400" u="none" strike="noStrike" spc="-74">
                  <a:solidFill>
                    <a:srgbClr val="FFFFFF"/>
                  </a:solidFill>
                  <a:latin typeface="Open Sauce"/>
                  <a:ea typeface="Open Sauce"/>
                  <a:cs typeface="Open Sauce"/>
                  <a:sym typeface="Open Sauce"/>
                </a:rPr>
                <a:t>02</a:t>
              </a:r>
            </a:p>
          </p:txBody>
        </p:sp>
      </p:grpSp>
      <p:grpSp>
        <p:nvGrpSpPr>
          <p:cNvPr id="9" name="Group 9"/>
          <p:cNvGrpSpPr/>
          <p:nvPr/>
        </p:nvGrpSpPr>
        <p:grpSpPr>
          <a:xfrm>
            <a:off x="11253084" y="4004193"/>
            <a:ext cx="1164351" cy="1164351"/>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11BE4"/>
            </a:solidFill>
            <a:ln cap="sq">
              <a:no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marL="0" lvl="0" indent="0" algn="ctr">
                <a:lnSpc>
                  <a:spcPts val="3360"/>
                </a:lnSpc>
                <a:spcBef>
                  <a:spcPct val="0"/>
                </a:spcBef>
              </a:pPr>
              <a:r>
                <a:rPr lang="en-US" sz="2400" u="none" strike="noStrike" spc="-74">
                  <a:solidFill>
                    <a:srgbClr val="FFFFFF"/>
                  </a:solidFill>
                  <a:latin typeface="Open Sauce"/>
                  <a:ea typeface="Open Sauce"/>
                  <a:cs typeface="Open Sauce"/>
                  <a:sym typeface="Open Sauce"/>
                </a:rPr>
                <a:t>03</a:t>
              </a:r>
            </a:p>
          </p:txBody>
        </p:sp>
      </p:grpSp>
      <p:sp>
        <p:nvSpPr>
          <p:cNvPr id="12" name="TextBox 12"/>
          <p:cNvSpPr txBox="1"/>
          <p:nvPr/>
        </p:nvSpPr>
        <p:spPr>
          <a:xfrm>
            <a:off x="1028700" y="981075"/>
            <a:ext cx="3246280" cy="405765"/>
          </a:xfrm>
          <a:prstGeom prst="rect">
            <a:avLst/>
          </a:prstGeom>
        </p:spPr>
        <p:txBody>
          <a:bodyPr lIns="0" tIns="0" rIns="0" bIns="0" rtlCol="0" anchor="t">
            <a:spAutoFit/>
          </a:bodyPr>
          <a:lstStyle/>
          <a:p>
            <a:pPr algn="l">
              <a:lnSpc>
                <a:spcPts val="3359"/>
              </a:lnSpc>
              <a:spcBef>
                <a:spcPct val="0"/>
              </a:spcBef>
            </a:pPr>
            <a:r>
              <a:rPr lang="en-US" sz="2400" spc="-74">
                <a:solidFill>
                  <a:srgbClr val="FFFFFF"/>
                </a:solidFill>
                <a:latin typeface="Open Sauce"/>
                <a:ea typeface="Open Sauce"/>
                <a:cs typeface="Open Sauce"/>
                <a:sym typeface="Open Sauce"/>
              </a:rPr>
              <a:t>Aldenaire &amp; Partners</a:t>
            </a:r>
          </a:p>
        </p:txBody>
      </p:sp>
      <p:sp>
        <p:nvSpPr>
          <p:cNvPr id="13" name="Freeform 13"/>
          <p:cNvSpPr/>
          <p:nvPr/>
        </p:nvSpPr>
        <p:spPr>
          <a:xfrm>
            <a:off x="14590114" y="-2034903"/>
            <a:ext cx="6903032" cy="6730456"/>
          </a:xfrm>
          <a:custGeom>
            <a:avLst/>
            <a:gdLst/>
            <a:ahLst/>
            <a:cxnLst/>
            <a:rect l="l" t="t" r="r" b="b"/>
            <a:pathLst>
              <a:path w="6903032" h="6730456">
                <a:moveTo>
                  <a:pt x="0" y="0"/>
                </a:moveTo>
                <a:lnTo>
                  <a:pt x="6903032" y="0"/>
                </a:lnTo>
                <a:lnTo>
                  <a:pt x="6903032" y="6730456"/>
                </a:lnTo>
                <a:lnTo>
                  <a:pt x="0" y="6730456"/>
                </a:lnTo>
                <a:lnTo>
                  <a:pt x="0" y="0"/>
                </a:lnTo>
                <a:close/>
              </a:path>
            </a:pathLst>
          </a:custGeom>
          <a:blipFill>
            <a:blip r:embed="rId3"/>
            <a:stretch>
              <a:fillRect/>
            </a:stretch>
          </a:blipFill>
        </p:spPr>
      </p:sp>
      <p:sp>
        <p:nvSpPr>
          <p:cNvPr id="14" name="TextBox 14"/>
          <p:cNvSpPr txBox="1"/>
          <p:nvPr/>
        </p:nvSpPr>
        <p:spPr>
          <a:xfrm>
            <a:off x="16078546" y="981075"/>
            <a:ext cx="1180754" cy="349250"/>
          </a:xfrm>
          <a:prstGeom prst="rect">
            <a:avLst/>
          </a:prstGeom>
        </p:spPr>
        <p:txBody>
          <a:bodyPr lIns="0" tIns="0" rIns="0" bIns="0" rtlCol="0" anchor="t">
            <a:spAutoFit/>
          </a:bodyPr>
          <a:lstStyle/>
          <a:p>
            <a:pPr algn="r">
              <a:lnSpc>
                <a:spcPts val="2800"/>
              </a:lnSpc>
              <a:spcBef>
                <a:spcPct val="0"/>
              </a:spcBef>
            </a:pPr>
            <a:r>
              <a:rPr lang="en-US" sz="2000" spc="-62">
                <a:solidFill>
                  <a:srgbClr val="FFFFFF"/>
                </a:solidFill>
                <a:latin typeface="Open Sauce"/>
                <a:ea typeface="Open Sauce"/>
                <a:cs typeface="Open Sauce"/>
                <a:sym typeface="Open Sauce"/>
              </a:rPr>
              <a:t>2030</a:t>
            </a:r>
          </a:p>
        </p:txBody>
      </p:sp>
      <p:sp>
        <p:nvSpPr>
          <p:cNvPr id="15" name="TextBox 15"/>
          <p:cNvSpPr txBox="1"/>
          <p:nvPr/>
        </p:nvSpPr>
        <p:spPr>
          <a:xfrm>
            <a:off x="1028700" y="9142095"/>
            <a:ext cx="4535989" cy="306705"/>
          </a:xfrm>
          <a:prstGeom prst="rect">
            <a:avLst/>
          </a:prstGeom>
        </p:spPr>
        <p:txBody>
          <a:bodyPr lIns="0" tIns="0" rIns="0" bIns="0" rtlCol="0" anchor="t">
            <a:spAutoFit/>
          </a:bodyPr>
          <a:lstStyle/>
          <a:p>
            <a:pPr algn="l">
              <a:lnSpc>
                <a:spcPts val="2520"/>
              </a:lnSpc>
              <a:spcBef>
                <a:spcPct val="0"/>
              </a:spcBef>
            </a:pPr>
            <a:r>
              <a:rPr lang="en-US" sz="1800" spc="-55">
                <a:solidFill>
                  <a:srgbClr val="FFFFFF"/>
                </a:solidFill>
                <a:latin typeface="Open Sauce"/>
                <a:ea typeface="Open Sauce"/>
                <a:cs typeface="Open Sauce"/>
                <a:sym typeface="Open Sauce"/>
              </a:rPr>
              <a:t>www.reallygreatsite.com</a:t>
            </a:r>
          </a:p>
        </p:txBody>
      </p:sp>
      <p:sp>
        <p:nvSpPr>
          <p:cNvPr id="16" name="TextBox 16"/>
          <p:cNvSpPr txBox="1"/>
          <p:nvPr/>
        </p:nvSpPr>
        <p:spPr>
          <a:xfrm>
            <a:off x="1028700" y="2279904"/>
            <a:ext cx="6395918" cy="1293114"/>
          </a:xfrm>
          <a:prstGeom prst="rect">
            <a:avLst/>
          </a:prstGeom>
        </p:spPr>
        <p:txBody>
          <a:bodyPr lIns="0" tIns="0" rIns="0" bIns="0" rtlCol="0" anchor="t">
            <a:spAutoFit/>
          </a:bodyPr>
          <a:lstStyle/>
          <a:p>
            <a:pPr algn="l">
              <a:lnSpc>
                <a:spcPts val="9888"/>
              </a:lnSpc>
            </a:pPr>
            <a:r>
              <a:rPr lang="en-US" sz="9600">
                <a:solidFill>
                  <a:srgbClr val="FFFFFF"/>
                </a:solidFill>
                <a:latin typeface="Anton"/>
                <a:ea typeface="Anton"/>
                <a:cs typeface="Anton"/>
                <a:sym typeface="Anton"/>
              </a:rPr>
              <a:t>CONTENT PLAN</a:t>
            </a:r>
          </a:p>
        </p:txBody>
      </p:sp>
      <p:sp>
        <p:nvSpPr>
          <p:cNvPr id="17" name="TextBox 17"/>
          <p:cNvSpPr txBox="1"/>
          <p:nvPr/>
        </p:nvSpPr>
        <p:spPr>
          <a:xfrm>
            <a:off x="1028700" y="5463819"/>
            <a:ext cx="4524919" cy="405765"/>
          </a:xfrm>
          <a:prstGeom prst="rect">
            <a:avLst/>
          </a:prstGeom>
        </p:spPr>
        <p:txBody>
          <a:bodyPr lIns="0" tIns="0" rIns="0" bIns="0" rtlCol="0" anchor="t">
            <a:spAutoFit/>
          </a:bodyPr>
          <a:lstStyle/>
          <a:p>
            <a:pPr algn="l">
              <a:lnSpc>
                <a:spcPts val="3359"/>
              </a:lnSpc>
              <a:spcBef>
                <a:spcPct val="0"/>
              </a:spcBef>
            </a:pPr>
            <a:r>
              <a:rPr lang="en-US" sz="2400" b="1" spc="-74">
                <a:solidFill>
                  <a:srgbClr val="FFFFFF"/>
                </a:solidFill>
                <a:latin typeface="Open Sauce Bold"/>
                <a:ea typeface="Open Sauce Bold"/>
                <a:cs typeface="Open Sauce Bold"/>
                <a:sym typeface="Open Sauce Bold"/>
              </a:rPr>
              <a:t>Monthly themes</a:t>
            </a:r>
          </a:p>
        </p:txBody>
      </p:sp>
      <p:sp>
        <p:nvSpPr>
          <p:cNvPr id="18" name="TextBox 18"/>
          <p:cNvSpPr txBox="1"/>
          <p:nvPr/>
        </p:nvSpPr>
        <p:spPr>
          <a:xfrm>
            <a:off x="6140892" y="5463819"/>
            <a:ext cx="4524919" cy="405765"/>
          </a:xfrm>
          <a:prstGeom prst="rect">
            <a:avLst/>
          </a:prstGeom>
        </p:spPr>
        <p:txBody>
          <a:bodyPr lIns="0" tIns="0" rIns="0" bIns="0" rtlCol="0" anchor="t">
            <a:spAutoFit/>
          </a:bodyPr>
          <a:lstStyle/>
          <a:p>
            <a:pPr algn="l">
              <a:lnSpc>
                <a:spcPts val="3359"/>
              </a:lnSpc>
              <a:spcBef>
                <a:spcPct val="0"/>
              </a:spcBef>
            </a:pPr>
            <a:r>
              <a:rPr lang="en-US" sz="2400" b="1" spc="-74">
                <a:solidFill>
                  <a:srgbClr val="FFFFFF"/>
                </a:solidFill>
                <a:latin typeface="Open Sauce Bold"/>
                <a:ea typeface="Open Sauce Bold"/>
                <a:cs typeface="Open Sauce Bold"/>
                <a:sym typeface="Open Sauce Bold"/>
              </a:rPr>
              <a:t>Weekly formats</a:t>
            </a:r>
          </a:p>
        </p:txBody>
      </p:sp>
      <p:sp>
        <p:nvSpPr>
          <p:cNvPr id="19" name="TextBox 19"/>
          <p:cNvSpPr txBox="1"/>
          <p:nvPr/>
        </p:nvSpPr>
        <p:spPr>
          <a:xfrm>
            <a:off x="1028700" y="6035666"/>
            <a:ext cx="4524919" cy="2192655"/>
          </a:xfrm>
          <a:prstGeom prst="rect">
            <a:avLst/>
          </a:prstGeom>
        </p:spPr>
        <p:txBody>
          <a:bodyPr lIns="0" tIns="0" rIns="0" bIns="0" rtlCol="0" anchor="t">
            <a:spAutoFit/>
          </a:bodyPr>
          <a:lstStyle/>
          <a:p>
            <a:pPr algn="l">
              <a:lnSpc>
                <a:spcPts val="2520"/>
              </a:lnSpc>
              <a:spcBef>
                <a:spcPct val="0"/>
              </a:spcBef>
            </a:pPr>
            <a:r>
              <a:rPr lang="en-US" sz="1800" spc="-55">
                <a:solidFill>
                  <a:srgbClr val="FFFFFF"/>
                </a:solidFill>
                <a:latin typeface="Open Sauce"/>
                <a:ea typeface="Open Sauce"/>
                <a:cs typeface="Open Sauce"/>
                <a:sym typeface="Open Sauce"/>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id="20" name="TextBox 20"/>
          <p:cNvSpPr txBox="1"/>
          <p:nvPr/>
        </p:nvSpPr>
        <p:spPr>
          <a:xfrm>
            <a:off x="6140892" y="6035666"/>
            <a:ext cx="4524919" cy="2192655"/>
          </a:xfrm>
          <a:prstGeom prst="rect">
            <a:avLst/>
          </a:prstGeom>
        </p:spPr>
        <p:txBody>
          <a:bodyPr lIns="0" tIns="0" rIns="0" bIns="0" rtlCol="0" anchor="t">
            <a:spAutoFit/>
          </a:bodyPr>
          <a:lstStyle/>
          <a:p>
            <a:pPr algn="l">
              <a:lnSpc>
                <a:spcPts val="2520"/>
              </a:lnSpc>
              <a:spcBef>
                <a:spcPct val="0"/>
              </a:spcBef>
            </a:pPr>
            <a:r>
              <a:rPr lang="en-US" sz="1800" spc="-55">
                <a:solidFill>
                  <a:srgbClr val="FFFFFF"/>
                </a:solidFill>
                <a:latin typeface="Open Sauce"/>
                <a:ea typeface="Open Sauce"/>
                <a:cs typeface="Open Sauce"/>
                <a:sym typeface="Open Sauce"/>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id="21" name="TextBox 21"/>
          <p:cNvSpPr txBox="1"/>
          <p:nvPr/>
        </p:nvSpPr>
        <p:spPr>
          <a:xfrm>
            <a:off x="11253084" y="5463819"/>
            <a:ext cx="4524919" cy="405765"/>
          </a:xfrm>
          <a:prstGeom prst="rect">
            <a:avLst/>
          </a:prstGeom>
        </p:spPr>
        <p:txBody>
          <a:bodyPr lIns="0" tIns="0" rIns="0" bIns="0" rtlCol="0" anchor="t">
            <a:spAutoFit/>
          </a:bodyPr>
          <a:lstStyle/>
          <a:p>
            <a:pPr algn="l">
              <a:lnSpc>
                <a:spcPts val="3359"/>
              </a:lnSpc>
              <a:spcBef>
                <a:spcPct val="0"/>
              </a:spcBef>
            </a:pPr>
            <a:r>
              <a:rPr lang="en-US" sz="2400" b="1" spc="-74">
                <a:solidFill>
                  <a:srgbClr val="FFFFFF"/>
                </a:solidFill>
                <a:latin typeface="Open Sauce Bold"/>
                <a:ea typeface="Open Sauce Bold"/>
                <a:cs typeface="Open Sauce Bold"/>
                <a:sym typeface="Open Sauce Bold"/>
              </a:rPr>
              <a:t>Engagement hooks &amp; CTAs</a:t>
            </a:r>
          </a:p>
        </p:txBody>
      </p:sp>
      <p:sp>
        <p:nvSpPr>
          <p:cNvPr id="22" name="TextBox 22"/>
          <p:cNvSpPr txBox="1"/>
          <p:nvPr/>
        </p:nvSpPr>
        <p:spPr>
          <a:xfrm>
            <a:off x="11253084" y="6035666"/>
            <a:ext cx="4524919" cy="2192655"/>
          </a:xfrm>
          <a:prstGeom prst="rect">
            <a:avLst/>
          </a:prstGeom>
        </p:spPr>
        <p:txBody>
          <a:bodyPr lIns="0" tIns="0" rIns="0" bIns="0" rtlCol="0" anchor="t">
            <a:spAutoFit/>
          </a:bodyPr>
          <a:lstStyle/>
          <a:p>
            <a:pPr algn="l">
              <a:lnSpc>
                <a:spcPts val="2520"/>
              </a:lnSpc>
              <a:spcBef>
                <a:spcPct val="0"/>
              </a:spcBef>
            </a:pPr>
            <a:r>
              <a:rPr lang="en-US" sz="1800" spc="-55">
                <a:solidFill>
                  <a:srgbClr val="FFFFFF"/>
                </a:solidFill>
                <a:latin typeface="Open Sauce"/>
                <a:ea typeface="Open Sauce"/>
                <a:cs typeface="Open Sauce"/>
                <a:sym typeface="Open Sauce"/>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Freeform 2"/>
          <p:cNvSpPr/>
          <p:nvPr/>
        </p:nvSpPr>
        <p:spPr>
          <a:xfrm>
            <a:off x="-2236464" y="7450168"/>
            <a:ext cx="4429515" cy="4086228"/>
          </a:xfrm>
          <a:custGeom>
            <a:avLst/>
            <a:gdLst/>
            <a:ahLst/>
            <a:cxnLst/>
            <a:rect l="l" t="t" r="r" b="b"/>
            <a:pathLst>
              <a:path w="4429515" h="4086228">
                <a:moveTo>
                  <a:pt x="0" y="0"/>
                </a:moveTo>
                <a:lnTo>
                  <a:pt x="4429515" y="0"/>
                </a:lnTo>
                <a:lnTo>
                  <a:pt x="4429515" y="4086228"/>
                </a:lnTo>
                <a:lnTo>
                  <a:pt x="0" y="4086228"/>
                </a:lnTo>
                <a:lnTo>
                  <a:pt x="0" y="0"/>
                </a:lnTo>
                <a:close/>
              </a:path>
            </a:pathLst>
          </a:custGeom>
          <a:blipFill>
            <a:blip r:embed="rId2"/>
            <a:stretch>
              <a:fillRect/>
            </a:stretch>
          </a:blipFill>
        </p:spPr>
      </p:sp>
      <p:sp>
        <p:nvSpPr>
          <p:cNvPr id="3" name="TextBox 3"/>
          <p:cNvSpPr txBox="1"/>
          <p:nvPr/>
        </p:nvSpPr>
        <p:spPr>
          <a:xfrm>
            <a:off x="1028700" y="981075"/>
            <a:ext cx="3246280" cy="405765"/>
          </a:xfrm>
          <a:prstGeom prst="rect">
            <a:avLst/>
          </a:prstGeom>
        </p:spPr>
        <p:txBody>
          <a:bodyPr lIns="0" tIns="0" rIns="0" bIns="0" rtlCol="0" anchor="t">
            <a:spAutoFit/>
          </a:bodyPr>
          <a:lstStyle/>
          <a:p>
            <a:pPr algn="l">
              <a:lnSpc>
                <a:spcPts val="3359"/>
              </a:lnSpc>
              <a:spcBef>
                <a:spcPct val="0"/>
              </a:spcBef>
            </a:pPr>
            <a:r>
              <a:rPr lang="en-US" sz="2400" spc="-74">
                <a:solidFill>
                  <a:srgbClr val="FFFFFF"/>
                </a:solidFill>
                <a:latin typeface="Open Sauce"/>
                <a:ea typeface="Open Sauce"/>
                <a:cs typeface="Open Sauce"/>
                <a:sym typeface="Open Sauce"/>
              </a:rPr>
              <a:t>Aldenaire &amp; Partners</a:t>
            </a:r>
          </a:p>
        </p:txBody>
      </p:sp>
      <p:sp>
        <p:nvSpPr>
          <p:cNvPr id="4" name="TextBox 4"/>
          <p:cNvSpPr txBox="1"/>
          <p:nvPr/>
        </p:nvSpPr>
        <p:spPr>
          <a:xfrm>
            <a:off x="16078546" y="981075"/>
            <a:ext cx="1180754" cy="349250"/>
          </a:xfrm>
          <a:prstGeom prst="rect">
            <a:avLst/>
          </a:prstGeom>
        </p:spPr>
        <p:txBody>
          <a:bodyPr lIns="0" tIns="0" rIns="0" bIns="0" rtlCol="0" anchor="t">
            <a:spAutoFit/>
          </a:bodyPr>
          <a:lstStyle/>
          <a:p>
            <a:pPr algn="r">
              <a:lnSpc>
                <a:spcPts val="2800"/>
              </a:lnSpc>
              <a:spcBef>
                <a:spcPct val="0"/>
              </a:spcBef>
            </a:pPr>
            <a:r>
              <a:rPr lang="en-US" sz="2000" spc="-62">
                <a:solidFill>
                  <a:srgbClr val="FFFFFF"/>
                </a:solidFill>
                <a:latin typeface="Open Sauce"/>
                <a:ea typeface="Open Sauce"/>
                <a:cs typeface="Open Sauce"/>
                <a:sym typeface="Open Sauce"/>
              </a:rPr>
              <a:t>2030</a:t>
            </a:r>
          </a:p>
        </p:txBody>
      </p:sp>
      <p:sp>
        <p:nvSpPr>
          <p:cNvPr id="5" name="TextBox 5"/>
          <p:cNvSpPr txBox="1"/>
          <p:nvPr/>
        </p:nvSpPr>
        <p:spPr>
          <a:xfrm>
            <a:off x="1028700" y="8878570"/>
            <a:ext cx="4535989" cy="306705"/>
          </a:xfrm>
          <a:prstGeom prst="rect">
            <a:avLst/>
          </a:prstGeom>
        </p:spPr>
        <p:txBody>
          <a:bodyPr lIns="0" tIns="0" rIns="0" bIns="0" rtlCol="0" anchor="t">
            <a:spAutoFit/>
          </a:bodyPr>
          <a:lstStyle/>
          <a:p>
            <a:pPr algn="l">
              <a:lnSpc>
                <a:spcPts val="2520"/>
              </a:lnSpc>
              <a:spcBef>
                <a:spcPct val="0"/>
              </a:spcBef>
            </a:pPr>
            <a:r>
              <a:rPr lang="en-US" sz="1800" spc="-55">
                <a:solidFill>
                  <a:srgbClr val="FFFFFF"/>
                </a:solidFill>
                <a:latin typeface="Open Sauce"/>
                <a:ea typeface="Open Sauce"/>
                <a:cs typeface="Open Sauce"/>
                <a:sym typeface="Open Sauce"/>
              </a:rPr>
              <a:t>www.reallygreatsite.com</a:t>
            </a:r>
          </a:p>
        </p:txBody>
      </p:sp>
      <p:sp>
        <p:nvSpPr>
          <p:cNvPr id="6" name="TextBox 6"/>
          <p:cNvSpPr txBox="1"/>
          <p:nvPr/>
        </p:nvSpPr>
        <p:spPr>
          <a:xfrm>
            <a:off x="1028700" y="2252154"/>
            <a:ext cx="6180311" cy="2540889"/>
          </a:xfrm>
          <a:prstGeom prst="rect">
            <a:avLst/>
          </a:prstGeom>
        </p:spPr>
        <p:txBody>
          <a:bodyPr lIns="0" tIns="0" rIns="0" bIns="0" rtlCol="0" anchor="t">
            <a:spAutoFit/>
          </a:bodyPr>
          <a:lstStyle/>
          <a:p>
            <a:pPr algn="l">
              <a:lnSpc>
                <a:spcPts val="9888"/>
              </a:lnSpc>
            </a:pPr>
            <a:r>
              <a:rPr lang="en-US" sz="9600">
                <a:solidFill>
                  <a:srgbClr val="FFFFFF"/>
                </a:solidFill>
                <a:latin typeface="Anton"/>
                <a:ea typeface="Anton"/>
                <a:cs typeface="Anton"/>
                <a:sym typeface="Anton"/>
              </a:rPr>
              <a:t>BUDGET ESTIMATION</a:t>
            </a:r>
          </a:p>
        </p:txBody>
      </p:sp>
      <p:sp>
        <p:nvSpPr>
          <p:cNvPr id="7" name="TextBox 7"/>
          <p:cNvSpPr txBox="1"/>
          <p:nvPr/>
        </p:nvSpPr>
        <p:spPr>
          <a:xfrm>
            <a:off x="1028700" y="5077651"/>
            <a:ext cx="6180311" cy="3135630"/>
          </a:xfrm>
          <a:prstGeom prst="rect">
            <a:avLst/>
          </a:prstGeom>
        </p:spPr>
        <p:txBody>
          <a:bodyPr lIns="0" tIns="0" rIns="0" bIns="0" rtlCol="0" anchor="t">
            <a:spAutoFit/>
          </a:bodyPr>
          <a:lstStyle/>
          <a:p>
            <a:pPr algn="l">
              <a:lnSpc>
                <a:spcPts val="2520"/>
              </a:lnSpc>
              <a:spcBef>
                <a:spcPct val="0"/>
              </a:spcBef>
            </a:pPr>
            <a:r>
              <a:rPr lang="en-US" sz="1800" spc="-55">
                <a:solidFill>
                  <a:srgbClr val="FFFFFF"/>
                </a:solidFill>
                <a:latin typeface="Open Sauce"/>
                <a:ea typeface="Open Sauce"/>
                <a:cs typeface="Open Sauce"/>
                <a:sym typeface="Open Sauce"/>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pic>
        <p:nvPicPr>
          <p:cNvPr id="8" name="Picture 8"/>
          <p:cNvPicPr>
            <a:picLocks noChangeAspect="1"/>
          </p:cNvPicPr>
          <p:nvPr/>
        </p:nvPicPr>
        <p:blipFill>
          <a:blip r:embed="rId3"/>
          <a:stretch>
            <a:fillRect/>
          </a:stretch>
        </p:blipFill>
        <p:spPr>
          <a:xfrm>
            <a:off x="8352724" y="656790"/>
            <a:ext cx="9072217" cy="904974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grpSp>
        <p:nvGrpSpPr>
          <p:cNvPr id="2" name="Group 2"/>
          <p:cNvGrpSpPr/>
          <p:nvPr/>
        </p:nvGrpSpPr>
        <p:grpSpPr>
          <a:xfrm>
            <a:off x="1028700" y="4218940"/>
            <a:ext cx="1164351" cy="116435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11BE4"/>
            </a:solidFill>
            <a:ln cap="sq">
              <a:noFill/>
              <a:prstDash val="solid"/>
              <a:miter/>
            </a:ln>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360"/>
                </a:lnSpc>
              </a:pPr>
              <a:r>
                <a:rPr lang="en-US" sz="2400" spc="-74">
                  <a:solidFill>
                    <a:srgbClr val="FFFFFF"/>
                  </a:solidFill>
                  <a:latin typeface="Open Sauce"/>
                  <a:ea typeface="Open Sauce"/>
                  <a:cs typeface="Open Sauce"/>
                  <a:sym typeface="Open Sauce"/>
                </a:rPr>
                <a:t>01</a:t>
              </a:r>
            </a:p>
          </p:txBody>
        </p:sp>
      </p:grpSp>
      <p:grpSp>
        <p:nvGrpSpPr>
          <p:cNvPr id="5" name="Group 5"/>
          <p:cNvGrpSpPr/>
          <p:nvPr/>
        </p:nvGrpSpPr>
        <p:grpSpPr>
          <a:xfrm>
            <a:off x="6273165" y="4218940"/>
            <a:ext cx="1164351" cy="116435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11BE4"/>
            </a:solidFill>
            <a:ln cap="sq">
              <a:noFill/>
              <a:prstDash val="solid"/>
              <a:miter/>
            </a:ln>
          </p:spPr>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3360"/>
                </a:lnSpc>
              </a:pPr>
              <a:r>
                <a:rPr lang="en-US" sz="2400" spc="-74">
                  <a:solidFill>
                    <a:srgbClr val="FFFFFF"/>
                  </a:solidFill>
                  <a:latin typeface="Open Sauce"/>
                  <a:ea typeface="Open Sauce"/>
                  <a:cs typeface="Open Sauce"/>
                  <a:sym typeface="Open Sauce"/>
                </a:rPr>
                <a:t>02</a:t>
              </a:r>
            </a:p>
          </p:txBody>
        </p:sp>
      </p:grpSp>
      <p:sp>
        <p:nvSpPr>
          <p:cNvPr id="8" name="Freeform 8"/>
          <p:cNvSpPr/>
          <p:nvPr/>
        </p:nvSpPr>
        <p:spPr>
          <a:xfrm>
            <a:off x="-2236464" y="7450168"/>
            <a:ext cx="4429515" cy="4086228"/>
          </a:xfrm>
          <a:custGeom>
            <a:avLst/>
            <a:gdLst/>
            <a:ahLst/>
            <a:cxnLst/>
            <a:rect l="l" t="t" r="r" b="b"/>
            <a:pathLst>
              <a:path w="4429515" h="4086228">
                <a:moveTo>
                  <a:pt x="0" y="0"/>
                </a:moveTo>
                <a:lnTo>
                  <a:pt x="4429515" y="0"/>
                </a:lnTo>
                <a:lnTo>
                  <a:pt x="4429515" y="4086228"/>
                </a:lnTo>
                <a:lnTo>
                  <a:pt x="0" y="4086228"/>
                </a:lnTo>
                <a:lnTo>
                  <a:pt x="0" y="0"/>
                </a:lnTo>
                <a:close/>
              </a:path>
            </a:pathLst>
          </a:custGeom>
          <a:blipFill>
            <a:blip r:embed="rId2"/>
            <a:stretch>
              <a:fillRect/>
            </a:stretch>
          </a:blipFill>
        </p:spPr>
      </p:sp>
      <p:sp>
        <p:nvSpPr>
          <p:cNvPr id="9" name="Freeform 9"/>
          <p:cNvSpPr/>
          <p:nvPr/>
        </p:nvSpPr>
        <p:spPr>
          <a:xfrm>
            <a:off x="14353581" y="-1735459"/>
            <a:ext cx="8440615" cy="8229600"/>
          </a:xfrm>
          <a:custGeom>
            <a:avLst/>
            <a:gdLst/>
            <a:ahLst/>
            <a:cxnLst/>
            <a:rect l="l" t="t" r="r" b="b"/>
            <a:pathLst>
              <a:path w="8440615" h="8229600">
                <a:moveTo>
                  <a:pt x="0" y="0"/>
                </a:moveTo>
                <a:lnTo>
                  <a:pt x="8440616" y="0"/>
                </a:lnTo>
                <a:lnTo>
                  <a:pt x="8440616" y="8229600"/>
                </a:lnTo>
                <a:lnTo>
                  <a:pt x="0" y="8229600"/>
                </a:lnTo>
                <a:lnTo>
                  <a:pt x="0" y="0"/>
                </a:lnTo>
                <a:close/>
              </a:path>
            </a:pathLst>
          </a:custGeom>
          <a:blipFill>
            <a:blip r:embed="rId3"/>
            <a:stretch>
              <a:fillRect/>
            </a:stretch>
          </a:blipFill>
        </p:spPr>
      </p:sp>
      <p:grpSp>
        <p:nvGrpSpPr>
          <p:cNvPr id="10" name="Group 10"/>
          <p:cNvGrpSpPr/>
          <p:nvPr/>
        </p:nvGrpSpPr>
        <p:grpSpPr>
          <a:xfrm>
            <a:off x="11447862" y="4218940"/>
            <a:ext cx="5811438" cy="4966335"/>
            <a:chOff x="0" y="0"/>
            <a:chExt cx="1047398" cy="895085"/>
          </a:xfrm>
        </p:grpSpPr>
        <p:sp>
          <p:nvSpPr>
            <p:cNvPr id="11" name="Freeform 11"/>
            <p:cNvSpPr/>
            <p:nvPr/>
          </p:nvSpPr>
          <p:spPr>
            <a:xfrm>
              <a:off x="0" y="0"/>
              <a:ext cx="1047398" cy="895085"/>
            </a:xfrm>
            <a:custGeom>
              <a:avLst/>
              <a:gdLst/>
              <a:ahLst/>
              <a:cxnLst/>
              <a:rect l="l" t="t" r="r" b="b"/>
              <a:pathLst>
                <a:path w="1047398" h="895085">
                  <a:moveTo>
                    <a:pt x="70606" y="0"/>
                  </a:moveTo>
                  <a:lnTo>
                    <a:pt x="976792" y="0"/>
                  </a:lnTo>
                  <a:cubicBezTo>
                    <a:pt x="995518" y="0"/>
                    <a:pt x="1013477" y="7439"/>
                    <a:pt x="1026718" y="20680"/>
                  </a:cubicBezTo>
                  <a:cubicBezTo>
                    <a:pt x="1039959" y="33921"/>
                    <a:pt x="1047398" y="51880"/>
                    <a:pt x="1047398" y="70606"/>
                  </a:cubicBezTo>
                  <a:lnTo>
                    <a:pt x="1047398" y="824479"/>
                  </a:lnTo>
                  <a:cubicBezTo>
                    <a:pt x="1047398" y="843205"/>
                    <a:pt x="1039959" y="861164"/>
                    <a:pt x="1026718" y="874405"/>
                  </a:cubicBezTo>
                  <a:cubicBezTo>
                    <a:pt x="1013477" y="887646"/>
                    <a:pt x="995518" y="895085"/>
                    <a:pt x="976792" y="895085"/>
                  </a:cubicBezTo>
                  <a:lnTo>
                    <a:pt x="70606" y="895085"/>
                  </a:lnTo>
                  <a:cubicBezTo>
                    <a:pt x="31611" y="895085"/>
                    <a:pt x="0" y="863473"/>
                    <a:pt x="0" y="824479"/>
                  </a:cubicBezTo>
                  <a:lnTo>
                    <a:pt x="0" y="70606"/>
                  </a:lnTo>
                  <a:cubicBezTo>
                    <a:pt x="0" y="31611"/>
                    <a:pt x="31611" y="0"/>
                    <a:pt x="70606" y="0"/>
                  </a:cubicBezTo>
                  <a:close/>
                </a:path>
              </a:pathLst>
            </a:custGeom>
            <a:blipFill>
              <a:blip r:embed="rId4"/>
              <a:stretch>
                <a:fillRect l="-14093" r="-14093"/>
              </a:stretch>
            </a:blipFill>
          </p:spPr>
        </p:sp>
      </p:grpSp>
      <p:sp>
        <p:nvSpPr>
          <p:cNvPr id="12" name="TextBox 12"/>
          <p:cNvSpPr txBox="1"/>
          <p:nvPr/>
        </p:nvSpPr>
        <p:spPr>
          <a:xfrm>
            <a:off x="1028700" y="981075"/>
            <a:ext cx="3246280" cy="405765"/>
          </a:xfrm>
          <a:prstGeom prst="rect">
            <a:avLst/>
          </a:prstGeom>
        </p:spPr>
        <p:txBody>
          <a:bodyPr lIns="0" tIns="0" rIns="0" bIns="0" rtlCol="0" anchor="t">
            <a:spAutoFit/>
          </a:bodyPr>
          <a:lstStyle/>
          <a:p>
            <a:pPr algn="l">
              <a:lnSpc>
                <a:spcPts val="3359"/>
              </a:lnSpc>
              <a:spcBef>
                <a:spcPct val="0"/>
              </a:spcBef>
            </a:pPr>
            <a:r>
              <a:rPr lang="en-US" sz="2400" spc="-74">
                <a:solidFill>
                  <a:srgbClr val="FFFFFF"/>
                </a:solidFill>
                <a:latin typeface="Open Sauce"/>
                <a:ea typeface="Open Sauce"/>
                <a:cs typeface="Open Sauce"/>
                <a:sym typeface="Open Sauce"/>
              </a:rPr>
              <a:t>Aldenaire &amp; Partners</a:t>
            </a:r>
          </a:p>
        </p:txBody>
      </p:sp>
      <p:sp>
        <p:nvSpPr>
          <p:cNvPr id="13" name="TextBox 13"/>
          <p:cNvSpPr txBox="1"/>
          <p:nvPr/>
        </p:nvSpPr>
        <p:spPr>
          <a:xfrm>
            <a:off x="16078546" y="981075"/>
            <a:ext cx="1180754" cy="349250"/>
          </a:xfrm>
          <a:prstGeom prst="rect">
            <a:avLst/>
          </a:prstGeom>
        </p:spPr>
        <p:txBody>
          <a:bodyPr lIns="0" tIns="0" rIns="0" bIns="0" rtlCol="0" anchor="t">
            <a:spAutoFit/>
          </a:bodyPr>
          <a:lstStyle/>
          <a:p>
            <a:pPr algn="r">
              <a:lnSpc>
                <a:spcPts val="2800"/>
              </a:lnSpc>
              <a:spcBef>
                <a:spcPct val="0"/>
              </a:spcBef>
            </a:pPr>
            <a:r>
              <a:rPr lang="en-US" sz="2000" spc="-62">
                <a:solidFill>
                  <a:srgbClr val="FFFFFF"/>
                </a:solidFill>
                <a:latin typeface="Open Sauce"/>
                <a:ea typeface="Open Sauce"/>
                <a:cs typeface="Open Sauce"/>
                <a:sym typeface="Open Sauce"/>
              </a:rPr>
              <a:t>2030</a:t>
            </a:r>
          </a:p>
        </p:txBody>
      </p:sp>
      <p:sp>
        <p:nvSpPr>
          <p:cNvPr id="14" name="TextBox 14"/>
          <p:cNvSpPr txBox="1"/>
          <p:nvPr/>
        </p:nvSpPr>
        <p:spPr>
          <a:xfrm>
            <a:off x="1028700" y="8878570"/>
            <a:ext cx="4535989" cy="306705"/>
          </a:xfrm>
          <a:prstGeom prst="rect">
            <a:avLst/>
          </a:prstGeom>
        </p:spPr>
        <p:txBody>
          <a:bodyPr lIns="0" tIns="0" rIns="0" bIns="0" rtlCol="0" anchor="t">
            <a:spAutoFit/>
          </a:bodyPr>
          <a:lstStyle/>
          <a:p>
            <a:pPr algn="l">
              <a:lnSpc>
                <a:spcPts val="2520"/>
              </a:lnSpc>
              <a:spcBef>
                <a:spcPct val="0"/>
              </a:spcBef>
            </a:pPr>
            <a:r>
              <a:rPr lang="en-US" sz="1800" spc="-55">
                <a:solidFill>
                  <a:srgbClr val="FFFFFF"/>
                </a:solidFill>
                <a:latin typeface="Open Sauce"/>
                <a:ea typeface="Open Sauce"/>
                <a:cs typeface="Open Sauce"/>
                <a:sym typeface="Open Sauce"/>
              </a:rPr>
              <a:t>www.reallygreatsite.com</a:t>
            </a:r>
          </a:p>
        </p:txBody>
      </p:sp>
      <p:sp>
        <p:nvSpPr>
          <p:cNvPr id="15" name="TextBox 15"/>
          <p:cNvSpPr txBox="1"/>
          <p:nvPr/>
        </p:nvSpPr>
        <p:spPr>
          <a:xfrm>
            <a:off x="1028700" y="2279904"/>
            <a:ext cx="11794570" cy="1293114"/>
          </a:xfrm>
          <a:prstGeom prst="rect">
            <a:avLst/>
          </a:prstGeom>
        </p:spPr>
        <p:txBody>
          <a:bodyPr lIns="0" tIns="0" rIns="0" bIns="0" rtlCol="0" anchor="t">
            <a:spAutoFit/>
          </a:bodyPr>
          <a:lstStyle/>
          <a:p>
            <a:pPr algn="l">
              <a:lnSpc>
                <a:spcPts val="9888"/>
              </a:lnSpc>
            </a:pPr>
            <a:r>
              <a:rPr lang="en-US" sz="9600">
                <a:solidFill>
                  <a:srgbClr val="FFFFFF"/>
                </a:solidFill>
                <a:latin typeface="Anton"/>
                <a:ea typeface="Anton"/>
                <a:cs typeface="Anton"/>
                <a:sym typeface="Anton"/>
              </a:rPr>
              <a:t>CONCLUSION &amp; NEXT STEPS</a:t>
            </a:r>
          </a:p>
        </p:txBody>
      </p:sp>
      <p:sp>
        <p:nvSpPr>
          <p:cNvPr id="16" name="TextBox 16"/>
          <p:cNvSpPr txBox="1"/>
          <p:nvPr/>
        </p:nvSpPr>
        <p:spPr>
          <a:xfrm>
            <a:off x="1028700" y="5637818"/>
            <a:ext cx="4469847" cy="405765"/>
          </a:xfrm>
          <a:prstGeom prst="rect">
            <a:avLst/>
          </a:prstGeom>
        </p:spPr>
        <p:txBody>
          <a:bodyPr lIns="0" tIns="0" rIns="0" bIns="0" rtlCol="0" anchor="t">
            <a:spAutoFit/>
          </a:bodyPr>
          <a:lstStyle/>
          <a:p>
            <a:pPr algn="l">
              <a:lnSpc>
                <a:spcPts val="3359"/>
              </a:lnSpc>
              <a:spcBef>
                <a:spcPct val="0"/>
              </a:spcBef>
            </a:pPr>
            <a:r>
              <a:rPr lang="en-US" sz="2400" b="1" spc="-74">
                <a:solidFill>
                  <a:srgbClr val="FFFFFF"/>
                </a:solidFill>
                <a:latin typeface="Open Sauce Bold"/>
                <a:ea typeface="Open Sauce Bold"/>
                <a:cs typeface="Open Sauce Bold"/>
                <a:sym typeface="Open Sauce Bold"/>
              </a:rPr>
              <a:t>Recap of strategic value</a:t>
            </a:r>
          </a:p>
        </p:txBody>
      </p:sp>
      <p:sp>
        <p:nvSpPr>
          <p:cNvPr id="17" name="TextBox 17"/>
          <p:cNvSpPr txBox="1"/>
          <p:nvPr/>
        </p:nvSpPr>
        <p:spPr>
          <a:xfrm>
            <a:off x="6273165" y="5637818"/>
            <a:ext cx="4469847" cy="405765"/>
          </a:xfrm>
          <a:prstGeom prst="rect">
            <a:avLst/>
          </a:prstGeom>
        </p:spPr>
        <p:txBody>
          <a:bodyPr lIns="0" tIns="0" rIns="0" bIns="0" rtlCol="0" anchor="t">
            <a:spAutoFit/>
          </a:bodyPr>
          <a:lstStyle/>
          <a:p>
            <a:pPr algn="l">
              <a:lnSpc>
                <a:spcPts val="3359"/>
              </a:lnSpc>
              <a:spcBef>
                <a:spcPct val="0"/>
              </a:spcBef>
            </a:pPr>
            <a:r>
              <a:rPr lang="en-US" sz="2400" b="1" spc="-74">
                <a:solidFill>
                  <a:srgbClr val="FFFFFF"/>
                </a:solidFill>
                <a:latin typeface="Open Sauce Bold"/>
                <a:ea typeface="Open Sauce Bold"/>
                <a:cs typeface="Open Sauce Bold"/>
                <a:sym typeface="Open Sauce Bold"/>
              </a:rPr>
              <a:t>Expected business impact</a:t>
            </a:r>
          </a:p>
        </p:txBody>
      </p:sp>
      <p:sp>
        <p:nvSpPr>
          <p:cNvPr id="18" name="TextBox 18"/>
          <p:cNvSpPr txBox="1"/>
          <p:nvPr/>
        </p:nvSpPr>
        <p:spPr>
          <a:xfrm>
            <a:off x="6273165" y="6200140"/>
            <a:ext cx="4469847" cy="2192655"/>
          </a:xfrm>
          <a:prstGeom prst="rect">
            <a:avLst/>
          </a:prstGeom>
        </p:spPr>
        <p:txBody>
          <a:bodyPr lIns="0" tIns="0" rIns="0" bIns="0" rtlCol="0" anchor="t">
            <a:spAutoFit/>
          </a:bodyPr>
          <a:lstStyle/>
          <a:p>
            <a:pPr algn="l">
              <a:lnSpc>
                <a:spcPts val="2520"/>
              </a:lnSpc>
              <a:spcBef>
                <a:spcPct val="0"/>
              </a:spcBef>
            </a:pPr>
            <a:r>
              <a:rPr lang="en-US" sz="1800" spc="-55">
                <a:solidFill>
                  <a:srgbClr val="FFFFFF"/>
                </a:solidFill>
                <a:latin typeface="Open Sauce"/>
                <a:ea typeface="Open Sauce"/>
                <a:cs typeface="Open Sauce"/>
                <a:sym typeface="Open Sauce"/>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id="19" name="TextBox 19"/>
          <p:cNvSpPr txBox="1"/>
          <p:nvPr/>
        </p:nvSpPr>
        <p:spPr>
          <a:xfrm>
            <a:off x="1028700" y="6200140"/>
            <a:ext cx="4469847" cy="293542"/>
          </a:xfrm>
          <a:prstGeom prst="rect">
            <a:avLst/>
          </a:prstGeom>
        </p:spPr>
        <p:txBody>
          <a:bodyPr lIns="0" tIns="0" rIns="0" bIns="0" rtlCol="0" anchor="t">
            <a:spAutoFit/>
          </a:bodyPr>
          <a:lstStyle/>
          <a:p>
            <a:pPr algn="l">
              <a:lnSpc>
                <a:spcPts val="2520"/>
              </a:lnSpc>
              <a:spcBef>
                <a:spcPct val="0"/>
              </a:spcBef>
            </a:pPr>
            <a:r>
              <a:rPr lang="en-US" sz="1800" spc="-55">
                <a:solidFill>
                  <a:srgbClr val="FFFFFF"/>
                </a:solidFill>
                <a:latin typeface="Open Sauce"/>
                <a:ea typeface="Open Sauce"/>
                <a:cs typeface="Open Sauce"/>
                <a:sym typeface="Open Sauce"/>
              </a:rPr>
              <a:t>@powerpointrus</a:t>
            </a:r>
            <a:endParaRPr lang="en-US" sz="1800" spc="-55" dirty="0">
              <a:solidFill>
                <a:srgbClr val="FFFFFF"/>
              </a:solidFill>
              <a:latin typeface="Open Sauce"/>
              <a:ea typeface="Open Sauce"/>
              <a:cs typeface="Open Sauce"/>
              <a:sym typeface="Open Sauc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Freeform 2"/>
          <p:cNvSpPr/>
          <p:nvPr/>
        </p:nvSpPr>
        <p:spPr>
          <a:xfrm>
            <a:off x="9144000" y="301874"/>
            <a:ext cx="9931541" cy="9683252"/>
          </a:xfrm>
          <a:custGeom>
            <a:avLst/>
            <a:gdLst/>
            <a:ahLst/>
            <a:cxnLst/>
            <a:rect l="l" t="t" r="r" b="b"/>
            <a:pathLst>
              <a:path w="9931541" h="9683252">
                <a:moveTo>
                  <a:pt x="0" y="0"/>
                </a:moveTo>
                <a:lnTo>
                  <a:pt x="9931541" y="0"/>
                </a:lnTo>
                <a:lnTo>
                  <a:pt x="9931541" y="9683252"/>
                </a:lnTo>
                <a:lnTo>
                  <a:pt x="0" y="9683252"/>
                </a:lnTo>
                <a:lnTo>
                  <a:pt x="0" y="0"/>
                </a:lnTo>
                <a:close/>
              </a:path>
            </a:pathLst>
          </a:custGeom>
          <a:blipFill>
            <a:blip r:embed="rId2"/>
            <a:stretch>
              <a:fillRect/>
            </a:stretch>
          </a:blipFill>
        </p:spPr>
      </p:sp>
      <p:sp>
        <p:nvSpPr>
          <p:cNvPr id="3" name="TextBox 3"/>
          <p:cNvSpPr txBox="1"/>
          <p:nvPr/>
        </p:nvSpPr>
        <p:spPr>
          <a:xfrm>
            <a:off x="1707188" y="3290867"/>
            <a:ext cx="8735848" cy="2082348"/>
          </a:xfrm>
          <a:prstGeom prst="rect">
            <a:avLst/>
          </a:prstGeom>
        </p:spPr>
        <p:txBody>
          <a:bodyPr lIns="0" tIns="0" rIns="0" bIns="0" rtlCol="0" anchor="t">
            <a:spAutoFit/>
          </a:bodyPr>
          <a:lstStyle/>
          <a:p>
            <a:pPr algn="l">
              <a:lnSpc>
                <a:spcPts val="14998"/>
              </a:lnSpc>
            </a:pPr>
            <a:r>
              <a:rPr lang="en-US" sz="17239">
                <a:solidFill>
                  <a:srgbClr val="711BE4"/>
                </a:solidFill>
                <a:latin typeface="Anton"/>
                <a:ea typeface="Anton"/>
                <a:cs typeface="Anton"/>
                <a:sym typeface="Anton"/>
              </a:rPr>
              <a:t>THANK YOU</a:t>
            </a:r>
          </a:p>
        </p:txBody>
      </p:sp>
      <p:sp>
        <p:nvSpPr>
          <p:cNvPr id="4" name="TextBox 4"/>
          <p:cNvSpPr txBox="1"/>
          <p:nvPr/>
        </p:nvSpPr>
        <p:spPr>
          <a:xfrm>
            <a:off x="4920481" y="5473220"/>
            <a:ext cx="7888538" cy="2082348"/>
          </a:xfrm>
          <a:prstGeom prst="rect">
            <a:avLst/>
          </a:prstGeom>
        </p:spPr>
        <p:txBody>
          <a:bodyPr lIns="0" tIns="0" rIns="0" bIns="0" rtlCol="0" anchor="t">
            <a:spAutoFit/>
          </a:bodyPr>
          <a:lstStyle/>
          <a:p>
            <a:pPr algn="l">
              <a:lnSpc>
                <a:spcPts val="14998"/>
              </a:lnSpc>
            </a:pPr>
            <a:r>
              <a:rPr lang="en-US" sz="17239">
                <a:solidFill>
                  <a:srgbClr val="FFFFFF"/>
                </a:solidFill>
                <a:latin typeface="Anton"/>
                <a:ea typeface="Anton"/>
                <a:cs typeface="Anton"/>
                <a:sym typeface="Anton"/>
              </a:rPr>
              <a:t>SO MUCH!</a:t>
            </a:r>
          </a:p>
        </p:txBody>
      </p:sp>
      <p:sp>
        <p:nvSpPr>
          <p:cNvPr id="5" name="TextBox 5"/>
          <p:cNvSpPr txBox="1"/>
          <p:nvPr/>
        </p:nvSpPr>
        <p:spPr>
          <a:xfrm>
            <a:off x="1028700" y="981075"/>
            <a:ext cx="3246280" cy="405765"/>
          </a:xfrm>
          <a:prstGeom prst="rect">
            <a:avLst/>
          </a:prstGeom>
        </p:spPr>
        <p:txBody>
          <a:bodyPr lIns="0" tIns="0" rIns="0" bIns="0" rtlCol="0" anchor="t">
            <a:spAutoFit/>
          </a:bodyPr>
          <a:lstStyle/>
          <a:p>
            <a:pPr algn="l">
              <a:lnSpc>
                <a:spcPts val="3359"/>
              </a:lnSpc>
              <a:spcBef>
                <a:spcPct val="0"/>
              </a:spcBef>
            </a:pPr>
            <a:r>
              <a:rPr lang="en-US" sz="2400" spc="-74">
                <a:solidFill>
                  <a:srgbClr val="FFFFFF"/>
                </a:solidFill>
                <a:latin typeface="Open Sauce"/>
                <a:ea typeface="Open Sauce"/>
                <a:cs typeface="Open Sauce"/>
                <a:sym typeface="Open Sauce"/>
              </a:rPr>
              <a:t>Aldenaire &amp; Partners</a:t>
            </a:r>
          </a:p>
        </p:txBody>
      </p:sp>
      <p:sp>
        <p:nvSpPr>
          <p:cNvPr id="6" name="TextBox 6"/>
          <p:cNvSpPr txBox="1"/>
          <p:nvPr/>
        </p:nvSpPr>
        <p:spPr>
          <a:xfrm>
            <a:off x="16078546" y="981075"/>
            <a:ext cx="1180754" cy="405765"/>
          </a:xfrm>
          <a:prstGeom prst="rect">
            <a:avLst/>
          </a:prstGeom>
        </p:spPr>
        <p:txBody>
          <a:bodyPr lIns="0" tIns="0" rIns="0" bIns="0" rtlCol="0" anchor="t">
            <a:spAutoFit/>
          </a:bodyPr>
          <a:lstStyle/>
          <a:p>
            <a:pPr algn="r">
              <a:lnSpc>
                <a:spcPts val="3359"/>
              </a:lnSpc>
              <a:spcBef>
                <a:spcPct val="0"/>
              </a:spcBef>
            </a:pPr>
            <a:r>
              <a:rPr lang="en-US" sz="2400" spc="-74">
                <a:solidFill>
                  <a:srgbClr val="FFFFFF"/>
                </a:solidFill>
                <a:latin typeface="Open Sauce"/>
                <a:ea typeface="Open Sauce"/>
                <a:cs typeface="Open Sauce"/>
                <a:sym typeface="Open Sauce"/>
              </a:rPr>
              <a:t>2030</a:t>
            </a:r>
          </a:p>
        </p:txBody>
      </p:sp>
      <p:sp>
        <p:nvSpPr>
          <p:cNvPr id="7" name="Freeform 7"/>
          <p:cNvSpPr/>
          <p:nvPr/>
        </p:nvSpPr>
        <p:spPr>
          <a:xfrm>
            <a:off x="-3906463" y="6123963"/>
            <a:ext cx="6442877" cy="5943554"/>
          </a:xfrm>
          <a:custGeom>
            <a:avLst/>
            <a:gdLst/>
            <a:ahLst/>
            <a:cxnLst/>
            <a:rect l="l" t="t" r="r" b="b"/>
            <a:pathLst>
              <a:path w="6442877" h="5943554">
                <a:moveTo>
                  <a:pt x="0" y="0"/>
                </a:moveTo>
                <a:lnTo>
                  <a:pt x="6442877" y="0"/>
                </a:lnTo>
                <a:lnTo>
                  <a:pt x="6442877" y="5943554"/>
                </a:lnTo>
                <a:lnTo>
                  <a:pt x="0" y="5943554"/>
                </a:lnTo>
                <a:lnTo>
                  <a:pt x="0" y="0"/>
                </a:lnTo>
                <a:close/>
              </a:path>
            </a:pathLst>
          </a:custGeom>
          <a:blipFill>
            <a:blip r:embed="rId3"/>
            <a:stretch>
              <a:fillRect/>
            </a:stretch>
          </a:blipFill>
        </p:spPr>
      </p:sp>
      <p:sp>
        <p:nvSpPr>
          <p:cNvPr id="8" name="TextBox 8"/>
          <p:cNvSpPr txBox="1"/>
          <p:nvPr/>
        </p:nvSpPr>
        <p:spPr>
          <a:xfrm>
            <a:off x="1028700" y="8869045"/>
            <a:ext cx="4535989" cy="405765"/>
          </a:xfrm>
          <a:prstGeom prst="rect">
            <a:avLst/>
          </a:prstGeom>
        </p:spPr>
        <p:txBody>
          <a:bodyPr lIns="0" tIns="0" rIns="0" bIns="0" rtlCol="0" anchor="t">
            <a:spAutoFit/>
          </a:bodyPr>
          <a:lstStyle/>
          <a:p>
            <a:pPr algn="l">
              <a:lnSpc>
                <a:spcPts val="3359"/>
              </a:lnSpc>
              <a:spcBef>
                <a:spcPct val="0"/>
              </a:spcBef>
            </a:pPr>
            <a:r>
              <a:rPr lang="en-US" sz="2400" spc="-74">
                <a:solidFill>
                  <a:srgbClr val="FFFFFF"/>
                </a:solidFill>
                <a:latin typeface="Open Sauce"/>
                <a:ea typeface="Open Sauce"/>
                <a:cs typeface="Open Sauce"/>
                <a:sym typeface="Open Sauce"/>
              </a:rPr>
              <a:t>www.reallygreatsite.com</a:t>
            </a:r>
          </a:p>
        </p:txBody>
      </p:sp>
      <p:sp>
        <p:nvSpPr>
          <p:cNvPr id="9" name="TextBox 9"/>
          <p:cNvSpPr txBox="1"/>
          <p:nvPr/>
        </p:nvSpPr>
        <p:spPr>
          <a:xfrm>
            <a:off x="1028700" y="5695482"/>
            <a:ext cx="3622936" cy="986155"/>
          </a:xfrm>
          <a:prstGeom prst="rect">
            <a:avLst/>
          </a:prstGeom>
        </p:spPr>
        <p:txBody>
          <a:bodyPr lIns="0" tIns="0" rIns="0" bIns="0" rtlCol="0" anchor="t">
            <a:spAutoFit/>
          </a:bodyPr>
          <a:lstStyle/>
          <a:p>
            <a:pPr algn="r">
              <a:lnSpc>
                <a:spcPts val="3919"/>
              </a:lnSpc>
              <a:spcBef>
                <a:spcPct val="0"/>
              </a:spcBef>
            </a:pPr>
            <a:r>
              <a:rPr lang="en-US" sz="2799" b="1" spc="-86">
                <a:solidFill>
                  <a:srgbClr val="FFFFFF"/>
                </a:solidFill>
                <a:latin typeface="Open Sauce Bold"/>
                <a:ea typeface="Open Sauce Bold"/>
                <a:cs typeface="Open Sauce Bold"/>
                <a:sym typeface="Open Sauce Bold"/>
              </a:rPr>
              <a:t>Presentation By: Rosa Maria Aguado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1184</Words>
  <Application>Microsoft Office PowerPoint</Application>
  <PresentationFormat>Произвольный</PresentationFormat>
  <Paragraphs>106</Paragraphs>
  <Slides>10</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10</vt:i4>
      </vt:variant>
    </vt:vector>
  </HeadingPairs>
  <TitlesOfParts>
    <vt:vector size="16" baseType="lpstr">
      <vt:lpstr>Calibri</vt:lpstr>
      <vt:lpstr>Open Sauce</vt:lpstr>
      <vt:lpstr>Open Sauce Bold</vt:lpstr>
      <vt:lpstr>Arial</vt:lpstr>
      <vt:lpstr>Anton</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Purple and Black Modern Marketing Proposal Presentation</dc:title>
  <cp:lastModifiedBy>sekal sekal</cp:lastModifiedBy>
  <cp:revision>3</cp:revision>
  <dcterms:created xsi:type="dcterms:W3CDTF">2006-08-16T00:00:00Z</dcterms:created>
  <dcterms:modified xsi:type="dcterms:W3CDTF">2026-04-09T00:57:29Z</dcterms:modified>
  <dc:identifier>DAHGUGQrILM</dc:identifier>
</cp:coreProperties>
</file>