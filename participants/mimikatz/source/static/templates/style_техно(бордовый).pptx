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Mokoto" panose="020B0604020202020204" charset="0"/>
      <p:regular r:id="rId14"/>
    </p:embeddedFont>
    <p:embeddedFont>
      <p:font typeface="Poppins" panose="000005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2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jpe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16.jpe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3.sv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22.jpe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5" b="-5555"/>
            </a:stretch>
          </a:blipFill>
        </p:spPr>
      </p:sp>
      <p:sp>
        <p:nvSpPr>
          <p:cNvPr id="3" name="Freeform 3"/>
          <p:cNvSpPr/>
          <p:nvPr/>
        </p:nvSpPr>
        <p:spPr>
          <a:xfrm>
            <a:off x="-297707" y="6905609"/>
            <a:ext cx="1201779" cy="1881046"/>
          </a:xfrm>
          <a:custGeom>
            <a:avLst/>
            <a:gdLst/>
            <a:ahLst/>
            <a:cxnLst/>
            <a:rect l="l" t="t" r="r" b="b"/>
            <a:pathLst>
              <a:path w="1201779" h="1881046">
                <a:moveTo>
                  <a:pt x="0" y="0"/>
                </a:moveTo>
                <a:lnTo>
                  <a:pt x="1201780" y="0"/>
                </a:lnTo>
                <a:lnTo>
                  <a:pt x="1201780" y="1881046"/>
                </a:lnTo>
                <a:lnTo>
                  <a:pt x="0" y="188104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7383927" y="1500345"/>
            <a:ext cx="1201779" cy="1881046"/>
          </a:xfrm>
          <a:custGeom>
            <a:avLst/>
            <a:gdLst/>
            <a:ahLst/>
            <a:cxnLst/>
            <a:rect l="l" t="t" r="r" b="b"/>
            <a:pathLst>
              <a:path w="1201779" h="1881046">
                <a:moveTo>
                  <a:pt x="1201780" y="1881046"/>
                </a:moveTo>
                <a:lnTo>
                  <a:pt x="0" y="1881046"/>
                </a:lnTo>
                <a:lnTo>
                  <a:pt x="0" y="0"/>
                </a:lnTo>
                <a:lnTo>
                  <a:pt x="1201780" y="0"/>
                </a:lnTo>
                <a:lnTo>
                  <a:pt x="1201780" y="1881046"/>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6034038" y="8625887"/>
            <a:ext cx="6219924" cy="500356"/>
            <a:chOff x="0" y="0"/>
            <a:chExt cx="1638169" cy="131781"/>
          </a:xfrm>
        </p:grpSpPr>
        <p:sp>
          <p:nvSpPr>
            <p:cNvPr id="6" name="Freeform 6"/>
            <p:cNvSpPr/>
            <p:nvPr/>
          </p:nvSpPr>
          <p:spPr>
            <a:xfrm>
              <a:off x="0" y="0"/>
              <a:ext cx="1638169" cy="131781"/>
            </a:xfrm>
            <a:custGeom>
              <a:avLst/>
              <a:gdLst/>
              <a:ahLst/>
              <a:cxnLst/>
              <a:rect l="l" t="t" r="r" b="b"/>
              <a:pathLst>
                <a:path w="1638169" h="131781">
                  <a:moveTo>
                    <a:pt x="65891" y="0"/>
                  </a:moveTo>
                  <a:lnTo>
                    <a:pt x="1572279" y="0"/>
                  </a:lnTo>
                  <a:cubicBezTo>
                    <a:pt x="1589754" y="0"/>
                    <a:pt x="1606514" y="6942"/>
                    <a:pt x="1618870" y="19299"/>
                  </a:cubicBezTo>
                  <a:cubicBezTo>
                    <a:pt x="1631227" y="31656"/>
                    <a:pt x="1638169" y="48415"/>
                    <a:pt x="1638169" y="65891"/>
                  </a:cubicBezTo>
                  <a:lnTo>
                    <a:pt x="1638169" y="65891"/>
                  </a:lnTo>
                  <a:cubicBezTo>
                    <a:pt x="1638169" y="102281"/>
                    <a:pt x="1608669" y="131781"/>
                    <a:pt x="1572279" y="131781"/>
                  </a:cubicBezTo>
                  <a:lnTo>
                    <a:pt x="65891" y="131781"/>
                  </a:lnTo>
                  <a:cubicBezTo>
                    <a:pt x="29500" y="131781"/>
                    <a:pt x="0" y="102281"/>
                    <a:pt x="0" y="65891"/>
                  </a:cubicBezTo>
                  <a:lnTo>
                    <a:pt x="0" y="65891"/>
                  </a:lnTo>
                  <a:cubicBezTo>
                    <a:pt x="0" y="29500"/>
                    <a:pt x="29500" y="0"/>
                    <a:pt x="65891" y="0"/>
                  </a:cubicBezTo>
                  <a:close/>
                </a:path>
              </a:pathLst>
            </a:custGeom>
            <a:solidFill>
              <a:srgbClr val="FFFFFF"/>
            </a:solidFill>
          </p:spPr>
        </p:sp>
        <p:sp>
          <p:nvSpPr>
            <p:cNvPr id="7" name="TextBox 7"/>
            <p:cNvSpPr txBox="1"/>
            <p:nvPr/>
          </p:nvSpPr>
          <p:spPr>
            <a:xfrm>
              <a:off x="0" y="-47625"/>
              <a:ext cx="1638169" cy="179406"/>
            </a:xfrm>
            <a:prstGeom prst="rect">
              <a:avLst/>
            </a:prstGeom>
          </p:spPr>
          <p:txBody>
            <a:bodyPr lIns="50800" tIns="50800" rIns="50800" bIns="50800" rtlCol="0" anchor="ctr"/>
            <a:lstStyle/>
            <a:p>
              <a:pPr algn="ctr">
                <a:lnSpc>
                  <a:spcPts val="2520"/>
                </a:lnSpc>
              </a:pPr>
              <a:endParaRPr/>
            </a:p>
          </p:txBody>
        </p:sp>
      </p:grpSp>
      <p:sp>
        <p:nvSpPr>
          <p:cNvPr id="8" name="Freeform 8"/>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5"/>
            <a:stretch>
              <a:fillRect/>
            </a:stretch>
          </a:blipFill>
        </p:spPr>
      </p:sp>
      <p:sp>
        <p:nvSpPr>
          <p:cNvPr id="9" name="TextBox 9"/>
          <p:cNvSpPr txBox="1"/>
          <p:nvPr/>
        </p:nvSpPr>
        <p:spPr>
          <a:xfrm>
            <a:off x="3959820" y="3228128"/>
            <a:ext cx="10368359" cy="4190910"/>
          </a:xfrm>
          <a:prstGeom prst="rect">
            <a:avLst/>
          </a:prstGeom>
        </p:spPr>
        <p:txBody>
          <a:bodyPr lIns="0" tIns="0" rIns="0" bIns="0" rtlCol="0" anchor="t">
            <a:spAutoFit/>
          </a:bodyPr>
          <a:lstStyle/>
          <a:p>
            <a:pPr algn="ctr">
              <a:lnSpc>
                <a:spcPts val="16804"/>
              </a:lnSpc>
            </a:pPr>
            <a:r>
              <a:rPr lang="en-US" sz="12003">
                <a:solidFill>
                  <a:srgbClr val="FFFBF7"/>
                </a:solidFill>
                <a:latin typeface="Mokoto"/>
                <a:ea typeface="Mokoto"/>
                <a:cs typeface="Mokoto"/>
                <a:sym typeface="Mokoto"/>
              </a:rPr>
              <a:t>VIRTUAL</a:t>
            </a:r>
          </a:p>
          <a:p>
            <a:pPr marL="0" lvl="0" indent="0" algn="ctr">
              <a:lnSpc>
                <a:spcPts val="16804"/>
              </a:lnSpc>
              <a:spcBef>
                <a:spcPct val="0"/>
              </a:spcBef>
            </a:pPr>
            <a:r>
              <a:rPr lang="en-US" sz="12003">
                <a:solidFill>
                  <a:srgbClr val="FFFBF7"/>
                </a:solidFill>
                <a:latin typeface="Mokoto"/>
                <a:ea typeface="Mokoto"/>
                <a:cs typeface="Mokoto"/>
                <a:sym typeface="Mokoto"/>
              </a:rPr>
              <a:t>REALITY</a:t>
            </a:r>
          </a:p>
        </p:txBody>
      </p:sp>
      <p:sp>
        <p:nvSpPr>
          <p:cNvPr id="10" name="TextBox 10"/>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11" name="TextBox 11"/>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12" name="TextBox 12"/>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13" name="TextBox 13"/>
          <p:cNvSpPr txBox="1"/>
          <p:nvPr/>
        </p:nvSpPr>
        <p:spPr>
          <a:xfrm>
            <a:off x="6252512" y="8700794"/>
            <a:ext cx="5782976" cy="35877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00000"/>
                </a:solidFill>
                <a:latin typeface="Mokoto"/>
                <a:ea typeface="Mokoto"/>
                <a:cs typeface="Mokoto"/>
                <a:sym typeface="Mokoto"/>
              </a:rPr>
              <a:t>WWW.REALLYGREATSITE.COM</a:t>
            </a:r>
          </a:p>
        </p:txBody>
      </p:sp>
      <p:sp>
        <p:nvSpPr>
          <p:cNvPr id="14" name="Freeform 14"/>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5"/>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sp>
        <p:nvSpPr>
          <p:cNvPr id="3" name="Freeform 3"/>
          <p:cNvSpPr/>
          <p:nvPr/>
        </p:nvSpPr>
        <p:spPr>
          <a:xfrm>
            <a:off x="615363" y="7937129"/>
            <a:ext cx="1671261" cy="1671261"/>
          </a:xfrm>
          <a:custGeom>
            <a:avLst/>
            <a:gdLst/>
            <a:ahLst/>
            <a:cxnLst/>
            <a:rect l="l" t="t" r="r" b="b"/>
            <a:pathLst>
              <a:path w="1671261" h="1671261">
                <a:moveTo>
                  <a:pt x="0" y="0"/>
                </a:moveTo>
                <a:lnTo>
                  <a:pt x="1671262" y="0"/>
                </a:lnTo>
                <a:lnTo>
                  <a:pt x="1671262" y="1671262"/>
                </a:lnTo>
                <a:lnTo>
                  <a:pt x="0" y="1671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099836" y="3374293"/>
            <a:ext cx="10088327" cy="1047750"/>
          </a:xfrm>
          <a:prstGeom prst="rect">
            <a:avLst/>
          </a:prstGeom>
        </p:spPr>
        <p:txBody>
          <a:bodyPr lIns="0" tIns="0" rIns="0" bIns="0" rtlCol="0" anchor="t">
            <a:spAutoFit/>
          </a:bodyPr>
          <a:lstStyle/>
          <a:p>
            <a:pPr marL="0" lvl="0" indent="0" algn="ctr">
              <a:lnSpc>
                <a:spcPts val="8400"/>
              </a:lnSpc>
              <a:spcBef>
                <a:spcPct val="0"/>
              </a:spcBef>
            </a:pPr>
            <a:r>
              <a:rPr lang="en-US" sz="6000">
                <a:solidFill>
                  <a:srgbClr val="FFFBF7"/>
                </a:solidFill>
                <a:latin typeface="Mokoto"/>
                <a:ea typeface="Mokoto"/>
                <a:cs typeface="Mokoto"/>
                <a:sym typeface="Mokoto"/>
              </a:rPr>
              <a:t>INTRODUCTION</a:t>
            </a:r>
          </a:p>
        </p:txBody>
      </p:sp>
      <p:sp>
        <p:nvSpPr>
          <p:cNvPr id="5" name="TextBox 5"/>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6" name="TextBox 6"/>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7" name="TextBox 7"/>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8" name="TextBox 8"/>
          <p:cNvSpPr txBox="1"/>
          <p:nvPr/>
        </p:nvSpPr>
        <p:spPr>
          <a:xfrm>
            <a:off x="3953846" y="5095875"/>
            <a:ext cx="10380307" cy="268984"/>
          </a:xfrm>
          <a:prstGeom prst="rect">
            <a:avLst/>
          </a:prstGeom>
        </p:spPr>
        <p:txBody>
          <a:bodyPr lIns="0" tIns="0" rIns="0" bIns="0" rtlCol="0" anchor="t">
            <a:spAutoFit/>
          </a:bodyPr>
          <a:lstStyle/>
          <a:p>
            <a:pPr marL="0" lvl="0" indent="0" algn="ctr">
              <a:lnSpc>
                <a:spcPts val="2239"/>
              </a:lnSpc>
              <a:spcBef>
                <a:spcPct val="0"/>
              </a:spcBef>
            </a:pPr>
            <a:r>
              <a:rPr lang="en-US" sz="1599">
                <a:solidFill>
                  <a:srgbClr val="FFFBF7"/>
                </a:solidFill>
                <a:latin typeface="Poppins"/>
                <a:ea typeface="Poppins"/>
                <a:cs typeface="Poppins"/>
                <a:sym typeface="Poppins"/>
              </a:rPr>
              <a:t>@powerpointrus</a:t>
            </a:r>
            <a:endParaRPr lang="en-US" sz="1599" dirty="0">
              <a:solidFill>
                <a:srgbClr val="FFFBF7"/>
              </a:solidFill>
              <a:latin typeface="Poppins"/>
              <a:ea typeface="Poppins"/>
              <a:cs typeface="Poppins"/>
              <a:sym typeface="Poppins"/>
            </a:endParaRPr>
          </a:p>
        </p:txBody>
      </p:sp>
      <p:sp>
        <p:nvSpPr>
          <p:cNvPr id="9" name="TextBox 9"/>
          <p:cNvSpPr txBox="1"/>
          <p:nvPr/>
        </p:nvSpPr>
        <p:spPr>
          <a:xfrm>
            <a:off x="4099836" y="6607810"/>
            <a:ext cx="10380307" cy="835660"/>
          </a:xfrm>
          <a:prstGeom prst="rect">
            <a:avLst/>
          </a:prstGeom>
        </p:spPr>
        <p:txBody>
          <a:bodyPr lIns="0" tIns="0" rIns="0" bIns="0" rtlCol="0" anchor="t">
            <a:spAutoFit/>
          </a:bodyPr>
          <a:lstStyle/>
          <a:p>
            <a:pPr marL="0" lvl="0" indent="0" algn="ctr">
              <a:lnSpc>
                <a:spcPts val="2239"/>
              </a:lnSpc>
              <a:spcBef>
                <a:spcPct val="0"/>
              </a:spcBef>
            </a:pPr>
            <a:r>
              <a:rPr lang="en-US" sz="1599">
                <a:solidFill>
                  <a:srgbClr val="FFFBF7"/>
                </a:solidFill>
                <a:latin typeface="Poppins"/>
                <a:ea typeface="Poppins"/>
                <a:cs typeface="Poppins"/>
                <a:sym typeface="Poppins"/>
              </a:rPr>
              <a:t>Duis aute irure dolor in reprehenderit in voluptate velit esse cillum dolore eu fugiat nulla pariatur. Excepteur sint occaecat cupidatat non proident, sunt in culpa qui officia deserunt mollit anim id est laborum.</a:t>
            </a:r>
          </a:p>
        </p:txBody>
      </p:sp>
      <p:sp>
        <p:nvSpPr>
          <p:cNvPr id="10" name="Freeform 10"/>
          <p:cNvSpPr/>
          <p:nvPr/>
        </p:nvSpPr>
        <p:spPr>
          <a:xfrm flipH="1" flipV="1">
            <a:off x="16001375" y="678609"/>
            <a:ext cx="1671261" cy="1671261"/>
          </a:xfrm>
          <a:custGeom>
            <a:avLst/>
            <a:gdLst/>
            <a:ahLst/>
            <a:cxnLst/>
            <a:rect l="l" t="t" r="r" b="b"/>
            <a:pathLst>
              <a:path w="1671261" h="1671261">
                <a:moveTo>
                  <a:pt x="1671262" y="1671262"/>
                </a:moveTo>
                <a:lnTo>
                  <a:pt x="0" y="1671262"/>
                </a:lnTo>
                <a:lnTo>
                  <a:pt x="0" y="0"/>
                </a:lnTo>
                <a:lnTo>
                  <a:pt x="1671262" y="0"/>
                </a:lnTo>
                <a:lnTo>
                  <a:pt x="1671262" y="1671262"/>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4"/>
            <a:stretch>
              <a:fillRect/>
            </a:stretch>
          </a:blipFill>
        </p:spPr>
      </p:sp>
      <p:sp>
        <p:nvSpPr>
          <p:cNvPr id="12" name="Freeform 12"/>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4"/>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5" b="-5555"/>
            </a:stretch>
          </a:blipFill>
        </p:spPr>
      </p:sp>
      <p:sp>
        <p:nvSpPr>
          <p:cNvPr id="3" name="Freeform 3"/>
          <p:cNvSpPr/>
          <p:nvPr/>
        </p:nvSpPr>
        <p:spPr>
          <a:xfrm>
            <a:off x="-297707" y="6905609"/>
            <a:ext cx="1201779" cy="1881046"/>
          </a:xfrm>
          <a:custGeom>
            <a:avLst/>
            <a:gdLst/>
            <a:ahLst/>
            <a:cxnLst/>
            <a:rect l="l" t="t" r="r" b="b"/>
            <a:pathLst>
              <a:path w="1201779" h="1881046">
                <a:moveTo>
                  <a:pt x="0" y="0"/>
                </a:moveTo>
                <a:lnTo>
                  <a:pt x="1201780" y="0"/>
                </a:lnTo>
                <a:lnTo>
                  <a:pt x="1201780" y="1881046"/>
                </a:lnTo>
                <a:lnTo>
                  <a:pt x="0" y="188104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7383927" y="1500345"/>
            <a:ext cx="1201779" cy="1881046"/>
          </a:xfrm>
          <a:custGeom>
            <a:avLst/>
            <a:gdLst/>
            <a:ahLst/>
            <a:cxnLst/>
            <a:rect l="l" t="t" r="r" b="b"/>
            <a:pathLst>
              <a:path w="1201779" h="1881046">
                <a:moveTo>
                  <a:pt x="1201780" y="1881046"/>
                </a:moveTo>
                <a:lnTo>
                  <a:pt x="0" y="1881046"/>
                </a:lnTo>
                <a:lnTo>
                  <a:pt x="0" y="0"/>
                </a:lnTo>
                <a:lnTo>
                  <a:pt x="1201780" y="0"/>
                </a:lnTo>
                <a:lnTo>
                  <a:pt x="1201780" y="1881046"/>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8432947" y="5397616"/>
            <a:ext cx="2491985" cy="1860921"/>
          </a:xfrm>
          <a:custGeom>
            <a:avLst/>
            <a:gdLst/>
            <a:ahLst/>
            <a:cxnLst/>
            <a:rect l="l" t="t" r="r" b="b"/>
            <a:pathLst>
              <a:path w="2491985" h="1860921">
                <a:moveTo>
                  <a:pt x="0" y="0"/>
                </a:moveTo>
                <a:lnTo>
                  <a:pt x="2491985" y="0"/>
                </a:lnTo>
                <a:lnTo>
                  <a:pt x="2491985" y="1860921"/>
                </a:lnTo>
                <a:lnTo>
                  <a:pt x="0" y="186092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3508204" y="5321230"/>
            <a:ext cx="1543195" cy="2169694"/>
          </a:xfrm>
          <a:custGeom>
            <a:avLst/>
            <a:gdLst/>
            <a:ahLst/>
            <a:cxnLst/>
            <a:rect l="l" t="t" r="r" b="b"/>
            <a:pathLst>
              <a:path w="1543195" h="2169694">
                <a:moveTo>
                  <a:pt x="0" y="0"/>
                </a:moveTo>
                <a:lnTo>
                  <a:pt x="1543195" y="0"/>
                </a:lnTo>
                <a:lnTo>
                  <a:pt x="1543195" y="2169695"/>
                </a:lnTo>
                <a:lnTo>
                  <a:pt x="0" y="2169695"/>
                </a:lnTo>
                <a:lnTo>
                  <a:pt x="0" y="0"/>
                </a:lnTo>
                <a:close/>
              </a:path>
            </a:pathLst>
          </a:custGeom>
          <a:blipFill>
            <a:blip r:embed="rId6"/>
            <a:stretch>
              <a:fillRect/>
            </a:stretch>
          </a:blipFill>
        </p:spPr>
      </p:sp>
      <p:sp>
        <p:nvSpPr>
          <p:cNvPr id="7" name="Freeform 7"/>
          <p:cNvSpPr/>
          <p:nvPr/>
        </p:nvSpPr>
        <p:spPr>
          <a:xfrm>
            <a:off x="13684236" y="5243566"/>
            <a:ext cx="1828855" cy="2169022"/>
          </a:xfrm>
          <a:custGeom>
            <a:avLst/>
            <a:gdLst/>
            <a:ahLst/>
            <a:cxnLst/>
            <a:rect l="l" t="t" r="r" b="b"/>
            <a:pathLst>
              <a:path w="1828855" h="2169022">
                <a:moveTo>
                  <a:pt x="0" y="0"/>
                </a:moveTo>
                <a:lnTo>
                  <a:pt x="1828855" y="0"/>
                </a:lnTo>
                <a:lnTo>
                  <a:pt x="1828855" y="2169021"/>
                </a:lnTo>
                <a:lnTo>
                  <a:pt x="0" y="216902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4110694" y="2481316"/>
            <a:ext cx="10088327" cy="2114550"/>
          </a:xfrm>
          <a:prstGeom prst="rect">
            <a:avLst/>
          </a:prstGeom>
        </p:spPr>
        <p:txBody>
          <a:bodyPr lIns="0" tIns="0" rIns="0" bIns="0" rtlCol="0" anchor="t">
            <a:spAutoFit/>
          </a:bodyPr>
          <a:lstStyle/>
          <a:p>
            <a:pPr marL="0" lvl="0" indent="0" algn="ctr">
              <a:lnSpc>
                <a:spcPts val="8400"/>
              </a:lnSpc>
              <a:spcBef>
                <a:spcPct val="0"/>
              </a:spcBef>
            </a:pPr>
            <a:r>
              <a:rPr lang="en-US" sz="6000">
                <a:solidFill>
                  <a:srgbClr val="FFFBF7"/>
                </a:solidFill>
                <a:latin typeface="Mokoto"/>
                <a:ea typeface="Mokoto"/>
                <a:cs typeface="Mokoto"/>
                <a:sym typeface="Mokoto"/>
              </a:rPr>
              <a:t>HISTORY OF VIRTUAL REALITY</a:t>
            </a:r>
          </a:p>
        </p:txBody>
      </p:sp>
      <p:sp>
        <p:nvSpPr>
          <p:cNvPr id="9" name="TextBox 9"/>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10" name="TextBox 10"/>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11" name="TextBox 11"/>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12" name="TextBox 12"/>
          <p:cNvSpPr txBox="1"/>
          <p:nvPr/>
        </p:nvSpPr>
        <p:spPr>
          <a:xfrm>
            <a:off x="3508204" y="8009431"/>
            <a:ext cx="1543195" cy="283210"/>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VR headsets</a:t>
            </a:r>
          </a:p>
        </p:txBody>
      </p:sp>
      <p:sp>
        <p:nvSpPr>
          <p:cNvPr id="13" name="TextBox 13"/>
          <p:cNvSpPr txBox="1"/>
          <p:nvPr/>
        </p:nvSpPr>
        <p:spPr>
          <a:xfrm>
            <a:off x="3508204" y="7567125"/>
            <a:ext cx="1409822" cy="358774"/>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1980s</a:t>
            </a:r>
          </a:p>
        </p:txBody>
      </p:sp>
      <p:sp>
        <p:nvSpPr>
          <p:cNvPr id="14" name="TextBox 14"/>
          <p:cNvSpPr txBox="1"/>
          <p:nvPr/>
        </p:nvSpPr>
        <p:spPr>
          <a:xfrm>
            <a:off x="8297709" y="8009431"/>
            <a:ext cx="1543195" cy="283210"/>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VR gaming</a:t>
            </a:r>
          </a:p>
        </p:txBody>
      </p:sp>
      <p:sp>
        <p:nvSpPr>
          <p:cNvPr id="15" name="TextBox 15"/>
          <p:cNvSpPr txBox="1"/>
          <p:nvPr/>
        </p:nvSpPr>
        <p:spPr>
          <a:xfrm>
            <a:off x="8297709" y="7567125"/>
            <a:ext cx="1409822" cy="358774"/>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1990s</a:t>
            </a:r>
          </a:p>
        </p:txBody>
      </p:sp>
      <p:sp>
        <p:nvSpPr>
          <p:cNvPr id="16" name="TextBox 16"/>
          <p:cNvSpPr txBox="1"/>
          <p:nvPr/>
        </p:nvSpPr>
        <p:spPr>
          <a:xfrm>
            <a:off x="13893753" y="8009431"/>
            <a:ext cx="2765469" cy="559435"/>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Modern advancements (Oculus, HTC Vive)</a:t>
            </a:r>
          </a:p>
        </p:txBody>
      </p:sp>
      <p:sp>
        <p:nvSpPr>
          <p:cNvPr id="17" name="TextBox 17"/>
          <p:cNvSpPr txBox="1"/>
          <p:nvPr/>
        </p:nvSpPr>
        <p:spPr>
          <a:xfrm>
            <a:off x="13893753" y="7567125"/>
            <a:ext cx="1409822" cy="358774"/>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2010s</a:t>
            </a:r>
          </a:p>
        </p:txBody>
      </p:sp>
      <p:sp>
        <p:nvSpPr>
          <p:cNvPr id="18" name="Freeform 18"/>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8"/>
            <a:stretch>
              <a:fillRect/>
            </a:stretch>
          </a:blipFill>
        </p:spPr>
      </p:sp>
      <p:sp>
        <p:nvSpPr>
          <p:cNvPr id="19" name="Freeform 19"/>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8"/>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sp>
        <p:nvSpPr>
          <p:cNvPr id="3" name="Freeform 3"/>
          <p:cNvSpPr/>
          <p:nvPr/>
        </p:nvSpPr>
        <p:spPr>
          <a:xfrm>
            <a:off x="10700961" y="1864331"/>
            <a:ext cx="6558339" cy="6558339"/>
          </a:xfrm>
          <a:custGeom>
            <a:avLst/>
            <a:gdLst/>
            <a:ahLst/>
            <a:cxnLst/>
            <a:rect l="l" t="t" r="r" b="b"/>
            <a:pathLst>
              <a:path w="6558339" h="6558339">
                <a:moveTo>
                  <a:pt x="0" y="0"/>
                </a:moveTo>
                <a:lnTo>
                  <a:pt x="6558339" y="0"/>
                </a:lnTo>
                <a:lnTo>
                  <a:pt x="6558339" y="6558338"/>
                </a:lnTo>
                <a:lnTo>
                  <a:pt x="0" y="6558338"/>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1356946" y="2645014"/>
            <a:ext cx="5590530" cy="4996972"/>
            <a:chOff x="0" y="0"/>
            <a:chExt cx="866119" cy="774162"/>
          </a:xfrm>
        </p:grpSpPr>
        <p:sp>
          <p:nvSpPr>
            <p:cNvPr id="5" name="Freeform 5"/>
            <p:cNvSpPr/>
            <p:nvPr/>
          </p:nvSpPr>
          <p:spPr>
            <a:xfrm>
              <a:off x="0" y="0"/>
              <a:ext cx="866119" cy="774162"/>
            </a:xfrm>
            <a:custGeom>
              <a:avLst/>
              <a:gdLst/>
              <a:ahLst/>
              <a:cxnLst/>
              <a:rect l="l" t="t" r="r" b="b"/>
              <a:pathLst>
                <a:path w="866119" h="774162">
                  <a:moveTo>
                    <a:pt x="60932" y="0"/>
                  </a:moveTo>
                  <a:lnTo>
                    <a:pt x="805187" y="0"/>
                  </a:lnTo>
                  <a:cubicBezTo>
                    <a:pt x="821347" y="0"/>
                    <a:pt x="836846" y="6420"/>
                    <a:pt x="848273" y="17847"/>
                  </a:cubicBezTo>
                  <a:cubicBezTo>
                    <a:pt x="859700" y="29274"/>
                    <a:pt x="866119" y="44772"/>
                    <a:pt x="866119" y="60932"/>
                  </a:cubicBezTo>
                  <a:lnTo>
                    <a:pt x="866119" y="713229"/>
                  </a:lnTo>
                  <a:cubicBezTo>
                    <a:pt x="866119" y="729390"/>
                    <a:pt x="859700" y="744888"/>
                    <a:pt x="848273" y="756315"/>
                  </a:cubicBezTo>
                  <a:cubicBezTo>
                    <a:pt x="836846" y="767742"/>
                    <a:pt x="821347" y="774162"/>
                    <a:pt x="805187" y="774162"/>
                  </a:cubicBezTo>
                  <a:lnTo>
                    <a:pt x="60932" y="774162"/>
                  </a:lnTo>
                  <a:cubicBezTo>
                    <a:pt x="44772" y="774162"/>
                    <a:pt x="29274" y="767742"/>
                    <a:pt x="17847" y="756315"/>
                  </a:cubicBezTo>
                  <a:cubicBezTo>
                    <a:pt x="6420" y="744888"/>
                    <a:pt x="0" y="729390"/>
                    <a:pt x="0" y="713229"/>
                  </a:cubicBezTo>
                  <a:lnTo>
                    <a:pt x="0" y="60932"/>
                  </a:lnTo>
                  <a:cubicBezTo>
                    <a:pt x="0" y="44772"/>
                    <a:pt x="6420" y="29274"/>
                    <a:pt x="17847" y="17847"/>
                  </a:cubicBezTo>
                  <a:cubicBezTo>
                    <a:pt x="29274" y="6420"/>
                    <a:pt x="44772" y="0"/>
                    <a:pt x="60932" y="0"/>
                  </a:cubicBezTo>
                  <a:close/>
                </a:path>
              </a:pathLst>
            </a:custGeom>
            <a:blipFill>
              <a:blip r:embed="rId4"/>
              <a:stretch>
                <a:fillRect l="-29451" r="-29451"/>
              </a:stretch>
            </a:blipFill>
          </p:spPr>
        </p:sp>
      </p:grpSp>
      <p:sp>
        <p:nvSpPr>
          <p:cNvPr id="6" name="TextBox 6"/>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7" name="TextBox 7"/>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8" name="TextBox 8"/>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9" name="TextBox 9"/>
          <p:cNvSpPr txBox="1"/>
          <p:nvPr/>
        </p:nvSpPr>
        <p:spPr>
          <a:xfrm>
            <a:off x="1563077" y="3261047"/>
            <a:ext cx="10088327" cy="2114550"/>
          </a:xfrm>
          <a:prstGeom prst="rect">
            <a:avLst/>
          </a:prstGeom>
        </p:spPr>
        <p:txBody>
          <a:bodyPr lIns="0" tIns="0" rIns="0" bIns="0" rtlCol="0" anchor="t">
            <a:spAutoFit/>
          </a:bodyPr>
          <a:lstStyle/>
          <a:p>
            <a:pPr marL="0" lvl="0" indent="0" algn="l">
              <a:lnSpc>
                <a:spcPts val="8400"/>
              </a:lnSpc>
              <a:spcBef>
                <a:spcPct val="0"/>
              </a:spcBef>
            </a:pPr>
            <a:r>
              <a:rPr lang="en-US" sz="6000">
                <a:solidFill>
                  <a:srgbClr val="FFFBF7"/>
                </a:solidFill>
                <a:latin typeface="Mokoto"/>
                <a:ea typeface="Mokoto"/>
                <a:cs typeface="Mokoto"/>
                <a:sym typeface="Mokoto"/>
              </a:rPr>
              <a:t>HOW VIRTUAL REALITY WORKS</a:t>
            </a:r>
          </a:p>
        </p:txBody>
      </p:sp>
      <p:sp>
        <p:nvSpPr>
          <p:cNvPr id="10" name="TextBox 10"/>
          <p:cNvSpPr txBox="1"/>
          <p:nvPr/>
        </p:nvSpPr>
        <p:spPr>
          <a:xfrm>
            <a:off x="1563077" y="7250928"/>
            <a:ext cx="5358349" cy="559435"/>
          </a:xfrm>
          <a:prstGeom prst="rect">
            <a:avLst/>
          </a:prstGeom>
        </p:spPr>
        <p:txBody>
          <a:bodyPr lIns="0" tIns="0" rIns="0" bIns="0" rtlCol="0" anchor="t">
            <a:spAutoFit/>
          </a:bodyPr>
          <a:lstStyle/>
          <a:p>
            <a:pPr marL="345438" lvl="1" indent="-172719" algn="l">
              <a:lnSpc>
                <a:spcPts val="2239"/>
              </a:lnSpc>
              <a:buFont typeface="Arial"/>
              <a:buChar char="•"/>
            </a:pPr>
            <a:r>
              <a:rPr lang="en-US" sz="1599">
                <a:solidFill>
                  <a:srgbClr val="FFFBF7"/>
                </a:solidFill>
                <a:latin typeface="Poppins"/>
                <a:ea typeface="Poppins"/>
                <a:cs typeface="Poppins"/>
                <a:sym typeface="Poppins"/>
              </a:rPr>
              <a:t>Hardware: headsets, controllers, sensors.</a:t>
            </a:r>
          </a:p>
          <a:p>
            <a:pPr marL="345438" lvl="1" indent="-172719" algn="l">
              <a:lnSpc>
                <a:spcPts val="2239"/>
              </a:lnSpc>
              <a:spcBef>
                <a:spcPct val="0"/>
              </a:spcBef>
              <a:buFont typeface="Arial"/>
              <a:buChar char="•"/>
            </a:pPr>
            <a:r>
              <a:rPr lang="en-US" sz="1599">
                <a:solidFill>
                  <a:srgbClr val="FFFBF7"/>
                </a:solidFill>
                <a:latin typeface="Poppins"/>
                <a:ea typeface="Poppins"/>
                <a:cs typeface="Poppins"/>
                <a:sym typeface="Poppins"/>
              </a:rPr>
              <a:t>Software: VR environments and applications.</a:t>
            </a:r>
          </a:p>
        </p:txBody>
      </p:sp>
      <p:sp>
        <p:nvSpPr>
          <p:cNvPr id="11" name="TextBox 11"/>
          <p:cNvSpPr txBox="1"/>
          <p:nvPr/>
        </p:nvSpPr>
        <p:spPr>
          <a:xfrm>
            <a:off x="1563077" y="6808622"/>
            <a:ext cx="2749282" cy="358774"/>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Components</a:t>
            </a:r>
          </a:p>
        </p:txBody>
      </p:sp>
      <p:sp>
        <p:nvSpPr>
          <p:cNvPr id="12" name="TextBox 12"/>
          <p:cNvSpPr txBox="1"/>
          <p:nvPr/>
        </p:nvSpPr>
        <p:spPr>
          <a:xfrm>
            <a:off x="6921427" y="7250928"/>
            <a:ext cx="4118303" cy="559435"/>
          </a:xfrm>
          <a:prstGeom prst="rect">
            <a:avLst/>
          </a:prstGeom>
        </p:spPr>
        <p:txBody>
          <a:bodyPr lIns="0" tIns="0" rIns="0" bIns="0" rtlCol="0" anchor="t">
            <a:spAutoFit/>
          </a:bodyPr>
          <a:lstStyle/>
          <a:p>
            <a:pPr marL="345438" lvl="1" indent="-172719" algn="l">
              <a:lnSpc>
                <a:spcPts val="2239"/>
              </a:lnSpc>
              <a:buFont typeface="Arial"/>
              <a:buChar char="•"/>
            </a:pPr>
            <a:r>
              <a:rPr lang="en-US" sz="1599">
                <a:solidFill>
                  <a:srgbClr val="FFFBF7"/>
                </a:solidFill>
                <a:latin typeface="Poppins"/>
                <a:ea typeface="Poppins"/>
                <a:cs typeface="Poppins"/>
                <a:sym typeface="Poppins"/>
              </a:rPr>
              <a:t>Tracking movements.</a:t>
            </a:r>
          </a:p>
          <a:p>
            <a:pPr marL="345438" lvl="1" indent="-172719" algn="l">
              <a:lnSpc>
                <a:spcPts val="2239"/>
              </a:lnSpc>
              <a:spcBef>
                <a:spcPct val="0"/>
              </a:spcBef>
              <a:buFont typeface="Arial"/>
              <a:buChar char="•"/>
            </a:pPr>
            <a:r>
              <a:rPr lang="en-US" sz="1599">
                <a:solidFill>
                  <a:srgbClr val="FFFBF7"/>
                </a:solidFill>
                <a:latin typeface="Poppins"/>
                <a:ea typeface="Poppins"/>
                <a:cs typeface="Poppins"/>
                <a:sym typeface="Poppins"/>
              </a:rPr>
              <a:t>Rendering a 3D environment.</a:t>
            </a:r>
          </a:p>
        </p:txBody>
      </p:sp>
      <p:sp>
        <p:nvSpPr>
          <p:cNvPr id="13" name="TextBox 13"/>
          <p:cNvSpPr txBox="1"/>
          <p:nvPr/>
        </p:nvSpPr>
        <p:spPr>
          <a:xfrm>
            <a:off x="6921427" y="6808622"/>
            <a:ext cx="2749282" cy="358774"/>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Process</a:t>
            </a:r>
          </a:p>
        </p:txBody>
      </p:sp>
      <p:sp>
        <p:nvSpPr>
          <p:cNvPr id="14" name="Freeform 14"/>
          <p:cNvSpPr/>
          <p:nvPr/>
        </p:nvSpPr>
        <p:spPr>
          <a:xfrm>
            <a:off x="615363" y="7937129"/>
            <a:ext cx="1671261" cy="1671261"/>
          </a:xfrm>
          <a:custGeom>
            <a:avLst/>
            <a:gdLst/>
            <a:ahLst/>
            <a:cxnLst/>
            <a:rect l="l" t="t" r="r" b="b"/>
            <a:pathLst>
              <a:path w="1671261" h="1671261">
                <a:moveTo>
                  <a:pt x="0" y="0"/>
                </a:moveTo>
                <a:lnTo>
                  <a:pt x="1671262" y="0"/>
                </a:lnTo>
                <a:lnTo>
                  <a:pt x="1671262" y="1671262"/>
                </a:lnTo>
                <a:lnTo>
                  <a:pt x="0" y="167126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Freeform 15"/>
          <p:cNvSpPr/>
          <p:nvPr/>
        </p:nvSpPr>
        <p:spPr>
          <a:xfrm flipH="1" flipV="1">
            <a:off x="16001375" y="678609"/>
            <a:ext cx="1671261" cy="1671261"/>
          </a:xfrm>
          <a:custGeom>
            <a:avLst/>
            <a:gdLst/>
            <a:ahLst/>
            <a:cxnLst/>
            <a:rect l="l" t="t" r="r" b="b"/>
            <a:pathLst>
              <a:path w="1671261" h="1671261">
                <a:moveTo>
                  <a:pt x="1671262" y="1671262"/>
                </a:moveTo>
                <a:lnTo>
                  <a:pt x="0" y="1671262"/>
                </a:lnTo>
                <a:lnTo>
                  <a:pt x="0" y="0"/>
                </a:lnTo>
                <a:lnTo>
                  <a:pt x="1671262" y="0"/>
                </a:lnTo>
                <a:lnTo>
                  <a:pt x="1671262" y="1671262"/>
                </a:lnTo>
                <a:close/>
              </a:path>
            </a:pathLst>
          </a:custGeom>
          <a:blipFill>
            <a:blip>
              <a:extLst>
                <a:ext uri="{96DAC541-7B7A-43D3-8B79-37D633B846F1}">
                  <asvg:svgBlip xmlns:asvg="http://schemas.microsoft.com/office/drawing/2016/SVG/main" r:embed="rId5"/>
                </a:ext>
              </a:extLst>
            </a:blip>
            <a:stretch>
              <a:fillRect/>
            </a:stretch>
          </a:blipFill>
        </p:spPr>
      </p:sp>
      <p:sp>
        <p:nvSpPr>
          <p:cNvPr id="16" name="Freeform 16"/>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6"/>
            <a:stretch>
              <a:fillRect/>
            </a:stretch>
          </a:blipFill>
        </p:spPr>
      </p:sp>
      <p:sp>
        <p:nvSpPr>
          <p:cNvPr id="17" name="Freeform 17"/>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6"/>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5" b="-5555"/>
            </a:stretch>
          </a:blipFill>
        </p:spPr>
      </p:sp>
      <p:sp>
        <p:nvSpPr>
          <p:cNvPr id="3" name="Freeform 3"/>
          <p:cNvSpPr/>
          <p:nvPr/>
        </p:nvSpPr>
        <p:spPr>
          <a:xfrm>
            <a:off x="-297707" y="6905609"/>
            <a:ext cx="1201779" cy="1881046"/>
          </a:xfrm>
          <a:custGeom>
            <a:avLst/>
            <a:gdLst/>
            <a:ahLst/>
            <a:cxnLst/>
            <a:rect l="l" t="t" r="r" b="b"/>
            <a:pathLst>
              <a:path w="1201779" h="1881046">
                <a:moveTo>
                  <a:pt x="0" y="0"/>
                </a:moveTo>
                <a:lnTo>
                  <a:pt x="1201780" y="0"/>
                </a:lnTo>
                <a:lnTo>
                  <a:pt x="1201780" y="1881046"/>
                </a:lnTo>
                <a:lnTo>
                  <a:pt x="0" y="188104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7383927" y="1500345"/>
            <a:ext cx="1201779" cy="1881046"/>
          </a:xfrm>
          <a:custGeom>
            <a:avLst/>
            <a:gdLst/>
            <a:ahLst/>
            <a:cxnLst/>
            <a:rect l="l" t="t" r="r" b="b"/>
            <a:pathLst>
              <a:path w="1201779" h="1881046">
                <a:moveTo>
                  <a:pt x="1201780" y="1881046"/>
                </a:moveTo>
                <a:lnTo>
                  <a:pt x="0" y="1881046"/>
                </a:lnTo>
                <a:lnTo>
                  <a:pt x="0" y="0"/>
                </a:lnTo>
                <a:lnTo>
                  <a:pt x="1201780" y="0"/>
                </a:lnTo>
                <a:lnTo>
                  <a:pt x="1201780" y="1881046"/>
                </a:lnTo>
                <a:close/>
              </a:path>
            </a:pathLst>
          </a:custGeom>
          <a:blipFill>
            <a:blip>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7357004" y="2082999"/>
            <a:ext cx="4182679" cy="6863595"/>
            <a:chOff x="0" y="0"/>
            <a:chExt cx="781244" cy="1281987"/>
          </a:xfrm>
        </p:grpSpPr>
        <p:sp>
          <p:nvSpPr>
            <p:cNvPr id="6" name="Freeform 6"/>
            <p:cNvSpPr/>
            <p:nvPr/>
          </p:nvSpPr>
          <p:spPr>
            <a:xfrm>
              <a:off x="0" y="0"/>
              <a:ext cx="781244" cy="1281987"/>
            </a:xfrm>
            <a:custGeom>
              <a:avLst/>
              <a:gdLst/>
              <a:ahLst/>
              <a:cxnLst/>
              <a:rect l="l" t="t" r="r" b="b"/>
              <a:pathLst>
                <a:path w="781244" h="1281987">
                  <a:moveTo>
                    <a:pt x="0" y="0"/>
                  </a:moveTo>
                  <a:lnTo>
                    <a:pt x="781244" y="0"/>
                  </a:lnTo>
                  <a:lnTo>
                    <a:pt x="781244" y="1281987"/>
                  </a:lnTo>
                  <a:lnTo>
                    <a:pt x="0" y="1281987"/>
                  </a:lnTo>
                  <a:close/>
                </a:path>
              </a:pathLst>
            </a:custGeom>
            <a:blipFill>
              <a:blip r:embed="rId5"/>
              <a:stretch>
                <a:fillRect l="-4664" r="-4664"/>
              </a:stretch>
            </a:blipFill>
          </p:spPr>
        </p:sp>
      </p:grpSp>
      <p:sp>
        <p:nvSpPr>
          <p:cNvPr id="7" name="Freeform 7"/>
          <p:cNvSpPr/>
          <p:nvPr/>
        </p:nvSpPr>
        <p:spPr>
          <a:xfrm>
            <a:off x="12101659" y="3100692"/>
            <a:ext cx="643693" cy="381871"/>
          </a:xfrm>
          <a:custGeom>
            <a:avLst/>
            <a:gdLst/>
            <a:ahLst/>
            <a:cxnLst/>
            <a:rect l="l" t="t" r="r" b="b"/>
            <a:pathLst>
              <a:path w="643693" h="381871">
                <a:moveTo>
                  <a:pt x="0" y="0"/>
                </a:moveTo>
                <a:lnTo>
                  <a:pt x="643692" y="0"/>
                </a:lnTo>
                <a:lnTo>
                  <a:pt x="643692" y="381871"/>
                </a:lnTo>
                <a:lnTo>
                  <a:pt x="0" y="38187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461440" y="3486150"/>
            <a:ext cx="5662669" cy="3181350"/>
          </a:xfrm>
          <a:prstGeom prst="rect">
            <a:avLst/>
          </a:prstGeom>
        </p:spPr>
        <p:txBody>
          <a:bodyPr lIns="0" tIns="0" rIns="0" bIns="0" rtlCol="0" anchor="t">
            <a:spAutoFit/>
          </a:bodyPr>
          <a:lstStyle/>
          <a:p>
            <a:pPr marL="0" lvl="0" indent="0" algn="l">
              <a:lnSpc>
                <a:spcPts val="8400"/>
              </a:lnSpc>
              <a:spcBef>
                <a:spcPct val="0"/>
              </a:spcBef>
            </a:pPr>
            <a:r>
              <a:rPr lang="en-US" sz="6000">
                <a:solidFill>
                  <a:srgbClr val="FFFBF7"/>
                </a:solidFill>
                <a:latin typeface="Mokoto"/>
                <a:ea typeface="Mokoto"/>
                <a:cs typeface="Mokoto"/>
                <a:sym typeface="Mokoto"/>
              </a:rPr>
              <a:t>TYPES OF VIRTUAL REALITY</a:t>
            </a:r>
          </a:p>
        </p:txBody>
      </p:sp>
      <p:sp>
        <p:nvSpPr>
          <p:cNvPr id="9" name="TextBox 9"/>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10" name="TextBox 10"/>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11" name="TextBox 11"/>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12" name="TextBox 12"/>
          <p:cNvSpPr txBox="1"/>
          <p:nvPr/>
        </p:nvSpPr>
        <p:spPr>
          <a:xfrm>
            <a:off x="12868924" y="3580710"/>
            <a:ext cx="1675227" cy="283210"/>
          </a:xfrm>
          <a:prstGeom prst="rect">
            <a:avLst/>
          </a:prstGeom>
        </p:spPr>
        <p:txBody>
          <a:bodyPr lIns="0" tIns="0" rIns="0" bIns="0" rtlCol="0" anchor="t">
            <a:spAutoFit/>
          </a:bodyPr>
          <a:lstStyle/>
          <a:p>
            <a:pPr algn="l">
              <a:lnSpc>
                <a:spcPts val="2239"/>
              </a:lnSpc>
            </a:pPr>
            <a:r>
              <a:rPr lang="en-US" sz="1599">
                <a:solidFill>
                  <a:srgbClr val="FFFBF7"/>
                </a:solidFill>
                <a:latin typeface="Poppins"/>
                <a:ea typeface="Poppins"/>
                <a:cs typeface="Poppins"/>
                <a:sym typeface="Poppins"/>
              </a:rPr>
              <a:t>Your text here</a:t>
            </a:r>
          </a:p>
        </p:txBody>
      </p:sp>
      <p:sp>
        <p:nvSpPr>
          <p:cNvPr id="13" name="TextBox 13"/>
          <p:cNvSpPr txBox="1"/>
          <p:nvPr/>
        </p:nvSpPr>
        <p:spPr>
          <a:xfrm>
            <a:off x="12868924" y="3138404"/>
            <a:ext cx="3578859" cy="358774"/>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Non-immersive VR</a:t>
            </a:r>
          </a:p>
        </p:txBody>
      </p:sp>
      <p:sp>
        <p:nvSpPr>
          <p:cNvPr id="14" name="TextBox 14"/>
          <p:cNvSpPr txBox="1"/>
          <p:nvPr/>
        </p:nvSpPr>
        <p:spPr>
          <a:xfrm>
            <a:off x="12868924" y="5615248"/>
            <a:ext cx="1675227" cy="283210"/>
          </a:xfrm>
          <a:prstGeom prst="rect">
            <a:avLst/>
          </a:prstGeom>
        </p:spPr>
        <p:txBody>
          <a:bodyPr lIns="0" tIns="0" rIns="0" bIns="0" rtlCol="0" anchor="t">
            <a:spAutoFit/>
          </a:bodyPr>
          <a:lstStyle/>
          <a:p>
            <a:pPr algn="l">
              <a:lnSpc>
                <a:spcPts val="2239"/>
              </a:lnSpc>
            </a:pPr>
            <a:r>
              <a:rPr lang="en-US" sz="1599">
                <a:solidFill>
                  <a:srgbClr val="FFFBF7"/>
                </a:solidFill>
                <a:latin typeface="Poppins"/>
                <a:ea typeface="Poppins"/>
                <a:cs typeface="Poppins"/>
                <a:sym typeface="Poppins"/>
              </a:rPr>
              <a:t>Your text here</a:t>
            </a:r>
          </a:p>
        </p:txBody>
      </p:sp>
      <p:sp>
        <p:nvSpPr>
          <p:cNvPr id="15" name="TextBox 15"/>
          <p:cNvSpPr txBox="1"/>
          <p:nvPr/>
        </p:nvSpPr>
        <p:spPr>
          <a:xfrm>
            <a:off x="12868924" y="5172942"/>
            <a:ext cx="3578859" cy="358774"/>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Semi-immersive VR</a:t>
            </a:r>
          </a:p>
        </p:txBody>
      </p:sp>
      <p:sp>
        <p:nvSpPr>
          <p:cNvPr id="16" name="TextBox 16"/>
          <p:cNvSpPr txBox="1"/>
          <p:nvPr/>
        </p:nvSpPr>
        <p:spPr>
          <a:xfrm>
            <a:off x="12868924" y="7645689"/>
            <a:ext cx="1675227" cy="283210"/>
          </a:xfrm>
          <a:prstGeom prst="rect">
            <a:avLst/>
          </a:prstGeom>
        </p:spPr>
        <p:txBody>
          <a:bodyPr lIns="0" tIns="0" rIns="0" bIns="0" rtlCol="0" anchor="t">
            <a:spAutoFit/>
          </a:bodyPr>
          <a:lstStyle/>
          <a:p>
            <a:pPr algn="l">
              <a:lnSpc>
                <a:spcPts val="2239"/>
              </a:lnSpc>
            </a:pPr>
            <a:r>
              <a:rPr lang="en-US" sz="1599">
                <a:solidFill>
                  <a:srgbClr val="FFFBF7"/>
                </a:solidFill>
                <a:latin typeface="Poppins"/>
                <a:ea typeface="Poppins"/>
                <a:cs typeface="Poppins"/>
                <a:sym typeface="Poppins"/>
              </a:rPr>
              <a:t>Your text here</a:t>
            </a:r>
          </a:p>
        </p:txBody>
      </p:sp>
      <p:sp>
        <p:nvSpPr>
          <p:cNvPr id="17" name="TextBox 17"/>
          <p:cNvSpPr txBox="1"/>
          <p:nvPr/>
        </p:nvSpPr>
        <p:spPr>
          <a:xfrm>
            <a:off x="12868924" y="7203383"/>
            <a:ext cx="4631960" cy="358774"/>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Fully immersive VR</a:t>
            </a:r>
          </a:p>
        </p:txBody>
      </p:sp>
      <p:sp>
        <p:nvSpPr>
          <p:cNvPr id="18" name="Freeform 18"/>
          <p:cNvSpPr/>
          <p:nvPr/>
        </p:nvSpPr>
        <p:spPr>
          <a:xfrm>
            <a:off x="12101659" y="5149845"/>
            <a:ext cx="643693" cy="381871"/>
          </a:xfrm>
          <a:custGeom>
            <a:avLst/>
            <a:gdLst/>
            <a:ahLst/>
            <a:cxnLst/>
            <a:rect l="l" t="t" r="r" b="b"/>
            <a:pathLst>
              <a:path w="643693" h="381871">
                <a:moveTo>
                  <a:pt x="0" y="0"/>
                </a:moveTo>
                <a:lnTo>
                  <a:pt x="643692" y="0"/>
                </a:lnTo>
                <a:lnTo>
                  <a:pt x="643692" y="381871"/>
                </a:lnTo>
                <a:lnTo>
                  <a:pt x="0" y="38187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9" name="Freeform 19"/>
          <p:cNvSpPr/>
          <p:nvPr/>
        </p:nvSpPr>
        <p:spPr>
          <a:xfrm>
            <a:off x="12101659" y="7180286"/>
            <a:ext cx="643693" cy="381871"/>
          </a:xfrm>
          <a:custGeom>
            <a:avLst/>
            <a:gdLst/>
            <a:ahLst/>
            <a:cxnLst/>
            <a:rect l="l" t="t" r="r" b="b"/>
            <a:pathLst>
              <a:path w="643693" h="381871">
                <a:moveTo>
                  <a:pt x="0" y="0"/>
                </a:moveTo>
                <a:lnTo>
                  <a:pt x="643692" y="0"/>
                </a:lnTo>
                <a:lnTo>
                  <a:pt x="643692" y="381871"/>
                </a:lnTo>
                <a:lnTo>
                  <a:pt x="0" y="38187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0" name="Freeform 20"/>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7"/>
            <a:stretch>
              <a:fillRect/>
            </a:stretch>
          </a:blipFill>
        </p:spPr>
      </p:sp>
      <p:sp>
        <p:nvSpPr>
          <p:cNvPr id="21" name="Freeform 21"/>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7"/>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p:cNvGrpSpPr/>
          <p:nvPr/>
        </p:nvGrpSpPr>
        <p:grpSpPr>
          <a:xfrm>
            <a:off x="1891309" y="2427641"/>
            <a:ext cx="4486639" cy="3308157"/>
            <a:chOff x="0" y="0"/>
            <a:chExt cx="961115" cy="708664"/>
          </a:xfrm>
        </p:grpSpPr>
        <p:sp>
          <p:nvSpPr>
            <p:cNvPr id="4" name="Freeform 4"/>
            <p:cNvSpPr/>
            <p:nvPr/>
          </p:nvSpPr>
          <p:spPr>
            <a:xfrm>
              <a:off x="0" y="0"/>
              <a:ext cx="961115" cy="708664"/>
            </a:xfrm>
            <a:custGeom>
              <a:avLst/>
              <a:gdLst/>
              <a:ahLst/>
              <a:cxnLst/>
              <a:rect l="l" t="t" r="r" b="b"/>
              <a:pathLst>
                <a:path w="961115" h="708664">
                  <a:moveTo>
                    <a:pt x="0" y="0"/>
                  </a:moveTo>
                  <a:lnTo>
                    <a:pt x="961115" y="0"/>
                  </a:lnTo>
                  <a:lnTo>
                    <a:pt x="961115" y="708664"/>
                  </a:lnTo>
                  <a:lnTo>
                    <a:pt x="0" y="708664"/>
                  </a:lnTo>
                  <a:close/>
                </a:path>
              </a:pathLst>
            </a:custGeom>
            <a:blipFill>
              <a:blip r:embed="rId3"/>
              <a:stretch>
                <a:fillRect l="-5231" r="-5231"/>
              </a:stretch>
            </a:blipFill>
          </p:spPr>
        </p:sp>
      </p:grpSp>
      <p:grpSp>
        <p:nvGrpSpPr>
          <p:cNvPr id="5" name="Group 5"/>
          <p:cNvGrpSpPr/>
          <p:nvPr/>
        </p:nvGrpSpPr>
        <p:grpSpPr>
          <a:xfrm>
            <a:off x="6901916" y="2427641"/>
            <a:ext cx="4486639" cy="3308157"/>
            <a:chOff x="0" y="0"/>
            <a:chExt cx="961115" cy="708664"/>
          </a:xfrm>
        </p:grpSpPr>
        <p:sp>
          <p:nvSpPr>
            <p:cNvPr id="6" name="Freeform 6"/>
            <p:cNvSpPr/>
            <p:nvPr/>
          </p:nvSpPr>
          <p:spPr>
            <a:xfrm>
              <a:off x="0" y="0"/>
              <a:ext cx="961115" cy="708664"/>
            </a:xfrm>
            <a:custGeom>
              <a:avLst/>
              <a:gdLst/>
              <a:ahLst/>
              <a:cxnLst/>
              <a:rect l="l" t="t" r="r" b="b"/>
              <a:pathLst>
                <a:path w="961115" h="708664">
                  <a:moveTo>
                    <a:pt x="0" y="0"/>
                  </a:moveTo>
                  <a:lnTo>
                    <a:pt x="961115" y="0"/>
                  </a:lnTo>
                  <a:lnTo>
                    <a:pt x="961115" y="708664"/>
                  </a:lnTo>
                  <a:lnTo>
                    <a:pt x="0" y="708664"/>
                  </a:lnTo>
                  <a:close/>
                </a:path>
              </a:pathLst>
            </a:custGeom>
            <a:blipFill>
              <a:blip r:embed="rId4"/>
              <a:stretch>
                <a:fillRect l="-5334" r="-5334"/>
              </a:stretch>
            </a:blipFill>
          </p:spPr>
        </p:sp>
      </p:grpSp>
      <p:grpSp>
        <p:nvGrpSpPr>
          <p:cNvPr id="7" name="Group 7"/>
          <p:cNvGrpSpPr/>
          <p:nvPr/>
        </p:nvGrpSpPr>
        <p:grpSpPr>
          <a:xfrm>
            <a:off x="11910051" y="2427641"/>
            <a:ext cx="4486639" cy="3308157"/>
            <a:chOff x="0" y="0"/>
            <a:chExt cx="961115" cy="708664"/>
          </a:xfrm>
        </p:grpSpPr>
        <p:sp>
          <p:nvSpPr>
            <p:cNvPr id="8" name="Freeform 8"/>
            <p:cNvSpPr/>
            <p:nvPr/>
          </p:nvSpPr>
          <p:spPr>
            <a:xfrm>
              <a:off x="0" y="0"/>
              <a:ext cx="961115" cy="708664"/>
            </a:xfrm>
            <a:custGeom>
              <a:avLst/>
              <a:gdLst/>
              <a:ahLst/>
              <a:cxnLst/>
              <a:rect l="l" t="t" r="r" b="b"/>
              <a:pathLst>
                <a:path w="961115" h="708664">
                  <a:moveTo>
                    <a:pt x="0" y="0"/>
                  </a:moveTo>
                  <a:lnTo>
                    <a:pt x="961115" y="0"/>
                  </a:lnTo>
                  <a:lnTo>
                    <a:pt x="961115" y="708664"/>
                  </a:lnTo>
                  <a:lnTo>
                    <a:pt x="0" y="708664"/>
                  </a:lnTo>
                  <a:close/>
                </a:path>
              </a:pathLst>
            </a:custGeom>
            <a:blipFill>
              <a:blip r:embed="rId5"/>
              <a:stretch>
                <a:fillRect l="-5334" r="-5334"/>
              </a:stretch>
            </a:blipFill>
          </p:spPr>
        </p:sp>
      </p:grpSp>
      <p:sp>
        <p:nvSpPr>
          <p:cNvPr id="9" name="TextBox 9"/>
          <p:cNvSpPr txBox="1"/>
          <p:nvPr/>
        </p:nvSpPr>
        <p:spPr>
          <a:xfrm>
            <a:off x="2062631" y="6399331"/>
            <a:ext cx="14162737" cy="1047750"/>
          </a:xfrm>
          <a:prstGeom prst="rect">
            <a:avLst/>
          </a:prstGeom>
        </p:spPr>
        <p:txBody>
          <a:bodyPr lIns="0" tIns="0" rIns="0" bIns="0" rtlCol="0" anchor="t">
            <a:spAutoFit/>
          </a:bodyPr>
          <a:lstStyle/>
          <a:p>
            <a:pPr algn="ctr">
              <a:lnSpc>
                <a:spcPts val="8400"/>
              </a:lnSpc>
            </a:pPr>
            <a:r>
              <a:rPr lang="en-US" sz="6000">
                <a:solidFill>
                  <a:srgbClr val="FFFBF7"/>
                </a:solidFill>
                <a:latin typeface="Mokoto"/>
                <a:ea typeface="Mokoto"/>
                <a:cs typeface="Mokoto"/>
                <a:sym typeface="Mokoto"/>
              </a:rPr>
              <a:t>KEY TECHNOLOGIES IN VR</a:t>
            </a:r>
          </a:p>
        </p:txBody>
      </p:sp>
      <p:sp>
        <p:nvSpPr>
          <p:cNvPr id="10" name="TextBox 10"/>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11" name="TextBox 11"/>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12" name="TextBox 12"/>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13" name="TextBox 13"/>
          <p:cNvSpPr txBox="1"/>
          <p:nvPr/>
        </p:nvSpPr>
        <p:spPr>
          <a:xfrm>
            <a:off x="3621158" y="7599478"/>
            <a:ext cx="11045684" cy="835660"/>
          </a:xfrm>
          <a:prstGeom prst="rect">
            <a:avLst/>
          </a:prstGeom>
        </p:spPr>
        <p:txBody>
          <a:bodyPr lIns="0" tIns="0" rIns="0" bIns="0" rtlCol="0" anchor="t">
            <a:spAutoFit/>
          </a:bodyPr>
          <a:lstStyle/>
          <a:p>
            <a:pPr marL="0" lvl="0" indent="0" algn="ctr">
              <a:lnSpc>
                <a:spcPts val="2239"/>
              </a:lnSpc>
              <a:spcBef>
                <a:spcPct val="0"/>
              </a:spcBef>
            </a:pPr>
            <a:r>
              <a:rPr lang="en-US" sz="1599">
                <a:solidFill>
                  <a:srgbClr val="FFFBF7"/>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sp>
        <p:nvSpPr>
          <p:cNvPr id="14" name="Freeform 14"/>
          <p:cNvSpPr/>
          <p:nvPr/>
        </p:nvSpPr>
        <p:spPr>
          <a:xfrm>
            <a:off x="615363" y="7937129"/>
            <a:ext cx="1671261" cy="1671261"/>
          </a:xfrm>
          <a:custGeom>
            <a:avLst/>
            <a:gdLst/>
            <a:ahLst/>
            <a:cxnLst/>
            <a:rect l="l" t="t" r="r" b="b"/>
            <a:pathLst>
              <a:path w="1671261" h="1671261">
                <a:moveTo>
                  <a:pt x="0" y="0"/>
                </a:moveTo>
                <a:lnTo>
                  <a:pt x="1671262" y="0"/>
                </a:lnTo>
                <a:lnTo>
                  <a:pt x="1671262" y="1671262"/>
                </a:lnTo>
                <a:lnTo>
                  <a:pt x="0" y="167126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5" name="Freeform 15"/>
          <p:cNvSpPr/>
          <p:nvPr/>
        </p:nvSpPr>
        <p:spPr>
          <a:xfrm flipH="1" flipV="1">
            <a:off x="16001375" y="678609"/>
            <a:ext cx="1671261" cy="1671261"/>
          </a:xfrm>
          <a:custGeom>
            <a:avLst/>
            <a:gdLst/>
            <a:ahLst/>
            <a:cxnLst/>
            <a:rect l="l" t="t" r="r" b="b"/>
            <a:pathLst>
              <a:path w="1671261" h="1671261">
                <a:moveTo>
                  <a:pt x="1671262" y="1671262"/>
                </a:moveTo>
                <a:lnTo>
                  <a:pt x="0" y="1671262"/>
                </a:lnTo>
                <a:lnTo>
                  <a:pt x="0" y="0"/>
                </a:lnTo>
                <a:lnTo>
                  <a:pt x="1671262" y="0"/>
                </a:lnTo>
                <a:lnTo>
                  <a:pt x="1671262" y="1671262"/>
                </a:lnTo>
                <a:close/>
              </a:path>
            </a:pathLst>
          </a:custGeom>
          <a:blipFill>
            <a:blip>
              <a:extLst>
                <a:ext uri="{96DAC541-7B7A-43D3-8B79-37D633B846F1}">
                  <asvg:svgBlip xmlns:asvg="http://schemas.microsoft.com/office/drawing/2016/SVG/main" r:embed="rId6"/>
                </a:ext>
              </a:extLst>
            </a:blip>
            <a:stretch>
              <a:fillRect/>
            </a:stretch>
          </a:blipFill>
        </p:spPr>
      </p:sp>
      <p:sp>
        <p:nvSpPr>
          <p:cNvPr id="16" name="Freeform 16"/>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7"/>
            <a:stretch>
              <a:fillRect/>
            </a:stretch>
          </a:blipFill>
        </p:spPr>
      </p:sp>
      <p:sp>
        <p:nvSpPr>
          <p:cNvPr id="17" name="Freeform 17"/>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7"/>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5" b="-5555"/>
            </a:stretch>
          </a:blipFill>
        </p:spPr>
      </p:sp>
      <p:grpSp>
        <p:nvGrpSpPr>
          <p:cNvPr id="3" name="Group 3"/>
          <p:cNvGrpSpPr/>
          <p:nvPr/>
        </p:nvGrpSpPr>
        <p:grpSpPr>
          <a:xfrm>
            <a:off x="9572370" y="2643915"/>
            <a:ext cx="6988076" cy="5152554"/>
            <a:chOff x="0" y="0"/>
            <a:chExt cx="961115" cy="708664"/>
          </a:xfrm>
        </p:grpSpPr>
        <p:sp>
          <p:nvSpPr>
            <p:cNvPr id="4" name="Freeform 4"/>
            <p:cNvSpPr/>
            <p:nvPr/>
          </p:nvSpPr>
          <p:spPr>
            <a:xfrm>
              <a:off x="0" y="0"/>
              <a:ext cx="961115" cy="708664"/>
            </a:xfrm>
            <a:custGeom>
              <a:avLst/>
              <a:gdLst/>
              <a:ahLst/>
              <a:cxnLst/>
              <a:rect l="l" t="t" r="r" b="b"/>
              <a:pathLst>
                <a:path w="961115" h="708664">
                  <a:moveTo>
                    <a:pt x="0" y="0"/>
                  </a:moveTo>
                  <a:lnTo>
                    <a:pt x="961115" y="0"/>
                  </a:lnTo>
                  <a:lnTo>
                    <a:pt x="961115" y="708664"/>
                  </a:lnTo>
                  <a:lnTo>
                    <a:pt x="0" y="708664"/>
                  </a:lnTo>
                  <a:close/>
                </a:path>
              </a:pathLst>
            </a:custGeom>
            <a:blipFill>
              <a:blip r:embed="rId3"/>
              <a:stretch>
                <a:fillRect l="-5300" r="-5300"/>
              </a:stretch>
            </a:blipFill>
          </p:spPr>
        </p:sp>
      </p:grpSp>
      <p:sp>
        <p:nvSpPr>
          <p:cNvPr id="5" name="TextBox 5"/>
          <p:cNvSpPr txBox="1"/>
          <p:nvPr/>
        </p:nvSpPr>
        <p:spPr>
          <a:xfrm>
            <a:off x="1321443" y="2510565"/>
            <a:ext cx="7982126" cy="2114550"/>
          </a:xfrm>
          <a:prstGeom prst="rect">
            <a:avLst/>
          </a:prstGeom>
        </p:spPr>
        <p:txBody>
          <a:bodyPr lIns="0" tIns="0" rIns="0" bIns="0" rtlCol="0" anchor="t">
            <a:spAutoFit/>
          </a:bodyPr>
          <a:lstStyle/>
          <a:p>
            <a:pPr marL="0" lvl="0" indent="0" algn="l">
              <a:lnSpc>
                <a:spcPts val="8400"/>
              </a:lnSpc>
              <a:spcBef>
                <a:spcPct val="0"/>
              </a:spcBef>
            </a:pPr>
            <a:r>
              <a:rPr lang="en-US" sz="6000">
                <a:solidFill>
                  <a:srgbClr val="FFFBF7"/>
                </a:solidFill>
                <a:latin typeface="Mokoto"/>
                <a:ea typeface="Mokoto"/>
                <a:cs typeface="Mokoto"/>
                <a:sym typeface="Mokoto"/>
              </a:rPr>
              <a:t>APPLICATIONS OF VR</a:t>
            </a:r>
          </a:p>
        </p:txBody>
      </p:sp>
      <p:sp>
        <p:nvSpPr>
          <p:cNvPr id="6" name="TextBox 6"/>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7" name="TextBox 7"/>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8" name="TextBox 8"/>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9" name="TextBox 9"/>
          <p:cNvSpPr txBox="1"/>
          <p:nvPr/>
        </p:nvSpPr>
        <p:spPr>
          <a:xfrm>
            <a:off x="1321443" y="5158515"/>
            <a:ext cx="7403778" cy="1111885"/>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sp>
        <p:nvSpPr>
          <p:cNvPr id="10" name="TextBox 10"/>
          <p:cNvSpPr txBox="1"/>
          <p:nvPr/>
        </p:nvSpPr>
        <p:spPr>
          <a:xfrm>
            <a:off x="1321443" y="6807425"/>
            <a:ext cx="7403778" cy="835660"/>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Duis aute irure dolor in reprehenderit in voluptate velit esse cillum dolore eu fugiat nulla pariatur. Excepteur sint occaecat cupidatat non proident, sunt in culpa qui officia deserunt mollit anim id est laborum.</a:t>
            </a:r>
          </a:p>
        </p:txBody>
      </p:sp>
      <p:sp>
        <p:nvSpPr>
          <p:cNvPr id="11" name="Freeform 11"/>
          <p:cNvSpPr/>
          <p:nvPr/>
        </p:nvSpPr>
        <p:spPr>
          <a:xfrm>
            <a:off x="-297707" y="6905609"/>
            <a:ext cx="1201779" cy="1881046"/>
          </a:xfrm>
          <a:custGeom>
            <a:avLst/>
            <a:gdLst/>
            <a:ahLst/>
            <a:cxnLst/>
            <a:rect l="l" t="t" r="r" b="b"/>
            <a:pathLst>
              <a:path w="1201779" h="1881046">
                <a:moveTo>
                  <a:pt x="0" y="0"/>
                </a:moveTo>
                <a:lnTo>
                  <a:pt x="1201780" y="0"/>
                </a:lnTo>
                <a:lnTo>
                  <a:pt x="1201780" y="1881046"/>
                </a:lnTo>
                <a:lnTo>
                  <a:pt x="0" y="188104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flipH="1" flipV="1">
            <a:off x="17383927" y="1500345"/>
            <a:ext cx="1201779" cy="1881046"/>
          </a:xfrm>
          <a:custGeom>
            <a:avLst/>
            <a:gdLst/>
            <a:ahLst/>
            <a:cxnLst/>
            <a:rect l="l" t="t" r="r" b="b"/>
            <a:pathLst>
              <a:path w="1201779" h="1881046">
                <a:moveTo>
                  <a:pt x="1201780" y="1881046"/>
                </a:moveTo>
                <a:lnTo>
                  <a:pt x="0" y="1881046"/>
                </a:lnTo>
                <a:lnTo>
                  <a:pt x="0" y="0"/>
                </a:lnTo>
                <a:lnTo>
                  <a:pt x="1201780" y="0"/>
                </a:lnTo>
                <a:lnTo>
                  <a:pt x="1201780" y="1881046"/>
                </a:lnTo>
                <a:close/>
              </a:path>
            </a:pathLst>
          </a:custGeom>
          <a:blipFill>
            <a:blip>
              <a:extLst>
                <a:ext uri="{96DAC541-7B7A-43D3-8B79-37D633B846F1}">
                  <asvg:svgBlip xmlns:asvg="http://schemas.microsoft.com/office/drawing/2016/SVG/main" r:embed="rId5"/>
                </a:ext>
              </a:extLst>
            </a:blip>
            <a:stretch>
              <a:fillRect/>
            </a:stretch>
          </a:blipFill>
        </p:spPr>
      </p:sp>
      <p:sp>
        <p:nvSpPr>
          <p:cNvPr id="13" name="Freeform 13"/>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6"/>
            <a:stretch>
              <a:fillRect/>
            </a:stretch>
          </a:blipFill>
        </p:spPr>
      </p:sp>
      <p:sp>
        <p:nvSpPr>
          <p:cNvPr id="14" name="Freeform 14"/>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6"/>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p:cNvGrpSpPr/>
          <p:nvPr/>
        </p:nvGrpSpPr>
        <p:grpSpPr>
          <a:xfrm>
            <a:off x="1688662" y="4524011"/>
            <a:ext cx="8272941" cy="4087440"/>
            <a:chOff x="0" y="0"/>
            <a:chExt cx="1137831" cy="562172"/>
          </a:xfrm>
        </p:grpSpPr>
        <p:sp>
          <p:nvSpPr>
            <p:cNvPr id="4" name="Freeform 4"/>
            <p:cNvSpPr/>
            <p:nvPr/>
          </p:nvSpPr>
          <p:spPr>
            <a:xfrm>
              <a:off x="0" y="0"/>
              <a:ext cx="1137831" cy="562172"/>
            </a:xfrm>
            <a:custGeom>
              <a:avLst/>
              <a:gdLst/>
              <a:ahLst/>
              <a:cxnLst/>
              <a:rect l="l" t="t" r="r" b="b"/>
              <a:pathLst>
                <a:path w="1137831" h="562172">
                  <a:moveTo>
                    <a:pt x="0" y="0"/>
                  </a:moveTo>
                  <a:lnTo>
                    <a:pt x="1137831" y="0"/>
                  </a:lnTo>
                  <a:lnTo>
                    <a:pt x="1137831" y="562172"/>
                  </a:lnTo>
                  <a:lnTo>
                    <a:pt x="0" y="562172"/>
                  </a:lnTo>
                  <a:close/>
                </a:path>
              </a:pathLst>
            </a:custGeom>
            <a:blipFill>
              <a:blip r:embed="rId3"/>
              <a:stretch>
                <a:fillRect t="-17424" b="-17424"/>
              </a:stretch>
            </a:blipFill>
          </p:spPr>
        </p:sp>
      </p:grpSp>
      <p:sp>
        <p:nvSpPr>
          <p:cNvPr id="5" name="TextBox 5"/>
          <p:cNvSpPr txBox="1"/>
          <p:nvPr/>
        </p:nvSpPr>
        <p:spPr>
          <a:xfrm>
            <a:off x="4168668" y="1905190"/>
            <a:ext cx="10088327" cy="2114550"/>
          </a:xfrm>
          <a:prstGeom prst="rect">
            <a:avLst/>
          </a:prstGeom>
        </p:spPr>
        <p:txBody>
          <a:bodyPr lIns="0" tIns="0" rIns="0" bIns="0" rtlCol="0" anchor="t">
            <a:spAutoFit/>
          </a:bodyPr>
          <a:lstStyle/>
          <a:p>
            <a:pPr marL="0" lvl="0" indent="0" algn="ctr">
              <a:lnSpc>
                <a:spcPts val="8400"/>
              </a:lnSpc>
              <a:spcBef>
                <a:spcPct val="0"/>
              </a:spcBef>
            </a:pPr>
            <a:r>
              <a:rPr lang="en-US" sz="6000">
                <a:solidFill>
                  <a:srgbClr val="FFFBF7"/>
                </a:solidFill>
                <a:latin typeface="Mokoto"/>
                <a:ea typeface="Mokoto"/>
                <a:cs typeface="Mokoto"/>
                <a:sym typeface="Mokoto"/>
              </a:rPr>
              <a:t>BENEFITS OF VIRTUAL REALITY</a:t>
            </a:r>
          </a:p>
        </p:txBody>
      </p:sp>
      <p:sp>
        <p:nvSpPr>
          <p:cNvPr id="6" name="TextBox 6"/>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7" name="TextBox 7"/>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8" name="TextBox 8"/>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9" name="TextBox 9"/>
          <p:cNvSpPr txBox="1"/>
          <p:nvPr/>
        </p:nvSpPr>
        <p:spPr>
          <a:xfrm>
            <a:off x="10999828" y="5320780"/>
            <a:ext cx="6041881" cy="835660"/>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id="10" name="TextBox 10"/>
          <p:cNvSpPr txBox="1"/>
          <p:nvPr/>
        </p:nvSpPr>
        <p:spPr>
          <a:xfrm>
            <a:off x="10999828" y="4466861"/>
            <a:ext cx="4004041" cy="711199"/>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Immersive learning experiences</a:t>
            </a:r>
          </a:p>
        </p:txBody>
      </p:sp>
      <p:sp>
        <p:nvSpPr>
          <p:cNvPr id="11" name="TextBox 11"/>
          <p:cNvSpPr txBox="1"/>
          <p:nvPr/>
        </p:nvSpPr>
        <p:spPr>
          <a:xfrm>
            <a:off x="10999828" y="7775791"/>
            <a:ext cx="6041881" cy="835660"/>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id="12" name="TextBox 12"/>
          <p:cNvSpPr txBox="1"/>
          <p:nvPr/>
        </p:nvSpPr>
        <p:spPr>
          <a:xfrm>
            <a:off x="10999828" y="6921872"/>
            <a:ext cx="4004041" cy="711199"/>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BF7"/>
                </a:solidFill>
                <a:latin typeface="Mokoto"/>
                <a:ea typeface="Mokoto"/>
                <a:cs typeface="Mokoto"/>
                <a:sym typeface="Mokoto"/>
              </a:rPr>
              <a:t>Enhanced user engagement</a:t>
            </a:r>
          </a:p>
        </p:txBody>
      </p:sp>
      <p:sp>
        <p:nvSpPr>
          <p:cNvPr id="13" name="Freeform 13"/>
          <p:cNvSpPr/>
          <p:nvPr/>
        </p:nvSpPr>
        <p:spPr>
          <a:xfrm>
            <a:off x="615363" y="7937129"/>
            <a:ext cx="1671261" cy="1671261"/>
          </a:xfrm>
          <a:custGeom>
            <a:avLst/>
            <a:gdLst/>
            <a:ahLst/>
            <a:cxnLst/>
            <a:rect l="l" t="t" r="r" b="b"/>
            <a:pathLst>
              <a:path w="1671261" h="1671261">
                <a:moveTo>
                  <a:pt x="0" y="0"/>
                </a:moveTo>
                <a:lnTo>
                  <a:pt x="1671262" y="0"/>
                </a:lnTo>
                <a:lnTo>
                  <a:pt x="1671262" y="1671262"/>
                </a:lnTo>
                <a:lnTo>
                  <a:pt x="0" y="167126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flipH="1" flipV="1">
            <a:off x="16001375" y="678609"/>
            <a:ext cx="1671261" cy="1671261"/>
          </a:xfrm>
          <a:custGeom>
            <a:avLst/>
            <a:gdLst/>
            <a:ahLst/>
            <a:cxnLst/>
            <a:rect l="l" t="t" r="r" b="b"/>
            <a:pathLst>
              <a:path w="1671261" h="1671261">
                <a:moveTo>
                  <a:pt x="1671262" y="1671262"/>
                </a:moveTo>
                <a:lnTo>
                  <a:pt x="0" y="1671262"/>
                </a:lnTo>
                <a:lnTo>
                  <a:pt x="0" y="0"/>
                </a:lnTo>
                <a:lnTo>
                  <a:pt x="1671262" y="0"/>
                </a:lnTo>
                <a:lnTo>
                  <a:pt x="1671262" y="1671262"/>
                </a:lnTo>
                <a:close/>
              </a:path>
            </a:pathLst>
          </a:custGeom>
          <a:blipFill>
            <a:blip>
              <a:extLst>
                <a:ext uri="{96DAC541-7B7A-43D3-8B79-37D633B846F1}">
                  <asvg:svgBlip xmlns:asvg="http://schemas.microsoft.com/office/drawing/2016/SVG/main" r:embed="rId4"/>
                </a:ext>
              </a:extLst>
            </a:blip>
            <a:stretch>
              <a:fillRect/>
            </a:stretch>
          </a:blipFill>
        </p:spPr>
      </p:sp>
      <p:sp>
        <p:nvSpPr>
          <p:cNvPr id="15" name="Freeform 15"/>
          <p:cNvSpPr/>
          <p:nvPr/>
        </p:nvSpPr>
        <p:spPr>
          <a:xfrm>
            <a:off x="10158869" y="4486301"/>
            <a:ext cx="643693" cy="381871"/>
          </a:xfrm>
          <a:custGeom>
            <a:avLst/>
            <a:gdLst/>
            <a:ahLst/>
            <a:cxnLst/>
            <a:rect l="l" t="t" r="r" b="b"/>
            <a:pathLst>
              <a:path w="643693" h="381871">
                <a:moveTo>
                  <a:pt x="0" y="0"/>
                </a:moveTo>
                <a:lnTo>
                  <a:pt x="643693" y="0"/>
                </a:lnTo>
                <a:lnTo>
                  <a:pt x="643693" y="381871"/>
                </a:lnTo>
                <a:lnTo>
                  <a:pt x="0" y="38187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Freeform 16"/>
          <p:cNvSpPr/>
          <p:nvPr/>
        </p:nvSpPr>
        <p:spPr>
          <a:xfrm>
            <a:off x="10158869" y="6924176"/>
            <a:ext cx="643693" cy="381871"/>
          </a:xfrm>
          <a:custGeom>
            <a:avLst/>
            <a:gdLst/>
            <a:ahLst/>
            <a:cxnLst/>
            <a:rect l="l" t="t" r="r" b="b"/>
            <a:pathLst>
              <a:path w="643693" h="381871">
                <a:moveTo>
                  <a:pt x="0" y="0"/>
                </a:moveTo>
                <a:lnTo>
                  <a:pt x="643693" y="0"/>
                </a:lnTo>
                <a:lnTo>
                  <a:pt x="643693" y="381871"/>
                </a:lnTo>
                <a:lnTo>
                  <a:pt x="0" y="38187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Freeform 17"/>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6"/>
            <a:stretch>
              <a:fillRect/>
            </a:stretch>
          </a:blipFill>
        </p:spPr>
      </p:sp>
      <p:sp>
        <p:nvSpPr>
          <p:cNvPr id="18" name="Freeform 18"/>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6"/>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5" b="-5555"/>
            </a:stretch>
          </a:blipFill>
        </p:spPr>
      </p:sp>
      <p:sp>
        <p:nvSpPr>
          <p:cNvPr id="3" name="TextBox 3"/>
          <p:cNvSpPr txBox="1"/>
          <p:nvPr/>
        </p:nvSpPr>
        <p:spPr>
          <a:xfrm>
            <a:off x="2050858" y="3073801"/>
            <a:ext cx="6831160" cy="3181350"/>
          </a:xfrm>
          <a:prstGeom prst="rect">
            <a:avLst/>
          </a:prstGeom>
        </p:spPr>
        <p:txBody>
          <a:bodyPr lIns="0" tIns="0" rIns="0" bIns="0" rtlCol="0" anchor="t">
            <a:spAutoFit/>
          </a:bodyPr>
          <a:lstStyle/>
          <a:p>
            <a:pPr marL="0" lvl="0" indent="0" algn="l">
              <a:lnSpc>
                <a:spcPts val="8400"/>
              </a:lnSpc>
              <a:spcBef>
                <a:spcPct val="0"/>
              </a:spcBef>
            </a:pPr>
            <a:r>
              <a:rPr lang="en-US" sz="6000">
                <a:solidFill>
                  <a:srgbClr val="FFFBF7"/>
                </a:solidFill>
                <a:latin typeface="Mokoto"/>
                <a:ea typeface="Mokoto"/>
                <a:cs typeface="Mokoto"/>
                <a:sym typeface="Mokoto"/>
              </a:rPr>
              <a:t>CHALLENGES IN VIRTUAL REALITY</a:t>
            </a:r>
          </a:p>
        </p:txBody>
      </p:sp>
      <p:sp>
        <p:nvSpPr>
          <p:cNvPr id="4" name="TextBox 4"/>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5" name="TextBox 5"/>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6" name="TextBox 6"/>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7" name="TextBox 7"/>
          <p:cNvSpPr txBox="1"/>
          <p:nvPr/>
        </p:nvSpPr>
        <p:spPr>
          <a:xfrm>
            <a:off x="2050858" y="7176772"/>
            <a:ext cx="5701086" cy="1111885"/>
          </a:xfrm>
          <a:prstGeom prst="rect">
            <a:avLst/>
          </a:prstGeom>
        </p:spPr>
        <p:txBody>
          <a:bodyPr lIns="0" tIns="0" rIns="0" bIns="0" rtlCol="0" anchor="t">
            <a:spAutoFit/>
          </a:bodyPr>
          <a:lstStyle/>
          <a:p>
            <a:pPr marL="345438" lvl="1" indent="-172719" algn="just">
              <a:lnSpc>
                <a:spcPts val="2239"/>
              </a:lnSpc>
              <a:buFont typeface="Arial"/>
              <a:buChar char="•"/>
            </a:pPr>
            <a:r>
              <a:rPr lang="en-US" sz="1599">
                <a:solidFill>
                  <a:srgbClr val="FFFBF7"/>
                </a:solidFill>
                <a:latin typeface="Poppins"/>
                <a:ea typeface="Poppins"/>
                <a:cs typeface="Poppins"/>
                <a:sym typeface="Poppins"/>
              </a:rPr>
              <a:t>High cost of hardware and development.</a:t>
            </a:r>
          </a:p>
          <a:p>
            <a:pPr marL="345438" lvl="1" indent="-172719" algn="just">
              <a:lnSpc>
                <a:spcPts val="2239"/>
              </a:lnSpc>
              <a:buFont typeface="Arial"/>
              <a:buChar char="•"/>
            </a:pPr>
            <a:r>
              <a:rPr lang="en-US" sz="1599">
                <a:solidFill>
                  <a:srgbClr val="FFFBF7"/>
                </a:solidFill>
                <a:latin typeface="Poppins"/>
                <a:ea typeface="Poppins"/>
                <a:cs typeface="Poppins"/>
                <a:sym typeface="Poppins"/>
              </a:rPr>
              <a:t>Motion sickness and discomfort.</a:t>
            </a:r>
          </a:p>
          <a:p>
            <a:pPr marL="345438" lvl="1" indent="-172719" algn="just">
              <a:lnSpc>
                <a:spcPts val="2239"/>
              </a:lnSpc>
              <a:buFont typeface="Arial"/>
              <a:buChar char="•"/>
            </a:pPr>
            <a:r>
              <a:rPr lang="en-US" sz="1599">
                <a:solidFill>
                  <a:srgbClr val="FFFBF7"/>
                </a:solidFill>
                <a:latin typeface="Poppins"/>
                <a:ea typeface="Poppins"/>
                <a:cs typeface="Poppins"/>
                <a:sym typeface="Poppins"/>
              </a:rPr>
              <a:t>Limited content and experiences.</a:t>
            </a:r>
          </a:p>
          <a:p>
            <a:pPr marL="345438" lvl="1" indent="-172719" algn="just">
              <a:lnSpc>
                <a:spcPts val="2239"/>
              </a:lnSpc>
              <a:spcBef>
                <a:spcPct val="0"/>
              </a:spcBef>
              <a:buFont typeface="Arial"/>
              <a:buChar char="•"/>
            </a:pPr>
            <a:r>
              <a:rPr lang="en-US" sz="1599">
                <a:solidFill>
                  <a:srgbClr val="FFFBF7"/>
                </a:solidFill>
                <a:latin typeface="Poppins"/>
                <a:ea typeface="Poppins"/>
                <a:cs typeface="Poppins"/>
                <a:sym typeface="Poppins"/>
              </a:rPr>
              <a:t>Technical limitations (resolution, battery life)</a:t>
            </a:r>
          </a:p>
        </p:txBody>
      </p:sp>
      <p:grpSp>
        <p:nvGrpSpPr>
          <p:cNvPr id="8" name="Group 8"/>
          <p:cNvGrpSpPr/>
          <p:nvPr/>
        </p:nvGrpSpPr>
        <p:grpSpPr>
          <a:xfrm>
            <a:off x="9572370" y="2643915"/>
            <a:ext cx="6988076" cy="6207979"/>
            <a:chOff x="0" y="0"/>
            <a:chExt cx="961115" cy="853823"/>
          </a:xfrm>
        </p:grpSpPr>
        <p:sp>
          <p:nvSpPr>
            <p:cNvPr id="9" name="Freeform 9"/>
            <p:cNvSpPr/>
            <p:nvPr/>
          </p:nvSpPr>
          <p:spPr>
            <a:xfrm>
              <a:off x="0" y="0"/>
              <a:ext cx="961115" cy="853823"/>
            </a:xfrm>
            <a:custGeom>
              <a:avLst/>
              <a:gdLst/>
              <a:ahLst/>
              <a:cxnLst/>
              <a:rect l="l" t="t" r="r" b="b"/>
              <a:pathLst>
                <a:path w="961115" h="853823">
                  <a:moveTo>
                    <a:pt x="0" y="0"/>
                  </a:moveTo>
                  <a:lnTo>
                    <a:pt x="961115" y="0"/>
                  </a:lnTo>
                  <a:lnTo>
                    <a:pt x="961115" y="853823"/>
                  </a:lnTo>
                  <a:lnTo>
                    <a:pt x="0" y="853823"/>
                  </a:lnTo>
                  <a:close/>
                </a:path>
              </a:pathLst>
            </a:custGeom>
            <a:blipFill>
              <a:blip r:embed="rId3"/>
              <a:stretch>
                <a:fillRect l="-3283" r="-30055"/>
              </a:stretch>
            </a:blipFill>
          </p:spPr>
        </p:sp>
      </p:grpSp>
      <p:sp>
        <p:nvSpPr>
          <p:cNvPr id="10" name="Freeform 10"/>
          <p:cNvSpPr/>
          <p:nvPr/>
        </p:nvSpPr>
        <p:spPr>
          <a:xfrm>
            <a:off x="-297707" y="6905609"/>
            <a:ext cx="1201779" cy="1881046"/>
          </a:xfrm>
          <a:custGeom>
            <a:avLst/>
            <a:gdLst/>
            <a:ahLst/>
            <a:cxnLst/>
            <a:rect l="l" t="t" r="r" b="b"/>
            <a:pathLst>
              <a:path w="1201779" h="1881046">
                <a:moveTo>
                  <a:pt x="0" y="0"/>
                </a:moveTo>
                <a:lnTo>
                  <a:pt x="1201780" y="0"/>
                </a:lnTo>
                <a:lnTo>
                  <a:pt x="1201780" y="1881046"/>
                </a:lnTo>
                <a:lnTo>
                  <a:pt x="0" y="188104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flipH="1" flipV="1">
            <a:off x="17383927" y="1500345"/>
            <a:ext cx="1201779" cy="1881046"/>
          </a:xfrm>
          <a:custGeom>
            <a:avLst/>
            <a:gdLst/>
            <a:ahLst/>
            <a:cxnLst/>
            <a:rect l="l" t="t" r="r" b="b"/>
            <a:pathLst>
              <a:path w="1201779" h="1881046">
                <a:moveTo>
                  <a:pt x="1201780" y="1881046"/>
                </a:moveTo>
                <a:lnTo>
                  <a:pt x="0" y="1881046"/>
                </a:lnTo>
                <a:lnTo>
                  <a:pt x="0" y="0"/>
                </a:lnTo>
                <a:lnTo>
                  <a:pt x="1201780" y="0"/>
                </a:lnTo>
                <a:lnTo>
                  <a:pt x="1201780" y="1881046"/>
                </a:lnTo>
                <a:close/>
              </a:path>
            </a:pathLst>
          </a:custGeom>
          <a:blipFill>
            <a:blip>
              <a:extLst>
                <a:ext uri="{96DAC541-7B7A-43D3-8B79-37D633B846F1}">
                  <asvg:svgBlip xmlns:asvg="http://schemas.microsoft.com/office/drawing/2016/SVG/main" r:embed="rId5"/>
                </a:ext>
              </a:extLst>
            </a:blip>
            <a:stretch>
              <a:fillRect/>
            </a:stretch>
          </a:blipFill>
        </p:spPr>
      </p:sp>
      <p:sp>
        <p:nvSpPr>
          <p:cNvPr id="12" name="Freeform 12"/>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6"/>
            <a:stretch>
              <a:fillRect/>
            </a:stretch>
          </a:blipFill>
        </p:spPr>
      </p:sp>
      <p:sp>
        <p:nvSpPr>
          <p:cNvPr id="13" name="Freeform 13"/>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6"/>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sp>
        <p:nvSpPr>
          <p:cNvPr id="3" name="TextBox 3"/>
          <p:cNvSpPr txBox="1"/>
          <p:nvPr/>
        </p:nvSpPr>
        <p:spPr>
          <a:xfrm>
            <a:off x="7968328" y="3382172"/>
            <a:ext cx="7394624" cy="2114550"/>
          </a:xfrm>
          <a:prstGeom prst="rect">
            <a:avLst/>
          </a:prstGeom>
        </p:spPr>
        <p:txBody>
          <a:bodyPr lIns="0" tIns="0" rIns="0" bIns="0" rtlCol="0" anchor="t">
            <a:spAutoFit/>
          </a:bodyPr>
          <a:lstStyle/>
          <a:p>
            <a:pPr marL="0" lvl="0" indent="0" algn="l">
              <a:lnSpc>
                <a:spcPts val="8400"/>
              </a:lnSpc>
              <a:spcBef>
                <a:spcPct val="0"/>
              </a:spcBef>
            </a:pPr>
            <a:r>
              <a:rPr lang="en-US" sz="6000">
                <a:solidFill>
                  <a:srgbClr val="FFFBF7"/>
                </a:solidFill>
                <a:latin typeface="Mokoto"/>
                <a:ea typeface="Mokoto"/>
                <a:cs typeface="Mokoto"/>
                <a:sym typeface="Mokoto"/>
              </a:rPr>
              <a:t>VR AND THE METAVERSE</a:t>
            </a:r>
          </a:p>
        </p:txBody>
      </p:sp>
      <p:sp>
        <p:nvSpPr>
          <p:cNvPr id="4" name="TextBox 4"/>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5" name="TextBox 5"/>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6" name="TextBox 6"/>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7" name="TextBox 7"/>
          <p:cNvSpPr txBox="1"/>
          <p:nvPr/>
        </p:nvSpPr>
        <p:spPr>
          <a:xfrm>
            <a:off x="7968328" y="7252276"/>
            <a:ext cx="8289441" cy="835660"/>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id="8" name="Group 8"/>
          <p:cNvGrpSpPr/>
          <p:nvPr/>
        </p:nvGrpSpPr>
        <p:grpSpPr>
          <a:xfrm>
            <a:off x="0" y="0"/>
            <a:ext cx="5680267" cy="10287000"/>
            <a:chOff x="0" y="0"/>
            <a:chExt cx="781244" cy="1414837"/>
          </a:xfrm>
        </p:grpSpPr>
        <p:sp>
          <p:nvSpPr>
            <p:cNvPr id="9" name="Freeform 9"/>
            <p:cNvSpPr/>
            <p:nvPr/>
          </p:nvSpPr>
          <p:spPr>
            <a:xfrm>
              <a:off x="0" y="0"/>
              <a:ext cx="781244" cy="1414837"/>
            </a:xfrm>
            <a:custGeom>
              <a:avLst/>
              <a:gdLst/>
              <a:ahLst/>
              <a:cxnLst/>
              <a:rect l="l" t="t" r="r" b="b"/>
              <a:pathLst>
                <a:path w="781244" h="1414837">
                  <a:moveTo>
                    <a:pt x="0" y="0"/>
                  </a:moveTo>
                  <a:lnTo>
                    <a:pt x="781244" y="0"/>
                  </a:lnTo>
                  <a:lnTo>
                    <a:pt x="781244" y="1414837"/>
                  </a:lnTo>
                  <a:lnTo>
                    <a:pt x="0" y="1414837"/>
                  </a:lnTo>
                  <a:close/>
                </a:path>
              </a:pathLst>
            </a:custGeom>
            <a:blipFill>
              <a:blip r:embed="rId3"/>
              <a:stretch>
                <a:fillRect l="-109657" r="-61993"/>
              </a:stretch>
            </a:blipFill>
          </p:spPr>
        </p:sp>
      </p:grpSp>
      <p:sp>
        <p:nvSpPr>
          <p:cNvPr id="10" name="Freeform 10"/>
          <p:cNvSpPr/>
          <p:nvPr/>
        </p:nvSpPr>
        <p:spPr>
          <a:xfrm>
            <a:off x="6297067" y="7937129"/>
            <a:ext cx="1671261" cy="1671261"/>
          </a:xfrm>
          <a:custGeom>
            <a:avLst/>
            <a:gdLst/>
            <a:ahLst/>
            <a:cxnLst/>
            <a:rect l="l" t="t" r="r" b="b"/>
            <a:pathLst>
              <a:path w="1671261" h="1671261">
                <a:moveTo>
                  <a:pt x="0" y="0"/>
                </a:moveTo>
                <a:lnTo>
                  <a:pt x="1671261" y="0"/>
                </a:lnTo>
                <a:lnTo>
                  <a:pt x="1671261" y="1671262"/>
                </a:lnTo>
                <a:lnTo>
                  <a:pt x="0" y="167126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flipH="1" flipV="1">
            <a:off x="16001375" y="1642258"/>
            <a:ext cx="1671261" cy="1671261"/>
          </a:xfrm>
          <a:custGeom>
            <a:avLst/>
            <a:gdLst/>
            <a:ahLst/>
            <a:cxnLst/>
            <a:rect l="l" t="t" r="r" b="b"/>
            <a:pathLst>
              <a:path w="1671261" h="1671261">
                <a:moveTo>
                  <a:pt x="1671262" y="1671262"/>
                </a:moveTo>
                <a:lnTo>
                  <a:pt x="0" y="1671262"/>
                </a:lnTo>
                <a:lnTo>
                  <a:pt x="0" y="0"/>
                </a:lnTo>
                <a:lnTo>
                  <a:pt x="1671262" y="0"/>
                </a:lnTo>
                <a:lnTo>
                  <a:pt x="1671262" y="1671262"/>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5" b="-5555"/>
            </a:stretch>
          </a:blipFill>
        </p:spPr>
      </p:sp>
      <p:grpSp>
        <p:nvGrpSpPr>
          <p:cNvPr id="3" name="Group 3"/>
          <p:cNvGrpSpPr/>
          <p:nvPr/>
        </p:nvGrpSpPr>
        <p:grpSpPr>
          <a:xfrm>
            <a:off x="10451558" y="2111492"/>
            <a:ext cx="4421934" cy="2435425"/>
            <a:chOff x="0" y="0"/>
            <a:chExt cx="781244" cy="430278"/>
          </a:xfrm>
        </p:grpSpPr>
        <p:sp>
          <p:nvSpPr>
            <p:cNvPr id="4" name="Freeform 4"/>
            <p:cNvSpPr/>
            <p:nvPr/>
          </p:nvSpPr>
          <p:spPr>
            <a:xfrm>
              <a:off x="0" y="0"/>
              <a:ext cx="781244" cy="430278"/>
            </a:xfrm>
            <a:custGeom>
              <a:avLst/>
              <a:gdLst/>
              <a:ahLst/>
              <a:cxnLst/>
              <a:rect l="l" t="t" r="r" b="b"/>
              <a:pathLst>
                <a:path w="781244" h="430278">
                  <a:moveTo>
                    <a:pt x="0" y="0"/>
                  </a:moveTo>
                  <a:lnTo>
                    <a:pt x="781244" y="0"/>
                  </a:lnTo>
                  <a:lnTo>
                    <a:pt x="781244" y="430278"/>
                  </a:lnTo>
                  <a:lnTo>
                    <a:pt x="0" y="430278"/>
                  </a:lnTo>
                  <a:close/>
                </a:path>
              </a:pathLst>
            </a:custGeom>
            <a:blipFill>
              <a:blip r:embed="rId3"/>
              <a:stretch>
                <a:fillRect t="-86260" b="-86260"/>
              </a:stretch>
            </a:blipFill>
          </p:spPr>
        </p:sp>
      </p:grpSp>
      <p:grpSp>
        <p:nvGrpSpPr>
          <p:cNvPr id="5" name="Group 5"/>
          <p:cNvGrpSpPr/>
          <p:nvPr/>
        </p:nvGrpSpPr>
        <p:grpSpPr>
          <a:xfrm>
            <a:off x="10451558" y="6053889"/>
            <a:ext cx="4421934" cy="2435425"/>
            <a:chOff x="0" y="0"/>
            <a:chExt cx="781244" cy="430278"/>
          </a:xfrm>
        </p:grpSpPr>
        <p:sp>
          <p:nvSpPr>
            <p:cNvPr id="6" name="Freeform 6"/>
            <p:cNvSpPr/>
            <p:nvPr/>
          </p:nvSpPr>
          <p:spPr>
            <a:xfrm>
              <a:off x="0" y="0"/>
              <a:ext cx="781244" cy="430278"/>
            </a:xfrm>
            <a:custGeom>
              <a:avLst/>
              <a:gdLst/>
              <a:ahLst/>
              <a:cxnLst/>
              <a:rect l="l" t="t" r="r" b="b"/>
              <a:pathLst>
                <a:path w="781244" h="430278">
                  <a:moveTo>
                    <a:pt x="0" y="0"/>
                  </a:moveTo>
                  <a:lnTo>
                    <a:pt x="781244" y="0"/>
                  </a:lnTo>
                  <a:lnTo>
                    <a:pt x="781244" y="430278"/>
                  </a:lnTo>
                  <a:lnTo>
                    <a:pt x="0" y="430278"/>
                  </a:lnTo>
                  <a:close/>
                </a:path>
              </a:pathLst>
            </a:custGeom>
            <a:blipFill>
              <a:blip r:embed="rId4"/>
              <a:stretch>
                <a:fillRect t="-10484" b="-10484"/>
              </a:stretch>
            </a:blipFill>
          </p:spPr>
        </p:sp>
      </p:grpSp>
      <p:sp>
        <p:nvSpPr>
          <p:cNvPr id="7" name="TextBox 7"/>
          <p:cNvSpPr txBox="1"/>
          <p:nvPr/>
        </p:nvSpPr>
        <p:spPr>
          <a:xfrm>
            <a:off x="1572221" y="4413568"/>
            <a:ext cx="5784783" cy="2114550"/>
          </a:xfrm>
          <a:prstGeom prst="rect">
            <a:avLst/>
          </a:prstGeom>
        </p:spPr>
        <p:txBody>
          <a:bodyPr lIns="0" tIns="0" rIns="0" bIns="0" rtlCol="0" anchor="t">
            <a:spAutoFit/>
          </a:bodyPr>
          <a:lstStyle/>
          <a:p>
            <a:pPr marL="0" lvl="0" indent="0" algn="l">
              <a:lnSpc>
                <a:spcPts val="8400"/>
              </a:lnSpc>
              <a:spcBef>
                <a:spcPct val="0"/>
              </a:spcBef>
            </a:pPr>
            <a:r>
              <a:rPr lang="en-US" sz="6000">
                <a:solidFill>
                  <a:srgbClr val="FFFBF7"/>
                </a:solidFill>
                <a:latin typeface="Mokoto"/>
                <a:ea typeface="Mokoto"/>
                <a:cs typeface="Mokoto"/>
                <a:sym typeface="Mokoto"/>
              </a:rPr>
              <a:t>VR IN DAILY LIFE</a:t>
            </a:r>
          </a:p>
        </p:txBody>
      </p:sp>
      <p:sp>
        <p:nvSpPr>
          <p:cNvPr id="8" name="TextBox 8"/>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9" name="TextBox 9"/>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10" name="TextBox 10"/>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11" name="TextBox 11"/>
          <p:cNvSpPr txBox="1"/>
          <p:nvPr/>
        </p:nvSpPr>
        <p:spPr>
          <a:xfrm>
            <a:off x="10451558" y="4756468"/>
            <a:ext cx="4624842" cy="559435"/>
          </a:xfrm>
          <a:prstGeom prst="rect">
            <a:avLst/>
          </a:prstGeom>
        </p:spPr>
        <p:txBody>
          <a:bodyPr lIns="0" tIns="0" rIns="0" bIns="0" rtlCol="0" anchor="t">
            <a:spAutoFit/>
          </a:bodyPr>
          <a:lstStyle/>
          <a:p>
            <a:pPr algn="l">
              <a:lnSpc>
                <a:spcPts val="2239"/>
              </a:lnSpc>
            </a:pPr>
            <a:r>
              <a:rPr lang="en-US" sz="1599">
                <a:solidFill>
                  <a:srgbClr val="FFFBF7"/>
                </a:solidFill>
                <a:latin typeface="Poppins"/>
                <a:ea typeface="Poppins"/>
                <a:cs typeface="Poppins"/>
                <a:sym typeface="Poppins"/>
              </a:rPr>
              <a:t>Examples of personal use:</a:t>
            </a:r>
          </a:p>
          <a:p>
            <a:pPr marL="0" lvl="0" indent="0" algn="l">
              <a:lnSpc>
                <a:spcPts val="2239"/>
              </a:lnSpc>
              <a:spcBef>
                <a:spcPct val="0"/>
              </a:spcBef>
            </a:pPr>
            <a:r>
              <a:rPr lang="en-US" sz="1599">
                <a:solidFill>
                  <a:srgbClr val="FFFBF7"/>
                </a:solidFill>
                <a:latin typeface="Poppins"/>
                <a:ea typeface="Poppins"/>
                <a:cs typeface="Poppins"/>
                <a:sym typeface="Poppins"/>
              </a:rPr>
              <a:t>fitness apps, virtual meetings, home design</a:t>
            </a:r>
          </a:p>
        </p:txBody>
      </p:sp>
      <p:sp>
        <p:nvSpPr>
          <p:cNvPr id="12" name="TextBox 12"/>
          <p:cNvSpPr txBox="1"/>
          <p:nvPr/>
        </p:nvSpPr>
        <p:spPr>
          <a:xfrm>
            <a:off x="10451558" y="8698865"/>
            <a:ext cx="4297105" cy="559435"/>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The growing adoption in mainstream consumer markets.</a:t>
            </a:r>
          </a:p>
        </p:txBody>
      </p:sp>
      <p:sp>
        <p:nvSpPr>
          <p:cNvPr id="13" name="TextBox 13"/>
          <p:cNvSpPr txBox="1"/>
          <p:nvPr/>
        </p:nvSpPr>
        <p:spPr>
          <a:xfrm>
            <a:off x="1572221" y="8047672"/>
            <a:ext cx="5651833" cy="835660"/>
          </a:xfrm>
          <a:prstGeom prst="rect">
            <a:avLst/>
          </a:prstGeom>
        </p:spPr>
        <p:txBody>
          <a:bodyPr lIns="0" tIns="0" rIns="0" bIns="0" rtlCol="0" anchor="t">
            <a:spAutoFit/>
          </a:bodyPr>
          <a:lstStyle/>
          <a:p>
            <a:pPr marL="0" lvl="0" indent="0" algn="l">
              <a:lnSpc>
                <a:spcPts val="2239"/>
              </a:lnSpc>
              <a:spcBef>
                <a:spcPct val="0"/>
              </a:spcBef>
            </a:pPr>
            <a:r>
              <a:rPr lang="en-US" sz="1599">
                <a:solidFill>
                  <a:srgbClr val="FFFBF7"/>
                </a:solidFill>
                <a:latin typeface="Poppins"/>
                <a:ea typeface="Poppins"/>
                <a:cs typeface="Poppins"/>
                <a:sym typeface="Poppins"/>
              </a:rPr>
              <a:t>Lorem ipsum dolor sit amet, consectetur adipiscing elit, sed do eiusmod tempor incididunt ut labore et dolore magna aliqua. Ut enim ad minim veniam</a:t>
            </a:r>
          </a:p>
        </p:txBody>
      </p:sp>
      <p:sp>
        <p:nvSpPr>
          <p:cNvPr id="14" name="Freeform 14"/>
          <p:cNvSpPr/>
          <p:nvPr/>
        </p:nvSpPr>
        <p:spPr>
          <a:xfrm>
            <a:off x="-297707" y="6905609"/>
            <a:ext cx="1201779" cy="1881046"/>
          </a:xfrm>
          <a:custGeom>
            <a:avLst/>
            <a:gdLst/>
            <a:ahLst/>
            <a:cxnLst/>
            <a:rect l="l" t="t" r="r" b="b"/>
            <a:pathLst>
              <a:path w="1201779" h="1881046">
                <a:moveTo>
                  <a:pt x="0" y="0"/>
                </a:moveTo>
                <a:lnTo>
                  <a:pt x="1201780" y="0"/>
                </a:lnTo>
                <a:lnTo>
                  <a:pt x="1201780" y="1881046"/>
                </a:lnTo>
                <a:lnTo>
                  <a:pt x="0" y="188104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Freeform 15"/>
          <p:cNvSpPr/>
          <p:nvPr/>
        </p:nvSpPr>
        <p:spPr>
          <a:xfrm flipH="1" flipV="1">
            <a:off x="17383927" y="1500345"/>
            <a:ext cx="1201779" cy="1881046"/>
          </a:xfrm>
          <a:custGeom>
            <a:avLst/>
            <a:gdLst/>
            <a:ahLst/>
            <a:cxnLst/>
            <a:rect l="l" t="t" r="r" b="b"/>
            <a:pathLst>
              <a:path w="1201779" h="1881046">
                <a:moveTo>
                  <a:pt x="1201780" y="1881046"/>
                </a:moveTo>
                <a:lnTo>
                  <a:pt x="0" y="1881046"/>
                </a:lnTo>
                <a:lnTo>
                  <a:pt x="0" y="0"/>
                </a:lnTo>
                <a:lnTo>
                  <a:pt x="1201780" y="0"/>
                </a:lnTo>
                <a:lnTo>
                  <a:pt x="1201780" y="1881046"/>
                </a:lnTo>
                <a:close/>
              </a:path>
            </a:pathLst>
          </a:custGeom>
          <a:blipFill>
            <a:blip>
              <a:extLst>
                <a:ext uri="{96DAC541-7B7A-43D3-8B79-37D633B846F1}">
                  <asvg:svgBlip xmlns:asvg="http://schemas.microsoft.com/office/drawing/2016/SVG/main" r:embed="rId6"/>
                </a:ext>
              </a:extLst>
            </a:blip>
            <a:stretch>
              <a:fillRect/>
            </a:stretch>
          </a:blipFill>
        </p:spPr>
      </p:sp>
      <p:sp>
        <p:nvSpPr>
          <p:cNvPr id="16" name="Freeform 16"/>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7"/>
            <a:stretch>
              <a:fillRect/>
            </a:stretch>
          </a:blipFill>
        </p:spPr>
      </p:sp>
      <p:sp>
        <p:nvSpPr>
          <p:cNvPr id="17" name="Freeform 17"/>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7"/>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sp>
        <p:nvSpPr>
          <p:cNvPr id="3" name="TextBox 3"/>
          <p:cNvSpPr txBox="1"/>
          <p:nvPr/>
        </p:nvSpPr>
        <p:spPr>
          <a:xfrm>
            <a:off x="4996929" y="3228128"/>
            <a:ext cx="8294142" cy="4190910"/>
          </a:xfrm>
          <a:prstGeom prst="rect">
            <a:avLst/>
          </a:prstGeom>
        </p:spPr>
        <p:txBody>
          <a:bodyPr lIns="0" tIns="0" rIns="0" bIns="0" rtlCol="0" anchor="t">
            <a:spAutoFit/>
          </a:bodyPr>
          <a:lstStyle/>
          <a:p>
            <a:pPr algn="ctr">
              <a:lnSpc>
                <a:spcPts val="16804"/>
              </a:lnSpc>
            </a:pPr>
            <a:r>
              <a:rPr lang="en-US" sz="12003">
                <a:solidFill>
                  <a:srgbClr val="FFFBF7"/>
                </a:solidFill>
                <a:latin typeface="Mokoto"/>
                <a:ea typeface="Mokoto"/>
                <a:cs typeface="Mokoto"/>
                <a:sym typeface="Mokoto"/>
              </a:rPr>
              <a:t>THANK</a:t>
            </a:r>
          </a:p>
          <a:p>
            <a:pPr marL="0" lvl="0" indent="0" algn="ctr">
              <a:lnSpc>
                <a:spcPts val="16804"/>
              </a:lnSpc>
              <a:spcBef>
                <a:spcPct val="0"/>
              </a:spcBef>
            </a:pPr>
            <a:r>
              <a:rPr lang="en-US" sz="12003">
                <a:solidFill>
                  <a:srgbClr val="FFFBF7"/>
                </a:solidFill>
                <a:latin typeface="Mokoto"/>
                <a:ea typeface="Mokoto"/>
                <a:cs typeface="Mokoto"/>
                <a:sym typeface="Mokoto"/>
              </a:rPr>
              <a:t>YOU</a:t>
            </a:r>
          </a:p>
        </p:txBody>
      </p:sp>
      <p:sp>
        <p:nvSpPr>
          <p:cNvPr id="4" name="Freeform 4"/>
          <p:cNvSpPr/>
          <p:nvPr/>
        </p:nvSpPr>
        <p:spPr>
          <a:xfrm>
            <a:off x="615363" y="7937129"/>
            <a:ext cx="1671261" cy="1671261"/>
          </a:xfrm>
          <a:custGeom>
            <a:avLst/>
            <a:gdLst/>
            <a:ahLst/>
            <a:cxnLst/>
            <a:rect l="l" t="t" r="r" b="b"/>
            <a:pathLst>
              <a:path w="1671261" h="1671261">
                <a:moveTo>
                  <a:pt x="0" y="0"/>
                </a:moveTo>
                <a:lnTo>
                  <a:pt x="1671262" y="0"/>
                </a:lnTo>
                <a:lnTo>
                  <a:pt x="1671262" y="1671262"/>
                </a:lnTo>
                <a:lnTo>
                  <a:pt x="0" y="1671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16001375" y="678609"/>
            <a:ext cx="1671261" cy="1671261"/>
          </a:xfrm>
          <a:custGeom>
            <a:avLst/>
            <a:gdLst/>
            <a:ahLst/>
            <a:cxnLst/>
            <a:rect l="l" t="t" r="r" b="b"/>
            <a:pathLst>
              <a:path w="1671261" h="1671261">
                <a:moveTo>
                  <a:pt x="1671262" y="1671262"/>
                </a:moveTo>
                <a:lnTo>
                  <a:pt x="0" y="1671262"/>
                </a:lnTo>
                <a:lnTo>
                  <a:pt x="0" y="0"/>
                </a:lnTo>
                <a:lnTo>
                  <a:pt x="1671262" y="0"/>
                </a:lnTo>
                <a:lnTo>
                  <a:pt x="1671262" y="1671262"/>
                </a:lnTo>
                <a:close/>
              </a:path>
            </a:pathLst>
          </a:custGeom>
          <a:blipFill>
            <a:blip>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6034038" y="7937129"/>
            <a:ext cx="6219924" cy="699088"/>
            <a:chOff x="0" y="0"/>
            <a:chExt cx="1638169" cy="184122"/>
          </a:xfrm>
        </p:grpSpPr>
        <p:sp>
          <p:nvSpPr>
            <p:cNvPr id="7" name="Freeform 7"/>
            <p:cNvSpPr/>
            <p:nvPr/>
          </p:nvSpPr>
          <p:spPr>
            <a:xfrm>
              <a:off x="0" y="0"/>
              <a:ext cx="1638169" cy="184122"/>
            </a:xfrm>
            <a:custGeom>
              <a:avLst/>
              <a:gdLst/>
              <a:ahLst/>
              <a:cxnLst/>
              <a:rect l="l" t="t" r="r" b="b"/>
              <a:pathLst>
                <a:path w="1638169" h="184122">
                  <a:moveTo>
                    <a:pt x="92061" y="0"/>
                  </a:moveTo>
                  <a:lnTo>
                    <a:pt x="1546108" y="0"/>
                  </a:lnTo>
                  <a:cubicBezTo>
                    <a:pt x="1570524" y="0"/>
                    <a:pt x="1593941" y="9699"/>
                    <a:pt x="1611205" y="26964"/>
                  </a:cubicBezTo>
                  <a:cubicBezTo>
                    <a:pt x="1628470" y="44229"/>
                    <a:pt x="1638169" y="67645"/>
                    <a:pt x="1638169" y="92061"/>
                  </a:cubicBezTo>
                  <a:lnTo>
                    <a:pt x="1638169" y="92061"/>
                  </a:lnTo>
                  <a:cubicBezTo>
                    <a:pt x="1638169" y="116477"/>
                    <a:pt x="1628470" y="139893"/>
                    <a:pt x="1611205" y="157158"/>
                  </a:cubicBezTo>
                  <a:cubicBezTo>
                    <a:pt x="1593941" y="174423"/>
                    <a:pt x="1570524" y="184122"/>
                    <a:pt x="1546108" y="184122"/>
                  </a:cubicBezTo>
                  <a:lnTo>
                    <a:pt x="92061" y="184122"/>
                  </a:lnTo>
                  <a:cubicBezTo>
                    <a:pt x="67645" y="184122"/>
                    <a:pt x="44229" y="174423"/>
                    <a:pt x="26964" y="157158"/>
                  </a:cubicBezTo>
                  <a:cubicBezTo>
                    <a:pt x="9699" y="139893"/>
                    <a:pt x="0" y="116477"/>
                    <a:pt x="0" y="92061"/>
                  </a:cubicBezTo>
                  <a:lnTo>
                    <a:pt x="0" y="92061"/>
                  </a:lnTo>
                  <a:cubicBezTo>
                    <a:pt x="0" y="67645"/>
                    <a:pt x="9699" y="44229"/>
                    <a:pt x="26964" y="26964"/>
                  </a:cubicBezTo>
                  <a:cubicBezTo>
                    <a:pt x="44229" y="9699"/>
                    <a:pt x="67645" y="0"/>
                    <a:pt x="92061" y="0"/>
                  </a:cubicBezTo>
                  <a:close/>
                </a:path>
              </a:pathLst>
            </a:custGeom>
            <a:solidFill>
              <a:srgbClr val="FFFFFF"/>
            </a:solidFill>
          </p:spPr>
        </p:sp>
        <p:sp>
          <p:nvSpPr>
            <p:cNvPr id="8" name="TextBox 8"/>
            <p:cNvSpPr txBox="1"/>
            <p:nvPr/>
          </p:nvSpPr>
          <p:spPr>
            <a:xfrm>
              <a:off x="0" y="-47625"/>
              <a:ext cx="1638169" cy="231747"/>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5857478"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HOME</a:t>
            </a:r>
          </a:p>
        </p:txBody>
      </p:sp>
      <p:sp>
        <p:nvSpPr>
          <p:cNvPr id="10" name="TextBox 10"/>
          <p:cNvSpPr txBox="1"/>
          <p:nvPr/>
        </p:nvSpPr>
        <p:spPr>
          <a:xfrm>
            <a:off x="8393245"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ABOUT</a:t>
            </a:r>
          </a:p>
        </p:txBody>
      </p:sp>
      <p:sp>
        <p:nvSpPr>
          <p:cNvPr id="11" name="TextBox 11"/>
          <p:cNvSpPr txBox="1"/>
          <p:nvPr/>
        </p:nvSpPr>
        <p:spPr>
          <a:xfrm>
            <a:off x="10930996" y="846773"/>
            <a:ext cx="1499526" cy="316230"/>
          </a:xfrm>
          <a:prstGeom prst="rect">
            <a:avLst/>
          </a:prstGeom>
        </p:spPr>
        <p:txBody>
          <a:bodyPr lIns="0" tIns="0" rIns="0" bIns="0" rtlCol="0" anchor="t">
            <a:spAutoFit/>
          </a:bodyPr>
          <a:lstStyle/>
          <a:p>
            <a:pPr marL="0" lvl="0" indent="0" algn="ctr">
              <a:lnSpc>
                <a:spcPts val="2520"/>
              </a:lnSpc>
              <a:spcBef>
                <a:spcPct val="0"/>
              </a:spcBef>
            </a:pPr>
            <a:r>
              <a:rPr lang="en-US" sz="1800">
                <a:solidFill>
                  <a:srgbClr val="FFFBF7"/>
                </a:solidFill>
                <a:latin typeface="Mokoto"/>
                <a:ea typeface="Mokoto"/>
                <a:cs typeface="Mokoto"/>
                <a:sym typeface="Mokoto"/>
              </a:rPr>
              <a:t>MORE</a:t>
            </a:r>
          </a:p>
        </p:txBody>
      </p:sp>
      <p:sp>
        <p:nvSpPr>
          <p:cNvPr id="12" name="TextBox 12"/>
          <p:cNvSpPr txBox="1"/>
          <p:nvPr/>
        </p:nvSpPr>
        <p:spPr>
          <a:xfrm>
            <a:off x="6252512" y="8078711"/>
            <a:ext cx="5782976" cy="35877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00000"/>
                </a:solidFill>
                <a:latin typeface="Mokoto"/>
                <a:ea typeface="Mokoto"/>
                <a:cs typeface="Mokoto"/>
                <a:sym typeface="Mokoto"/>
              </a:rPr>
              <a:t>WWW.REALLYGREATSITE.COM</a:t>
            </a:r>
          </a:p>
        </p:txBody>
      </p:sp>
      <p:sp>
        <p:nvSpPr>
          <p:cNvPr id="13" name="Freeform 13"/>
          <p:cNvSpPr/>
          <p:nvPr/>
        </p:nvSpPr>
        <p:spPr>
          <a:xfrm rot="-3959256">
            <a:off x="15290625" y="8906700"/>
            <a:ext cx="1651994" cy="2192913"/>
          </a:xfrm>
          <a:custGeom>
            <a:avLst/>
            <a:gdLst/>
            <a:ahLst/>
            <a:cxnLst/>
            <a:rect l="l" t="t" r="r" b="b"/>
            <a:pathLst>
              <a:path w="1651994" h="2192913">
                <a:moveTo>
                  <a:pt x="0" y="0"/>
                </a:moveTo>
                <a:lnTo>
                  <a:pt x="1651995" y="0"/>
                </a:lnTo>
                <a:lnTo>
                  <a:pt x="1651995" y="2192912"/>
                </a:lnTo>
                <a:lnTo>
                  <a:pt x="0" y="2192912"/>
                </a:lnTo>
                <a:lnTo>
                  <a:pt x="0" y="0"/>
                </a:lnTo>
                <a:close/>
              </a:path>
            </a:pathLst>
          </a:custGeom>
          <a:blipFill>
            <a:blip r:embed="rId4"/>
            <a:stretch>
              <a:fillRect/>
            </a:stretch>
          </a:blipFill>
        </p:spPr>
      </p:sp>
      <p:sp>
        <p:nvSpPr>
          <p:cNvPr id="14" name="Freeform 14"/>
          <p:cNvSpPr/>
          <p:nvPr/>
        </p:nvSpPr>
        <p:spPr>
          <a:xfrm rot="-6876587" flipH="1">
            <a:off x="1543538" y="-805739"/>
            <a:ext cx="1651994" cy="2192913"/>
          </a:xfrm>
          <a:custGeom>
            <a:avLst/>
            <a:gdLst/>
            <a:ahLst/>
            <a:cxnLst/>
            <a:rect l="l" t="t" r="r" b="b"/>
            <a:pathLst>
              <a:path w="1651994" h="2192913">
                <a:moveTo>
                  <a:pt x="1651994" y="0"/>
                </a:moveTo>
                <a:lnTo>
                  <a:pt x="0" y="0"/>
                </a:lnTo>
                <a:lnTo>
                  <a:pt x="0" y="2192912"/>
                </a:lnTo>
                <a:lnTo>
                  <a:pt x="1651994" y="2192912"/>
                </a:lnTo>
                <a:lnTo>
                  <a:pt x="1651994" y="0"/>
                </a:lnTo>
                <a:close/>
              </a:path>
            </a:pathLst>
          </a:custGeom>
          <a:blipFill>
            <a:blip r:embed="rId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472</Words>
  <Application>Microsoft Office PowerPoint</Application>
  <PresentationFormat>Произвольный</PresentationFormat>
  <Paragraphs>88</Paragraphs>
  <Slides>12</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12</vt:i4>
      </vt:variant>
    </vt:vector>
  </HeadingPairs>
  <TitlesOfParts>
    <vt:vector size="17" baseType="lpstr">
      <vt:lpstr>Arial</vt:lpstr>
      <vt:lpstr>Mokoto</vt:lpstr>
      <vt:lpstr>Poppins</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Purple Gradient Neon Bold Elegant Modern Tech Illustrative Virtual Reality Presentation</dc:title>
  <cp:lastModifiedBy>sekal sekal</cp:lastModifiedBy>
  <cp:revision>2</cp:revision>
  <dcterms:created xsi:type="dcterms:W3CDTF">2006-08-16T00:00:00Z</dcterms:created>
  <dcterms:modified xsi:type="dcterms:W3CDTF">2026-04-20T00:23:34Z</dcterms:modified>
  <dc:identifier>DAHHVoRt5dA</dc:identifier>
</cp:coreProperties>
</file>