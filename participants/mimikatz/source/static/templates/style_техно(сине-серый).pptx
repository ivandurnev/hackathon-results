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League Spartan" panose="020B0604020202020204" charset="0"/>
      <p:regular r:id="rId12"/>
    </p:embeddedFont>
    <p:embeddedFont>
      <p:font typeface="Poppins Bold Italics" panose="020B0604020202020204" charset="0"/>
      <p:regular r:id="rId13"/>
    </p:embeddedFont>
    <p:embeddedFont>
      <p:font typeface="Poppins Italics"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102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4.sv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4.sv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5.svg"/><Relationship Id="rId7"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sv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sv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4.sv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5193716" y="-654864"/>
            <a:ext cx="10836329" cy="11826826"/>
          </a:xfrm>
          <a:custGeom>
            <a:avLst/>
            <a:gdLst/>
            <a:ahLst/>
            <a:cxnLst/>
            <a:rect l="l" t="t" r="r" b="b"/>
            <a:pathLst>
              <a:path w="10836329" h="11826826">
                <a:moveTo>
                  <a:pt x="0" y="0"/>
                </a:moveTo>
                <a:lnTo>
                  <a:pt x="10836328" y="0"/>
                </a:lnTo>
                <a:lnTo>
                  <a:pt x="10836328" y="11826826"/>
                </a:lnTo>
                <a:lnTo>
                  <a:pt x="0" y="11826826"/>
                </a:lnTo>
                <a:lnTo>
                  <a:pt x="0" y="0"/>
                </a:lnTo>
                <a:close/>
              </a:path>
            </a:pathLst>
          </a:custGeom>
          <a:blipFill>
            <a:blip r:embed="rId3">
              <a:alphaModFix amt="35000"/>
            </a:blip>
            <a:stretch>
              <a:fillRect/>
            </a:stretch>
          </a:blipFill>
        </p:spPr>
      </p:sp>
      <p:sp>
        <p:nvSpPr>
          <p:cNvPr id="4" name="Freeform 4"/>
          <p:cNvSpPr/>
          <p:nvPr/>
        </p:nvSpPr>
        <p:spPr>
          <a:xfrm>
            <a:off x="-1240106" y="3201149"/>
            <a:ext cx="4125113" cy="4114800"/>
          </a:xfrm>
          <a:custGeom>
            <a:avLst/>
            <a:gdLst/>
            <a:ahLst/>
            <a:cxnLst/>
            <a:rect l="l" t="t" r="r" b="b"/>
            <a:pathLst>
              <a:path w="4125113" h="4114800">
                <a:moveTo>
                  <a:pt x="0" y="0"/>
                </a:moveTo>
                <a:lnTo>
                  <a:pt x="4125112" y="0"/>
                </a:lnTo>
                <a:lnTo>
                  <a:pt x="4125112"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6193196" y="4728776"/>
            <a:ext cx="2850098" cy="2842973"/>
          </a:xfrm>
          <a:custGeom>
            <a:avLst/>
            <a:gdLst/>
            <a:ahLst/>
            <a:cxnLst/>
            <a:rect l="l" t="t" r="r" b="b"/>
            <a:pathLst>
              <a:path w="2850098" h="2842973">
                <a:moveTo>
                  <a:pt x="0" y="0"/>
                </a:moveTo>
                <a:lnTo>
                  <a:pt x="2850098" y="0"/>
                </a:lnTo>
                <a:lnTo>
                  <a:pt x="2850098" y="2842973"/>
                </a:lnTo>
                <a:lnTo>
                  <a:pt x="0" y="284297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3000055" y="3125047"/>
            <a:ext cx="11933164" cy="2327041"/>
          </a:xfrm>
          <a:prstGeom prst="rect">
            <a:avLst/>
          </a:prstGeom>
        </p:spPr>
        <p:txBody>
          <a:bodyPr lIns="0" tIns="0" rIns="0" bIns="0" rtlCol="0" anchor="t">
            <a:spAutoFit/>
          </a:bodyPr>
          <a:lstStyle/>
          <a:p>
            <a:pPr algn="ctr">
              <a:lnSpc>
                <a:spcPts val="9229"/>
              </a:lnSpc>
            </a:pPr>
            <a:r>
              <a:rPr lang="en-US" sz="7210">
                <a:solidFill>
                  <a:srgbClr val="FFFFFF"/>
                </a:solidFill>
                <a:latin typeface="League Spartan"/>
                <a:ea typeface="League Spartan"/>
                <a:cs typeface="League Spartan"/>
                <a:sym typeface="League Spartan"/>
              </a:rPr>
              <a:t>Artificial Intelligence</a:t>
            </a:r>
          </a:p>
          <a:p>
            <a:pPr algn="ctr">
              <a:lnSpc>
                <a:spcPts val="9229"/>
              </a:lnSpc>
            </a:pPr>
            <a:r>
              <a:rPr lang="en-US" sz="7210">
                <a:solidFill>
                  <a:srgbClr val="FFFFFF"/>
                </a:solidFill>
                <a:latin typeface="League Spartan"/>
                <a:ea typeface="League Spartan"/>
                <a:cs typeface="League Spartan"/>
                <a:sym typeface="League Spartan"/>
              </a:rPr>
              <a:t>Technology</a:t>
            </a:r>
          </a:p>
        </p:txBody>
      </p:sp>
      <p:sp>
        <p:nvSpPr>
          <p:cNvPr id="7" name="Freeform 7"/>
          <p:cNvSpPr/>
          <p:nvPr/>
        </p:nvSpPr>
        <p:spPr>
          <a:xfrm flipH="1">
            <a:off x="11841136" y="-769913"/>
            <a:ext cx="10836329" cy="11826826"/>
          </a:xfrm>
          <a:custGeom>
            <a:avLst/>
            <a:gdLst/>
            <a:ahLst/>
            <a:cxnLst/>
            <a:rect l="l" t="t" r="r" b="b"/>
            <a:pathLst>
              <a:path w="10836329" h="11826826">
                <a:moveTo>
                  <a:pt x="10836328" y="0"/>
                </a:moveTo>
                <a:lnTo>
                  <a:pt x="0" y="0"/>
                </a:lnTo>
                <a:lnTo>
                  <a:pt x="0" y="11826826"/>
                </a:lnTo>
                <a:lnTo>
                  <a:pt x="10836328" y="11826826"/>
                </a:lnTo>
                <a:lnTo>
                  <a:pt x="10836328" y="0"/>
                </a:lnTo>
                <a:close/>
              </a:path>
            </a:pathLst>
          </a:custGeom>
          <a:blipFill>
            <a:blip r:embed="rId3">
              <a:alphaModFix amt="35000"/>
            </a:blip>
            <a:stretch>
              <a:fillRect/>
            </a:stretch>
          </a:blipFill>
        </p:spPr>
      </p:sp>
      <p:sp>
        <p:nvSpPr>
          <p:cNvPr id="8" name="Freeform 8"/>
          <p:cNvSpPr/>
          <p:nvPr/>
        </p:nvSpPr>
        <p:spPr>
          <a:xfrm>
            <a:off x="1456546" y="613976"/>
            <a:ext cx="558337" cy="656867"/>
          </a:xfrm>
          <a:custGeom>
            <a:avLst/>
            <a:gdLst/>
            <a:ahLst/>
            <a:cxnLst/>
            <a:rect l="l" t="t" r="r" b="b"/>
            <a:pathLst>
              <a:path w="558337" h="656867">
                <a:moveTo>
                  <a:pt x="0" y="0"/>
                </a:moveTo>
                <a:lnTo>
                  <a:pt x="558337" y="0"/>
                </a:lnTo>
                <a:lnTo>
                  <a:pt x="558337" y="656867"/>
                </a:lnTo>
                <a:lnTo>
                  <a:pt x="0" y="65686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a:off x="13861118" y="8292843"/>
            <a:ext cx="279168" cy="328433"/>
          </a:xfrm>
          <a:custGeom>
            <a:avLst/>
            <a:gdLst/>
            <a:ahLst/>
            <a:cxnLst/>
            <a:rect l="l" t="t" r="r" b="b"/>
            <a:pathLst>
              <a:path w="279168" h="328433">
                <a:moveTo>
                  <a:pt x="0" y="0"/>
                </a:moveTo>
                <a:lnTo>
                  <a:pt x="279168" y="0"/>
                </a:lnTo>
                <a:lnTo>
                  <a:pt x="279168" y="328433"/>
                </a:lnTo>
                <a:lnTo>
                  <a:pt x="0" y="32843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Freeform 10"/>
          <p:cNvSpPr/>
          <p:nvPr/>
        </p:nvSpPr>
        <p:spPr>
          <a:xfrm>
            <a:off x="14933219" y="-1028700"/>
            <a:ext cx="4109657" cy="4114800"/>
          </a:xfrm>
          <a:custGeom>
            <a:avLst/>
            <a:gdLst/>
            <a:ahLst/>
            <a:cxnLst/>
            <a:rect l="l" t="t" r="r" b="b"/>
            <a:pathLst>
              <a:path w="4109657" h="4114800">
                <a:moveTo>
                  <a:pt x="0" y="0"/>
                </a:moveTo>
                <a:lnTo>
                  <a:pt x="4109657" y="0"/>
                </a:lnTo>
                <a:lnTo>
                  <a:pt x="4109657" y="4114800"/>
                </a:lnTo>
                <a:lnTo>
                  <a:pt x="0" y="4114800"/>
                </a:lnTo>
                <a:lnTo>
                  <a:pt x="0" y="0"/>
                </a:lnTo>
                <a:close/>
              </a:path>
            </a:pathLst>
          </a:custGeom>
          <a:blipFill>
            <a:blip>
              <a:alphaModFix amt="27000"/>
              <a:extLst>
                <a:ext uri="{96DAC541-7B7A-43D3-8B79-37D633B846F1}">
                  <asvg:svgBlip xmlns:asvg="http://schemas.microsoft.com/office/drawing/2016/SVG/main" r:embed="rId6"/>
                </a:ext>
              </a:extLst>
            </a:blip>
            <a:stretch>
              <a:fillRect/>
            </a:stretch>
          </a:blipFill>
        </p:spPr>
      </p:sp>
      <p:sp>
        <p:nvSpPr>
          <p:cNvPr id="11" name="Freeform 11"/>
          <p:cNvSpPr/>
          <p:nvPr/>
        </p:nvSpPr>
        <p:spPr>
          <a:xfrm>
            <a:off x="-713331" y="6942113"/>
            <a:ext cx="4109657" cy="4114800"/>
          </a:xfrm>
          <a:custGeom>
            <a:avLst/>
            <a:gdLst/>
            <a:ahLst/>
            <a:cxnLst/>
            <a:rect l="l" t="t" r="r" b="b"/>
            <a:pathLst>
              <a:path w="4109657" h="4114800">
                <a:moveTo>
                  <a:pt x="0" y="0"/>
                </a:moveTo>
                <a:lnTo>
                  <a:pt x="4109656" y="0"/>
                </a:lnTo>
                <a:lnTo>
                  <a:pt x="4109656" y="4114800"/>
                </a:lnTo>
                <a:lnTo>
                  <a:pt x="0" y="4114800"/>
                </a:lnTo>
                <a:lnTo>
                  <a:pt x="0" y="0"/>
                </a:lnTo>
                <a:close/>
              </a:path>
            </a:pathLst>
          </a:custGeom>
          <a:blipFill>
            <a:blip>
              <a:alphaModFix amt="27000"/>
              <a:extLst>
                <a:ext uri="{96DAC541-7B7A-43D3-8B79-37D633B846F1}">
                  <asvg:svgBlip xmlns:asvg="http://schemas.microsoft.com/office/drawing/2016/SVG/main" r:embed="rId6"/>
                </a:ext>
              </a:extLst>
            </a:blip>
            <a:stretch>
              <a:fillRect/>
            </a:stretch>
          </a:blipFill>
        </p:spPr>
      </p:sp>
      <p:sp>
        <p:nvSpPr>
          <p:cNvPr id="12" name="TextBox 12"/>
          <p:cNvSpPr txBox="1"/>
          <p:nvPr/>
        </p:nvSpPr>
        <p:spPr>
          <a:xfrm>
            <a:off x="7700012" y="8564126"/>
            <a:ext cx="2533250" cy="342156"/>
          </a:xfrm>
          <a:prstGeom prst="rect">
            <a:avLst/>
          </a:prstGeom>
        </p:spPr>
        <p:txBody>
          <a:bodyPr lIns="0" tIns="0" rIns="0" bIns="0" rtlCol="0" anchor="t">
            <a:spAutoFit/>
          </a:bodyPr>
          <a:lstStyle/>
          <a:p>
            <a:pPr algn="ctr">
              <a:lnSpc>
                <a:spcPts val="2666"/>
              </a:lnSpc>
              <a:spcBef>
                <a:spcPct val="0"/>
              </a:spcBef>
            </a:pPr>
            <a:r>
              <a:rPr lang="en-US" sz="1904" i="1" spc="-38">
                <a:solidFill>
                  <a:srgbClr val="FFFFFF"/>
                </a:solidFill>
                <a:latin typeface="Poppins Italics"/>
                <a:ea typeface="Poppins Italics"/>
                <a:cs typeface="Poppins Italics"/>
                <a:sym typeface="Poppins Italics"/>
              </a:rPr>
              <a:t>Adora Montminy</a:t>
            </a:r>
          </a:p>
        </p:txBody>
      </p:sp>
      <p:sp>
        <p:nvSpPr>
          <p:cNvPr id="13" name="TextBox 13"/>
          <p:cNvSpPr txBox="1"/>
          <p:nvPr/>
        </p:nvSpPr>
        <p:spPr>
          <a:xfrm>
            <a:off x="4787000" y="5724355"/>
            <a:ext cx="8359274" cy="491644"/>
          </a:xfrm>
          <a:prstGeom prst="rect">
            <a:avLst/>
          </a:prstGeom>
        </p:spPr>
        <p:txBody>
          <a:bodyPr lIns="0" tIns="0" rIns="0" bIns="0" rtlCol="0" anchor="t">
            <a:spAutoFit/>
          </a:bodyPr>
          <a:lstStyle/>
          <a:p>
            <a:pPr algn="ctr">
              <a:lnSpc>
                <a:spcPts val="3876"/>
              </a:lnSpc>
              <a:spcBef>
                <a:spcPct val="0"/>
              </a:spcBef>
            </a:pPr>
            <a:r>
              <a:rPr lang="en-US" sz="2768" b="1" i="1" spc="-55">
                <a:solidFill>
                  <a:srgbClr val="FFFFFF"/>
                </a:solidFill>
                <a:latin typeface="Poppins Bold Italics"/>
                <a:ea typeface="Poppins Bold Italics"/>
                <a:cs typeface="Poppins Bold Italics"/>
                <a:sym typeface="Poppins Bold Italics"/>
              </a:rPr>
              <a:t>Transforming the present, shaping the future</a:t>
            </a:r>
          </a:p>
        </p:txBody>
      </p:sp>
      <p:sp>
        <p:nvSpPr>
          <p:cNvPr id="14" name="TextBox 14"/>
          <p:cNvSpPr txBox="1"/>
          <p:nvPr/>
        </p:nvSpPr>
        <p:spPr>
          <a:xfrm>
            <a:off x="7700012" y="8223379"/>
            <a:ext cx="2533250" cy="342156"/>
          </a:xfrm>
          <a:prstGeom prst="rect">
            <a:avLst/>
          </a:prstGeom>
        </p:spPr>
        <p:txBody>
          <a:bodyPr lIns="0" tIns="0" rIns="0" bIns="0" rtlCol="0" anchor="t">
            <a:spAutoFit/>
          </a:bodyPr>
          <a:lstStyle/>
          <a:p>
            <a:pPr algn="ctr">
              <a:lnSpc>
                <a:spcPts val="2666"/>
              </a:lnSpc>
              <a:spcBef>
                <a:spcPct val="0"/>
              </a:spcBef>
            </a:pPr>
            <a:r>
              <a:rPr lang="en-US" sz="1904" b="1" i="1">
                <a:solidFill>
                  <a:srgbClr val="FFFFFF"/>
                </a:solidFill>
                <a:latin typeface="Poppins Bold Italics"/>
                <a:ea typeface="Poppins Bold Italics"/>
                <a:cs typeface="Poppins Bold Italics"/>
                <a:sym typeface="Poppins Bold Italics"/>
              </a:rPr>
              <a:t>Presented By: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5927373" y="-511126"/>
            <a:ext cx="10836329" cy="11826826"/>
          </a:xfrm>
          <a:custGeom>
            <a:avLst/>
            <a:gdLst/>
            <a:ahLst/>
            <a:cxnLst/>
            <a:rect l="l" t="t" r="r" b="b"/>
            <a:pathLst>
              <a:path w="10836329" h="11826826">
                <a:moveTo>
                  <a:pt x="0" y="0"/>
                </a:moveTo>
                <a:lnTo>
                  <a:pt x="10836329" y="0"/>
                </a:lnTo>
                <a:lnTo>
                  <a:pt x="10836329" y="11826826"/>
                </a:lnTo>
                <a:lnTo>
                  <a:pt x="0" y="11826826"/>
                </a:lnTo>
                <a:lnTo>
                  <a:pt x="0" y="0"/>
                </a:lnTo>
                <a:close/>
              </a:path>
            </a:pathLst>
          </a:custGeom>
          <a:blipFill>
            <a:blip r:embed="rId3">
              <a:alphaModFix amt="35000"/>
            </a:blip>
            <a:stretch>
              <a:fillRect/>
            </a:stretch>
          </a:blipFill>
        </p:spPr>
      </p:sp>
      <p:sp>
        <p:nvSpPr>
          <p:cNvPr id="4" name="Freeform 4"/>
          <p:cNvSpPr/>
          <p:nvPr/>
        </p:nvSpPr>
        <p:spPr>
          <a:xfrm>
            <a:off x="-1707133" y="-690596"/>
            <a:ext cx="4125113" cy="4114800"/>
          </a:xfrm>
          <a:custGeom>
            <a:avLst/>
            <a:gdLst/>
            <a:ahLst/>
            <a:cxnLst/>
            <a:rect l="l" t="t" r="r" b="b"/>
            <a:pathLst>
              <a:path w="4125113" h="4114800">
                <a:moveTo>
                  <a:pt x="0" y="0"/>
                </a:moveTo>
                <a:lnTo>
                  <a:pt x="4125113" y="0"/>
                </a:lnTo>
                <a:lnTo>
                  <a:pt x="4125113"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11841136" y="-769913"/>
            <a:ext cx="10836329" cy="11826826"/>
          </a:xfrm>
          <a:custGeom>
            <a:avLst/>
            <a:gdLst/>
            <a:ahLst/>
            <a:cxnLst/>
            <a:rect l="l" t="t" r="r" b="b"/>
            <a:pathLst>
              <a:path w="10836329" h="11826826">
                <a:moveTo>
                  <a:pt x="10836328" y="0"/>
                </a:moveTo>
                <a:lnTo>
                  <a:pt x="0" y="0"/>
                </a:lnTo>
                <a:lnTo>
                  <a:pt x="0" y="11826826"/>
                </a:lnTo>
                <a:lnTo>
                  <a:pt x="10836328" y="11826826"/>
                </a:lnTo>
                <a:lnTo>
                  <a:pt x="10836328" y="0"/>
                </a:lnTo>
                <a:close/>
              </a:path>
            </a:pathLst>
          </a:custGeom>
          <a:blipFill>
            <a:blip r:embed="rId3">
              <a:alphaModFix amt="35000"/>
            </a:blip>
            <a:stretch>
              <a:fillRect/>
            </a:stretch>
          </a:blipFill>
        </p:spPr>
      </p:sp>
      <p:sp>
        <p:nvSpPr>
          <p:cNvPr id="6" name="Freeform 6"/>
          <p:cNvSpPr/>
          <p:nvPr/>
        </p:nvSpPr>
        <p:spPr>
          <a:xfrm>
            <a:off x="14618812" y="8984194"/>
            <a:ext cx="2206708" cy="2201192"/>
          </a:xfrm>
          <a:custGeom>
            <a:avLst/>
            <a:gdLst/>
            <a:ahLst/>
            <a:cxnLst/>
            <a:rect l="l" t="t" r="r" b="b"/>
            <a:pathLst>
              <a:path w="2206708" h="2201192">
                <a:moveTo>
                  <a:pt x="0" y="0"/>
                </a:moveTo>
                <a:lnTo>
                  <a:pt x="2206708" y="0"/>
                </a:lnTo>
                <a:lnTo>
                  <a:pt x="2206708" y="2201192"/>
                </a:lnTo>
                <a:lnTo>
                  <a:pt x="0" y="220119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1698404" y="7959652"/>
            <a:ext cx="558337" cy="656867"/>
          </a:xfrm>
          <a:custGeom>
            <a:avLst/>
            <a:gdLst/>
            <a:ahLst/>
            <a:cxnLst/>
            <a:rect l="l" t="t" r="r" b="b"/>
            <a:pathLst>
              <a:path w="558337" h="656867">
                <a:moveTo>
                  <a:pt x="0" y="0"/>
                </a:moveTo>
                <a:lnTo>
                  <a:pt x="558337" y="0"/>
                </a:lnTo>
                <a:lnTo>
                  <a:pt x="558337" y="656867"/>
                </a:lnTo>
                <a:lnTo>
                  <a:pt x="0" y="65686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8139599" y="1960907"/>
            <a:ext cx="279168" cy="328433"/>
          </a:xfrm>
          <a:custGeom>
            <a:avLst/>
            <a:gdLst/>
            <a:ahLst/>
            <a:cxnLst/>
            <a:rect l="l" t="t" r="r" b="b"/>
            <a:pathLst>
              <a:path w="279168" h="328433">
                <a:moveTo>
                  <a:pt x="0" y="0"/>
                </a:moveTo>
                <a:lnTo>
                  <a:pt x="279169" y="0"/>
                </a:lnTo>
                <a:lnTo>
                  <a:pt x="279169" y="328433"/>
                </a:lnTo>
                <a:lnTo>
                  <a:pt x="0" y="328433"/>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9144000" y="2013430"/>
            <a:ext cx="7497471" cy="6777714"/>
            <a:chOff x="0" y="0"/>
            <a:chExt cx="6350000" cy="5740400"/>
          </a:xfrm>
        </p:grpSpPr>
        <p:sp>
          <p:nvSpPr>
            <p:cNvPr id="10" name="Freeform 10"/>
            <p:cNvSpPr/>
            <p:nvPr/>
          </p:nvSpPr>
          <p:spPr>
            <a:xfrm>
              <a:off x="0" y="0"/>
              <a:ext cx="6351270" cy="5741670"/>
            </a:xfrm>
            <a:custGeom>
              <a:avLst/>
              <a:gdLst/>
              <a:ahLst/>
              <a:cxnLst/>
              <a:rect l="l" t="t" r="r" b="b"/>
              <a:pathLst>
                <a:path w="6351270" h="5741670">
                  <a:moveTo>
                    <a:pt x="0" y="542290"/>
                  </a:moveTo>
                  <a:lnTo>
                    <a:pt x="0" y="2392680"/>
                  </a:lnTo>
                  <a:cubicBezTo>
                    <a:pt x="0" y="2691130"/>
                    <a:pt x="242570" y="2933700"/>
                    <a:pt x="542290" y="2933700"/>
                  </a:cubicBezTo>
                  <a:lnTo>
                    <a:pt x="1148080" y="2933700"/>
                  </a:lnTo>
                  <a:cubicBezTo>
                    <a:pt x="1447800" y="2933700"/>
                    <a:pt x="1690370" y="3176270"/>
                    <a:pt x="1690370" y="3475990"/>
                  </a:cubicBezTo>
                  <a:lnTo>
                    <a:pt x="1690370" y="5199380"/>
                  </a:lnTo>
                  <a:cubicBezTo>
                    <a:pt x="1690370" y="5499100"/>
                    <a:pt x="1932940" y="5741670"/>
                    <a:pt x="2232660" y="5741670"/>
                  </a:cubicBezTo>
                  <a:lnTo>
                    <a:pt x="3599180" y="5741670"/>
                  </a:lnTo>
                  <a:cubicBezTo>
                    <a:pt x="3735070" y="5741670"/>
                    <a:pt x="3867150" y="5689600"/>
                    <a:pt x="3967480" y="5598160"/>
                  </a:cubicBezTo>
                  <a:lnTo>
                    <a:pt x="6177280" y="3553460"/>
                  </a:lnTo>
                  <a:cubicBezTo>
                    <a:pt x="6287770" y="3450590"/>
                    <a:pt x="6351270" y="3307080"/>
                    <a:pt x="6351270" y="3155950"/>
                  </a:cubicBezTo>
                  <a:lnTo>
                    <a:pt x="6351270" y="542290"/>
                  </a:lnTo>
                  <a:cubicBezTo>
                    <a:pt x="6350000" y="242570"/>
                    <a:pt x="6107430" y="0"/>
                    <a:pt x="5807710" y="0"/>
                  </a:cubicBezTo>
                  <a:lnTo>
                    <a:pt x="542290" y="0"/>
                  </a:lnTo>
                  <a:cubicBezTo>
                    <a:pt x="242570" y="0"/>
                    <a:pt x="0" y="242570"/>
                    <a:pt x="0" y="542290"/>
                  </a:cubicBezTo>
                  <a:close/>
                </a:path>
              </a:pathLst>
            </a:custGeom>
            <a:blipFill>
              <a:blip r:embed="rId6"/>
              <a:stretch>
                <a:fillRect l="-29126" r="-29126"/>
              </a:stretch>
            </a:blipFill>
          </p:spPr>
        </p:sp>
      </p:grpSp>
      <p:sp>
        <p:nvSpPr>
          <p:cNvPr id="11" name="Freeform 11"/>
          <p:cNvSpPr/>
          <p:nvPr/>
        </p:nvSpPr>
        <p:spPr>
          <a:xfrm>
            <a:off x="16719293" y="932561"/>
            <a:ext cx="270004" cy="434243"/>
          </a:xfrm>
          <a:custGeom>
            <a:avLst/>
            <a:gdLst/>
            <a:ahLst/>
            <a:cxnLst/>
            <a:rect l="l" t="t" r="r" b="b"/>
            <a:pathLst>
              <a:path w="270004" h="434243">
                <a:moveTo>
                  <a:pt x="0" y="0"/>
                </a:moveTo>
                <a:lnTo>
                  <a:pt x="270003" y="0"/>
                </a:lnTo>
                <a:lnTo>
                  <a:pt x="270003" y="434243"/>
                </a:lnTo>
                <a:lnTo>
                  <a:pt x="0" y="434243"/>
                </a:lnTo>
                <a:lnTo>
                  <a:pt x="0" y="0"/>
                </a:lnTo>
                <a:close/>
              </a:path>
            </a:pathLst>
          </a:custGeom>
          <a:blipFill>
            <a:blip>
              <a:extLst>
                <a:ext uri="{96DAC541-7B7A-43D3-8B79-37D633B846F1}">
                  <asvg:svgBlip xmlns:asvg="http://schemas.microsoft.com/office/drawing/2016/SVG/main" r:embed="rId7"/>
                </a:ext>
              </a:extLst>
            </a:blip>
            <a:stretch>
              <a:fillRect l="-327450"/>
            </a:stretch>
          </a:blipFill>
        </p:spPr>
      </p:sp>
      <p:sp>
        <p:nvSpPr>
          <p:cNvPr id="12" name="TextBox 12"/>
          <p:cNvSpPr txBox="1"/>
          <p:nvPr/>
        </p:nvSpPr>
        <p:spPr>
          <a:xfrm>
            <a:off x="2143874" y="2553351"/>
            <a:ext cx="5427240" cy="1865532"/>
          </a:xfrm>
          <a:prstGeom prst="rect">
            <a:avLst/>
          </a:prstGeom>
        </p:spPr>
        <p:txBody>
          <a:bodyPr lIns="0" tIns="0" rIns="0" bIns="0" rtlCol="0" anchor="t">
            <a:spAutoFit/>
          </a:bodyPr>
          <a:lstStyle/>
          <a:p>
            <a:pPr algn="l">
              <a:lnSpc>
                <a:spcPts val="7165"/>
              </a:lnSpc>
            </a:pPr>
            <a:r>
              <a:rPr lang="en-US" sz="7094">
                <a:solidFill>
                  <a:srgbClr val="FFFFFF"/>
                </a:solidFill>
                <a:latin typeface="League Spartan"/>
                <a:ea typeface="League Spartan"/>
                <a:cs typeface="League Spartan"/>
                <a:sym typeface="League Spartan"/>
              </a:rPr>
              <a:t>Table of</a:t>
            </a:r>
          </a:p>
          <a:p>
            <a:pPr algn="l">
              <a:lnSpc>
                <a:spcPts val="7165"/>
              </a:lnSpc>
            </a:pPr>
            <a:r>
              <a:rPr lang="en-US" sz="7094">
                <a:solidFill>
                  <a:srgbClr val="FFFFFF"/>
                </a:solidFill>
                <a:latin typeface="League Spartan"/>
                <a:ea typeface="League Spartan"/>
                <a:cs typeface="League Spartan"/>
                <a:sym typeface="League Spartan"/>
              </a:rPr>
              <a:t>Contents</a:t>
            </a:r>
          </a:p>
        </p:txBody>
      </p:sp>
      <p:sp>
        <p:nvSpPr>
          <p:cNvPr id="13" name="TextBox 13"/>
          <p:cNvSpPr txBox="1"/>
          <p:nvPr/>
        </p:nvSpPr>
        <p:spPr>
          <a:xfrm>
            <a:off x="3482437" y="4977025"/>
            <a:ext cx="4435867" cy="3342531"/>
          </a:xfrm>
          <a:prstGeom prst="rect">
            <a:avLst/>
          </a:prstGeom>
        </p:spPr>
        <p:txBody>
          <a:bodyPr lIns="0" tIns="0" rIns="0" bIns="0" rtlCol="0" anchor="t">
            <a:spAutoFit/>
          </a:bodyPr>
          <a:lstStyle/>
          <a:p>
            <a:pPr marL="411139" lvl="1" indent="-205569" algn="l">
              <a:lnSpc>
                <a:spcPts val="2666"/>
              </a:lnSpc>
              <a:buAutoNum type="arabicPeriod"/>
            </a:pPr>
            <a:r>
              <a:rPr lang="en-US" sz="1904" i="1" spc="-38">
                <a:solidFill>
                  <a:srgbClr val="FFFFFF"/>
                </a:solidFill>
                <a:latin typeface="Poppins Italics"/>
                <a:ea typeface="Poppins Italics"/>
                <a:cs typeface="Poppins Italics"/>
                <a:sym typeface="Poppins Italics"/>
              </a:rPr>
              <a:t>What is Artificial Intelligence?</a:t>
            </a:r>
          </a:p>
          <a:p>
            <a:pPr marL="411139" lvl="1" indent="-205569" algn="l">
              <a:lnSpc>
                <a:spcPts val="2666"/>
              </a:lnSpc>
              <a:buAutoNum type="arabicPeriod"/>
            </a:pPr>
            <a:r>
              <a:rPr lang="en-US" sz="1904" i="1" spc="-38">
                <a:solidFill>
                  <a:srgbClr val="FFFFFF"/>
                </a:solidFill>
                <a:latin typeface="Poppins Italics"/>
                <a:ea typeface="Poppins Italics"/>
                <a:cs typeface="Poppins Italics"/>
                <a:sym typeface="Poppins Italics"/>
              </a:rPr>
              <a:t>How Does AI Work?</a:t>
            </a:r>
          </a:p>
          <a:p>
            <a:pPr marL="411139" lvl="1" indent="-205569" algn="l">
              <a:lnSpc>
                <a:spcPts val="2666"/>
              </a:lnSpc>
              <a:buAutoNum type="arabicPeriod"/>
            </a:pPr>
            <a:r>
              <a:rPr lang="en-US" sz="1904" i="1" spc="-38">
                <a:solidFill>
                  <a:srgbClr val="FFFFFF"/>
                </a:solidFill>
                <a:latin typeface="Poppins Italics"/>
                <a:ea typeface="Poppins Italics"/>
                <a:cs typeface="Poppins Italics"/>
                <a:sym typeface="Poppins Italics"/>
              </a:rPr>
              <a:t>Everyday Applications</a:t>
            </a:r>
          </a:p>
          <a:p>
            <a:pPr marL="411139" lvl="1" indent="-205569" algn="l">
              <a:lnSpc>
                <a:spcPts val="2666"/>
              </a:lnSpc>
              <a:buAutoNum type="arabicPeriod"/>
            </a:pPr>
            <a:r>
              <a:rPr lang="en-US" sz="1904" i="1" spc="-38">
                <a:solidFill>
                  <a:srgbClr val="FFFFFF"/>
                </a:solidFill>
                <a:latin typeface="Poppins Italics"/>
                <a:ea typeface="Poppins Italics"/>
                <a:cs typeface="Poppins Italics"/>
                <a:sym typeface="Poppins Italics"/>
              </a:rPr>
              <a:t>AI in Key Sectors</a:t>
            </a:r>
          </a:p>
          <a:p>
            <a:pPr marL="411139" lvl="1" indent="-205569" algn="l">
              <a:lnSpc>
                <a:spcPts val="2666"/>
              </a:lnSpc>
              <a:buAutoNum type="arabicPeriod"/>
            </a:pPr>
            <a:r>
              <a:rPr lang="en-US" sz="1904" i="1" spc="-38">
                <a:solidFill>
                  <a:srgbClr val="FFFFFF"/>
                </a:solidFill>
                <a:latin typeface="Poppins Italics"/>
                <a:ea typeface="Poppins Italics"/>
                <a:cs typeface="Poppins Italics"/>
                <a:sym typeface="Poppins Italics"/>
              </a:rPr>
              <a:t>Benefits of AI</a:t>
            </a:r>
          </a:p>
          <a:p>
            <a:pPr marL="411139" lvl="1" indent="-205569" algn="l">
              <a:lnSpc>
                <a:spcPts val="2666"/>
              </a:lnSpc>
              <a:buAutoNum type="arabicPeriod"/>
            </a:pPr>
            <a:r>
              <a:rPr lang="en-US" sz="1904" i="1" spc="-38">
                <a:solidFill>
                  <a:srgbClr val="FFFFFF"/>
                </a:solidFill>
                <a:latin typeface="Poppins Italics"/>
                <a:ea typeface="Poppins Italics"/>
                <a:cs typeface="Poppins Italics"/>
                <a:sym typeface="Poppins Italics"/>
              </a:rPr>
              <a:t>Risks and Challenges</a:t>
            </a:r>
          </a:p>
          <a:p>
            <a:pPr marL="411139" lvl="1" indent="-205569" algn="l">
              <a:lnSpc>
                <a:spcPts val="2666"/>
              </a:lnSpc>
              <a:buAutoNum type="arabicPeriod"/>
            </a:pPr>
            <a:r>
              <a:rPr lang="en-US" sz="1904" i="1" spc="-38">
                <a:solidFill>
                  <a:srgbClr val="FFFFFF"/>
                </a:solidFill>
                <a:latin typeface="Poppins Italics"/>
                <a:ea typeface="Poppins Italics"/>
                <a:cs typeface="Poppins Italics"/>
                <a:sym typeface="Poppins Italics"/>
              </a:rPr>
              <a:t>Ethical Considerations</a:t>
            </a:r>
          </a:p>
          <a:p>
            <a:pPr marL="411139" lvl="1" indent="-205569" algn="l">
              <a:lnSpc>
                <a:spcPts val="2666"/>
              </a:lnSpc>
              <a:buAutoNum type="arabicPeriod"/>
            </a:pPr>
            <a:r>
              <a:rPr lang="en-US" sz="1904" i="1" spc="-38">
                <a:solidFill>
                  <a:srgbClr val="FFFFFF"/>
                </a:solidFill>
                <a:latin typeface="Poppins Italics"/>
                <a:ea typeface="Poppins Italics"/>
                <a:cs typeface="Poppins Italics"/>
                <a:sym typeface="Poppins Italics"/>
              </a:rPr>
              <a:t>AI vs Human Intelligence</a:t>
            </a:r>
          </a:p>
          <a:p>
            <a:pPr marL="411139" lvl="1" indent="-205569" algn="l">
              <a:lnSpc>
                <a:spcPts val="2666"/>
              </a:lnSpc>
              <a:buAutoNum type="arabicPeriod"/>
            </a:pPr>
            <a:r>
              <a:rPr lang="en-US" sz="1904" i="1" spc="-38">
                <a:solidFill>
                  <a:srgbClr val="FFFFFF"/>
                </a:solidFill>
                <a:latin typeface="Poppins Italics"/>
                <a:ea typeface="Poppins Italics"/>
                <a:cs typeface="Poppins Italics"/>
                <a:sym typeface="Poppins Italics"/>
              </a:rPr>
              <a:t>The Future of AI</a:t>
            </a:r>
          </a:p>
          <a:p>
            <a:pPr marL="411139" lvl="1" indent="-205569" algn="l">
              <a:lnSpc>
                <a:spcPts val="2666"/>
              </a:lnSpc>
              <a:buAutoNum type="arabicPeriod"/>
            </a:pPr>
            <a:r>
              <a:rPr lang="en-US" sz="1904" i="1" spc="-38">
                <a:solidFill>
                  <a:srgbClr val="FFFFFF"/>
                </a:solidFill>
                <a:latin typeface="Poppins Italics"/>
                <a:ea typeface="Poppins Italics"/>
                <a:cs typeface="Poppins Italics"/>
                <a:sym typeface="Poppins Italics"/>
              </a:rPr>
              <a:t>Final Thoughts</a:t>
            </a:r>
          </a:p>
        </p:txBody>
      </p:sp>
      <p:sp>
        <p:nvSpPr>
          <p:cNvPr id="14" name="Freeform 14"/>
          <p:cNvSpPr/>
          <p:nvPr/>
        </p:nvSpPr>
        <p:spPr>
          <a:xfrm>
            <a:off x="-713331" y="6942113"/>
            <a:ext cx="4109657" cy="4114800"/>
          </a:xfrm>
          <a:custGeom>
            <a:avLst/>
            <a:gdLst/>
            <a:ahLst/>
            <a:cxnLst/>
            <a:rect l="l" t="t" r="r" b="b"/>
            <a:pathLst>
              <a:path w="4109657" h="4114800">
                <a:moveTo>
                  <a:pt x="0" y="0"/>
                </a:moveTo>
                <a:lnTo>
                  <a:pt x="4109656" y="0"/>
                </a:lnTo>
                <a:lnTo>
                  <a:pt x="4109656" y="4114800"/>
                </a:lnTo>
                <a:lnTo>
                  <a:pt x="0" y="4114800"/>
                </a:lnTo>
                <a:lnTo>
                  <a:pt x="0" y="0"/>
                </a:lnTo>
                <a:close/>
              </a:path>
            </a:pathLst>
          </a:custGeom>
          <a:blipFill>
            <a:blip>
              <a:alphaModFix amt="27000"/>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1257824" y="-769913"/>
            <a:ext cx="10836329" cy="11826826"/>
          </a:xfrm>
          <a:custGeom>
            <a:avLst/>
            <a:gdLst/>
            <a:ahLst/>
            <a:cxnLst/>
            <a:rect l="l" t="t" r="r" b="b"/>
            <a:pathLst>
              <a:path w="10836329" h="11826826">
                <a:moveTo>
                  <a:pt x="0" y="0"/>
                </a:moveTo>
                <a:lnTo>
                  <a:pt x="10836329" y="0"/>
                </a:lnTo>
                <a:lnTo>
                  <a:pt x="10836329" y="11826826"/>
                </a:lnTo>
                <a:lnTo>
                  <a:pt x="0" y="11826826"/>
                </a:lnTo>
                <a:lnTo>
                  <a:pt x="0" y="0"/>
                </a:lnTo>
                <a:close/>
              </a:path>
            </a:pathLst>
          </a:custGeom>
          <a:blipFill>
            <a:blip r:embed="rId3">
              <a:alphaModFix amt="35000"/>
            </a:blip>
            <a:stretch>
              <a:fillRect/>
            </a:stretch>
          </a:blipFill>
        </p:spPr>
      </p:sp>
      <p:sp>
        <p:nvSpPr>
          <p:cNvPr id="4" name="Freeform 4"/>
          <p:cNvSpPr/>
          <p:nvPr/>
        </p:nvSpPr>
        <p:spPr>
          <a:xfrm>
            <a:off x="8726622" y="-1383371"/>
            <a:ext cx="4038802" cy="4028705"/>
          </a:xfrm>
          <a:custGeom>
            <a:avLst/>
            <a:gdLst/>
            <a:ahLst/>
            <a:cxnLst/>
            <a:rect l="l" t="t" r="r" b="b"/>
            <a:pathLst>
              <a:path w="4038802" h="4028705">
                <a:moveTo>
                  <a:pt x="0" y="0"/>
                </a:moveTo>
                <a:lnTo>
                  <a:pt x="4038802" y="0"/>
                </a:lnTo>
                <a:lnTo>
                  <a:pt x="4038802" y="4028705"/>
                </a:lnTo>
                <a:lnTo>
                  <a:pt x="0" y="402870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816931" y="7319431"/>
            <a:ext cx="2206708" cy="2201192"/>
          </a:xfrm>
          <a:custGeom>
            <a:avLst/>
            <a:gdLst/>
            <a:ahLst/>
            <a:cxnLst/>
            <a:rect l="l" t="t" r="r" b="b"/>
            <a:pathLst>
              <a:path w="2206708" h="2201192">
                <a:moveTo>
                  <a:pt x="0" y="0"/>
                </a:moveTo>
                <a:lnTo>
                  <a:pt x="2206708" y="0"/>
                </a:lnTo>
                <a:lnTo>
                  <a:pt x="2206708" y="2201191"/>
                </a:lnTo>
                <a:lnTo>
                  <a:pt x="0" y="22011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7509730" y="8731568"/>
            <a:ext cx="558337" cy="656867"/>
          </a:xfrm>
          <a:custGeom>
            <a:avLst/>
            <a:gdLst/>
            <a:ahLst/>
            <a:cxnLst/>
            <a:rect l="l" t="t" r="r" b="b"/>
            <a:pathLst>
              <a:path w="558337" h="656867">
                <a:moveTo>
                  <a:pt x="0" y="0"/>
                </a:moveTo>
                <a:lnTo>
                  <a:pt x="558337" y="0"/>
                </a:lnTo>
                <a:lnTo>
                  <a:pt x="558337" y="656866"/>
                </a:lnTo>
                <a:lnTo>
                  <a:pt x="0" y="65686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a:off x="2465797" y="1462678"/>
            <a:ext cx="279168" cy="328433"/>
          </a:xfrm>
          <a:custGeom>
            <a:avLst/>
            <a:gdLst/>
            <a:ahLst/>
            <a:cxnLst/>
            <a:rect l="l" t="t" r="r" b="b"/>
            <a:pathLst>
              <a:path w="279168" h="328433">
                <a:moveTo>
                  <a:pt x="0" y="0"/>
                </a:moveTo>
                <a:lnTo>
                  <a:pt x="279168" y="0"/>
                </a:lnTo>
                <a:lnTo>
                  <a:pt x="279168" y="328434"/>
                </a:lnTo>
                <a:lnTo>
                  <a:pt x="0" y="328434"/>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a:off x="1454381" y="2620348"/>
            <a:ext cx="6760198" cy="6111219"/>
            <a:chOff x="0" y="0"/>
            <a:chExt cx="6350000" cy="5740400"/>
          </a:xfrm>
        </p:grpSpPr>
        <p:sp>
          <p:nvSpPr>
            <p:cNvPr id="9" name="Freeform 9"/>
            <p:cNvSpPr/>
            <p:nvPr/>
          </p:nvSpPr>
          <p:spPr>
            <a:xfrm>
              <a:off x="0" y="0"/>
              <a:ext cx="6351270" cy="5741670"/>
            </a:xfrm>
            <a:custGeom>
              <a:avLst/>
              <a:gdLst/>
              <a:ahLst/>
              <a:cxnLst/>
              <a:rect l="l" t="t" r="r" b="b"/>
              <a:pathLst>
                <a:path w="6351270" h="5741670">
                  <a:moveTo>
                    <a:pt x="0" y="542290"/>
                  </a:moveTo>
                  <a:lnTo>
                    <a:pt x="0" y="2392680"/>
                  </a:lnTo>
                  <a:cubicBezTo>
                    <a:pt x="0" y="2691130"/>
                    <a:pt x="242570" y="2933700"/>
                    <a:pt x="542290" y="2933700"/>
                  </a:cubicBezTo>
                  <a:lnTo>
                    <a:pt x="1148080" y="2933700"/>
                  </a:lnTo>
                  <a:cubicBezTo>
                    <a:pt x="1447800" y="2933700"/>
                    <a:pt x="1690370" y="3176270"/>
                    <a:pt x="1690370" y="3475990"/>
                  </a:cubicBezTo>
                  <a:lnTo>
                    <a:pt x="1690370" y="5199380"/>
                  </a:lnTo>
                  <a:cubicBezTo>
                    <a:pt x="1690370" y="5499100"/>
                    <a:pt x="1932940" y="5741670"/>
                    <a:pt x="2232660" y="5741670"/>
                  </a:cubicBezTo>
                  <a:lnTo>
                    <a:pt x="3599180" y="5741670"/>
                  </a:lnTo>
                  <a:cubicBezTo>
                    <a:pt x="3735070" y="5741670"/>
                    <a:pt x="3867150" y="5689600"/>
                    <a:pt x="3967480" y="5598160"/>
                  </a:cubicBezTo>
                  <a:lnTo>
                    <a:pt x="6177280" y="3553460"/>
                  </a:lnTo>
                  <a:cubicBezTo>
                    <a:pt x="6287770" y="3450590"/>
                    <a:pt x="6351270" y="3307080"/>
                    <a:pt x="6351270" y="3155950"/>
                  </a:cubicBezTo>
                  <a:lnTo>
                    <a:pt x="6351270" y="542290"/>
                  </a:lnTo>
                  <a:cubicBezTo>
                    <a:pt x="6350000" y="242570"/>
                    <a:pt x="6107430" y="0"/>
                    <a:pt x="5807710" y="0"/>
                  </a:cubicBezTo>
                  <a:lnTo>
                    <a:pt x="542290" y="0"/>
                  </a:lnTo>
                  <a:cubicBezTo>
                    <a:pt x="242570" y="0"/>
                    <a:pt x="0" y="242570"/>
                    <a:pt x="0" y="542290"/>
                  </a:cubicBezTo>
                  <a:close/>
                </a:path>
              </a:pathLst>
            </a:custGeom>
            <a:blipFill>
              <a:blip r:embed="rId6"/>
              <a:stretch>
                <a:fillRect l="-11192" r="-69611"/>
              </a:stretch>
            </a:blipFill>
          </p:spPr>
        </p:sp>
      </p:grpSp>
      <p:sp>
        <p:nvSpPr>
          <p:cNvPr id="10" name="Freeform 10"/>
          <p:cNvSpPr/>
          <p:nvPr/>
        </p:nvSpPr>
        <p:spPr>
          <a:xfrm>
            <a:off x="16719293" y="932561"/>
            <a:ext cx="270004" cy="434243"/>
          </a:xfrm>
          <a:custGeom>
            <a:avLst/>
            <a:gdLst/>
            <a:ahLst/>
            <a:cxnLst/>
            <a:rect l="l" t="t" r="r" b="b"/>
            <a:pathLst>
              <a:path w="270004" h="434243">
                <a:moveTo>
                  <a:pt x="0" y="0"/>
                </a:moveTo>
                <a:lnTo>
                  <a:pt x="270003" y="0"/>
                </a:lnTo>
                <a:lnTo>
                  <a:pt x="270003" y="434243"/>
                </a:lnTo>
                <a:lnTo>
                  <a:pt x="0" y="434243"/>
                </a:lnTo>
                <a:lnTo>
                  <a:pt x="0" y="0"/>
                </a:lnTo>
                <a:close/>
              </a:path>
            </a:pathLst>
          </a:custGeom>
          <a:blipFill>
            <a:blip>
              <a:extLst>
                <a:ext uri="{96DAC541-7B7A-43D3-8B79-37D633B846F1}">
                  <asvg:svgBlip xmlns:asvg="http://schemas.microsoft.com/office/drawing/2016/SVG/main" r:embed="rId7"/>
                </a:ext>
              </a:extLst>
            </a:blip>
            <a:stretch>
              <a:fillRect l="-327450"/>
            </a:stretch>
          </a:blipFill>
        </p:spPr>
      </p:sp>
      <p:sp>
        <p:nvSpPr>
          <p:cNvPr id="11" name="TextBox 11"/>
          <p:cNvSpPr txBox="1"/>
          <p:nvPr/>
        </p:nvSpPr>
        <p:spPr>
          <a:xfrm>
            <a:off x="8969477" y="3220551"/>
            <a:ext cx="7491083" cy="2761996"/>
          </a:xfrm>
          <a:prstGeom prst="rect">
            <a:avLst/>
          </a:prstGeom>
        </p:spPr>
        <p:txBody>
          <a:bodyPr lIns="0" tIns="0" rIns="0" bIns="0" rtlCol="0" anchor="t">
            <a:spAutoFit/>
          </a:bodyPr>
          <a:lstStyle/>
          <a:p>
            <a:pPr algn="r">
              <a:lnSpc>
                <a:spcPts val="7165"/>
              </a:lnSpc>
            </a:pPr>
            <a:r>
              <a:rPr lang="en-US" sz="7094">
                <a:solidFill>
                  <a:srgbClr val="FFFFFF"/>
                </a:solidFill>
                <a:latin typeface="League Spartan"/>
                <a:ea typeface="League Spartan"/>
                <a:cs typeface="League Spartan"/>
                <a:sym typeface="League Spartan"/>
              </a:rPr>
              <a:t>What is</a:t>
            </a:r>
          </a:p>
          <a:p>
            <a:pPr algn="r">
              <a:lnSpc>
                <a:spcPts val="7165"/>
              </a:lnSpc>
            </a:pPr>
            <a:r>
              <a:rPr lang="en-US" sz="7094">
                <a:solidFill>
                  <a:srgbClr val="FFFFFF"/>
                </a:solidFill>
                <a:latin typeface="League Spartan"/>
                <a:ea typeface="League Spartan"/>
                <a:cs typeface="League Spartan"/>
                <a:sym typeface="League Spartan"/>
              </a:rPr>
              <a:t>Artificial</a:t>
            </a:r>
          </a:p>
          <a:p>
            <a:pPr algn="r">
              <a:lnSpc>
                <a:spcPts val="7165"/>
              </a:lnSpc>
            </a:pPr>
            <a:r>
              <a:rPr lang="en-US" sz="7094">
                <a:solidFill>
                  <a:srgbClr val="FFFFFF"/>
                </a:solidFill>
                <a:latin typeface="League Spartan"/>
                <a:ea typeface="League Spartan"/>
                <a:cs typeface="League Spartan"/>
                <a:sym typeface="League Spartan"/>
              </a:rPr>
              <a:t>Intelligence?</a:t>
            </a:r>
          </a:p>
        </p:txBody>
      </p:sp>
      <p:sp>
        <p:nvSpPr>
          <p:cNvPr id="12" name="TextBox 12"/>
          <p:cNvSpPr txBox="1"/>
          <p:nvPr/>
        </p:nvSpPr>
        <p:spPr>
          <a:xfrm>
            <a:off x="10490707" y="6242564"/>
            <a:ext cx="5969854" cy="1675656"/>
          </a:xfrm>
          <a:prstGeom prst="rect">
            <a:avLst/>
          </a:prstGeom>
        </p:spPr>
        <p:txBody>
          <a:bodyPr lIns="0" tIns="0" rIns="0" bIns="0" rtlCol="0" anchor="t">
            <a:spAutoFit/>
          </a:bodyPr>
          <a:lstStyle/>
          <a:p>
            <a:pPr algn="r">
              <a:lnSpc>
                <a:spcPts val="2666"/>
              </a:lnSpc>
            </a:pPr>
            <a:r>
              <a:rPr lang="en-US" sz="1904" i="1" spc="-38">
                <a:solidFill>
                  <a:srgbClr val="FFFFFF"/>
                </a:solidFill>
                <a:latin typeface="Poppins Italics"/>
                <a:ea typeface="Poppins Italics"/>
                <a:cs typeface="Poppins Italics"/>
                <a:sym typeface="Poppins Italics"/>
              </a:rPr>
              <a:t>Lorem ipsum dolor sit amet, consectetur adipiscing elit. Duis vel pretium ipsum, quis imperdiet tortor. Maecenas dui lorem, condimentum in viverra et, vestibulum et nisi. Morbi maximus libero sit amet euismod bibendum.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5927373" y="-511126"/>
            <a:ext cx="10836329" cy="11826826"/>
          </a:xfrm>
          <a:custGeom>
            <a:avLst/>
            <a:gdLst/>
            <a:ahLst/>
            <a:cxnLst/>
            <a:rect l="l" t="t" r="r" b="b"/>
            <a:pathLst>
              <a:path w="10836329" h="11826826">
                <a:moveTo>
                  <a:pt x="0" y="0"/>
                </a:moveTo>
                <a:lnTo>
                  <a:pt x="10836329" y="0"/>
                </a:lnTo>
                <a:lnTo>
                  <a:pt x="10836329" y="11826826"/>
                </a:lnTo>
                <a:lnTo>
                  <a:pt x="0" y="11826826"/>
                </a:lnTo>
                <a:lnTo>
                  <a:pt x="0" y="0"/>
                </a:lnTo>
                <a:close/>
              </a:path>
            </a:pathLst>
          </a:custGeom>
          <a:blipFill>
            <a:blip r:embed="rId3">
              <a:alphaModFix amt="35000"/>
            </a:blip>
            <a:stretch>
              <a:fillRect/>
            </a:stretch>
          </a:blipFill>
        </p:spPr>
      </p:sp>
      <p:sp>
        <p:nvSpPr>
          <p:cNvPr id="4" name="Freeform 4"/>
          <p:cNvSpPr/>
          <p:nvPr/>
        </p:nvSpPr>
        <p:spPr>
          <a:xfrm>
            <a:off x="-1344536" y="1411702"/>
            <a:ext cx="4125113" cy="4114800"/>
          </a:xfrm>
          <a:custGeom>
            <a:avLst/>
            <a:gdLst/>
            <a:ahLst/>
            <a:cxnLst/>
            <a:rect l="l" t="t" r="r" b="b"/>
            <a:pathLst>
              <a:path w="4125113" h="4114800">
                <a:moveTo>
                  <a:pt x="0" y="0"/>
                </a:moveTo>
                <a:lnTo>
                  <a:pt x="4125113" y="0"/>
                </a:lnTo>
                <a:lnTo>
                  <a:pt x="4125113"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11841136" y="-769913"/>
            <a:ext cx="10836329" cy="11826826"/>
          </a:xfrm>
          <a:custGeom>
            <a:avLst/>
            <a:gdLst/>
            <a:ahLst/>
            <a:cxnLst/>
            <a:rect l="l" t="t" r="r" b="b"/>
            <a:pathLst>
              <a:path w="10836329" h="11826826">
                <a:moveTo>
                  <a:pt x="10836328" y="0"/>
                </a:moveTo>
                <a:lnTo>
                  <a:pt x="0" y="0"/>
                </a:lnTo>
                <a:lnTo>
                  <a:pt x="0" y="11826826"/>
                </a:lnTo>
                <a:lnTo>
                  <a:pt x="10836328" y="11826826"/>
                </a:lnTo>
                <a:lnTo>
                  <a:pt x="10836328" y="0"/>
                </a:lnTo>
                <a:close/>
              </a:path>
            </a:pathLst>
          </a:custGeom>
          <a:blipFill>
            <a:blip r:embed="rId3">
              <a:alphaModFix amt="35000"/>
            </a:blip>
            <a:stretch>
              <a:fillRect/>
            </a:stretch>
          </a:blipFill>
        </p:spPr>
      </p:sp>
      <p:sp>
        <p:nvSpPr>
          <p:cNvPr id="6" name="Freeform 6"/>
          <p:cNvSpPr/>
          <p:nvPr/>
        </p:nvSpPr>
        <p:spPr>
          <a:xfrm>
            <a:off x="16155946" y="7515923"/>
            <a:ext cx="2206708" cy="2201192"/>
          </a:xfrm>
          <a:custGeom>
            <a:avLst/>
            <a:gdLst/>
            <a:ahLst/>
            <a:cxnLst/>
            <a:rect l="l" t="t" r="r" b="b"/>
            <a:pathLst>
              <a:path w="2206708" h="2201192">
                <a:moveTo>
                  <a:pt x="0" y="0"/>
                </a:moveTo>
                <a:lnTo>
                  <a:pt x="2206708" y="0"/>
                </a:lnTo>
                <a:lnTo>
                  <a:pt x="2206708" y="2201191"/>
                </a:lnTo>
                <a:lnTo>
                  <a:pt x="0" y="22011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1698404" y="7959652"/>
            <a:ext cx="558337" cy="656867"/>
          </a:xfrm>
          <a:custGeom>
            <a:avLst/>
            <a:gdLst/>
            <a:ahLst/>
            <a:cxnLst/>
            <a:rect l="l" t="t" r="r" b="b"/>
            <a:pathLst>
              <a:path w="558337" h="656867">
                <a:moveTo>
                  <a:pt x="0" y="0"/>
                </a:moveTo>
                <a:lnTo>
                  <a:pt x="558337" y="0"/>
                </a:lnTo>
                <a:lnTo>
                  <a:pt x="558337" y="656867"/>
                </a:lnTo>
                <a:lnTo>
                  <a:pt x="0" y="65686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14102973" y="1366804"/>
            <a:ext cx="279168" cy="328433"/>
          </a:xfrm>
          <a:custGeom>
            <a:avLst/>
            <a:gdLst/>
            <a:ahLst/>
            <a:cxnLst/>
            <a:rect l="l" t="t" r="r" b="b"/>
            <a:pathLst>
              <a:path w="279168" h="328433">
                <a:moveTo>
                  <a:pt x="0" y="0"/>
                </a:moveTo>
                <a:lnTo>
                  <a:pt x="279169" y="0"/>
                </a:lnTo>
                <a:lnTo>
                  <a:pt x="279169" y="328433"/>
                </a:lnTo>
                <a:lnTo>
                  <a:pt x="0" y="32843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a:off x="16719293" y="932561"/>
            <a:ext cx="270004" cy="434243"/>
          </a:xfrm>
          <a:custGeom>
            <a:avLst/>
            <a:gdLst/>
            <a:ahLst/>
            <a:cxnLst/>
            <a:rect l="l" t="t" r="r" b="b"/>
            <a:pathLst>
              <a:path w="270004" h="434243">
                <a:moveTo>
                  <a:pt x="0" y="0"/>
                </a:moveTo>
                <a:lnTo>
                  <a:pt x="270003" y="0"/>
                </a:lnTo>
                <a:lnTo>
                  <a:pt x="270003" y="434243"/>
                </a:lnTo>
                <a:lnTo>
                  <a:pt x="0" y="434243"/>
                </a:lnTo>
                <a:lnTo>
                  <a:pt x="0" y="0"/>
                </a:lnTo>
                <a:close/>
              </a:path>
            </a:pathLst>
          </a:custGeom>
          <a:blipFill>
            <a:blip>
              <a:extLst>
                <a:ext uri="{96DAC541-7B7A-43D3-8B79-37D633B846F1}">
                  <asvg:svgBlip xmlns:asvg="http://schemas.microsoft.com/office/drawing/2016/SVG/main" r:embed="rId6"/>
                </a:ext>
              </a:extLst>
            </a:blip>
            <a:stretch>
              <a:fillRect l="-327450"/>
            </a:stretch>
          </a:blipFill>
        </p:spPr>
      </p:sp>
      <p:sp>
        <p:nvSpPr>
          <p:cNvPr id="10" name="TextBox 10"/>
          <p:cNvSpPr txBox="1"/>
          <p:nvPr/>
        </p:nvSpPr>
        <p:spPr>
          <a:xfrm>
            <a:off x="6096100" y="1846677"/>
            <a:ext cx="6095799" cy="2138518"/>
          </a:xfrm>
          <a:prstGeom prst="rect">
            <a:avLst/>
          </a:prstGeom>
        </p:spPr>
        <p:txBody>
          <a:bodyPr lIns="0" tIns="0" rIns="0" bIns="0" rtlCol="0" anchor="t">
            <a:spAutoFit/>
          </a:bodyPr>
          <a:lstStyle/>
          <a:p>
            <a:pPr algn="ctr">
              <a:lnSpc>
                <a:spcPts val="8252"/>
              </a:lnSpc>
            </a:pPr>
            <a:r>
              <a:rPr lang="en-US" sz="8170">
                <a:solidFill>
                  <a:srgbClr val="FFFFFF"/>
                </a:solidFill>
                <a:latin typeface="League Spartan"/>
                <a:ea typeface="League Spartan"/>
                <a:cs typeface="League Spartan"/>
                <a:sym typeface="League Spartan"/>
              </a:rPr>
              <a:t>How Does</a:t>
            </a:r>
          </a:p>
          <a:p>
            <a:pPr algn="ctr">
              <a:lnSpc>
                <a:spcPts val="8252"/>
              </a:lnSpc>
            </a:pPr>
            <a:r>
              <a:rPr lang="en-US" sz="8170">
                <a:solidFill>
                  <a:srgbClr val="FFFFFF"/>
                </a:solidFill>
                <a:latin typeface="League Spartan"/>
                <a:ea typeface="League Spartan"/>
                <a:cs typeface="League Spartan"/>
                <a:sym typeface="League Spartan"/>
              </a:rPr>
              <a:t>AI Work?</a:t>
            </a:r>
          </a:p>
        </p:txBody>
      </p:sp>
      <p:grpSp>
        <p:nvGrpSpPr>
          <p:cNvPr id="11" name="Group 11"/>
          <p:cNvGrpSpPr/>
          <p:nvPr/>
        </p:nvGrpSpPr>
        <p:grpSpPr>
          <a:xfrm>
            <a:off x="4942752" y="4566220"/>
            <a:ext cx="8402496" cy="2733577"/>
            <a:chOff x="0" y="0"/>
            <a:chExt cx="2213003" cy="719954"/>
          </a:xfrm>
        </p:grpSpPr>
        <p:sp>
          <p:nvSpPr>
            <p:cNvPr id="12" name="Freeform 12"/>
            <p:cNvSpPr/>
            <p:nvPr/>
          </p:nvSpPr>
          <p:spPr>
            <a:xfrm>
              <a:off x="0" y="0"/>
              <a:ext cx="2213003" cy="719954"/>
            </a:xfrm>
            <a:custGeom>
              <a:avLst/>
              <a:gdLst/>
              <a:ahLst/>
              <a:cxnLst/>
              <a:rect l="l" t="t" r="r" b="b"/>
              <a:pathLst>
                <a:path w="2213003" h="719954">
                  <a:moveTo>
                    <a:pt x="46991" y="0"/>
                  </a:moveTo>
                  <a:lnTo>
                    <a:pt x="2166013" y="0"/>
                  </a:lnTo>
                  <a:cubicBezTo>
                    <a:pt x="2191965" y="0"/>
                    <a:pt x="2213003" y="21038"/>
                    <a:pt x="2213003" y="46991"/>
                  </a:cubicBezTo>
                  <a:lnTo>
                    <a:pt x="2213003" y="672964"/>
                  </a:lnTo>
                  <a:cubicBezTo>
                    <a:pt x="2213003" y="698916"/>
                    <a:pt x="2191965" y="719954"/>
                    <a:pt x="2166013" y="719954"/>
                  </a:cubicBezTo>
                  <a:lnTo>
                    <a:pt x="46991" y="719954"/>
                  </a:lnTo>
                  <a:cubicBezTo>
                    <a:pt x="21038" y="719954"/>
                    <a:pt x="0" y="698916"/>
                    <a:pt x="0" y="672964"/>
                  </a:cubicBezTo>
                  <a:lnTo>
                    <a:pt x="0" y="46991"/>
                  </a:lnTo>
                  <a:cubicBezTo>
                    <a:pt x="0" y="21038"/>
                    <a:pt x="21038" y="0"/>
                    <a:pt x="46991" y="0"/>
                  </a:cubicBezTo>
                  <a:close/>
                </a:path>
              </a:pathLst>
            </a:custGeom>
            <a:solidFill>
              <a:srgbClr val="6977D4"/>
            </a:solidFill>
          </p:spPr>
        </p:sp>
        <p:sp>
          <p:nvSpPr>
            <p:cNvPr id="13" name="TextBox 13"/>
            <p:cNvSpPr txBox="1"/>
            <p:nvPr/>
          </p:nvSpPr>
          <p:spPr>
            <a:xfrm>
              <a:off x="0" y="-57150"/>
              <a:ext cx="2213003" cy="777104"/>
            </a:xfrm>
            <a:prstGeom prst="rect">
              <a:avLst/>
            </a:prstGeom>
          </p:spPr>
          <p:txBody>
            <a:bodyPr lIns="50800" tIns="50800" rIns="50800" bIns="50800" rtlCol="0" anchor="ctr"/>
            <a:lstStyle/>
            <a:p>
              <a:pPr algn="ctr">
                <a:lnSpc>
                  <a:spcPts val="2666"/>
                </a:lnSpc>
              </a:pPr>
              <a:endParaRPr/>
            </a:p>
          </p:txBody>
        </p:sp>
      </p:grpSp>
      <p:grpSp>
        <p:nvGrpSpPr>
          <p:cNvPr id="14" name="Group 14"/>
          <p:cNvGrpSpPr/>
          <p:nvPr/>
        </p:nvGrpSpPr>
        <p:grpSpPr>
          <a:xfrm>
            <a:off x="5184507" y="4711340"/>
            <a:ext cx="3094012" cy="529784"/>
            <a:chOff x="0" y="0"/>
            <a:chExt cx="814884" cy="139532"/>
          </a:xfrm>
        </p:grpSpPr>
        <p:sp>
          <p:nvSpPr>
            <p:cNvPr id="15" name="Freeform 15"/>
            <p:cNvSpPr/>
            <p:nvPr/>
          </p:nvSpPr>
          <p:spPr>
            <a:xfrm>
              <a:off x="0" y="0"/>
              <a:ext cx="814884" cy="139532"/>
            </a:xfrm>
            <a:custGeom>
              <a:avLst/>
              <a:gdLst/>
              <a:ahLst/>
              <a:cxnLst/>
              <a:rect l="l" t="t" r="r" b="b"/>
              <a:pathLst>
                <a:path w="814884" h="139532">
                  <a:moveTo>
                    <a:pt x="69766" y="0"/>
                  </a:moveTo>
                  <a:lnTo>
                    <a:pt x="745118" y="0"/>
                  </a:lnTo>
                  <a:cubicBezTo>
                    <a:pt x="763621" y="0"/>
                    <a:pt x="781366" y="7350"/>
                    <a:pt x="794450" y="20434"/>
                  </a:cubicBezTo>
                  <a:cubicBezTo>
                    <a:pt x="807533" y="33518"/>
                    <a:pt x="814884" y="51263"/>
                    <a:pt x="814884" y="69766"/>
                  </a:cubicBezTo>
                  <a:lnTo>
                    <a:pt x="814884" y="69766"/>
                  </a:lnTo>
                  <a:cubicBezTo>
                    <a:pt x="814884" y="88269"/>
                    <a:pt x="807533" y="106014"/>
                    <a:pt x="794450" y="119098"/>
                  </a:cubicBezTo>
                  <a:cubicBezTo>
                    <a:pt x="781366" y="132181"/>
                    <a:pt x="763621" y="139532"/>
                    <a:pt x="745118" y="139532"/>
                  </a:cubicBezTo>
                  <a:lnTo>
                    <a:pt x="69766" y="139532"/>
                  </a:lnTo>
                  <a:cubicBezTo>
                    <a:pt x="51263" y="139532"/>
                    <a:pt x="33518" y="132181"/>
                    <a:pt x="20434" y="119098"/>
                  </a:cubicBezTo>
                  <a:cubicBezTo>
                    <a:pt x="7350" y="106014"/>
                    <a:pt x="0" y="88269"/>
                    <a:pt x="0" y="69766"/>
                  </a:cubicBezTo>
                  <a:lnTo>
                    <a:pt x="0" y="69766"/>
                  </a:lnTo>
                  <a:cubicBezTo>
                    <a:pt x="0" y="51263"/>
                    <a:pt x="7350" y="33518"/>
                    <a:pt x="20434" y="20434"/>
                  </a:cubicBezTo>
                  <a:cubicBezTo>
                    <a:pt x="33518" y="7350"/>
                    <a:pt x="51263" y="0"/>
                    <a:pt x="69766" y="0"/>
                  </a:cubicBezTo>
                  <a:close/>
                </a:path>
              </a:pathLst>
            </a:custGeom>
            <a:solidFill>
              <a:srgbClr val="DA305D"/>
            </a:solidFill>
          </p:spPr>
        </p:sp>
        <p:sp>
          <p:nvSpPr>
            <p:cNvPr id="16" name="TextBox 16"/>
            <p:cNvSpPr txBox="1"/>
            <p:nvPr/>
          </p:nvSpPr>
          <p:spPr>
            <a:xfrm>
              <a:off x="0" y="-57150"/>
              <a:ext cx="814884" cy="196682"/>
            </a:xfrm>
            <a:prstGeom prst="rect">
              <a:avLst/>
            </a:prstGeom>
          </p:spPr>
          <p:txBody>
            <a:bodyPr lIns="50800" tIns="50800" rIns="50800" bIns="50800" rtlCol="0" anchor="ctr"/>
            <a:lstStyle/>
            <a:p>
              <a:pPr algn="ctr">
                <a:lnSpc>
                  <a:spcPts val="2666"/>
                </a:lnSpc>
              </a:pPr>
              <a:endParaRPr/>
            </a:p>
          </p:txBody>
        </p:sp>
      </p:grpSp>
      <p:grpSp>
        <p:nvGrpSpPr>
          <p:cNvPr id="17" name="Group 17"/>
          <p:cNvGrpSpPr/>
          <p:nvPr/>
        </p:nvGrpSpPr>
        <p:grpSpPr>
          <a:xfrm>
            <a:off x="8554735" y="4711340"/>
            <a:ext cx="4476988" cy="529784"/>
            <a:chOff x="0" y="0"/>
            <a:chExt cx="1179124" cy="139532"/>
          </a:xfrm>
        </p:grpSpPr>
        <p:sp>
          <p:nvSpPr>
            <p:cNvPr id="18" name="Freeform 18"/>
            <p:cNvSpPr/>
            <p:nvPr/>
          </p:nvSpPr>
          <p:spPr>
            <a:xfrm>
              <a:off x="0" y="0"/>
              <a:ext cx="1179124" cy="139532"/>
            </a:xfrm>
            <a:custGeom>
              <a:avLst/>
              <a:gdLst/>
              <a:ahLst/>
              <a:cxnLst/>
              <a:rect l="l" t="t" r="r" b="b"/>
              <a:pathLst>
                <a:path w="1179124" h="139532">
                  <a:moveTo>
                    <a:pt x="69766" y="0"/>
                  </a:moveTo>
                  <a:lnTo>
                    <a:pt x="1109359" y="0"/>
                  </a:lnTo>
                  <a:cubicBezTo>
                    <a:pt x="1147889" y="0"/>
                    <a:pt x="1179124" y="31235"/>
                    <a:pt x="1179124" y="69766"/>
                  </a:cubicBezTo>
                  <a:lnTo>
                    <a:pt x="1179124" y="69766"/>
                  </a:lnTo>
                  <a:cubicBezTo>
                    <a:pt x="1179124" y="88269"/>
                    <a:pt x="1171774" y="106014"/>
                    <a:pt x="1158691" y="119098"/>
                  </a:cubicBezTo>
                  <a:cubicBezTo>
                    <a:pt x="1145607" y="132181"/>
                    <a:pt x="1127862" y="139532"/>
                    <a:pt x="1109359" y="139532"/>
                  </a:cubicBezTo>
                  <a:lnTo>
                    <a:pt x="69766" y="139532"/>
                  </a:lnTo>
                  <a:cubicBezTo>
                    <a:pt x="51263" y="139532"/>
                    <a:pt x="33518" y="132181"/>
                    <a:pt x="20434" y="119098"/>
                  </a:cubicBezTo>
                  <a:cubicBezTo>
                    <a:pt x="7350" y="106014"/>
                    <a:pt x="0" y="88269"/>
                    <a:pt x="0" y="69766"/>
                  </a:cubicBezTo>
                  <a:lnTo>
                    <a:pt x="0" y="69766"/>
                  </a:lnTo>
                  <a:cubicBezTo>
                    <a:pt x="0" y="51263"/>
                    <a:pt x="7350" y="33518"/>
                    <a:pt x="20434" y="20434"/>
                  </a:cubicBezTo>
                  <a:cubicBezTo>
                    <a:pt x="33518" y="7350"/>
                    <a:pt x="51263" y="0"/>
                    <a:pt x="69766" y="0"/>
                  </a:cubicBezTo>
                  <a:close/>
                </a:path>
              </a:pathLst>
            </a:custGeom>
            <a:solidFill>
              <a:srgbClr val="DA305D"/>
            </a:solidFill>
          </p:spPr>
        </p:sp>
        <p:sp>
          <p:nvSpPr>
            <p:cNvPr id="19" name="TextBox 19"/>
            <p:cNvSpPr txBox="1"/>
            <p:nvPr/>
          </p:nvSpPr>
          <p:spPr>
            <a:xfrm>
              <a:off x="0" y="-57150"/>
              <a:ext cx="1179124" cy="196682"/>
            </a:xfrm>
            <a:prstGeom prst="rect">
              <a:avLst/>
            </a:prstGeom>
          </p:spPr>
          <p:txBody>
            <a:bodyPr lIns="50800" tIns="50800" rIns="50800" bIns="50800" rtlCol="0" anchor="ctr"/>
            <a:lstStyle/>
            <a:p>
              <a:pPr algn="ctr">
                <a:lnSpc>
                  <a:spcPts val="2666"/>
                </a:lnSpc>
              </a:pPr>
              <a:endParaRPr/>
            </a:p>
          </p:txBody>
        </p:sp>
      </p:grpSp>
      <p:sp>
        <p:nvSpPr>
          <p:cNvPr id="20" name="TextBox 20"/>
          <p:cNvSpPr txBox="1"/>
          <p:nvPr/>
        </p:nvSpPr>
        <p:spPr>
          <a:xfrm>
            <a:off x="5411151" y="5326849"/>
            <a:ext cx="244168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Data</a:t>
            </a:r>
          </a:p>
        </p:txBody>
      </p:sp>
      <p:sp>
        <p:nvSpPr>
          <p:cNvPr id="21" name="TextBox 21"/>
          <p:cNvSpPr txBox="1"/>
          <p:nvPr/>
        </p:nvSpPr>
        <p:spPr>
          <a:xfrm>
            <a:off x="9120304" y="5326849"/>
            <a:ext cx="422494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Information used for learning</a:t>
            </a:r>
          </a:p>
        </p:txBody>
      </p:sp>
      <p:sp>
        <p:nvSpPr>
          <p:cNvPr id="22" name="TextBox 22"/>
          <p:cNvSpPr txBox="1"/>
          <p:nvPr/>
        </p:nvSpPr>
        <p:spPr>
          <a:xfrm>
            <a:off x="5411151" y="5767871"/>
            <a:ext cx="244168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Algorithm</a:t>
            </a:r>
          </a:p>
        </p:txBody>
      </p:sp>
      <p:sp>
        <p:nvSpPr>
          <p:cNvPr id="23" name="TextBox 23"/>
          <p:cNvSpPr txBox="1"/>
          <p:nvPr/>
        </p:nvSpPr>
        <p:spPr>
          <a:xfrm>
            <a:off x="9120304" y="5767871"/>
            <a:ext cx="422494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Set of rules the AI follows</a:t>
            </a:r>
          </a:p>
        </p:txBody>
      </p:sp>
      <p:sp>
        <p:nvSpPr>
          <p:cNvPr id="24" name="TextBox 24"/>
          <p:cNvSpPr txBox="1"/>
          <p:nvPr/>
        </p:nvSpPr>
        <p:spPr>
          <a:xfrm>
            <a:off x="5411151" y="6205276"/>
            <a:ext cx="244168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Training</a:t>
            </a:r>
          </a:p>
        </p:txBody>
      </p:sp>
      <p:sp>
        <p:nvSpPr>
          <p:cNvPr id="25" name="TextBox 25"/>
          <p:cNvSpPr txBox="1"/>
          <p:nvPr/>
        </p:nvSpPr>
        <p:spPr>
          <a:xfrm>
            <a:off x="9120304" y="6205276"/>
            <a:ext cx="422494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Learning from past examples</a:t>
            </a:r>
          </a:p>
        </p:txBody>
      </p:sp>
      <p:sp>
        <p:nvSpPr>
          <p:cNvPr id="26" name="TextBox 26"/>
          <p:cNvSpPr txBox="1"/>
          <p:nvPr/>
        </p:nvSpPr>
        <p:spPr>
          <a:xfrm>
            <a:off x="5411151" y="4751814"/>
            <a:ext cx="2581126" cy="391686"/>
          </a:xfrm>
          <a:prstGeom prst="rect">
            <a:avLst/>
          </a:prstGeom>
        </p:spPr>
        <p:txBody>
          <a:bodyPr lIns="0" tIns="0" rIns="0" bIns="0" rtlCol="0" anchor="t">
            <a:spAutoFit/>
          </a:bodyPr>
          <a:lstStyle/>
          <a:p>
            <a:pPr algn="l">
              <a:lnSpc>
                <a:spcPts val="3086"/>
              </a:lnSpc>
            </a:pPr>
            <a:r>
              <a:rPr lang="en-US" sz="2204" b="1" i="1" spc="-44">
                <a:solidFill>
                  <a:srgbClr val="FFFFFF"/>
                </a:solidFill>
                <a:latin typeface="Poppins Bold Italics"/>
                <a:ea typeface="Poppins Bold Italics"/>
                <a:cs typeface="Poppins Bold Italics"/>
                <a:sym typeface="Poppins Bold Italics"/>
              </a:rPr>
              <a:t>AI Component</a:t>
            </a:r>
          </a:p>
        </p:txBody>
      </p:sp>
      <p:sp>
        <p:nvSpPr>
          <p:cNvPr id="27" name="TextBox 27"/>
          <p:cNvSpPr txBox="1"/>
          <p:nvPr/>
        </p:nvSpPr>
        <p:spPr>
          <a:xfrm>
            <a:off x="9120304" y="4751814"/>
            <a:ext cx="2825181" cy="391686"/>
          </a:xfrm>
          <a:prstGeom prst="rect">
            <a:avLst/>
          </a:prstGeom>
        </p:spPr>
        <p:txBody>
          <a:bodyPr lIns="0" tIns="0" rIns="0" bIns="0" rtlCol="0" anchor="t">
            <a:spAutoFit/>
          </a:bodyPr>
          <a:lstStyle/>
          <a:p>
            <a:pPr algn="l">
              <a:lnSpc>
                <a:spcPts val="3086"/>
              </a:lnSpc>
            </a:pPr>
            <a:r>
              <a:rPr lang="en-US" sz="2204" b="1" i="1" spc="-44">
                <a:solidFill>
                  <a:srgbClr val="FFFFFF"/>
                </a:solidFill>
                <a:latin typeface="Poppins Bold Italics"/>
                <a:ea typeface="Poppins Bold Italics"/>
                <a:cs typeface="Poppins Bold Italics"/>
                <a:sym typeface="Poppins Bold Italics"/>
              </a:rPr>
              <a:t>What It Does</a:t>
            </a:r>
          </a:p>
        </p:txBody>
      </p:sp>
      <p:sp>
        <p:nvSpPr>
          <p:cNvPr id="28" name="TextBox 28"/>
          <p:cNvSpPr txBox="1"/>
          <p:nvPr/>
        </p:nvSpPr>
        <p:spPr>
          <a:xfrm>
            <a:off x="5411151" y="6642682"/>
            <a:ext cx="244168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Output</a:t>
            </a:r>
          </a:p>
        </p:txBody>
      </p:sp>
      <p:sp>
        <p:nvSpPr>
          <p:cNvPr id="29" name="TextBox 29"/>
          <p:cNvSpPr txBox="1"/>
          <p:nvPr/>
        </p:nvSpPr>
        <p:spPr>
          <a:xfrm>
            <a:off x="9120304" y="6642682"/>
            <a:ext cx="422494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Result or decision made by AI</a:t>
            </a:r>
          </a:p>
        </p:txBody>
      </p:sp>
      <p:sp>
        <p:nvSpPr>
          <p:cNvPr id="30" name="AutoShape 30"/>
          <p:cNvSpPr/>
          <p:nvPr/>
        </p:nvSpPr>
        <p:spPr>
          <a:xfrm>
            <a:off x="8399718" y="5219700"/>
            <a:ext cx="0" cy="1698835"/>
          </a:xfrm>
          <a:prstGeom prst="line">
            <a:avLst/>
          </a:prstGeom>
          <a:ln w="38100" cap="flat">
            <a:solidFill>
              <a:srgbClr val="FFFFFF"/>
            </a:solidFill>
            <a:prstDash val="solid"/>
            <a:headEnd type="none" w="sm" len="sm"/>
            <a:tailEnd type="none" w="sm" len="sm"/>
          </a:ln>
        </p:spPr>
      </p:sp>
      <p:sp>
        <p:nvSpPr>
          <p:cNvPr id="31" name="TextBox 31"/>
          <p:cNvSpPr txBox="1"/>
          <p:nvPr/>
        </p:nvSpPr>
        <p:spPr>
          <a:xfrm>
            <a:off x="5238681" y="7690322"/>
            <a:ext cx="7810638" cy="1342281"/>
          </a:xfrm>
          <a:prstGeom prst="rect">
            <a:avLst/>
          </a:prstGeom>
        </p:spPr>
        <p:txBody>
          <a:bodyPr lIns="0" tIns="0" rIns="0" bIns="0" rtlCol="0" anchor="t">
            <a:spAutoFit/>
          </a:bodyPr>
          <a:lstStyle/>
          <a:p>
            <a:pPr algn="ctr">
              <a:lnSpc>
                <a:spcPts val="2666"/>
              </a:lnSpc>
            </a:pPr>
            <a:r>
              <a:rPr lang="en-US" sz="1904" i="1" spc="-38">
                <a:solidFill>
                  <a:srgbClr val="FFFFFF"/>
                </a:solidFill>
                <a:latin typeface="Poppins Italics"/>
                <a:ea typeface="Poppins Italics"/>
                <a:cs typeface="Poppins Italics"/>
                <a:sym typeface="Poppins Italics"/>
              </a:rPr>
              <a:t>Lorem ipsum dolor sit amet, consectetur adipiscing elit. Duis vel pretium ipsum, quis imperdiet tortor. Maecenas dui lorem, condimentum in viverra et, vestibulum et nisi. Morbi maximus libero sit amet euismod bibendum.</a:t>
            </a:r>
          </a:p>
        </p:txBody>
      </p:sp>
      <p:sp>
        <p:nvSpPr>
          <p:cNvPr id="32" name="Freeform 32"/>
          <p:cNvSpPr/>
          <p:nvPr/>
        </p:nvSpPr>
        <p:spPr>
          <a:xfrm>
            <a:off x="-713331" y="6942113"/>
            <a:ext cx="4109657" cy="4114800"/>
          </a:xfrm>
          <a:custGeom>
            <a:avLst/>
            <a:gdLst/>
            <a:ahLst/>
            <a:cxnLst/>
            <a:rect l="l" t="t" r="r" b="b"/>
            <a:pathLst>
              <a:path w="4109657" h="4114800">
                <a:moveTo>
                  <a:pt x="0" y="0"/>
                </a:moveTo>
                <a:lnTo>
                  <a:pt x="4109656" y="0"/>
                </a:lnTo>
                <a:lnTo>
                  <a:pt x="4109656" y="4114800"/>
                </a:lnTo>
                <a:lnTo>
                  <a:pt x="0" y="4114800"/>
                </a:lnTo>
                <a:lnTo>
                  <a:pt x="0" y="0"/>
                </a:lnTo>
                <a:close/>
              </a:path>
            </a:pathLst>
          </a:custGeom>
          <a:blipFill>
            <a:blip>
              <a:alphaModFix amt="27000"/>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5927373" y="-511126"/>
            <a:ext cx="10836329" cy="11826826"/>
          </a:xfrm>
          <a:custGeom>
            <a:avLst/>
            <a:gdLst/>
            <a:ahLst/>
            <a:cxnLst/>
            <a:rect l="l" t="t" r="r" b="b"/>
            <a:pathLst>
              <a:path w="10836329" h="11826826">
                <a:moveTo>
                  <a:pt x="0" y="0"/>
                </a:moveTo>
                <a:lnTo>
                  <a:pt x="10836329" y="0"/>
                </a:lnTo>
                <a:lnTo>
                  <a:pt x="10836329" y="11826826"/>
                </a:lnTo>
                <a:lnTo>
                  <a:pt x="0" y="11826826"/>
                </a:lnTo>
                <a:lnTo>
                  <a:pt x="0" y="0"/>
                </a:lnTo>
                <a:close/>
              </a:path>
            </a:pathLst>
          </a:custGeom>
          <a:blipFill>
            <a:blip r:embed="rId3">
              <a:alphaModFix amt="35000"/>
            </a:blip>
            <a:stretch>
              <a:fillRect/>
            </a:stretch>
          </a:blipFill>
        </p:spPr>
      </p:sp>
      <p:sp>
        <p:nvSpPr>
          <p:cNvPr id="4" name="Freeform 4"/>
          <p:cNvSpPr/>
          <p:nvPr/>
        </p:nvSpPr>
        <p:spPr>
          <a:xfrm>
            <a:off x="-1707133" y="-690596"/>
            <a:ext cx="4125113" cy="4114800"/>
          </a:xfrm>
          <a:custGeom>
            <a:avLst/>
            <a:gdLst/>
            <a:ahLst/>
            <a:cxnLst/>
            <a:rect l="l" t="t" r="r" b="b"/>
            <a:pathLst>
              <a:path w="4125113" h="4114800">
                <a:moveTo>
                  <a:pt x="0" y="0"/>
                </a:moveTo>
                <a:lnTo>
                  <a:pt x="4125113" y="0"/>
                </a:lnTo>
                <a:lnTo>
                  <a:pt x="4125113"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11841136" y="-769913"/>
            <a:ext cx="10836329" cy="11826826"/>
          </a:xfrm>
          <a:custGeom>
            <a:avLst/>
            <a:gdLst/>
            <a:ahLst/>
            <a:cxnLst/>
            <a:rect l="l" t="t" r="r" b="b"/>
            <a:pathLst>
              <a:path w="10836329" h="11826826">
                <a:moveTo>
                  <a:pt x="10836328" y="0"/>
                </a:moveTo>
                <a:lnTo>
                  <a:pt x="0" y="0"/>
                </a:lnTo>
                <a:lnTo>
                  <a:pt x="0" y="11826826"/>
                </a:lnTo>
                <a:lnTo>
                  <a:pt x="10836328" y="11826826"/>
                </a:lnTo>
                <a:lnTo>
                  <a:pt x="10836328" y="0"/>
                </a:lnTo>
                <a:close/>
              </a:path>
            </a:pathLst>
          </a:custGeom>
          <a:blipFill>
            <a:blip r:embed="rId3">
              <a:alphaModFix amt="35000"/>
            </a:blip>
            <a:stretch>
              <a:fillRect/>
            </a:stretch>
          </a:blipFill>
        </p:spPr>
      </p:sp>
      <p:sp>
        <p:nvSpPr>
          <p:cNvPr id="6" name="Freeform 6"/>
          <p:cNvSpPr/>
          <p:nvPr/>
        </p:nvSpPr>
        <p:spPr>
          <a:xfrm>
            <a:off x="14618812" y="8984194"/>
            <a:ext cx="2206708" cy="2201192"/>
          </a:xfrm>
          <a:custGeom>
            <a:avLst/>
            <a:gdLst/>
            <a:ahLst/>
            <a:cxnLst/>
            <a:rect l="l" t="t" r="r" b="b"/>
            <a:pathLst>
              <a:path w="2206708" h="2201192">
                <a:moveTo>
                  <a:pt x="0" y="0"/>
                </a:moveTo>
                <a:lnTo>
                  <a:pt x="2206708" y="0"/>
                </a:lnTo>
                <a:lnTo>
                  <a:pt x="2206708" y="2201192"/>
                </a:lnTo>
                <a:lnTo>
                  <a:pt x="0" y="220119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1257383" y="8410187"/>
            <a:ext cx="558337" cy="656867"/>
          </a:xfrm>
          <a:custGeom>
            <a:avLst/>
            <a:gdLst/>
            <a:ahLst/>
            <a:cxnLst/>
            <a:rect l="l" t="t" r="r" b="b"/>
            <a:pathLst>
              <a:path w="558337" h="656867">
                <a:moveTo>
                  <a:pt x="0" y="0"/>
                </a:moveTo>
                <a:lnTo>
                  <a:pt x="558337" y="0"/>
                </a:lnTo>
                <a:lnTo>
                  <a:pt x="558337" y="656867"/>
                </a:lnTo>
                <a:lnTo>
                  <a:pt x="0" y="65686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8139599" y="1960907"/>
            <a:ext cx="279168" cy="328433"/>
          </a:xfrm>
          <a:custGeom>
            <a:avLst/>
            <a:gdLst/>
            <a:ahLst/>
            <a:cxnLst/>
            <a:rect l="l" t="t" r="r" b="b"/>
            <a:pathLst>
              <a:path w="279168" h="328433">
                <a:moveTo>
                  <a:pt x="0" y="0"/>
                </a:moveTo>
                <a:lnTo>
                  <a:pt x="279169" y="0"/>
                </a:lnTo>
                <a:lnTo>
                  <a:pt x="279169" y="328433"/>
                </a:lnTo>
                <a:lnTo>
                  <a:pt x="0" y="328433"/>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0002424" y="1758264"/>
            <a:ext cx="6706462" cy="6062641"/>
            <a:chOff x="0" y="0"/>
            <a:chExt cx="6350000" cy="5740400"/>
          </a:xfrm>
        </p:grpSpPr>
        <p:sp>
          <p:nvSpPr>
            <p:cNvPr id="10" name="Freeform 10"/>
            <p:cNvSpPr/>
            <p:nvPr/>
          </p:nvSpPr>
          <p:spPr>
            <a:xfrm>
              <a:off x="0" y="0"/>
              <a:ext cx="6351270" cy="5741670"/>
            </a:xfrm>
            <a:custGeom>
              <a:avLst/>
              <a:gdLst/>
              <a:ahLst/>
              <a:cxnLst/>
              <a:rect l="l" t="t" r="r" b="b"/>
              <a:pathLst>
                <a:path w="6351270" h="5741670">
                  <a:moveTo>
                    <a:pt x="0" y="542290"/>
                  </a:moveTo>
                  <a:lnTo>
                    <a:pt x="0" y="2392680"/>
                  </a:lnTo>
                  <a:cubicBezTo>
                    <a:pt x="0" y="2691130"/>
                    <a:pt x="242570" y="2933700"/>
                    <a:pt x="542290" y="2933700"/>
                  </a:cubicBezTo>
                  <a:lnTo>
                    <a:pt x="1148080" y="2933700"/>
                  </a:lnTo>
                  <a:cubicBezTo>
                    <a:pt x="1447800" y="2933700"/>
                    <a:pt x="1690370" y="3176270"/>
                    <a:pt x="1690370" y="3475990"/>
                  </a:cubicBezTo>
                  <a:lnTo>
                    <a:pt x="1690370" y="5199380"/>
                  </a:lnTo>
                  <a:cubicBezTo>
                    <a:pt x="1690370" y="5499100"/>
                    <a:pt x="1932940" y="5741670"/>
                    <a:pt x="2232660" y="5741670"/>
                  </a:cubicBezTo>
                  <a:lnTo>
                    <a:pt x="3599180" y="5741670"/>
                  </a:lnTo>
                  <a:cubicBezTo>
                    <a:pt x="3735070" y="5741670"/>
                    <a:pt x="3867150" y="5689600"/>
                    <a:pt x="3967480" y="5598160"/>
                  </a:cubicBezTo>
                  <a:lnTo>
                    <a:pt x="6177280" y="3553460"/>
                  </a:lnTo>
                  <a:cubicBezTo>
                    <a:pt x="6287770" y="3450590"/>
                    <a:pt x="6351270" y="3307080"/>
                    <a:pt x="6351270" y="3155950"/>
                  </a:cubicBezTo>
                  <a:lnTo>
                    <a:pt x="6351270" y="542290"/>
                  </a:lnTo>
                  <a:cubicBezTo>
                    <a:pt x="6350000" y="242570"/>
                    <a:pt x="6107430" y="0"/>
                    <a:pt x="5807710" y="0"/>
                  </a:cubicBezTo>
                  <a:lnTo>
                    <a:pt x="542290" y="0"/>
                  </a:lnTo>
                  <a:cubicBezTo>
                    <a:pt x="242570" y="0"/>
                    <a:pt x="0" y="242570"/>
                    <a:pt x="0" y="542290"/>
                  </a:cubicBezTo>
                  <a:close/>
                </a:path>
              </a:pathLst>
            </a:custGeom>
            <a:blipFill>
              <a:blip r:embed="rId6"/>
              <a:stretch>
                <a:fillRect l="-17843" r="-17843"/>
              </a:stretch>
            </a:blipFill>
          </p:spPr>
        </p:sp>
      </p:grpSp>
      <p:sp>
        <p:nvSpPr>
          <p:cNvPr id="11" name="Freeform 11"/>
          <p:cNvSpPr/>
          <p:nvPr/>
        </p:nvSpPr>
        <p:spPr>
          <a:xfrm>
            <a:off x="16719293" y="932561"/>
            <a:ext cx="270004" cy="434243"/>
          </a:xfrm>
          <a:custGeom>
            <a:avLst/>
            <a:gdLst/>
            <a:ahLst/>
            <a:cxnLst/>
            <a:rect l="l" t="t" r="r" b="b"/>
            <a:pathLst>
              <a:path w="270004" h="434243">
                <a:moveTo>
                  <a:pt x="0" y="0"/>
                </a:moveTo>
                <a:lnTo>
                  <a:pt x="270003" y="0"/>
                </a:lnTo>
                <a:lnTo>
                  <a:pt x="270003" y="434243"/>
                </a:lnTo>
                <a:lnTo>
                  <a:pt x="0" y="434243"/>
                </a:lnTo>
                <a:lnTo>
                  <a:pt x="0" y="0"/>
                </a:lnTo>
                <a:close/>
              </a:path>
            </a:pathLst>
          </a:custGeom>
          <a:blipFill>
            <a:blip>
              <a:extLst>
                <a:ext uri="{96DAC541-7B7A-43D3-8B79-37D633B846F1}">
                  <asvg:svgBlip xmlns:asvg="http://schemas.microsoft.com/office/drawing/2016/SVG/main" r:embed="rId7"/>
                </a:ext>
              </a:extLst>
            </a:blip>
            <a:stretch>
              <a:fillRect l="-327450"/>
            </a:stretch>
          </a:blipFill>
        </p:spPr>
      </p:sp>
      <p:grpSp>
        <p:nvGrpSpPr>
          <p:cNvPr id="12" name="Group 12"/>
          <p:cNvGrpSpPr/>
          <p:nvPr/>
        </p:nvGrpSpPr>
        <p:grpSpPr>
          <a:xfrm>
            <a:off x="2256741" y="5402287"/>
            <a:ext cx="8402496" cy="2733577"/>
            <a:chOff x="0" y="0"/>
            <a:chExt cx="2213003" cy="719954"/>
          </a:xfrm>
        </p:grpSpPr>
        <p:sp>
          <p:nvSpPr>
            <p:cNvPr id="13" name="Freeform 13"/>
            <p:cNvSpPr/>
            <p:nvPr/>
          </p:nvSpPr>
          <p:spPr>
            <a:xfrm>
              <a:off x="0" y="0"/>
              <a:ext cx="2213003" cy="719954"/>
            </a:xfrm>
            <a:custGeom>
              <a:avLst/>
              <a:gdLst/>
              <a:ahLst/>
              <a:cxnLst/>
              <a:rect l="l" t="t" r="r" b="b"/>
              <a:pathLst>
                <a:path w="2213003" h="719954">
                  <a:moveTo>
                    <a:pt x="46991" y="0"/>
                  </a:moveTo>
                  <a:lnTo>
                    <a:pt x="2166013" y="0"/>
                  </a:lnTo>
                  <a:cubicBezTo>
                    <a:pt x="2191965" y="0"/>
                    <a:pt x="2213003" y="21038"/>
                    <a:pt x="2213003" y="46991"/>
                  </a:cubicBezTo>
                  <a:lnTo>
                    <a:pt x="2213003" y="672964"/>
                  </a:lnTo>
                  <a:cubicBezTo>
                    <a:pt x="2213003" y="698916"/>
                    <a:pt x="2191965" y="719954"/>
                    <a:pt x="2166013" y="719954"/>
                  </a:cubicBezTo>
                  <a:lnTo>
                    <a:pt x="46991" y="719954"/>
                  </a:lnTo>
                  <a:cubicBezTo>
                    <a:pt x="21038" y="719954"/>
                    <a:pt x="0" y="698916"/>
                    <a:pt x="0" y="672964"/>
                  </a:cubicBezTo>
                  <a:lnTo>
                    <a:pt x="0" y="46991"/>
                  </a:lnTo>
                  <a:cubicBezTo>
                    <a:pt x="0" y="21038"/>
                    <a:pt x="21038" y="0"/>
                    <a:pt x="46991" y="0"/>
                  </a:cubicBezTo>
                  <a:close/>
                </a:path>
              </a:pathLst>
            </a:custGeom>
            <a:solidFill>
              <a:srgbClr val="6977D4"/>
            </a:solidFill>
          </p:spPr>
        </p:sp>
        <p:sp>
          <p:nvSpPr>
            <p:cNvPr id="14" name="TextBox 14"/>
            <p:cNvSpPr txBox="1"/>
            <p:nvPr/>
          </p:nvSpPr>
          <p:spPr>
            <a:xfrm>
              <a:off x="0" y="-57150"/>
              <a:ext cx="2213003" cy="777104"/>
            </a:xfrm>
            <a:prstGeom prst="rect">
              <a:avLst/>
            </a:prstGeom>
          </p:spPr>
          <p:txBody>
            <a:bodyPr lIns="50800" tIns="50800" rIns="50800" bIns="50800" rtlCol="0" anchor="ctr"/>
            <a:lstStyle/>
            <a:p>
              <a:pPr algn="ctr">
                <a:lnSpc>
                  <a:spcPts val="2666"/>
                </a:lnSpc>
              </a:pPr>
              <a:endParaRPr/>
            </a:p>
          </p:txBody>
        </p:sp>
      </p:grpSp>
      <p:grpSp>
        <p:nvGrpSpPr>
          <p:cNvPr id="15" name="Group 15"/>
          <p:cNvGrpSpPr/>
          <p:nvPr/>
        </p:nvGrpSpPr>
        <p:grpSpPr>
          <a:xfrm>
            <a:off x="2498496" y="5547407"/>
            <a:ext cx="2967560" cy="529784"/>
            <a:chOff x="0" y="0"/>
            <a:chExt cx="781580" cy="139532"/>
          </a:xfrm>
        </p:grpSpPr>
        <p:sp>
          <p:nvSpPr>
            <p:cNvPr id="16" name="Freeform 16"/>
            <p:cNvSpPr/>
            <p:nvPr/>
          </p:nvSpPr>
          <p:spPr>
            <a:xfrm>
              <a:off x="0" y="0"/>
              <a:ext cx="781580" cy="139532"/>
            </a:xfrm>
            <a:custGeom>
              <a:avLst/>
              <a:gdLst/>
              <a:ahLst/>
              <a:cxnLst/>
              <a:rect l="l" t="t" r="r" b="b"/>
              <a:pathLst>
                <a:path w="781580" h="139532">
                  <a:moveTo>
                    <a:pt x="69766" y="0"/>
                  </a:moveTo>
                  <a:lnTo>
                    <a:pt x="711814" y="0"/>
                  </a:lnTo>
                  <a:cubicBezTo>
                    <a:pt x="730317" y="0"/>
                    <a:pt x="748062" y="7350"/>
                    <a:pt x="761146" y="20434"/>
                  </a:cubicBezTo>
                  <a:cubicBezTo>
                    <a:pt x="774229" y="33518"/>
                    <a:pt x="781580" y="51263"/>
                    <a:pt x="781580" y="69766"/>
                  </a:cubicBezTo>
                  <a:lnTo>
                    <a:pt x="781580" y="69766"/>
                  </a:lnTo>
                  <a:cubicBezTo>
                    <a:pt x="781580" y="88269"/>
                    <a:pt x="774229" y="106014"/>
                    <a:pt x="761146" y="119098"/>
                  </a:cubicBezTo>
                  <a:cubicBezTo>
                    <a:pt x="748062" y="132181"/>
                    <a:pt x="730317" y="139532"/>
                    <a:pt x="711814" y="139532"/>
                  </a:cubicBezTo>
                  <a:lnTo>
                    <a:pt x="69766" y="139532"/>
                  </a:lnTo>
                  <a:cubicBezTo>
                    <a:pt x="51263" y="139532"/>
                    <a:pt x="33518" y="132181"/>
                    <a:pt x="20434" y="119098"/>
                  </a:cubicBezTo>
                  <a:cubicBezTo>
                    <a:pt x="7350" y="106014"/>
                    <a:pt x="0" y="88269"/>
                    <a:pt x="0" y="69766"/>
                  </a:cubicBezTo>
                  <a:lnTo>
                    <a:pt x="0" y="69766"/>
                  </a:lnTo>
                  <a:cubicBezTo>
                    <a:pt x="0" y="51263"/>
                    <a:pt x="7350" y="33518"/>
                    <a:pt x="20434" y="20434"/>
                  </a:cubicBezTo>
                  <a:cubicBezTo>
                    <a:pt x="33518" y="7350"/>
                    <a:pt x="51263" y="0"/>
                    <a:pt x="69766" y="0"/>
                  </a:cubicBezTo>
                  <a:close/>
                </a:path>
              </a:pathLst>
            </a:custGeom>
            <a:solidFill>
              <a:srgbClr val="E83E6B"/>
            </a:solidFill>
          </p:spPr>
        </p:sp>
        <p:sp>
          <p:nvSpPr>
            <p:cNvPr id="17" name="TextBox 17"/>
            <p:cNvSpPr txBox="1"/>
            <p:nvPr/>
          </p:nvSpPr>
          <p:spPr>
            <a:xfrm>
              <a:off x="0" y="-57150"/>
              <a:ext cx="781580" cy="196682"/>
            </a:xfrm>
            <a:prstGeom prst="rect">
              <a:avLst/>
            </a:prstGeom>
          </p:spPr>
          <p:txBody>
            <a:bodyPr lIns="50800" tIns="50800" rIns="50800" bIns="50800" rtlCol="0" anchor="ctr"/>
            <a:lstStyle/>
            <a:p>
              <a:pPr algn="ctr">
                <a:lnSpc>
                  <a:spcPts val="2666"/>
                </a:lnSpc>
              </a:pPr>
              <a:endParaRPr/>
            </a:p>
          </p:txBody>
        </p:sp>
      </p:grpSp>
      <p:grpSp>
        <p:nvGrpSpPr>
          <p:cNvPr id="18" name="Group 18"/>
          <p:cNvGrpSpPr/>
          <p:nvPr/>
        </p:nvGrpSpPr>
        <p:grpSpPr>
          <a:xfrm>
            <a:off x="5868724" y="5547407"/>
            <a:ext cx="4476988" cy="529784"/>
            <a:chOff x="0" y="0"/>
            <a:chExt cx="1179124" cy="139532"/>
          </a:xfrm>
        </p:grpSpPr>
        <p:sp>
          <p:nvSpPr>
            <p:cNvPr id="19" name="Freeform 19"/>
            <p:cNvSpPr/>
            <p:nvPr/>
          </p:nvSpPr>
          <p:spPr>
            <a:xfrm>
              <a:off x="0" y="0"/>
              <a:ext cx="1179124" cy="139532"/>
            </a:xfrm>
            <a:custGeom>
              <a:avLst/>
              <a:gdLst/>
              <a:ahLst/>
              <a:cxnLst/>
              <a:rect l="l" t="t" r="r" b="b"/>
              <a:pathLst>
                <a:path w="1179124" h="139532">
                  <a:moveTo>
                    <a:pt x="69766" y="0"/>
                  </a:moveTo>
                  <a:lnTo>
                    <a:pt x="1109359" y="0"/>
                  </a:lnTo>
                  <a:cubicBezTo>
                    <a:pt x="1147889" y="0"/>
                    <a:pt x="1179124" y="31235"/>
                    <a:pt x="1179124" y="69766"/>
                  </a:cubicBezTo>
                  <a:lnTo>
                    <a:pt x="1179124" y="69766"/>
                  </a:lnTo>
                  <a:cubicBezTo>
                    <a:pt x="1179124" y="88269"/>
                    <a:pt x="1171774" y="106014"/>
                    <a:pt x="1158691" y="119098"/>
                  </a:cubicBezTo>
                  <a:cubicBezTo>
                    <a:pt x="1145607" y="132181"/>
                    <a:pt x="1127862" y="139532"/>
                    <a:pt x="1109359" y="139532"/>
                  </a:cubicBezTo>
                  <a:lnTo>
                    <a:pt x="69766" y="139532"/>
                  </a:lnTo>
                  <a:cubicBezTo>
                    <a:pt x="51263" y="139532"/>
                    <a:pt x="33518" y="132181"/>
                    <a:pt x="20434" y="119098"/>
                  </a:cubicBezTo>
                  <a:cubicBezTo>
                    <a:pt x="7350" y="106014"/>
                    <a:pt x="0" y="88269"/>
                    <a:pt x="0" y="69766"/>
                  </a:cubicBezTo>
                  <a:lnTo>
                    <a:pt x="0" y="69766"/>
                  </a:lnTo>
                  <a:cubicBezTo>
                    <a:pt x="0" y="51263"/>
                    <a:pt x="7350" y="33518"/>
                    <a:pt x="20434" y="20434"/>
                  </a:cubicBezTo>
                  <a:cubicBezTo>
                    <a:pt x="33518" y="7350"/>
                    <a:pt x="51263" y="0"/>
                    <a:pt x="69766" y="0"/>
                  </a:cubicBezTo>
                  <a:close/>
                </a:path>
              </a:pathLst>
            </a:custGeom>
            <a:solidFill>
              <a:srgbClr val="E83E6B"/>
            </a:solidFill>
          </p:spPr>
        </p:sp>
        <p:sp>
          <p:nvSpPr>
            <p:cNvPr id="20" name="TextBox 20"/>
            <p:cNvSpPr txBox="1"/>
            <p:nvPr/>
          </p:nvSpPr>
          <p:spPr>
            <a:xfrm>
              <a:off x="0" y="-57150"/>
              <a:ext cx="1179124" cy="196682"/>
            </a:xfrm>
            <a:prstGeom prst="rect">
              <a:avLst/>
            </a:prstGeom>
          </p:spPr>
          <p:txBody>
            <a:bodyPr lIns="50800" tIns="50800" rIns="50800" bIns="50800" rtlCol="0" anchor="ctr"/>
            <a:lstStyle/>
            <a:p>
              <a:pPr algn="ctr">
                <a:lnSpc>
                  <a:spcPts val="2666"/>
                </a:lnSpc>
              </a:pPr>
              <a:endParaRPr/>
            </a:p>
          </p:txBody>
        </p:sp>
      </p:grpSp>
      <p:sp>
        <p:nvSpPr>
          <p:cNvPr id="21" name="AutoShape 21"/>
          <p:cNvSpPr/>
          <p:nvPr/>
        </p:nvSpPr>
        <p:spPr>
          <a:xfrm>
            <a:off x="5667391" y="6055767"/>
            <a:ext cx="0" cy="1698835"/>
          </a:xfrm>
          <a:prstGeom prst="line">
            <a:avLst/>
          </a:prstGeom>
          <a:ln w="38100" cap="flat">
            <a:solidFill>
              <a:srgbClr val="FFFFFF"/>
            </a:solidFill>
            <a:prstDash val="solid"/>
            <a:headEnd type="none" w="sm" len="sm"/>
            <a:tailEnd type="none" w="sm" len="sm"/>
          </a:ln>
        </p:spPr>
      </p:sp>
      <p:sp>
        <p:nvSpPr>
          <p:cNvPr id="22" name="TextBox 22"/>
          <p:cNvSpPr txBox="1"/>
          <p:nvPr/>
        </p:nvSpPr>
        <p:spPr>
          <a:xfrm>
            <a:off x="2143874" y="2769159"/>
            <a:ext cx="6424331" cy="1865532"/>
          </a:xfrm>
          <a:prstGeom prst="rect">
            <a:avLst/>
          </a:prstGeom>
        </p:spPr>
        <p:txBody>
          <a:bodyPr lIns="0" tIns="0" rIns="0" bIns="0" rtlCol="0" anchor="t">
            <a:spAutoFit/>
          </a:bodyPr>
          <a:lstStyle/>
          <a:p>
            <a:pPr algn="l">
              <a:lnSpc>
                <a:spcPts val="7165"/>
              </a:lnSpc>
            </a:pPr>
            <a:r>
              <a:rPr lang="en-US" sz="7094">
                <a:solidFill>
                  <a:srgbClr val="FFFFFF"/>
                </a:solidFill>
                <a:latin typeface="League Spartan"/>
                <a:ea typeface="League Spartan"/>
                <a:cs typeface="League Spartan"/>
                <a:sym typeface="League Spartan"/>
              </a:rPr>
              <a:t>Everyday</a:t>
            </a:r>
          </a:p>
          <a:p>
            <a:pPr algn="l">
              <a:lnSpc>
                <a:spcPts val="7165"/>
              </a:lnSpc>
            </a:pPr>
            <a:r>
              <a:rPr lang="en-US" sz="7094">
                <a:solidFill>
                  <a:srgbClr val="FFFFFF"/>
                </a:solidFill>
                <a:latin typeface="League Spartan"/>
                <a:ea typeface="League Spartan"/>
                <a:cs typeface="League Spartan"/>
                <a:sym typeface="League Spartan"/>
              </a:rPr>
              <a:t>Applications</a:t>
            </a:r>
          </a:p>
        </p:txBody>
      </p:sp>
      <p:sp>
        <p:nvSpPr>
          <p:cNvPr id="23" name="TextBox 23"/>
          <p:cNvSpPr txBox="1"/>
          <p:nvPr/>
        </p:nvSpPr>
        <p:spPr>
          <a:xfrm>
            <a:off x="2725141" y="6162916"/>
            <a:ext cx="244168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Homes</a:t>
            </a:r>
          </a:p>
        </p:txBody>
      </p:sp>
      <p:sp>
        <p:nvSpPr>
          <p:cNvPr id="24" name="TextBox 24"/>
          <p:cNvSpPr txBox="1"/>
          <p:nvPr/>
        </p:nvSpPr>
        <p:spPr>
          <a:xfrm>
            <a:off x="6434294" y="6162916"/>
            <a:ext cx="422494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Smart assistants, lighting, security</a:t>
            </a:r>
          </a:p>
        </p:txBody>
      </p:sp>
      <p:sp>
        <p:nvSpPr>
          <p:cNvPr id="25" name="TextBox 25"/>
          <p:cNvSpPr txBox="1"/>
          <p:nvPr/>
        </p:nvSpPr>
        <p:spPr>
          <a:xfrm>
            <a:off x="2725141" y="6603938"/>
            <a:ext cx="244168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Transportation</a:t>
            </a:r>
          </a:p>
        </p:txBody>
      </p:sp>
      <p:sp>
        <p:nvSpPr>
          <p:cNvPr id="26" name="TextBox 26"/>
          <p:cNvSpPr txBox="1"/>
          <p:nvPr/>
        </p:nvSpPr>
        <p:spPr>
          <a:xfrm>
            <a:off x="6434294" y="6603938"/>
            <a:ext cx="422494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Route planning, safety systems</a:t>
            </a:r>
          </a:p>
        </p:txBody>
      </p:sp>
      <p:sp>
        <p:nvSpPr>
          <p:cNvPr id="27" name="TextBox 27"/>
          <p:cNvSpPr txBox="1"/>
          <p:nvPr/>
        </p:nvSpPr>
        <p:spPr>
          <a:xfrm>
            <a:off x="2725141" y="7041343"/>
            <a:ext cx="244168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Online Platforms</a:t>
            </a:r>
          </a:p>
        </p:txBody>
      </p:sp>
      <p:sp>
        <p:nvSpPr>
          <p:cNvPr id="28" name="TextBox 28"/>
          <p:cNvSpPr txBox="1"/>
          <p:nvPr/>
        </p:nvSpPr>
        <p:spPr>
          <a:xfrm>
            <a:off x="6434294" y="7041343"/>
            <a:ext cx="422494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Personalized suggestions</a:t>
            </a:r>
          </a:p>
        </p:txBody>
      </p:sp>
      <p:sp>
        <p:nvSpPr>
          <p:cNvPr id="29" name="TextBox 29"/>
          <p:cNvSpPr txBox="1"/>
          <p:nvPr/>
        </p:nvSpPr>
        <p:spPr>
          <a:xfrm>
            <a:off x="2725141" y="5587881"/>
            <a:ext cx="2581126" cy="391686"/>
          </a:xfrm>
          <a:prstGeom prst="rect">
            <a:avLst/>
          </a:prstGeom>
        </p:spPr>
        <p:txBody>
          <a:bodyPr lIns="0" tIns="0" rIns="0" bIns="0" rtlCol="0" anchor="t">
            <a:spAutoFit/>
          </a:bodyPr>
          <a:lstStyle/>
          <a:p>
            <a:pPr algn="l">
              <a:lnSpc>
                <a:spcPts val="3086"/>
              </a:lnSpc>
            </a:pPr>
            <a:r>
              <a:rPr lang="en-US" sz="2204" b="1" i="1" spc="-44">
                <a:solidFill>
                  <a:srgbClr val="FFFFFF"/>
                </a:solidFill>
                <a:latin typeface="Poppins Bold Italics"/>
                <a:ea typeface="Poppins Bold Italics"/>
                <a:cs typeface="Poppins Bold Italics"/>
                <a:sym typeface="Poppins Bold Italics"/>
              </a:rPr>
              <a:t>Where We See It</a:t>
            </a:r>
          </a:p>
        </p:txBody>
      </p:sp>
      <p:sp>
        <p:nvSpPr>
          <p:cNvPr id="30" name="TextBox 30"/>
          <p:cNvSpPr txBox="1"/>
          <p:nvPr/>
        </p:nvSpPr>
        <p:spPr>
          <a:xfrm>
            <a:off x="6434294" y="5587881"/>
            <a:ext cx="2581126" cy="391752"/>
          </a:xfrm>
          <a:prstGeom prst="rect">
            <a:avLst/>
          </a:prstGeom>
        </p:spPr>
        <p:txBody>
          <a:bodyPr lIns="0" tIns="0" rIns="0" bIns="0" rtlCol="0" anchor="t">
            <a:spAutoFit/>
          </a:bodyPr>
          <a:lstStyle/>
          <a:p>
            <a:pPr algn="l">
              <a:lnSpc>
                <a:spcPts val="3086"/>
              </a:lnSpc>
            </a:pPr>
            <a:r>
              <a:rPr lang="en-US" sz="2204" b="1" i="1" spc="-44">
                <a:solidFill>
                  <a:srgbClr val="FFFFFF"/>
                </a:solidFill>
                <a:latin typeface="Poppins Bold Italics"/>
                <a:ea typeface="Poppins Bold Italics"/>
                <a:cs typeface="Poppins Bold Italics"/>
                <a:sym typeface="Poppins Bold Italics"/>
              </a:rPr>
              <a:t>How It's Used</a:t>
            </a:r>
          </a:p>
        </p:txBody>
      </p:sp>
      <p:sp>
        <p:nvSpPr>
          <p:cNvPr id="31" name="TextBox 31"/>
          <p:cNvSpPr txBox="1"/>
          <p:nvPr/>
        </p:nvSpPr>
        <p:spPr>
          <a:xfrm>
            <a:off x="2725141" y="7478749"/>
            <a:ext cx="244168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Banking</a:t>
            </a:r>
          </a:p>
        </p:txBody>
      </p:sp>
      <p:sp>
        <p:nvSpPr>
          <p:cNvPr id="32" name="TextBox 32"/>
          <p:cNvSpPr txBox="1"/>
          <p:nvPr/>
        </p:nvSpPr>
        <p:spPr>
          <a:xfrm>
            <a:off x="6434294" y="7478749"/>
            <a:ext cx="4048682"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Fraud alerts, faster services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grpSp>
        <p:nvGrpSpPr>
          <p:cNvPr id="3" name="Group 3"/>
          <p:cNvGrpSpPr/>
          <p:nvPr/>
        </p:nvGrpSpPr>
        <p:grpSpPr>
          <a:xfrm>
            <a:off x="8781214" y="5525347"/>
            <a:ext cx="7957129" cy="1913502"/>
            <a:chOff x="0" y="0"/>
            <a:chExt cx="2095705" cy="503968"/>
          </a:xfrm>
        </p:grpSpPr>
        <p:sp>
          <p:nvSpPr>
            <p:cNvPr id="4" name="Freeform 4"/>
            <p:cNvSpPr/>
            <p:nvPr/>
          </p:nvSpPr>
          <p:spPr>
            <a:xfrm>
              <a:off x="0" y="0"/>
              <a:ext cx="2095705" cy="503968"/>
            </a:xfrm>
            <a:custGeom>
              <a:avLst/>
              <a:gdLst/>
              <a:ahLst/>
              <a:cxnLst/>
              <a:rect l="l" t="t" r="r" b="b"/>
              <a:pathLst>
                <a:path w="2095705" h="503968">
                  <a:moveTo>
                    <a:pt x="49621" y="0"/>
                  </a:moveTo>
                  <a:lnTo>
                    <a:pt x="2046084" y="0"/>
                  </a:lnTo>
                  <a:cubicBezTo>
                    <a:pt x="2059244" y="0"/>
                    <a:pt x="2071866" y="5228"/>
                    <a:pt x="2081171" y="14534"/>
                  </a:cubicBezTo>
                  <a:cubicBezTo>
                    <a:pt x="2090477" y="23839"/>
                    <a:pt x="2095705" y="36460"/>
                    <a:pt x="2095705" y="49621"/>
                  </a:cubicBezTo>
                  <a:lnTo>
                    <a:pt x="2095705" y="454347"/>
                  </a:lnTo>
                  <a:cubicBezTo>
                    <a:pt x="2095705" y="481752"/>
                    <a:pt x="2073489" y="503968"/>
                    <a:pt x="2046084" y="503968"/>
                  </a:cubicBezTo>
                  <a:lnTo>
                    <a:pt x="49621" y="503968"/>
                  </a:lnTo>
                  <a:cubicBezTo>
                    <a:pt x="36460" y="503968"/>
                    <a:pt x="23839" y="498740"/>
                    <a:pt x="14534" y="489434"/>
                  </a:cubicBezTo>
                  <a:cubicBezTo>
                    <a:pt x="5228" y="480128"/>
                    <a:pt x="0" y="467507"/>
                    <a:pt x="0" y="454347"/>
                  </a:cubicBezTo>
                  <a:lnTo>
                    <a:pt x="0" y="49621"/>
                  </a:lnTo>
                  <a:cubicBezTo>
                    <a:pt x="0" y="36460"/>
                    <a:pt x="5228" y="23839"/>
                    <a:pt x="14534" y="14534"/>
                  </a:cubicBezTo>
                  <a:cubicBezTo>
                    <a:pt x="23839" y="5228"/>
                    <a:pt x="36460" y="0"/>
                    <a:pt x="49621" y="0"/>
                  </a:cubicBezTo>
                  <a:close/>
                </a:path>
              </a:pathLst>
            </a:custGeom>
            <a:solidFill>
              <a:srgbClr val="6977D4"/>
            </a:solidFill>
          </p:spPr>
        </p:sp>
        <p:sp>
          <p:nvSpPr>
            <p:cNvPr id="5" name="TextBox 5"/>
            <p:cNvSpPr txBox="1"/>
            <p:nvPr/>
          </p:nvSpPr>
          <p:spPr>
            <a:xfrm>
              <a:off x="0" y="-57150"/>
              <a:ext cx="2095705" cy="561118"/>
            </a:xfrm>
            <a:prstGeom prst="rect">
              <a:avLst/>
            </a:prstGeom>
          </p:spPr>
          <p:txBody>
            <a:bodyPr lIns="50800" tIns="50800" rIns="50800" bIns="50800" rtlCol="0" anchor="ctr"/>
            <a:lstStyle/>
            <a:p>
              <a:pPr algn="ctr">
                <a:lnSpc>
                  <a:spcPts val="2666"/>
                </a:lnSpc>
              </a:pPr>
              <a:endParaRPr/>
            </a:p>
          </p:txBody>
        </p:sp>
      </p:grpSp>
      <p:sp>
        <p:nvSpPr>
          <p:cNvPr id="6" name="Freeform 6"/>
          <p:cNvSpPr/>
          <p:nvPr/>
        </p:nvSpPr>
        <p:spPr>
          <a:xfrm>
            <a:off x="-1257824" y="-769913"/>
            <a:ext cx="10836329" cy="11826826"/>
          </a:xfrm>
          <a:custGeom>
            <a:avLst/>
            <a:gdLst/>
            <a:ahLst/>
            <a:cxnLst/>
            <a:rect l="l" t="t" r="r" b="b"/>
            <a:pathLst>
              <a:path w="10836329" h="11826826">
                <a:moveTo>
                  <a:pt x="0" y="0"/>
                </a:moveTo>
                <a:lnTo>
                  <a:pt x="10836329" y="0"/>
                </a:lnTo>
                <a:lnTo>
                  <a:pt x="10836329" y="11826826"/>
                </a:lnTo>
                <a:lnTo>
                  <a:pt x="0" y="11826826"/>
                </a:lnTo>
                <a:lnTo>
                  <a:pt x="0" y="0"/>
                </a:lnTo>
                <a:close/>
              </a:path>
            </a:pathLst>
          </a:custGeom>
          <a:blipFill>
            <a:blip r:embed="rId3">
              <a:alphaModFix amt="35000"/>
            </a:blip>
            <a:stretch>
              <a:fillRect/>
            </a:stretch>
          </a:blipFill>
        </p:spPr>
      </p:sp>
      <p:sp>
        <p:nvSpPr>
          <p:cNvPr id="7" name="Freeform 7"/>
          <p:cNvSpPr/>
          <p:nvPr/>
        </p:nvSpPr>
        <p:spPr>
          <a:xfrm>
            <a:off x="8726622" y="-1383371"/>
            <a:ext cx="4038802" cy="4028705"/>
          </a:xfrm>
          <a:custGeom>
            <a:avLst/>
            <a:gdLst/>
            <a:ahLst/>
            <a:cxnLst/>
            <a:rect l="l" t="t" r="r" b="b"/>
            <a:pathLst>
              <a:path w="4038802" h="4028705">
                <a:moveTo>
                  <a:pt x="0" y="0"/>
                </a:moveTo>
                <a:lnTo>
                  <a:pt x="4038802" y="0"/>
                </a:lnTo>
                <a:lnTo>
                  <a:pt x="4038802" y="4028705"/>
                </a:lnTo>
                <a:lnTo>
                  <a:pt x="0" y="402870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1103354" y="3341812"/>
            <a:ext cx="2206708" cy="2201192"/>
          </a:xfrm>
          <a:custGeom>
            <a:avLst/>
            <a:gdLst/>
            <a:ahLst/>
            <a:cxnLst/>
            <a:rect l="l" t="t" r="r" b="b"/>
            <a:pathLst>
              <a:path w="2206708" h="2201192">
                <a:moveTo>
                  <a:pt x="0" y="0"/>
                </a:moveTo>
                <a:lnTo>
                  <a:pt x="2206708" y="0"/>
                </a:lnTo>
                <a:lnTo>
                  <a:pt x="2206708" y="2201192"/>
                </a:lnTo>
                <a:lnTo>
                  <a:pt x="0" y="220119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6896135" y="8362402"/>
            <a:ext cx="558337" cy="656867"/>
          </a:xfrm>
          <a:custGeom>
            <a:avLst/>
            <a:gdLst/>
            <a:ahLst/>
            <a:cxnLst/>
            <a:rect l="l" t="t" r="r" b="b"/>
            <a:pathLst>
              <a:path w="558337" h="656867">
                <a:moveTo>
                  <a:pt x="0" y="0"/>
                </a:moveTo>
                <a:lnTo>
                  <a:pt x="558337" y="0"/>
                </a:lnTo>
                <a:lnTo>
                  <a:pt x="558337" y="656867"/>
                </a:lnTo>
                <a:lnTo>
                  <a:pt x="0" y="65686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Freeform 10"/>
          <p:cNvSpPr/>
          <p:nvPr/>
        </p:nvSpPr>
        <p:spPr>
          <a:xfrm>
            <a:off x="9299337" y="3341812"/>
            <a:ext cx="279168" cy="328433"/>
          </a:xfrm>
          <a:custGeom>
            <a:avLst/>
            <a:gdLst/>
            <a:ahLst/>
            <a:cxnLst/>
            <a:rect l="l" t="t" r="r" b="b"/>
            <a:pathLst>
              <a:path w="279168" h="328433">
                <a:moveTo>
                  <a:pt x="0" y="0"/>
                </a:moveTo>
                <a:lnTo>
                  <a:pt x="279168" y="0"/>
                </a:lnTo>
                <a:lnTo>
                  <a:pt x="279168" y="328433"/>
                </a:lnTo>
                <a:lnTo>
                  <a:pt x="0" y="328433"/>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11" name="Group 11"/>
          <p:cNvGrpSpPr/>
          <p:nvPr/>
        </p:nvGrpSpPr>
        <p:grpSpPr>
          <a:xfrm>
            <a:off x="1454381" y="2620348"/>
            <a:ext cx="6760198" cy="6111219"/>
            <a:chOff x="0" y="0"/>
            <a:chExt cx="6350000" cy="5740400"/>
          </a:xfrm>
        </p:grpSpPr>
        <p:sp>
          <p:nvSpPr>
            <p:cNvPr id="12" name="Freeform 12"/>
            <p:cNvSpPr/>
            <p:nvPr/>
          </p:nvSpPr>
          <p:spPr>
            <a:xfrm>
              <a:off x="0" y="0"/>
              <a:ext cx="6351270" cy="5741670"/>
            </a:xfrm>
            <a:custGeom>
              <a:avLst/>
              <a:gdLst/>
              <a:ahLst/>
              <a:cxnLst/>
              <a:rect l="l" t="t" r="r" b="b"/>
              <a:pathLst>
                <a:path w="6351270" h="5741670">
                  <a:moveTo>
                    <a:pt x="0" y="542290"/>
                  </a:moveTo>
                  <a:lnTo>
                    <a:pt x="0" y="2392680"/>
                  </a:lnTo>
                  <a:cubicBezTo>
                    <a:pt x="0" y="2691130"/>
                    <a:pt x="242570" y="2933700"/>
                    <a:pt x="542290" y="2933700"/>
                  </a:cubicBezTo>
                  <a:lnTo>
                    <a:pt x="1148080" y="2933700"/>
                  </a:lnTo>
                  <a:cubicBezTo>
                    <a:pt x="1447800" y="2933700"/>
                    <a:pt x="1690370" y="3176270"/>
                    <a:pt x="1690370" y="3475990"/>
                  </a:cubicBezTo>
                  <a:lnTo>
                    <a:pt x="1690370" y="5199380"/>
                  </a:lnTo>
                  <a:cubicBezTo>
                    <a:pt x="1690370" y="5499100"/>
                    <a:pt x="1932940" y="5741670"/>
                    <a:pt x="2232660" y="5741670"/>
                  </a:cubicBezTo>
                  <a:lnTo>
                    <a:pt x="3599180" y="5741670"/>
                  </a:lnTo>
                  <a:cubicBezTo>
                    <a:pt x="3735070" y="5741670"/>
                    <a:pt x="3867150" y="5689600"/>
                    <a:pt x="3967480" y="5598160"/>
                  </a:cubicBezTo>
                  <a:lnTo>
                    <a:pt x="6177280" y="3553460"/>
                  </a:lnTo>
                  <a:cubicBezTo>
                    <a:pt x="6287770" y="3450590"/>
                    <a:pt x="6351270" y="3307080"/>
                    <a:pt x="6351270" y="3155950"/>
                  </a:cubicBezTo>
                  <a:lnTo>
                    <a:pt x="6351270" y="542290"/>
                  </a:lnTo>
                  <a:cubicBezTo>
                    <a:pt x="6350000" y="242570"/>
                    <a:pt x="6107430" y="0"/>
                    <a:pt x="5807710" y="0"/>
                  </a:cubicBezTo>
                  <a:lnTo>
                    <a:pt x="542290" y="0"/>
                  </a:lnTo>
                  <a:cubicBezTo>
                    <a:pt x="242570" y="0"/>
                    <a:pt x="0" y="242570"/>
                    <a:pt x="0" y="542290"/>
                  </a:cubicBezTo>
                  <a:close/>
                </a:path>
              </a:pathLst>
            </a:custGeom>
            <a:blipFill>
              <a:blip r:embed="rId6"/>
              <a:stretch>
                <a:fillRect l="-30357" r="-30357"/>
              </a:stretch>
            </a:blipFill>
          </p:spPr>
        </p:sp>
      </p:grpSp>
      <p:sp>
        <p:nvSpPr>
          <p:cNvPr id="13" name="Freeform 13"/>
          <p:cNvSpPr/>
          <p:nvPr/>
        </p:nvSpPr>
        <p:spPr>
          <a:xfrm>
            <a:off x="16719293" y="932561"/>
            <a:ext cx="270004" cy="434243"/>
          </a:xfrm>
          <a:custGeom>
            <a:avLst/>
            <a:gdLst/>
            <a:ahLst/>
            <a:cxnLst/>
            <a:rect l="l" t="t" r="r" b="b"/>
            <a:pathLst>
              <a:path w="270004" h="434243">
                <a:moveTo>
                  <a:pt x="0" y="0"/>
                </a:moveTo>
                <a:lnTo>
                  <a:pt x="270003" y="0"/>
                </a:lnTo>
                <a:lnTo>
                  <a:pt x="270003" y="434243"/>
                </a:lnTo>
                <a:lnTo>
                  <a:pt x="0" y="434243"/>
                </a:lnTo>
                <a:lnTo>
                  <a:pt x="0" y="0"/>
                </a:lnTo>
                <a:close/>
              </a:path>
            </a:pathLst>
          </a:custGeom>
          <a:blipFill>
            <a:blip>
              <a:extLst>
                <a:ext uri="{96DAC541-7B7A-43D3-8B79-37D633B846F1}">
                  <asvg:svgBlip xmlns:asvg="http://schemas.microsoft.com/office/drawing/2016/SVG/main" r:embed="rId7"/>
                </a:ext>
              </a:extLst>
            </a:blip>
            <a:stretch>
              <a:fillRect l="-327450"/>
            </a:stretch>
          </a:blipFill>
        </p:spPr>
      </p:sp>
      <p:sp>
        <p:nvSpPr>
          <p:cNvPr id="14" name="TextBox 14"/>
          <p:cNvSpPr txBox="1"/>
          <p:nvPr/>
        </p:nvSpPr>
        <p:spPr>
          <a:xfrm>
            <a:off x="11423116" y="3220551"/>
            <a:ext cx="5132578" cy="1857121"/>
          </a:xfrm>
          <a:prstGeom prst="rect">
            <a:avLst/>
          </a:prstGeom>
        </p:spPr>
        <p:txBody>
          <a:bodyPr lIns="0" tIns="0" rIns="0" bIns="0" rtlCol="0" anchor="t">
            <a:spAutoFit/>
          </a:bodyPr>
          <a:lstStyle/>
          <a:p>
            <a:pPr algn="r">
              <a:lnSpc>
                <a:spcPts val="7165"/>
              </a:lnSpc>
            </a:pPr>
            <a:r>
              <a:rPr lang="en-US" sz="7094">
                <a:solidFill>
                  <a:srgbClr val="FFFFFF"/>
                </a:solidFill>
                <a:latin typeface="League Spartan"/>
                <a:ea typeface="League Spartan"/>
                <a:cs typeface="League Spartan"/>
                <a:sym typeface="League Spartan"/>
              </a:rPr>
              <a:t>AI in Key</a:t>
            </a:r>
          </a:p>
          <a:p>
            <a:pPr algn="r">
              <a:lnSpc>
                <a:spcPts val="7165"/>
              </a:lnSpc>
            </a:pPr>
            <a:r>
              <a:rPr lang="en-US" sz="7094">
                <a:solidFill>
                  <a:srgbClr val="FFFFFF"/>
                </a:solidFill>
                <a:latin typeface="League Spartan"/>
                <a:ea typeface="League Spartan"/>
                <a:cs typeface="League Spartan"/>
                <a:sym typeface="League Spartan"/>
              </a:rPr>
              <a:t>Sectors</a:t>
            </a:r>
          </a:p>
        </p:txBody>
      </p:sp>
      <p:sp>
        <p:nvSpPr>
          <p:cNvPr id="15" name="TextBox 15"/>
          <p:cNvSpPr txBox="1"/>
          <p:nvPr/>
        </p:nvSpPr>
        <p:spPr>
          <a:xfrm>
            <a:off x="8975154" y="5763193"/>
            <a:ext cx="7580540" cy="1675656"/>
          </a:xfrm>
          <a:prstGeom prst="rect">
            <a:avLst/>
          </a:prstGeom>
        </p:spPr>
        <p:txBody>
          <a:bodyPr lIns="0" tIns="0" rIns="0" bIns="0" rtlCol="0" anchor="t">
            <a:spAutoFit/>
          </a:bodyPr>
          <a:lstStyle/>
          <a:p>
            <a:pPr marL="411139" lvl="1" indent="-205569" algn="just">
              <a:lnSpc>
                <a:spcPts val="2666"/>
              </a:lnSpc>
              <a:buFont typeface="Arial"/>
              <a:buChar char="•"/>
            </a:pPr>
            <a:r>
              <a:rPr lang="en-US" sz="1904" i="1" spc="-38">
                <a:solidFill>
                  <a:srgbClr val="FFFFFF"/>
                </a:solidFill>
                <a:latin typeface="Poppins Italics"/>
                <a:ea typeface="Poppins Italics"/>
                <a:cs typeface="Poppins Italics"/>
                <a:sym typeface="Poppins Italics"/>
              </a:rPr>
              <a:t>Healthcare: It helps detect diseases early and assist doctors.</a:t>
            </a:r>
          </a:p>
          <a:p>
            <a:pPr marL="411139" lvl="1" indent="-205569" algn="just">
              <a:lnSpc>
                <a:spcPts val="2666"/>
              </a:lnSpc>
              <a:buFont typeface="Arial"/>
              <a:buChar char="•"/>
            </a:pPr>
            <a:r>
              <a:rPr lang="en-US" sz="1904" i="1" spc="-38">
                <a:solidFill>
                  <a:srgbClr val="FFFFFF"/>
                </a:solidFill>
                <a:latin typeface="Poppins Italics"/>
                <a:ea typeface="Poppins Italics"/>
                <a:cs typeface="Poppins Italics"/>
                <a:sym typeface="Poppins Italics"/>
              </a:rPr>
              <a:t>Education: AI creates personalized learning tools.</a:t>
            </a:r>
          </a:p>
          <a:p>
            <a:pPr marL="411139" lvl="1" indent="-205569" algn="just">
              <a:lnSpc>
                <a:spcPts val="2666"/>
              </a:lnSpc>
              <a:buFont typeface="Arial"/>
              <a:buChar char="•"/>
            </a:pPr>
            <a:r>
              <a:rPr lang="en-US" sz="1904" i="1" spc="-38">
                <a:solidFill>
                  <a:srgbClr val="FFFFFF"/>
                </a:solidFill>
                <a:latin typeface="Poppins Italics"/>
                <a:ea typeface="Poppins Italics"/>
                <a:cs typeface="Poppins Italics"/>
                <a:sym typeface="Poppins Italics"/>
              </a:rPr>
              <a:t>Agriculture: AI monitors crops and improves harvests.</a:t>
            </a:r>
          </a:p>
          <a:p>
            <a:pPr marL="411139" lvl="1" indent="-205569" algn="just">
              <a:lnSpc>
                <a:spcPts val="2666"/>
              </a:lnSpc>
              <a:buFont typeface="Arial"/>
              <a:buChar char="•"/>
            </a:pPr>
            <a:r>
              <a:rPr lang="en-US" sz="1904" i="1" spc="-38">
                <a:solidFill>
                  <a:srgbClr val="FFFFFF"/>
                </a:solidFill>
                <a:latin typeface="Poppins Italics"/>
                <a:ea typeface="Poppins Italics"/>
                <a:cs typeface="Poppins Italics"/>
                <a:sym typeface="Poppins Italics"/>
              </a:rPr>
              <a:t>Environment: AI tracks pollution and helps protect nature.</a:t>
            </a:r>
          </a:p>
          <a:p>
            <a:pPr algn="just">
              <a:lnSpc>
                <a:spcPts val="2666"/>
              </a:lnSpc>
            </a:pPr>
            <a:endParaRPr lang="en-US" sz="1904" i="1" spc="-38">
              <a:solidFill>
                <a:srgbClr val="FFFFFF"/>
              </a:solidFill>
              <a:latin typeface="Poppins Italics"/>
              <a:ea typeface="Poppins Italics"/>
              <a:cs typeface="Poppins Italics"/>
              <a:sym typeface="Poppins Italics"/>
            </a:endParaRPr>
          </a:p>
        </p:txBody>
      </p:sp>
      <p:sp>
        <p:nvSpPr>
          <p:cNvPr id="16" name="TextBox 16"/>
          <p:cNvSpPr txBox="1"/>
          <p:nvPr/>
        </p:nvSpPr>
        <p:spPr>
          <a:xfrm>
            <a:off x="8854459" y="7829374"/>
            <a:ext cx="7810638" cy="1008906"/>
          </a:xfrm>
          <a:prstGeom prst="rect">
            <a:avLst/>
          </a:prstGeom>
        </p:spPr>
        <p:txBody>
          <a:bodyPr lIns="0" tIns="0" rIns="0" bIns="0" rtlCol="0" anchor="t">
            <a:spAutoFit/>
          </a:bodyPr>
          <a:lstStyle/>
          <a:p>
            <a:pPr algn="ctr">
              <a:lnSpc>
                <a:spcPts val="2666"/>
              </a:lnSpc>
            </a:pPr>
            <a:r>
              <a:rPr lang="en-US" sz="1904" i="1" spc="-38">
                <a:solidFill>
                  <a:srgbClr val="FFFFFF"/>
                </a:solidFill>
                <a:latin typeface="Poppins Italics"/>
                <a:ea typeface="Poppins Italics"/>
                <a:cs typeface="Poppins Italics"/>
                <a:sym typeface="Poppins Italics"/>
              </a:rPr>
              <a:t>Lorem ipsum dolor sit amet, consectetur adipiscing elit. Duis vel pretium ipsum, quis imperdiet tortor. Maecenas dui lorem, condimentum in viverra et, vestibulum et nisi.</a:t>
            </a:r>
          </a:p>
        </p:txBody>
      </p:sp>
      <p:sp>
        <p:nvSpPr>
          <p:cNvPr id="17" name="Freeform 17"/>
          <p:cNvSpPr/>
          <p:nvPr/>
        </p:nvSpPr>
        <p:spPr>
          <a:xfrm>
            <a:off x="-473655" y="6961869"/>
            <a:ext cx="4109657" cy="4114800"/>
          </a:xfrm>
          <a:custGeom>
            <a:avLst/>
            <a:gdLst/>
            <a:ahLst/>
            <a:cxnLst/>
            <a:rect l="l" t="t" r="r" b="b"/>
            <a:pathLst>
              <a:path w="4109657" h="4114800">
                <a:moveTo>
                  <a:pt x="0" y="0"/>
                </a:moveTo>
                <a:lnTo>
                  <a:pt x="4109656" y="0"/>
                </a:lnTo>
                <a:lnTo>
                  <a:pt x="4109656" y="4114800"/>
                </a:lnTo>
                <a:lnTo>
                  <a:pt x="0" y="4114800"/>
                </a:lnTo>
                <a:lnTo>
                  <a:pt x="0" y="0"/>
                </a:lnTo>
                <a:close/>
              </a:path>
            </a:pathLst>
          </a:custGeom>
          <a:blipFill>
            <a:blip>
              <a:alphaModFix amt="27000"/>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713331" y="6942113"/>
            <a:ext cx="4109657" cy="4114800"/>
          </a:xfrm>
          <a:custGeom>
            <a:avLst/>
            <a:gdLst/>
            <a:ahLst/>
            <a:cxnLst/>
            <a:rect l="l" t="t" r="r" b="b"/>
            <a:pathLst>
              <a:path w="4109657" h="4114800">
                <a:moveTo>
                  <a:pt x="0" y="0"/>
                </a:moveTo>
                <a:lnTo>
                  <a:pt x="4109656" y="0"/>
                </a:lnTo>
                <a:lnTo>
                  <a:pt x="4109656" y="4114800"/>
                </a:lnTo>
                <a:lnTo>
                  <a:pt x="0" y="4114800"/>
                </a:lnTo>
                <a:lnTo>
                  <a:pt x="0" y="0"/>
                </a:lnTo>
                <a:close/>
              </a:path>
            </a:pathLst>
          </a:custGeom>
          <a:blipFill>
            <a:blip>
              <a:alphaModFix amt="27000"/>
              <a:extLst>
                <a:ext uri="{96DAC541-7B7A-43D3-8B79-37D633B846F1}">
                  <asvg:svgBlip xmlns:asvg="http://schemas.microsoft.com/office/drawing/2016/SVG/main" r:embed="rId3"/>
                </a:ext>
              </a:extLst>
            </a:blip>
            <a:stretch>
              <a:fillRect/>
            </a:stretch>
          </a:blipFill>
        </p:spPr>
      </p:sp>
      <p:sp>
        <p:nvSpPr>
          <p:cNvPr id="4" name="Freeform 4"/>
          <p:cNvSpPr/>
          <p:nvPr/>
        </p:nvSpPr>
        <p:spPr>
          <a:xfrm>
            <a:off x="-5818905" y="-511126"/>
            <a:ext cx="10836329" cy="11826826"/>
          </a:xfrm>
          <a:custGeom>
            <a:avLst/>
            <a:gdLst/>
            <a:ahLst/>
            <a:cxnLst/>
            <a:rect l="l" t="t" r="r" b="b"/>
            <a:pathLst>
              <a:path w="10836329" h="11826826">
                <a:moveTo>
                  <a:pt x="0" y="0"/>
                </a:moveTo>
                <a:lnTo>
                  <a:pt x="10836329" y="0"/>
                </a:lnTo>
                <a:lnTo>
                  <a:pt x="10836329" y="11826826"/>
                </a:lnTo>
                <a:lnTo>
                  <a:pt x="0" y="11826826"/>
                </a:lnTo>
                <a:lnTo>
                  <a:pt x="0" y="0"/>
                </a:lnTo>
                <a:close/>
              </a:path>
            </a:pathLst>
          </a:custGeom>
          <a:blipFill>
            <a:blip r:embed="rId4">
              <a:alphaModFix amt="35000"/>
            </a:blip>
            <a:stretch>
              <a:fillRect/>
            </a:stretch>
          </a:blipFill>
        </p:spPr>
      </p:sp>
      <p:sp>
        <p:nvSpPr>
          <p:cNvPr id="5" name="Freeform 5"/>
          <p:cNvSpPr/>
          <p:nvPr/>
        </p:nvSpPr>
        <p:spPr>
          <a:xfrm>
            <a:off x="-1707133" y="-690596"/>
            <a:ext cx="4125113" cy="4114800"/>
          </a:xfrm>
          <a:custGeom>
            <a:avLst/>
            <a:gdLst/>
            <a:ahLst/>
            <a:cxnLst/>
            <a:rect l="l" t="t" r="r" b="b"/>
            <a:pathLst>
              <a:path w="4125113" h="4114800">
                <a:moveTo>
                  <a:pt x="0" y="0"/>
                </a:moveTo>
                <a:lnTo>
                  <a:pt x="4125113" y="0"/>
                </a:lnTo>
                <a:lnTo>
                  <a:pt x="4125113"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flipH="1">
            <a:off x="11949604" y="-769913"/>
            <a:ext cx="10836329" cy="11826826"/>
          </a:xfrm>
          <a:custGeom>
            <a:avLst/>
            <a:gdLst/>
            <a:ahLst/>
            <a:cxnLst/>
            <a:rect l="l" t="t" r="r" b="b"/>
            <a:pathLst>
              <a:path w="10836329" h="11826826">
                <a:moveTo>
                  <a:pt x="10836329" y="0"/>
                </a:moveTo>
                <a:lnTo>
                  <a:pt x="0" y="0"/>
                </a:lnTo>
                <a:lnTo>
                  <a:pt x="0" y="11826826"/>
                </a:lnTo>
                <a:lnTo>
                  <a:pt x="10836329" y="11826826"/>
                </a:lnTo>
                <a:lnTo>
                  <a:pt x="10836329" y="0"/>
                </a:lnTo>
                <a:close/>
              </a:path>
            </a:pathLst>
          </a:custGeom>
          <a:blipFill>
            <a:blip r:embed="rId4">
              <a:alphaModFix amt="35000"/>
            </a:blip>
            <a:stretch>
              <a:fillRect/>
            </a:stretch>
          </a:blipFill>
        </p:spPr>
      </p:sp>
      <p:sp>
        <p:nvSpPr>
          <p:cNvPr id="7" name="Freeform 7"/>
          <p:cNvSpPr/>
          <p:nvPr/>
        </p:nvSpPr>
        <p:spPr>
          <a:xfrm>
            <a:off x="14618812" y="8984194"/>
            <a:ext cx="2206708" cy="2201192"/>
          </a:xfrm>
          <a:custGeom>
            <a:avLst/>
            <a:gdLst/>
            <a:ahLst/>
            <a:cxnLst/>
            <a:rect l="l" t="t" r="r" b="b"/>
            <a:pathLst>
              <a:path w="2206708" h="2201192">
                <a:moveTo>
                  <a:pt x="0" y="0"/>
                </a:moveTo>
                <a:lnTo>
                  <a:pt x="2206708" y="0"/>
                </a:lnTo>
                <a:lnTo>
                  <a:pt x="2206708" y="2201192"/>
                </a:lnTo>
                <a:lnTo>
                  <a:pt x="0" y="220119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1564180" y="8327327"/>
            <a:ext cx="558337" cy="656867"/>
          </a:xfrm>
          <a:custGeom>
            <a:avLst/>
            <a:gdLst/>
            <a:ahLst/>
            <a:cxnLst/>
            <a:rect l="l" t="t" r="r" b="b"/>
            <a:pathLst>
              <a:path w="558337" h="656867">
                <a:moveTo>
                  <a:pt x="0" y="0"/>
                </a:moveTo>
                <a:lnTo>
                  <a:pt x="558337" y="0"/>
                </a:lnTo>
                <a:lnTo>
                  <a:pt x="558337" y="656867"/>
                </a:lnTo>
                <a:lnTo>
                  <a:pt x="0" y="65686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Freeform 9"/>
          <p:cNvSpPr/>
          <p:nvPr/>
        </p:nvSpPr>
        <p:spPr>
          <a:xfrm>
            <a:off x="7953688" y="2822381"/>
            <a:ext cx="279168" cy="328433"/>
          </a:xfrm>
          <a:custGeom>
            <a:avLst/>
            <a:gdLst/>
            <a:ahLst/>
            <a:cxnLst/>
            <a:rect l="l" t="t" r="r" b="b"/>
            <a:pathLst>
              <a:path w="279168" h="328433">
                <a:moveTo>
                  <a:pt x="0" y="0"/>
                </a:moveTo>
                <a:lnTo>
                  <a:pt x="279168" y="0"/>
                </a:lnTo>
                <a:lnTo>
                  <a:pt x="279168" y="328433"/>
                </a:lnTo>
                <a:lnTo>
                  <a:pt x="0" y="328433"/>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10" name="Group 10"/>
          <p:cNvGrpSpPr/>
          <p:nvPr/>
        </p:nvGrpSpPr>
        <p:grpSpPr>
          <a:xfrm>
            <a:off x="9606068" y="1861209"/>
            <a:ext cx="6940990" cy="6274655"/>
            <a:chOff x="0" y="0"/>
            <a:chExt cx="6350000" cy="5740400"/>
          </a:xfrm>
        </p:grpSpPr>
        <p:sp>
          <p:nvSpPr>
            <p:cNvPr id="11" name="Freeform 11"/>
            <p:cNvSpPr/>
            <p:nvPr/>
          </p:nvSpPr>
          <p:spPr>
            <a:xfrm>
              <a:off x="0" y="0"/>
              <a:ext cx="6351270" cy="5741670"/>
            </a:xfrm>
            <a:custGeom>
              <a:avLst/>
              <a:gdLst/>
              <a:ahLst/>
              <a:cxnLst/>
              <a:rect l="l" t="t" r="r" b="b"/>
              <a:pathLst>
                <a:path w="6351270" h="5741670">
                  <a:moveTo>
                    <a:pt x="0" y="542290"/>
                  </a:moveTo>
                  <a:lnTo>
                    <a:pt x="0" y="2392680"/>
                  </a:lnTo>
                  <a:cubicBezTo>
                    <a:pt x="0" y="2691130"/>
                    <a:pt x="242570" y="2933700"/>
                    <a:pt x="542290" y="2933700"/>
                  </a:cubicBezTo>
                  <a:lnTo>
                    <a:pt x="1148080" y="2933700"/>
                  </a:lnTo>
                  <a:cubicBezTo>
                    <a:pt x="1447800" y="2933700"/>
                    <a:pt x="1690370" y="3176270"/>
                    <a:pt x="1690370" y="3475990"/>
                  </a:cubicBezTo>
                  <a:lnTo>
                    <a:pt x="1690370" y="5199380"/>
                  </a:lnTo>
                  <a:cubicBezTo>
                    <a:pt x="1690370" y="5499100"/>
                    <a:pt x="1932940" y="5741670"/>
                    <a:pt x="2232660" y="5741670"/>
                  </a:cubicBezTo>
                  <a:lnTo>
                    <a:pt x="3599180" y="5741670"/>
                  </a:lnTo>
                  <a:cubicBezTo>
                    <a:pt x="3735070" y="5741670"/>
                    <a:pt x="3867150" y="5689600"/>
                    <a:pt x="3967480" y="5598160"/>
                  </a:cubicBezTo>
                  <a:lnTo>
                    <a:pt x="6177280" y="3553460"/>
                  </a:lnTo>
                  <a:cubicBezTo>
                    <a:pt x="6287770" y="3450590"/>
                    <a:pt x="6351270" y="3307080"/>
                    <a:pt x="6351270" y="3155950"/>
                  </a:cubicBezTo>
                  <a:lnTo>
                    <a:pt x="6351270" y="542290"/>
                  </a:lnTo>
                  <a:cubicBezTo>
                    <a:pt x="6350000" y="242570"/>
                    <a:pt x="6107430" y="0"/>
                    <a:pt x="5807710" y="0"/>
                  </a:cubicBezTo>
                  <a:lnTo>
                    <a:pt x="542290" y="0"/>
                  </a:lnTo>
                  <a:cubicBezTo>
                    <a:pt x="242570" y="0"/>
                    <a:pt x="0" y="242570"/>
                    <a:pt x="0" y="542290"/>
                  </a:cubicBezTo>
                  <a:close/>
                </a:path>
              </a:pathLst>
            </a:custGeom>
            <a:blipFill>
              <a:blip r:embed="rId7"/>
              <a:stretch>
                <a:fillRect l="-16064" r="-21690"/>
              </a:stretch>
            </a:blipFill>
          </p:spPr>
        </p:sp>
      </p:grpSp>
      <p:sp>
        <p:nvSpPr>
          <p:cNvPr id="12" name="Freeform 12"/>
          <p:cNvSpPr/>
          <p:nvPr/>
        </p:nvSpPr>
        <p:spPr>
          <a:xfrm>
            <a:off x="16719293" y="932561"/>
            <a:ext cx="270004" cy="434243"/>
          </a:xfrm>
          <a:custGeom>
            <a:avLst/>
            <a:gdLst/>
            <a:ahLst/>
            <a:cxnLst/>
            <a:rect l="l" t="t" r="r" b="b"/>
            <a:pathLst>
              <a:path w="270004" h="434243">
                <a:moveTo>
                  <a:pt x="0" y="0"/>
                </a:moveTo>
                <a:lnTo>
                  <a:pt x="270003" y="0"/>
                </a:lnTo>
                <a:lnTo>
                  <a:pt x="270003" y="434243"/>
                </a:lnTo>
                <a:lnTo>
                  <a:pt x="0" y="434243"/>
                </a:lnTo>
                <a:lnTo>
                  <a:pt x="0" y="0"/>
                </a:lnTo>
                <a:close/>
              </a:path>
            </a:pathLst>
          </a:custGeom>
          <a:blipFill>
            <a:blip>
              <a:extLst>
                <a:ext uri="{96DAC541-7B7A-43D3-8B79-37D633B846F1}">
                  <asvg:svgBlip xmlns:asvg="http://schemas.microsoft.com/office/drawing/2016/SVG/main" r:embed="rId8"/>
                </a:ext>
              </a:extLst>
            </a:blip>
            <a:stretch>
              <a:fillRect l="-327450"/>
            </a:stretch>
          </a:blipFill>
        </p:spPr>
      </p:sp>
      <p:sp>
        <p:nvSpPr>
          <p:cNvPr id="13" name="TextBox 13"/>
          <p:cNvSpPr txBox="1"/>
          <p:nvPr/>
        </p:nvSpPr>
        <p:spPr>
          <a:xfrm>
            <a:off x="2526449" y="2946206"/>
            <a:ext cx="5427240" cy="1865532"/>
          </a:xfrm>
          <a:prstGeom prst="rect">
            <a:avLst/>
          </a:prstGeom>
        </p:spPr>
        <p:txBody>
          <a:bodyPr lIns="0" tIns="0" rIns="0" bIns="0" rtlCol="0" anchor="t">
            <a:spAutoFit/>
          </a:bodyPr>
          <a:lstStyle/>
          <a:p>
            <a:pPr algn="l">
              <a:lnSpc>
                <a:spcPts val="7165"/>
              </a:lnSpc>
            </a:pPr>
            <a:r>
              <a:rPr lang="en-US" sz="7094">
                <a:solidFill>
                  <a:srgbClr val="FFFFFF"/>
                </a:solidFill>
                <a:latin typeface="League Spartan"/>
                <a:ea typeface="League Spartan"/>
                <a:cs typeface="League Spartan"/>
                <a:sym typeface="League Spartan"/>
              </a:rPr>
              <a:t>Benefits</a:t>
            </a:r>
          </a:p>
          <a:p>
            <a:pPr algn="l">
              <a:lnSpc>
                <a:spcPts val="7165"/>
              </a:lnSpc>
            </a:pPr>
            <a:r>
              <a:rPr lang="en-US" sz="7094">
                <a:solidFill>
                  <a:srgbClr val="FFFFFF"/>
                </a:solidFill>
                <a:latin typeface="League Spartan"/>
                <a:ea typeface="League Spartan"/>
                <a:cs typeface="League Spartan"/>
                <a:sym typeface="League Spartan"/>
              </a:rPr>
              <a:t>of AI</a:t>
            </a:r>
          </a:p>
        </p:txBody>
      </p:sp>
      <p:grpSp>
        <p:nvGrpSpPr>
          <p:cNvPr id="14" name="Group 14"/>
          <p:cNvGrpSpPr/>
          <p:nvPr/>
        </p:nvGrpSpPr>
        <p:grpSpPr>
          <a:xfrm>
            <a:off x="2365210" y="5402287"/>
            <a:ext cx="8571382" cy="2733577"/>
            <a:chOff x="0" y="0"/>
            <a:chExt cx="2257483" cy="719954"/>
          </a:xfrm>
        </p:grpSpPr>
        <p:sp>
          <p:nvSpPr>
            <p:cNvPr id="15" name="Freeform 15"/>
            <p:cNvSpPr/>
            <p:nvPr/>
          </p:nvSpPr>
          <p:spPr>
            <a:xfrm>
              <a:off x="0" y="0"/>
              <a:ext cx="2257483" cy="719954"/>
            </a:xfrm>
            <a:custGeom>
              <a:avLst/>
              <a:gdLst/>
              <a:ahLst/>
              <a:cxnLst/>
              <a:rect l="l" t="t" r="r" b="b"/>
              <a:pathLst>
                <a:path w="2257483" h="719954">
                  <a:moveTo>
                    <a:pt x="46065" y="0"/>
                  </a:moveTo>
                  <a:lnTo>
                    <a:pt x="2211419" y="0"/>
                  </a:lnTo>
                  <a:cubicBezTo>
                    <a:pt x="2223636" y="0"/>
                    <a:pt x="2235352" y="4853"/>
                    <a:pt x="2243991" y="13492"/>
                  </a:cubicBezTo>
                  <a:cubicBezTo>
                    <a:pt x="2252630" y="22131"/>
                    <a:pt x="2257483" y="33848"/>
                    <a:pt x="2257483" y="46065"/>
                  </a:cubicBezTo>
                  <a:lnTo>
                    <a:pt x="2257483" y="673890"/>
                  </a:lnTo>
                  <a:cubicBezTo>
                    <a:pt x="2257483" y="686107"/>
                    <a:pt x="2252630" y="697823"/>
                    <a:pt x="2243991" y="706462"/>
                  </a:cubicBezTo>
                  <a:cubicBezTo>
                    <a:pt x="2235352" y="715101"/>
                    <a:pt x="2223636" y="719954"/>
                    <a:pt x="2211419" y="719954"/>
                  </a:cubicBezTo>
                  <a:lnTo>
                    <a:pt x="46065" y="719954"/>
                  </a:lnTo>
                  <a:cubicBezTo>
                    <a:pt x="33848" y="719954"/>
                    <a:pt x="22131" y="715101"/>
                    <a:pt x="13492" y="706462"/>
                  </a:cubicBezTo>
                  <a:cubicBezTo>
                    <a:pt x="4853" y="697823"/>
                    <a:pt x="0" y="686107"/>
                    <a:pt x="0" y="673890"/>
                  </a:cubicBezTo>
                  <a:lnTo>
                    <a:pt x="0" y="46065"/>
                  </a:lnTo>
                  <a:cubicBezTo>
                    <a:pt x="0" y="33848"/>
                    <a:pt x="4853" y="22131"/>
                    <a:pt x="13492" y="13492"/>
                  </a:cubicBezTo>
                  <a:cubicBezTo>
                    <a:pt x="22131" y="4853"/>
                    <a:pt x="33848" y="0"/>
                    <a:pt x="46065" y="0"/>
                  </a:cubicBezTo>
                  <a:close/>
                </a:path>
              </a:pathLst>
            </a:custGeom>
            <a:solidFill>
              <a:srgbClr val="6977D4"/>
            </a:solidFill>
          </p:spPr>
        </p:sp>
        <p:sp>
          <p:nvSpPr>
            <p:cNvPr id="16" name="TextBox 16"/>
            <p:cNvSpPr txBox="1"/>
            <p:nvPr/>
          </p:nvSpPr>
          <p:spPr>
            <a:xfrm>
              <a:off x="0" y="-57150"/>
              <a:ext cx="2257483" cy="777104"/>
            </a:xfrm>
            <a:prstGeom prst="rect">
              <a:avLst/>
            </a:prstGeom>
          </p:spPr>
          <p:txBody>
            <a:bodyPr lIns="50800" tIns="50800" rIns="50800" bIns="50800" rtlCol="0" anchor="ctr"/>
            <a:lstStyle/>
            <a:p>
              <a:pPr algn="ctr">
                <a:lnSpc>
                  <a:spcPts val="2666"/>
                </a:lnSpc>
              </a:pPr>
              <a:endParaRPr/>
            </a:p>
          </p:txBody>
        </p:sp>
      </p:grpSp>
      <p:grpSp>
        <p:nvGrpSpPr>
          <p:cNvPr id="17" name="Group 17"/>
          <p:cNvGrpSpPr/>
          <p:nvPr/>
        </p:nvGrpSpPr>
        <p:grpSpPr>
          <a:xfrm>
            <a:off x="2606965" y="5547407"/>
            <a:ext cx="2967560" cy="529784"/>
            <a:chOff x="0" y="0"/>
            <a:chExt cx="781580" cy="139532"/>
          </a:xfrm>
        </p:grpSpPr>
        <p:sp>
          <p:nvSpPr>
            <p:cNvPr id="18" name="Freeform 18"/>
            <p:cNvSpPr/>
            <p:nvPr/>
          </p:nvSpPr>
          <p:spPr>
            <a:xfrm>
              <a:off x="0" y="0"/>
              <a:ext cx="781580" cy="139532"/>
            </a:xfrm>
            <a:custGeom>
              <a:avLst/>
              <a:gdLst/>
              <a:ahLst/>
              <a:cxnLst/>
              <a:rect l="l" t="t" r="r" b="b"/>
              <a:pathLst>
                <a:path w="781580" h="139532">
                  <a:moveTo>
                    <a:pt x="69766" y="0"/>
                  </a:moveTo>
                  <a:lnTo>
                    <a:pt x="711814" y="0"/>
                  </a:lnTo>
                  <a:cubicBezTo>
                    <a:pt x="730317" y="0"/>
                    <a:pt x="748062" y="7350"/>
                    <a:pt x="761146" y="20434"/>
                  </a:cubicBezTo>
                  <a:cubicBezTo>
                    <a:pt x="774229" y="33518"/>
                    <a:pt x="781580" y="51263"/>
                    <a:pt x="781580" y="69766"/>
                  </a:cubicBezTo>
                  <a:lnTo>
                    <a:pt x="781580" y="69766"/>
                  </a:lnTo>
                  <a:cubicBezTo>
                    <a:pt x="781580" y="88269"/>
                    <a:pt x="774229" y="106014"/>
                    <a:pt x="761146" y="119098"/>
                  </a:cubicBezTo>
                  <a:cubicBezTo>
                    <a:pt x="748062" y="132181"/>
                    <a:pt x="730317" y="139532"/>
                    <a:pt x="711814" y="139532"/>
                  </a:cubicBezTo>
                  <a:lnTo>
                    <a:pt x="69766" y="139532"/>
                  </a:lnTo>
                  <a:cubicBezTo>
                    <a:pt x="51263" y="139532"/>
                    <a:pt x="33518" y="132181"/>
                    <a:pt x="20434" y="119098"/>
                  </a:cubicBezTo>
                  <a:cubicBezTo>
                    <a:pt x="7350" y="106014"/>
                    <a:pt x="0" y="88269"/>
                    <a:pt x="0" y="69766"/>
                  </a:cubicBezTo>
                  <a:lnTo>
                    <a:pt x="0" y="69766"/>
                  </a:lnTo>
                  <a:cubicBezTo>
                    <a:pt x="0" y="51263"/>
                    <a:pt x="7350" y="33518"/>
                    <a:pt x="20434" y="20434"/>
                  </a:cubicBezTo>
                  <a:cubicBezTo>
                    <a:pt x="33518" y="7350"/>
                    <a:pt x="51263" y="0"/>
                    <a:pt x="69766" y="0"/>
                  </a:cubicBezTo>
                  <a:close/>
                </a:path>
              </a:pathLst>
            </a:custGeom>
            <a:solidFill>
              <a:srgbClr val="E83E6B"/>
            </a:solidFill>
          </p:spPr>
        </p:sp>
        <p:sp>
          <p:nvSpPr>
            <p:cNvPr id="19" name="TextBox 19"/>
            <p:cNvSpPr txBox="1"/>
            <p:nvPr/>
          </p:nvSpPr>
          <p:spPr>
            <a:xfrm>
              <a:off x="0" y="-57150"/>
              <a:ext cx="781580" cy="196682"/>
            </a:xfrm>
            <a:prstGeom prst="rect">
              <a:avLst/>
            </a:prstGeom>
          </p:spPr>
          <p:txBody>
            <a:bodyPr lIns="50800" tIns="50800" rIns="50800" bIns="50800" rtlCol="0" anchor="ctr"/>
            <a:lstStyle/>
            <a:p>
              <a:pPr algn="ctr">
                <a:lnSpc>
                  <a:spcPts val="2666"/>
                </a:lnSpc>
              </a:pPr>
              <a:endParaRPr/>
            </a:p>
          </p:txBody>
        </p:sp>
      </p:grpSp>
      <p:grpSp>
        <p:nvGrpSpPr>
          <p:cNvPr id="20" name="Group 20"/>
          <p:cNvGrpSpPr/>
          <p:nvPr/>
        </p:nvGrpSpPr>
        <p:grpSpPr>
          <a:xfrm>
            <a:off x="5977193" y="5547407"/>
            <a:ext cx="4790513" cy="529784"/>
            <a:chOff x="0" y="0"/>
            <a:chExt cx="1261699" cy="139532"/>
          </a:xfrm>
        </p:grpSpPr>
        <p:sp>
          <p:nvSpPr>
            <p:cNvPr id="21" name="Freeform 21"/>
            <p:cNvSpPr/>
            <p:nvPr/>
          </p:nvSpPr>
          <p:spPr>
            <a:xfrm>
              <a:off x="0" y="0"/>
              <a:ext cx="1261699" cy="139532"/>
            </a:xfrm>
            <a:custGeom>
              <a:avLst/>
              <a:gdLst/>
              <a:ahLst/>
              <a:cxnLst/>
              <a:rect l="l" t="t" r="r" b="b"/>
              <a:pathLst>
                <a:path w="1261699" h="139532">
                  <a:moveTo>
                    <a:pt x="69766" y="0"/>
                  </a:moveTo>
                  <a:lnTo>
                    <a:pt x="1191933" y="0"/>
                  </a:lnTo>
                  <a:cubicBezTo>
                    <a:pt x="1210436" y="0"/>
                    <a:pt x="1228181" y="7350"/>
                    <a:pt x="1241265" y="20434"/>
                  </a:cubicBezTo>
                  <a:cubicBezTo>
                    <a:pt x="1254349" y="33518"/>
                    <a:pt x="1261699" y="51263"/>
                    <a:pt x="1261699" y="69766"/>
                  </a:cubicBezTo>
                  <a:lnTo>
                    <a:pt x="1261699" y="69766"/>
                  </a:lnTo>
                  <a:cubicBezTo>
                    <a:pt x="1261699" y="88269"/>
                    <a:pt x="1254349" y="106014"/>
                    <a:pt x="1241265" y="119098"/>
                  </a:cubicBezTo>
                  <a:cubicBezTo>
                    <a:pt x="1228181" y="132181"/>
                    <a:pt x="1210436" y="139532"/>
                    <a:pt x="1191933" y="139532"/>
                  </a:cubicBezTo>
                  <a:lnTo>
                    <a:pt x="69766" y="139532"/>
                  </a:lnTo>
                  <a:cubicBezTo>
                    <a:pt x="51263" y="139532"/>
                    <a:pt x="33518" y="132181"/>
                    <a:pt x="20434" y="119098"/>
                  </a:cubicBezTo>
                  <a:cubicBezTo>
                    <a:pt x="7350" y="106014"/>
                    <a:pt x="0" y="88269"/>
                    <a:pt x="0" y="69766"/>
                  </a:cubicBezTo>
                  <a:lnTo>
                    <a:pt x="0" y="69766"/>
                  </a:lnTo>
                  <a:cubicBezTo>
                    <a:pt x="0" y="51263"/>
                    <a:pt x="7350" y="33518"/>
                    <a:pt x="20434" y="20434"/>
                  </a:cubicBezTo>
                  <a:cubicBezTo>
                    <a:pt x="33518" y="7350"/>
                    <a:pt x="51263" y="0"/>
                    <a:pt x="69766" y="0"/>
                  </a:cubicBezTo>
                  <a:close/>
                </a:path>
              </a:pathLst>
            </a:custGeom>
            <a:solidFill>
              <a:srgbClr val="E83E6B"/>
            </a:solidFill>
          </p:spPr>
        </p:sp>
        <p:sp>
          <p:nvSpPr>
            <p:cNvPr id="22" name="TextBox 22"/>
            <p:cNvSpPr txBox="1"/>
            <p:nvPr/>
          </p:nvSpPr>
          <p:spPr>
            <a:xfrm>
              <a:off x="0" y="-57150"/>
              <a:ext cx="1261699" cy="196682"/>
            </a:xfrm>
            <a:prstGeom prst="rect">
              <a:avLst/>
            </a:prstGeom>
          </p:spPr>
          <p:txBody>
            <a:bodyPr lIns="50800" tIns="50800" rIns="50800" bIns="50800" rtlCol="0" anchor="ctr"/>
            <a:lstStyle/>
            <a:p>
              <a:pPr algn="ctr">
                <a:lnSpc>
                  <a:spcPts val="2666"/>
                </a:lnSpc>
              </a:pPr>
              <a:endParaRPr/>
            </a:p>
          </p:txBody>
        </p:sp>
      </p:grpSp>
      <p:sp>
        <p:nvSpPr>
          <p:cNvPr id="23" name="AutoShape 23"/>
          <p:cNvSpPr/>
          <p:nvPr/>
        </p:nvSpPr>
        <p:spPr>
          <a:xfrm>
            <a:off x="5775859" y="6055767"/>
            <a:ext cx="0" cy="1698835"/>
          </a:xfrm>
          <a:prstGeom prst="line">
            <a:avLst/>
          </a:prstGeom>
          <a:ln w="38100" cap="flat">
            <a:solidFill>
              <a:srgbClr val="FFFFFF"/>
            </a:solidFill>
            <a:prstDash val="solid"/>
            <a:headEnd type="none" w="sm" len="sm"/>
            <a:tailEnd type="none" w="sm" len="sm"/>
          </a:ln>
        </p:spPr>
      </p:sp>
      <p:sp>
        <p:nvSpPr>
          <p:cNvPr id="24" name="TextBox 24"/>
          <p:cNvSpPr txBox="1"/>
          <p:nvPr/>
        </p:nvSpPr>
        <p:spPr>
          <a:xfrm>
            <a:off x="6542762" y="6162916"/>
            <a:ext cx="422494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Faster results and processes</a:t>
            </a:r>
          </a:p>
        </p:txBody>
      </p:sp>
      <p:sp>
        <p:nvSpPr>
          <p:cNvPr id="25" name="TextBox 25"/>
          <p:cNvSpPr txBox="1"/>
          <p:nvPr/>
        </p:nvSpPr>
        <p:spPr>
          <a:xfrm>
            <a:off x="2833609" y="6162916"/>
            <a:ext cx="2170725"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Speed</a:t>
            </a:r>
          </a:p>
        </p:txBody>
      </p:sp>
      <p:sp>
        <p:nvSpPr>
          <p:cNvPr id="26" name="TextBox 26"/>
          <p:cNvSpPr txBox="1"/>
          <p:nvPr/>
        </p:nvSpPr>
        <p:spPr>
          <a:xfrm>
            <a:off x="6542762" y="6603938"/>
            <a:ext cx="422494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Fewer human errors</a:t>
            </a:r>
          </a:p>
        </p:txBody>
      </p:sp>
      <p:sp>
        <p:nvSpPr>
          <p:cNvPr id="27" name="TextBox 27"/>
          <p:cNvSpPr txBox="1"/>
          <p:nvPr/>
        </p:nvSpPr>
        <p:spPr>
          <a:xfrm>
            <a:off x="2833609" y="6603938"/>
            <a:ext cx="2581126"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Accuracy</a:t>
            </a:r>
          </a:p>
        </p:txBody>
      </p:sp>
      <p:sp>
        <p:nvSpPr>
          <p:cNvPr id="28" name="TextBox 28"/>
          <p:cNvSpPr txBox="1"/>
          <p:nvPr/>
        </p:nvSpPr>
        <p:spPr>
          <a:xfrm>
            <a:off x="6542762" y="7041343"/>
            <a:ext cx="422494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Works 24/7 without breaks</a:t>
            </a:r>
          </a:p>
        </p:txBody>
      </p:sp>
      <p:sp>
        <p:nvSpPr>
          <p:cNvPr id="29" name="TextBox 29"/>
          <p:cNvSpPr txBox="1"/>
          <p:nvPr/>
        </p:nvSpPr>
        <p:spPr>
          <a:xfrm>
            <a:off x="2833609" y="7041343"/>
            <a:ext cx="2024341"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Availability</a:t>
            </a:r>
          </a:p>
        </p:txBody>
      </p:sp>
      <p:sp>
        <p:nvSpPr>
          <p:cNvPr id="30" name="TextBox 30"/>
          <p:cNvSpPr txBox="1"/>
          <p:nvPr/>
        </p:nvSpPr>
        <p:spPr>
          <a:xfrm>
            <a:off x="2833609" y="5587881"/>
            <a:ext cx="2170725" cy="391686"/>
          </a:xfrm>
          <a:prstGeom prst="rect">
            <a:avLst/>
          </a:prstGeom>
        </p:spPr>
        <p:txBody>
          <a:bodyPr lIns="0" tIns="0" rIns="0" bIns="0" rtlCol="0" anchor="t">
            <a:spAutoFit/>
          </a:bodyPr>
          <a:lstStyle/>
          <a:p>
            <a:pPr algn="l">
              <a:lnSpc>
                <a:spcPts val="3086"/>
              </a:lnSpc>
            </a:pPr>
            <a:r>
              <a:rPr lang="en-US" sz="2204" b="1" i="1" spc="-44">
                <a:solidFill>
                  <a:srgbClr val="FFFFFF"/>
                </a:solidFill>
                <a:latin typeface="Poppins Bold Italics"/>
                <a:ea typeface="Poppins Bold Italics"/>
                <a:cs typeface="Poppins Bold Italics"/>
                <a:sym typeface="Poppins Bold Italics"/>
              </a:rPr>
              <a:t>Benefit</a:t>
            </a:r>
          </a:p>
        </p:txBody>
      </p:sp>
      <p:sp>
        <p:nvSpPr>
          <p:cNvPr id="31" name="TextBox 31"/>
          <p:cNvSpPr txBox="1"/>
          <p:nvPr/>
        </p:nvSpPr>
        <p:spPr>
          <a:xfrm>
            <a:off x="6504934" y="5587881"/>
            <a:ext cx="2170725" cy="391752"/>
          </a:xfrm>
          <a:prstGeom prst="rect">
            <a:avLst/>
          </a:prstGeom>
        </p:spPr>
        <p:txBody>
          <a:bodyPr lIns="0" tIns="0" rIns="0" bIns="0" rtlCol="0" anchor="t">
            <a:spAutoFit/>
          </a:bodyPr>
          <a:lstStyle/>
          <a:p>
            <a:pPr algn="l">
              <a:lnSpc>
                <a:spcPts val="3086"/>
              </a:lnSpc>
            </a:pPr>
            <a:r>
              <a:rPr lang="en-US" sz="2204" b="1" i="1" spc="-44">
                <a:solidFill>
                  <a:srgbClr val="FFFFFF"/>
                </a:solidFill>
                <a:latin typeface="Poppins Bold Italics"/>
                <a:ea typeface="Poppins Bold Italics"/>
                <a:cs typeface="Poppins Bold Italics"/>
                <a:sym typeface="Poppins Bold Italics"/>
              </a:rPr>
              <a:t>What It Means</a:t>
            </a:r>
          </a:p>
        </p:txBody>
      </p:sp>
      <p:sp>
        <p:nvSpPr>
          <p:cNvPr id="32" name="TextBox 32"/>
          <p:cNvSpPr txBox="1"/>
          <p:nvPr/>
        </p:nvSpPr>
        <p:spPr>
          <a:xfrm>
            <a:off x="6542762" y="7478749"/>
            <a:ext cx="4393829"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Helps in making complex decisions</a:t>
            </a:r>
          </a:p>
        </p:txBody>
      </p:sp>
      <p:sp>
        <p:nvSpPr>
          <p:cNvPr id="33" name="TextBox 33"/>
          <p:cNvSpPr txBox="1"/>
          <p:nvPr/>
        </p:nvSpPr>
        <p:spPr>
          <a:xfrm>
            <a:off x="2833609" y="7478749"/>
            <a:ext cx="2740916"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Support for humans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4862693" y="-1230109"/>
            <a:ext cx="10836329" cy="11826826"/>
          </a:xfrm>
          <a:custGeom>
            <a:avLst/>
            <a:gdLst/>
            <a:ahLst/>
            <a:cxnLst/>
            <a:rect l="l" t="t" r="r" b="b"/>
            <a:pathLst>
              <a:path w="10836329" h="11826826">
                <a:moveTo>
                  <a:pt x="0" y="0"/>
                </a:moveTo>
                <a:lnTo>
                  <a:pt x="10836329" y="0"/>
                </a:lnTo>
                <a:lnTo>
                  <a:pt x="10836329" y="11826826"/>
                </a:lnTo>
                <a:lnTo>
                  <a:pt x="0" y="11826826"/>
                </a:lnTo>
                <a:lnTo>
                  <a:pt x="0" y="0"/>
                </a:lnTo>
                <a:close/>
              </a:path>
            </a:pathLst>
          </a:custGeom>
          <a:blipFill>
            <a:blip r:embed="rId3">
              <a:alphaModFix amt="35000"/>
            </a:blip>
            <a:stretch>
              <a:fillRect/>
            </a:stretch>
          </a:blipFill>
        </p:spPr>
      </p:sp>
      <p:sp>
        <p:nvSpPr>
          <p:cNvPr id="4" name="Freeform 4"/>
          <p:cNvSpPr/>
          <p:nvPr/>
        </p:nvSpPr>
        <p:spPr>
          <a:xfrm>
            <a:off x="11704365" y="-1230109"/>
            <a:ext cx="10836329" cy="11826826"/>
          </a:xfrm>
          <a:custGeom>
            <a:avLst/>
            <a:gdLst/>
            <a:ahLst/>
            <a:cxnLst/>
            <a:rect l="l" t="t" r="r" b="b"/>
            <a:pathLst>
              <a:path w="10836329" h="11826826">
                <a:moveTo>
                  <a:pt x="0" y="0"/>
                </a:moveTo>
                <a:lnTo>
                  <a:pt x="10836329" y="0"/>
                </a:lnTo>
                <a:lnTo>
                  <a:pt x="10836329" y="11826826"/>
                </a:lnTo>
                <a:lnTo>
                  <a:pt x="0" y="11826826"/>
                </a:lnTo>
                <a:lnTo>
                  <a:pt x="0" y="0"/>
                </a:lnTo>
                <a:close/>
              </a:path>
            </a:pathLst>
          </a:custGeom>
          <a:blipFill>
            <a:blip r:embed="rId3">
              <a:alphaModFix amt="35000"/>
            </a:blip>
            <a:stretch>
              <a:fillRect/>
            </a:stretch>
          </a:blipFill>
        </p:spPr>
      </p:sp>
      <p:sp>
        <p:nvSpPr>
          <p:cNvPr id="5" name="Freeform 5"/>
          <p:cNvSpPr/>
          <p:nvPr/>
        </p:nvSpPr>
        <p:spPr>
          <a:xfrm>
            <a:off x="12305858" y="-1725262"/>
            <a:ext cx="4038802" cy="4028705"/>
          </a:xfrm>
          <a:custGeom>
            <a:avLst/>
            <a:gdLst/>
            <a:ahLst/>
            <a:cxnLst/>
            <a:rect l="l" t="t" r="r" b="b"/>
            <a:pathLst>
              <a:path w="4038802" h="4028705">
                <a:moveTo>
                  <a:pt x="0" y="0"/>
                </a:moveTo>
                <a:lnTo>
                  <a:pt x="4038802" y="0"/>
                </a:lnTo>
                <a:lnTo>
                  <a:pt x="4038802" y="4028705"/>
                </a:lnTo>
                <a:lnTo>
                  <a:pt x="0" y="402870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414131" y="3208314"/>
            <a:ext cx="2206708" cy="2201192"/>
          </a:xfrm>
          <a:custGeom>
            <a:avLst/>
            <a:gdLst/>
            <a:ahLst/>
            <a:cxnLst/>
            <a:rect l="l" t="t" r="r" b="b"/>
            <a:pathLst>
              <a:path w="2206708" h="2201192">
                <a:moveTo>
                  <a:pt x="0" y="0"/>
                </a:moveTo>
                <a:lnTo>
                  <a:pt x="2206708" y="0"/>
                </a:lnTo>
                <a:lnTo>
                  <a:pt x="2206708" y="2201191"/>
                </a:lnTo>
                <a:lnTo>
                  <a:pt x="0" y="22011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15623878" y="4149105"/>
            <a:ext cx="558337" cy="656867"/>
          </a:xfrm>
          <a:custGeom>
            <a:avLst/>
            <a:gdLst/>
            <a:ahLst/>
            <a:cxnLst/>
            <a:rect l="l" t="t" r="r" b="b"/>
            <a:pathLst>
              <a:path w="558337" h="656867">
                <a:moveTo>
                  <a:pt x="0" y="0"/>
                </a:moveTo>
                <a:lnTo>
                  <a:pt x="558336" y="0"/>
                </a:lnTo>
                <a:lnTo>
                  <a:pt x="558336" y="656867"/>
                </a:lnTo>
                <a:lnTo>
                  <a:pt x="0" y="65686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3002692" y="2529751"/>
            <a:ext cx="279168" cy="328433"/>
          </a:xfrm>
          <a:custGeom>
            <a:avLst/>
            <a:gdLst/>
            <a:ahLst/>
            <a:cxnLst/>
            <a:rect l="l" t="t" r="r" b="b"/>
            <a:pathLst>
              <a:path w="279168" h="328433">
                <a:moveTo>
                  <a:pt x="0" y="0"/>
                </a:moveTo>
                <a:lnTo>
                  <a:pt x="279168" y="0"/>
                </a:lnTo>
                <a:lnTo>
                  <a:pt x="279168" y="328434"/>
                </a:lnTo>
                <a:lnTo>
                  <a:pt x="0" y="32843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a:off x="16719293" y="932561"/>
            <a:ext cx="270004" cy="434243"/>
          </a:xfrm>
          <a:custGeom>
            <a:avLst/>
            <a:gdLst/>
            <a:ahLst/>
            <a:cxnLst/>
            <a:rect l="l" t="t" r="r" b="b"/>
            <a:pathLst>
              <a:path w="270004" h="434243">
                <a:moveTo>
                  <a:pt x="0" y="0"/>
                </a:moveTo>
                <a:lnTo>
                  <a:pt x="270003" y="0"/>
                </a:lnTo>
                <a:lnTo>
                  <a:pt x="270003" y="434243"/>
                </a:lnTo>
                <a:lnTo>
                  <a:pt x="0" y="434243"/>
                </a:lnTo>
                <a:lnTo>
                  <a:pt x="0" y="0"/>
                </a:lnTo>
                <a:close/>
              </a:path>
            </a:pathLst>
          </a:custGeom>
          <a:blipFill>
            <a:blip>
              <a:extLst>
                <a:ext uri="{96DAC541-7B7A-43D3-8B79-37D633B846F1}">
                  <asvg:svgBlip xmlns:asvg="http://schemas.microsoft.com/office/drawing/2016/SVG/main" r:embed="rId6"/>
                </a:ext>
              </a:extLst>
            </a:blip>
            <a:stretch>
              <a:fillRect l="-327450"/>
            </a:stretch>
          </a:blipFill>
        </p:spPr>
      </p:sp>
      <p:sp>
        <p:nvSpPr>
          <p:cNvPr id="10" name="TextBox 10"/>
          <p:cNvSpPr txBox="1"/>
          <p:nvPr/>
        </p:nvSpPr>
        <p:spPr>
          <a:xfrm>
            <a:off x="5398459" y="2817793"/>
            <a:ext cx="7491083" cy="1857121"/>
          </a:xfrm>
          <a:prstGeom prst="rect">
            <a:avLst/>
          </a:prstGeom>
        </p:spPr>
        <p:txBody>
          <a:bodyPr lIns="0" tIns="0" rIns="0" bIns="0" rtlCol="0" anchor="t">
            <a:spAutoFit/>
          </a:bodyPr>
          <a:lstStyle/>
          <a:p>
            <a:pPr algn="ctr">
              <a:lnSpc>
                <a:spcPts val="7165"/>
              </a:lnSpc>
            </a:pPr>
            <a:r>
              <a:rPr lang="en-US" sz="7094">
                <a:solidFill>
                  <a:srgbClr val="FFFFFF"/>
                </a:solidFill>
                <a:latin typeface="League Spartan"/>
                <a:ea typeface="League Spartan"/>
                <a:cs typeface="League Spartan"/>
                <a:sym typeface="League Spartan"/>
              </a:rPr>
              <a:t>Risks and Challenges</a:t>
            </a:r>
          </a:p>
        </p:txBody>
      </p:sp>
      <p:sp>
        <p:nvSpPr>
          <p:cNvPr id="11" name="TextBox 11"/>
          <p:cNvSpPr txBox="1"/>
          <p:nvPr/>
        </p:nvSpPr>
        <p:spPr>
          <a:xfrm>
            <a:off x="4382986" y="4986749"/>
            <a:ext cx="9522029" cy="675531"/>
          </a:xfrm>
          <a:prstGeom prst="rect">
            <a:avLst/>
          </a:prstGeom>
        </p:spPr>
        <p:txBody>
          <a:bodyPr lIns="0" tIns="0" rIns="0" bIns="0" rtlCol="0" anchor="t">
            <a:spAutoFit/>
          </a:bodyPr>
          <a:lstStyle/>
          <a:p>
            <a:pPr algn="ctr">
              <a:lnSpc>
                <a:spcPts val="2666"/>
              </a:lnSpc>
            </a:pPr>
            <a:r>
              <a:rPr lang="en-US" sz="1904" i="1" spc="-38">
                <a:solidFill>
                  <a:srgbClr val="FFFFFF"/>
                </a:solidFill>
                <a:latin typeface="Poppins Italics"/>
                <a:ea typeface="Poppins Italics"/>
                <a:cs typeface="Poppins Italics"/>
                <a:sym typeface="Poppins Italics"/>
              </a:rPr>
              <a:t>Lorem ipsum dolor sit amet, consectetur adipiscing elit. Duis vel pretium ipsum, quis imperdiet tortor. Maecenas dui lorem, condimentum in viverra.</a:t>
            </a:r>
          </a:p>
        </p:txBody>
      </p:sp>
      <p:grpSp>
        <p:nvGrpSpPr>
          <p:cNvPr id="12" name="Group 12"/>
          <p:cNvGrpSpPr/>
          <p:nvPr/>
        </p:nvGrpSpPr>
        <p:grpSpPr>
          <a:xfrm>
            <a:off x="2260234" y="6031264"/>
            <a:ext cx="4977230" cy="2570369"/>
            <a:chOff x="0" y="0"/>
            <a:chExt cx="1310876" cy="676970"/>
          </a:xfrm>
        </p:grpSpPr>
        <p:sp>
          <p:nvSpPr>
            <p:cNvPr id="13" name="Freeform 13"/>
            <p:cNvSpPr/>
            <p:nvPr/>
          </p:nvSpPr>
          <p:spPr>
            <a:xfrm>
              <a:off x="0" y="0"/>
              <a:ext cx="1310876" cy="676970"/>
            </a:xfrm>
            <a:custGeom>
              <a:avLst/>
              <a:gdLst/>
              <a:ahLst/>
              <a:cxnLst/>
              <a:rect l="l" t="t" r="r" b="b"/>
              <a:pathLst>
                <a:path w="1310876" h="676970">
                  <a:moveTo>
                    <a:pt x="79329" y="0"/>
                  </a:moveTo>
                  <a:lnTo>
                    <a:pt x="1231547" y="0"/>
                  </a:lnTo>
                  <a:cubicBezTo>
                    <a:pt x="1252586" y="0"/>
                    <a:pt x="1272764" y="8358"/>
                    <a:pt x="1287641" y="23235"/>
                  </a:cubicBezTo>
                  <a:cubicBezTo>
                    <a:pt x="1302518" y="38112"/>
                    <a:pt x="1310876" y="58290"/>
                    <a:pt x="1310876" y="79329"/>
                  </a:cubicBezTo>
                  <a:lnTo>
                    <a:pt x="1310876" y="597641"/>
                  </a:lnTo>
                  <a:cubicBezTo>
                    <a:pt x="1310876" y="618680"/>
                    <a:pt x="1302518" y="638858"/>
                    <a:pt x="1287641" y="653735"/>
                  </a:cubicBezTo>
                  <a:cubicBezTo>
                    <a:pt x="1272764" y="668612"/>
                    <a:pt x="1252586" y="676970"/>
                    <a:pt x="1231547" y="676970"/>
                  </a:cubicBezTo>
                  <a:lnTo>
                    <a:pt x="79329" y="676970"/>
                  </a:lnTo>
                  <a:cubicBezTo>
                    <a:pt x="58290" y="676970"/>
                    <a:pt x="38112" y="668612"/>
                    <a:pt x="23235" y="653735"/>
                  </a:cubicBezTo>
                  <a:cubicBezTo>
                    <a:pt x="8358" y="638858"/>
                    <a:pt x="0" y="618680"/>
                    <a:pt x="0" y="597641"/>
                  </a:cubicBezTo>
                  <a:lnTo>
                    <a:pt x="0" y="79329"/>
                  </a:lnTo>
                  <a:cubicBezTo>
                    <a:pt x="0" y="58290"/>
                    <a:pt x="8358" y="38112"/>
                    <a:pt x="23235" y="23235"/>
                  </a:cubicBezTo>
                  <a:cubicBezTo>
                    <a:pt x="38112" y="8358"/>
                    <a:pt x="58290" y="0"/>
                    <a:pt x="79329" y="0"/>
                  </a:cubicBezTo>
                  <a:close/>
                </a:path>
              </a:pathLst>
            </a:custGeom>
            <a:solidFill>
              <a:srgbClr val="6977D4"/>
            </a:solidFill>
          </p:spPr>
        </p:sp>
        <p:sp>
          <p:nvSpPr>
            <p:cNvPr id="14" name="TextBox 14"/>
            <p:cNvSpPr txBox="1"/>
            <p:nvPr/>
          </p:nvSpPr>
          <p:spPr>
            <a:xfrm>
              <a:off x="0" y="-57150"/>
              <a:ext cx="1310876" cy="734120"/>
            </a:xfrm>
            <a:prstGeom prst="rect">
              <a:avLst/>
            </a:prstGeom>
          </p:spPr>
          <p:txBody>
            <a:bodyPr lIns="50800" tIns="50800" rIns="50800" bIns="50800" rtlCol="0" anchor="ctr"/>
            <a:lstStyle/>
            <a:p>
              <a:pPr algn="ctr">
                <a:lnSpc>
                  <a:spcPts val="2666"/>
                </a:lnSpc>
              </a:pPr>
              <a:endParaRPr/>
            </a:p>
          </p:txBody>
        </p:sp>
      </p:grpSp>
      <p:sp>
        <p:nvSpPr>
          <p:cNvPr id="15" name="TextBox 15"/>
          <p:cNvSpPr txBox="1"/>
          <p:nvPr/>
        </p:nvSpPr>
        <p:spPr>
          <a:xfrm>
            <a:off x="2514271" y="6299217"/>
            <a:ext cx="4263293" cy="2009031"/>
          </a:xfrm>
          <a:prstGeom prst="rect">
            <a:avLst/>
          </a:prstGeom>
        </p:spPr>
        <p:txBody>
          <a:bodyPr lIns="0" tIns="0" rIns="0" bIns="0" rtlCol="0" anchor="t">
            <a:spAutoFit/>
          </a:bodyPr>
          <a:lstStyle/>
          <a:p>
            <a:pPr marL="411139" lvl="1" indent="-205569" algn="l">
              <a:lnSpc>
                <a:spcPts val="2666"/>
              </a:lnSpc>
              <a:buFont typeface="Arial"/>
              <a:buChar char="•"/>
            </a:pPr>
            <a:r>
              <a:rPr lang="en-US" sz="1904" i="1" spc="-38">
                <a:solidFill>
                  <a:srgbClr val="FFFFFF"/>
                </a:solidFill>
                <a:latin typeface="Poppins Italics"/>
                <a:ea typeface="Poppins Italics"/>
                <a:cs typeface="Poppins Italics"/>
                <a:sym typeface="Poppins Italics"/>
              </a:rPr>
              <a:t>Job automation: Some jobs may be replaced.</a:t>
            </a:r>
          </a:p>
          <a:p>
            <a:pPr marL="411139" lvl="1" indent="-205569" algn="l">
              <a:lnSpc>
                <a:spcPts val="2666"/>
              </a:lnSpc>
              <a:buFont typeface="Arial"/>
              <a:buChar char="•"/>
            </a:pPr>
            <a:r>
              <a:rPr lang="en-US" sz="1904" i="1" spc="-38">
                <a:solidFill>
                  <a:srgbClr val="FFFFFF"/>
                </a:solidFill>
                <a:latin typeface="Poppins Italics"/>
                <a:ea typeface="Poppins Italics"/>
                <a:cs typeface="Poppins Italics"/>
                <a:sym typeface="Poppins Italics"/>
              </a:rPr>
              <a:t>Bias in AI: Unfair results if data is not balanced.</a:t>
            </a:r>
          </a:p>
          <a:p>
            <a:pPr marL="411139" lvl="1" indent="-205569" algn="l">
              <a:lnSpc>
                <a:spcPts val="2666"/>
              </a:lnSpc>
              <a:buFont typeface="Arial"/>
              <a:buChar char="•"/>
            </a:pPr>
            <a:r>
              <a:rPr lang="en-US" sz="1904" i="1" spc="-38">
                <a:solidFill>
                  <a:srgbClr val="FFFFFF"/>
                </a:solidFill>
                <a:latin typeface="Poppins Italics"/>
                <a:ea typeface="Poppins Italics"/>
                <a:cs typeface="Poppins Italics"/>
                <a:sym typeface="Poppins Italics"/>
              </a:rPr>
              <a:t>Data privacy: Personal data must be protected.</a:t>
            </a:r>
          </a:p>
        </p:txBody>
      </p:sp>
      <p:grpSp>
        <p:nvGrpSpPr>
          <p:cNvPr id="16" name="Group 16"/>
          <p:cNvGrpSpPr/>
          <p:nvPr/>
        </p:nvGrpSpPr>
        <p:grpSpPr>
          <a:xfrm>
            <a:off x="7942164" y="6104668"/>
            <a:ext cx="8402496" cy="2455279"/>
            <a:chOff x="0" y="0"/>
            <a:chExt cx="2213003" cy="646658"/>
          </a:xfrm>
        </p:grpSpPr>
        <p:sp>
          <p:nvSpPr>
            <p:cNvPr id="17" name="Freeform 17"/>
            <p:cNvSpPr/>
            <p:nvPr/>
          </p:nvSpPr>
          <p:spPr>
            <a:xfrm>
              <a:off x="0" y="0"/>
              <a:ext cx="2213003" cy="646658"/>
            </a:xfrm>
            <a:custGeom>
              <a:avLst/>
              <a:gdLst/>
              <a:ahLst/>
              <a:cxnLst/>
              <a:rect l="l" t="t" r="r" b="b"/>
              <a:pathLst>
                <a:path w="2213003" h="646658">
                  <a:moveTo>
                    <a:pt x="46991" y="0"/>
                  </a:moveTo>
                  <a:lnTo>
                    <a:pt x="2166013" y="0"/>
                  </a:lnTo>
                  <a:cubicBezTo>
                    <a:pt x="2191965" y="0"/>
                    <a:pt x="2213003" y="21038"/>
                    <a:pt x="2213003" y="46991"/>
                  </a:cubicBezTo>
                  <a:lnTo>
                    <a:pt x="2213003" y="599667"/>
                  </a:lnTo>
                  <a:cubicBezTo>
                    <a:pt x="2213003" y="625620"/>
                    <a:pt x="2191965" y="646658"/>
                    <a:pt x="2166013" y="646658"/>
                  </a:cubicBezTo>
                  <a:lnTo>
                    <a:pt x="46991" y="646658"/>
                  </a:lnTo>
                  <a:cubicBezTo>
                    <a:pt x="21038" y="646658"/>
                    <a:pt x="0" y="625620"/>
                    <a:pt x="0" y="599667"/>
                  </a:cubicBezTo>
                  <a:lnTo>
                    <a:pt x="0" y="46991"/>
                  </a:lnTo>
                  <a:cubicBezTo>
                    <a:pt x="0" y="21038"/>
                    <a:pt x="21038" y="0"/>
                    <a:pt x="46991" y="0"/>
                  </a:cubicBezTo>
                  <a:close/>
                </a:path>
              </a:pathLst>
            </a:custGeom>
            <a:solidFill>
              <a:srgbClr val="6977D4"/>
            </a:solidFill>
          </p:spPr>
        </p:sp>
        <p:sp>
          <p:nvSpPr>
            <p:cNvPr id="18" name="TextBox 18"/>
            <p:cNvSpPr txBox="1"/>
            <p:nvPr/>
          </p:nvSpPr>
          <p:spPr>
            <a:xfrm>
              <a:off x="0" y="-57150"/>
              <a:ext cx="2213003" cy="703808"/>
            </a:xfrm>
            <a:prstGeom prst="rect">
              <a:avLst/>
            </a:prstGeom>
          </p:spPr>
          <p:txBody>
            <a:bodyPr lIns="50800" tIns="50800" rIns="50800" bIns="50800" rtlCol="0" anchor="ctr"/>
            <a:lstStyle/>
            <a:p>
              <a:pPr algn="ctr">
                <a:lnSpc>
                  <a:spcPts val="2666"/>
                </a:lnSpc>
              </a:pPr>
              <a:endParaRPr/>
            </a:p>
          </p:txBody>
        </p:sp>
      </p:grpSp>
      <p:grpSp>
        <p:nvGrpSpPr>
          <p:cNvPr id="19" name="Group 19"/>
          <p:cNvGrpSpPr/>
          <p:nvPr/>
        </p:nvGrpSpPr>
        <p:grpSpPr>
          <a:xfrm>
            <a:off x="8183919" y="6249787"/>
            <a:ext cx="3094012" cy="529784"/>
            <a:chOff x="0" y="0"/>
            <a:chExt cx="814884" cy="139532"/>
          </a:xfrm>
        </p:grpSpPr>
        <p:sp>
          <p:nvSpPr>
            <p:cNvPr id="20" name="Freeform 20"/>
            <p:cNvSpPr/>
            <p:nvPr/>
          </p:nvSpPr>
          <p:spPr>
            <a:xfrm>
              <a:off x="0" y="0"/>
              <a:ext cx="814884" cy="139532"/>
            </a:xfrm>
            <a:custGeom>
              <a:avLst/>
              <a:gdLst/>
              <a:ahLst/>
              <a:cxnLst/>
              <a:rect l="l" t="t" r="r" b="b"/>
              <a:pathLst>
                <a:path w="814884" h="139532">
                  <a:moveTo>
                    <a:pt x="69766" y="0"/>
                  </a:moveTo>
                  <a:lnTo>
                    <a:pt x="745118" y="0"/>
                  </a:lnTo>
                  <a:cubicBezTo>
                    <a:pt x="763621" y="0"/>
                    <a:pt x="781366" y="7350"/>
                    <a:pt x="794450" y="20434"/>
                  </a:cubicBezTo>
                  <a:cubicBezTo>
                    <a:pt x="807533" y="33518"/>
                    <a:pt x="814884" y="51263"/>
                    <a:pt x="814884" y="69766"/>
                  </a:cubicBezTo>
                  <a:lnTo>
                    <a:pt x="814884" y="69766"/>
                  </a:lnTo>
                  <a:cubicBezTo>
                    <a:pt x="814884" y="88269"/>
                    <a:pt x="807533" y="106014"/>
                    <a:pt x="794450" y="119098"/>
                  </a:cubicBezTo>
                  <a:cubicBezTo>
                    <a:pt x="781366" y="132181"/>
                    <a:pt x="763621" y="139532"/>
                    <a:pt x="745118" y="139532"/>
                  </a:cubicBezTo>
                  <a:lnTo>
                    <a:pt x="69766" y="139532"/>
                  </a:lnTo>
                  <a:cubicBezTo>
                    <a:pt x="51263" y="139532"/>
                    <a:pt x="33518" y="132181"/>
                    <a:pt x="20434" y="119098"/>
                  </a:cubicBezTo>
                  <a:cubicBezTo>
                    <a:pt x="7350" y="106014"/>
                    <a:pt x="0" y="88269"/>
                    <a:pt x="0" y="69766"/>
                  </a:cubicBezTo>
                  <a:lnTo>
                    <a:pt x="0" y="69766"/>
                  </a:lnTo>
                  <a:cubicBezTo>
                    <a:pt x="0" y="51263"/>
                    <a:pt x="7350" y="33518"/>
                    <a:pt x="20434" y="20434"/>
                  </a:cubicBezTo>
                  <a:cubicBezTo>
                    <a:pt x="33518" y="7350"/>
                    <a:pt x="51263" y="0"/>
                    <a:pt x="69766" y="0"/>
                  </a:cubicBezTo>
                  <a:close/>
                </a:path>
              </a:pathLst>
            </a:custGeom>
            <a:solidFill>
              <a:srgbClr val="E83E6B"/>
            </a:solidFill>
          </p:spPr>
        </p:sp>
        <p:sp>
          <p:nvSpPr>
            <p:cNvPr id="21" name="TextBox 21"/>
            <p:cNvSpPr txBox="1"/>
            <p:nvPr/>
          </p:nvSpPr>
          <p:spPr>
            <a:xfrm>
              <a:off x="0" y="-57150"/>
              <a:ext cx="814884" cy="196682"/>
            </a:xfrm>
            <a:prstGeom prst="rect">
              <a:avLst/>
            </a:prstGeom>
          </p:spPr>
          <p:txBody>
            <a:bodyPr lIns="50800" tIns="50800" rIns="50800" bIns="50800" rtlCol="0" anchor="ctr"/>
            <a:lstStyle/>
            <a:p>
              <a:pPr algn="ctr">
                <a:lnSpc>
                  <a:spcPts val="2666"/>
                </a:lnSpc>
              </a:pPr>
              <a:endParaRPr/>
            </a:p>
          </p:txBody>
        </p:sp>
      </p:grpSp>
      <p:grpSp>
        <p:nvGrpSpPr>
          <p:cNvPr id="22" name="Group 22"/>
          <p:cNvGrpSpPr/>
          <p:nvPr/>
        </p:nvGrpSpPr>
        <p:grpSpPr>
          <a:xfrm>
            <a:off x="11554147" y="6249787"/>
            <a:ext cx="4476988" cy="529784"/>
            <a:chOff x="0" y="0"/>
            <a:chExt cx="1179124" cy="139532"/>
          </a:xfrm>
        </p:grpSpPr>
        <p:sp>
          <p:nvSpPr>
            <p:cNvPr id="23" name="Freeform 23"/>
            <p:cNvSpPr/>
            <p:nvPr/>
          </p:nvSpPr>
          <p:spPr>
            <a:xfrm>
              <a:off x="0" y="0"/>
              <a:ext cx="1179124" cy="139532"/>
            </a:xfrm>
            <a:custGeom>
              <a:avLst/>
              <a:gdLst/>
              <a:ahLst/>
              <a:cxnLst/>
              <a:rect l="l" t="t" r="r" b="b"/>
              <a:pathLst>
                <a:path w="1179124" h="139532">
                  <a:moveTo>
                    <a:pt x="69766" y="0"/>
                  </a:moveTo>
                  <a:lnTo>
                    <a:pt x="1109359" y="0"/>
                  </a:lnTo>
                  <a:cubicBezTo>
                    <a:pt x="1147889" y="0"/>
                    <a:pt x="1179124" y="31235"/>
                    <a:pt x="1179124" y="69766"/>
                  </a:cubicBezTo>
                  <a:lnTo>
                    <a:pt x="1179124" y="69766"/>
                  </a:lnTo>
                  <a:cubicBezTo>
                    <a:pt x="1179124" y="88269"/>
                    <a:pt x="1171774" y="106014"/>
                    <a:pt x="1158691" y="119098"/>
                  </a:cubicBezTo>
                  <a:cubicBezTo>
                    <a:pt x="1145607" y="132181"/>
                    <a:pt x="1127862" y="139532"/>
                    <a:pt x="1109359" y="139532"/>
                  </a:cubicBezTo>
                  <a:lnTo>
                    <a:pt x="69766" y="139532"/>
                  </a:lnTo>
                  <a:cubicBezTo>
                    <a:pt x="51263" y="139532"/>
                    <a:pt x="33518" y="132181"/>
                    <a:pt x="20434" y="119098"/>
                  </a:cubicBezTo>
                  <a:cubicBezTo>
                    <a:pt x="7350" y="106014"/>
                    <a:pt x="0" y="88269"/>
                    <a:pt x="0" y="69766"/>
                  </a:cubicBezTo>
                  <a:lnTo>
                    <a:pt x="0" y="69766"/>
                  </a:lnTo>
                  <a:cubicBezTo>
                    <a:pt x="0" y="51263"/>
                    <a:pt x="7350" y="33518"/>
                    <a:pt x="20434" y="20434"/>
                  </a:cubicBezTo>
                  <a:cubicBezTo>
                    <a:pt x="33518" y="7350"/>
                    <a:pt x="51263" y="0"/>
                    <a:pt x="69766" y="0"/>
                  </a:cubicBezTo>
                  <a:close/>
                </a:path>
              </a:pathLst>
            </a:custGeom>
            <a:solidFill>
              <a:srgbClr val="E83E6B"/>
            </a:solidFill>
          </p:spPr>
        </p:sp>
        <p:sp>
          <p:nvSpPr>
            <p:cNvPr id="24" name="TextBox 24"/>
            <p:cNvSpPr txBox="1"/>
            <p:nvPr/>
          </p:nvSpPr>
          <p:spPr>
            <a:xfrm>
              <a:off x="0" y="-57150"/>
              <a:ext cx="1179124" cy="196682"/>
            </a:xfrm>
            <a:prstGeom prst="rect">
              <a:avLst/>
            </a:prstGeom>
          </p:spPr>
          <p:txBody>
            <a:bodyPr lIns="50800" tIns="50800" rIns="50800" bIns="50800" rtlCol="0" anchor="ctr"/>
            <a:lstStyle/>
            <a:p>
              <a:pPr algn="ctr">
                <a:lnSpc>
                  <a:spcPts val="2666"/>
                </a:lnSpc>
              </a:pPr>
              <a:endParaRPr/>
            </a:p>
          </p:txBody>
        </p:sp>
      </p:grpSp>
      <p:sp>
        <p:nvSpPr>
          <p:cNvPr id="25" name="TextBox 25"/>
          <p:cNvSpPr txBox="1"/>
          <p:nvPr/>
        </p:nvSpPr>
        <p:spPr>
          <a:xfrm>
            <a:off x="8410564" y="6865297"/>
            <a:ext cx="244168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Job loss</a:t>
            </a:r>
          </a:p>
        </p:txBody>
      </p:sp>
      <p:sp>
        <p:nvSpPr>
          <p:cNvPr id="26" name="TextBox 26"/>
          <p:cNvSpPr txBox="1"/>
          <p:nvPr/>
        </p:nvSpPr>
        <p:spPr>
          <a:xfrm>
            <a:off x="11806192" y="6865297"/>
            <a:ext cx="422494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May affect income and economy</a:t>
            </a:r>
          </a:p>
        </p:txBody>
      </p:sp>
      <p:sp>
        <p:nvSpPr>
          <p:cNvPr id="27" name="TextBox 27"/>
          <p:cNvSpPr txBox="1"/>
          <p:nvPr/>
        </p:nvSpPr>
        <p:spPr>
          <a:xfrm>
            <a:off x="8410564" y="7306318"/>
            <a:ext cx="244168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Bias in decisions</a:t>
            </a:r>
          </a:p>
        </p:txBody>
      </p:sp>
      <p:sp>
        <p:nvSpPr>
          <p:cNvPr id="28" name="TextBox 28"/>
          <p:cNvSpPr txBox="1"/>
          <p:nvPr/>
        </p:nvSpPr>
        <p:spPr>
          <a:xfrm>
            <a:off x="11806192" y="7306318"/>
            <a:ext cx="422494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Leads to unfair treatment</a:t>
            </a:r>
          </a:p>
        </p:txBody>
      </p:sp>
      <p:sp>
        <p:nvSpPr>
          <p:cNvPr id="29" name="TextBox 29"/>
          <p:cNvSpPr txBox="1"/>
          <p:nvPr/>
        </p:nvSpPr>
        <p:spPr>
          <a:xfrm>
            <a:off x="8410564" y="7743724"/>
            <a:ext cx="244168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Privacy issues</a:t>
            </a:r>
          </a:p>
        </p:txBody>
      </p:sp>
      <p:sp>
        <p:nvSpPr>
          <p:cNvPr id="30" name="TextBox 30"/>
          <p:cNvSpPr txBox="1"/>
          <p:nvPr/>
        </p:nvSpPr>
        <p:spPr>
          <a:xfrm>
            <a:off x="11806192" y="7743724"/>
            <a:ext cx="422494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People’s data may be exposed</a:t>
            </a:r>
          </a:p>
        </p:txBody>
      </p:sp>
      <p:sp>
        <p:nvSpPr>
          <p:cNvPr id="31" name="TextBox 31"/>
          <p:cNvSpPr txBox="1"/>
          <p:nvPr/>
        </p:nvSpPr>
        <p:spPr>
          <a:xfrm>
            <a:off x="8410564" y="6290262"/>
            <a:ext cx="2581126" cy="391686"/>
          </a:xfrm>
          <a:prstGeom prst="rect">
            <a:avLst/>
          </a:prstGeom>
        </p:spPr>
        <p:txBody>
          <a:bodyPr lIns="0" tIns="0" rIns="0" bIns="0" rtlCol="0" anchor="t">
            <a:spAutoFit/>
          </a:bodyPr>
          <a:lstStyle/>
          <a:p>
            <a:pPr algn="l">
              <a:lnSpc>
                <a:spcPts val="3086"/>
              </a:lnSpc>
            </a:pPr>
            <a:r>
              <a:rPr lang="en-US" sz="2204" b="1" i="1" spc="-44">
                <a:solidFill>
                  <a:srgbClr val="FFFFFF"/>
                </a:solidFill>
                <a:latin typeface="Poppins Bold Italics"/>
                <a:ea typeface="Poppins Bold Italics"/>
                <a:cs typeface="Poppins Bold Italics"/>
                <a:sym typeface="Poppins Bold Italics"/>
              </a:rPr>
              <a:t>Risk</a:t>
            </a:r>
          </a:p>
        </p:txBody>
      </p:sp>
      <p:sp>
        <p:nvSpPr>
          <p:cNvPr id="32" name="TextBox 32"/>
          <p:cNvSpPr txBox="1"/>
          <p:nvPr/>
        </p:nvSpPr>
        <p:spPr>
          <a:xfrm>
            <a:off x="11806192" y="6290262"/>
            <a:ext cx="2581126" cy="391752"/>
          </a:xfrm>
          <a:prstGeom prst="rect">
            <a:avLst/>
          </a:prstGeom>
        </p:spPr>
        <p:txBody>
          <a:bodyPr lIns="0" tIns="0" rIns="0" bIns="0" rtlCol="0" anchor="t">
            <a:spAutoFit/>
          </a:bodyPr>
          <a:lstStyle/>
          <a:p>
            <a:pPr algn="l">
              <a:lnSpc>
                <a:spcPts val="3086"/>
              </a:lnSpc>
            </a:pPr>
            <a:r>
              <a:rPr lang="en-US" sz="2204" b="1" i="1" spc="-44">
                <a:solidFill>
                  <a:srgbClr val="FFFFFF"/>
                </a:solidFill>
                <a:latin typeface="Poppins Bold Italics"/>
                <a:ea typeface="Poppins Bold Italics"/>
                <a:cs typeface="Poppins Bold Italics"/>
                <a:sym typeface="Poppins Bold Italics"/>
              </a:rPr>
              <a:t>Why It Matters</a:t>
            </a:r>
          </a:p>
        </p:txBody>
      </p:sp>
      <p:sp>
        <p:nvSpPr>
          <p:cNvPr id="33" name="AutoShape 33"/>
          <p:cNvSpPr/>
          <p:nvPr/>
        </p:nvSpPr>
        <p:spPr>
          <a:xfrm>
            <a:off x="11399130" y="6758148"/>
            <a:ext cx="0" cy="1327732"/>
          </a:xfrm>
          <a:prstGeom prst="line">
            <a:avLst/>
          </a:prstGeom>
          <a:ln w="38100" cap="flat">
            <a:solidFill>
              <a:srgbClr val="FFFFFF"/>
            </a:solidFill>
            <a:prstDash val="solid"/>
            <a:headEnd type="none" w="sm" len="sm"/>
            <a:tailEnd type="none" w="sm" len="sm"/>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1257824" y="-769913"/>
            <a:ext cx="10836329" cy="11826826"/>
          </a:xfrm>
          <a:custGeom>
            <a:avLst/>
            <a:gdLst/>
            <a:ahLst/>
            <a:cxnLst/>
            <a:rect l="l" t="t" r="r" b="b"/>
            <a:pathLst>
              <a:path w="10836329" h="11826826">
                <a:moveTo>
                  <a:pt x="0" y="0"/>
                </a:moveTo>
                <a:lnTo>
                  <a:pt x="10836329" y="0"/>
                </a:lnTo>
                <a:lnTo>
                  <a:pt x="10836329" y="11826826"/>
                </a:lnTo>
                <a:lnTo>
                  <a:pt x="0" y="11826826"/>
                </a:lnTo>
                <a:lnTo>
                  <a:pt x="0" y="0"/>
                </a:lnTo>
                <a:close/>
              </a:path>
            </a:pathLst>
          </a:custGeom>
          <a:blipFill>
            <a:blip r:embed="rId3">
              <a:alphaModFix amt="35000"/>
            </a:blip>
            <a:stretch>
              <a:fillRect/>
            </a:stretch>
          </a:blipFill>
        </p:spPr>
      </p:sp>
      <p:sp>
        <p:nvSpPr>
          <p:cNvPr id="4" name="Freeform 4"/>
          <p:cNvSpPr/>
          <p:nvPr/>
        </p:nvSpPr>
        <p:spPr>
          <a:xfrm>
            <a:off x="12111311" y="-2014353"/>
            <a:ext cx="4038802" cy="4028705"/>
          </a:xfrm>
          <a:custGeom>
            <a:avLst/>
            <a:gdLst/>
            <a:ahLst/>
            <a:cxnLst/>
            <a:rect l="l" t="t" r="r" b="b"/>
            <a:pathLst>
              <a:path w="4038802" h="4028705">
                <a:moveTo>
                  <a:pt x="0" y="0"/>
                </a:moveTo>
                <a:lnTo>
                  <a:pt x="4038802" y="0"/>
                </a:lnTo>
                <a:lnTo>
                  <a:pt x="4038802" y="4028706"/>
                </a:lnTo>
                <a:lnTo>
                  <a:pt x="0" y="402870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740232" y="4230340"/>
            <a:ext cx="2206708" cy="2201192"/>
          </a:xfrm>
          <a:custGeom>
            <a:avLst/>
            <a:gdLst/>
            <a:ahLst/>
            <a:cxnLst/>
            <a:rect l="l" t="t" r="r" b="b"/>
            <a:pathLst>
              <a:path w="2206708" h="2201192">
                <a:moveTo>
                  <a:pt x="0" y="0"/>
                </a:moveTo>
                <a:lnTo>
                  <a:pt x="2206709" y="0"/>
                </a:lnTo>
                <a:lnTo>
                  <a:pt x="2206709" y="2201191"/>
                </a:lnTo>
                <a:lnTo>
                  <a:pt x="0" y="22011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2377307" y="7229657"/>
            <a:ext cx="558337" cy="656867"/>
          </a:xfrm>
          <a:custGeom>
            <a:avLst/>
            <a:gdLst/>
            <a:ahLst/>
            <a:cxnLst/>
            <a:rect l="l" t="t" r="r" b="b"/>
            <a:pathLst>
              <a:path w="558337" h="656867">
                <a:moveTo>
                  <a:pt x="0" y="0"/>
                </a:moveTo>
                <a:lnTo>
                  <a:pt x="558336" y="0"/>
                </a:lnTo>
                <a:lnTo>
                  <a:pt x="558336" y="656867"/>
                </a:lnTo>
                <a:lnTo>
                  <a:pt x="0" y="65686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a:off x="16010529" y="4591684"/>
            <a:ext cx="279168" cy="328433"/>
          </a:xfrm>
          <a:custGeom>
            <a:avLst/>
            <a:gdLst/>
            <a:ahLst/>
            <a:cxnLst/>
            <a:rect l="l" t="t" r="r" b="b"/>
            <a:pathLst>
              <a:path w="279168" h="328433">
                <a:moveTo>
                  <a:pt x="0" y="0"/>
                </a:moveTo>
                <a:lnTo>
                  <a:pt x="279169" y="0"/>
                </a:lnTo>
                <a:lnTo>
                  <a:pt x="279169" y="328433"/>
                </a:lnTo>
                <a:lnTo>
                  <a:pt x="0" y="32843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16719293" y="932561"/>
            <a:ext cx="270004" cy="434243"/>
          </a:xfrm>
          <a:custGeom>
            <a:avLst/>
            <a:gdLst/>
            <a:ahLst/>
            <a:cxnLst/>
            <a:rect l="l" t="t" r="r" b="b"/>
            <a:pathLst>
              <a:path w="270004" h="434243">
                <a:moveTo>
                  <a:pt x="0" y="0"/>
                </a:moveTo>
                <a:lnTo>
                  <a:pt x="270003" y="0"/>
                </a:lnTo>
                <a:lnTo>
                  <a:pt x="270003" y="434243"/>
                </a:lnTo>
                <a:lnTo>
                  <a:pt x="0" y="434243"/>
                </a:lnTo>
                <a:lnTo>
                  <a:pt x="0" y="0"/>
                </a:lnTo>
                <a:close/>
              </a:path>
            </a:pathLst>
          </a:custGeom>
          <a:blipFill>
            <a:blip>
              <a:extLst>
                <a:ext uri="{96DAC541-7B7A-43D3-8B79-37D633B846F1}">
                  <asvg:svgBlip xmlns:asvg="http://schemas.microsoft.com/office/drawing/2016/SVG/main" r:embed="rId6"/>
                </a:ext>
              </a:extLst>
            </a:blip>
            <a:stretch>
              <a:fillRect l="-327450"/>
            </a:stretch>
          </a:blipFill>
        </p:spPr>
      </p:sp>
      <p:sp>
        <p:nvSpPr>
          <p:cNvPr id="9" name="TextBox 9"/>
          <p:cNvSpPr txBox="1"/>
          <p:nvPr/>
        </p:nvSpPr>
        <p:spPr>
          <a:xfrm>
            <a:off x="3048589" y="3028803"/>
            <a:ext cx="12190822" cy="952246"/>
          </a:xfrm>
          <a:prstGeom prst="rect">
            <a:avLst/>
          </a:prstGeom>
        </p:spPr>
        <p:txBody>
          <a:bodyPr lIns="0" tIns="0" rIns="0" bIns="0" rtlCol="0" anchor="t">
            <a:spAutoFit/>
          </a:bodyPr>
          <a:lstStyle/>
          <a:p>
            <a:pPr algn="ctr">
              <a:lnSpc>
                <a:spcPts val="7165"/>
              </a:lnSpc>
            </a:pPr>
            <a:r>
              <a:rPr lang="en-US" sz="7094">
                <a:solidFill>
                  <a:srgbClr val="FFFFFF"/>
                </a:solidFill>
                <a:latin typeface="League Spartan"/>
                <a:ea typeface="League Spartan"/>
                <a:cs typeface="League Spartan"/>
                <a:sym typeface="League Spartan"/>
              </a:rPr>
              <a:t>AI vs Human Intelligence</a:t>
            </a:r>
          </a:p>
        </p:txBody>
      </p:sp>
      <p:sp>
        <p:nvSpPr>
          <p:cNvPr id="10" name="TextBox 10"/>
          <p:cNvSpPr txBox="1"/>
          <p:nvPr/>
        </p:nvSpPr>
        <p:spPr>
          <a:xfrm>
            <a:off x="5238681" y="7829374"/>
            <a:ext cx="7810638" cy="1008906"/>
          </a:xfrm>
          <a:prstGeom prst="rect">
            <a:avLst/>
          </a:prstGeom>
        </p:spPr>
        <p:txBody>
          <a:bodyPr lIns="0" tIns="0" rIns="0" bIns="0" rtlCol="0" anchor="t">
            <a:spAutoFit/>
          </a:bodyPr>
          <a:lstStyle/>
          <a:p>
            <a:pPr algn="ctr">
              <a:lnSpc>
                <a:spcPts val="2666"/>
              </a:lnSpc>
            </a:pPr>
            <a:r>
              <a:rPr lang="en-US" sz="1904" i="1" spc="-38">
                <a:solidFill>
                  <a:srgbClr val="FFFFFF"/>
                </a:solidFill>
                <a:latin typeface="Poppins Italics"/>
                <a:ea typeface="Poppins Italics"/>
                <a:cs typeface="Poppins Italics"/>
                <a:sym typeface="Poppins Italics"/>
              </a:rPr>
              <a:t>Lorem ipsum dolor sit amet, consectetur adipiscing elit. Duis vel pretium ipsum, quis imperdiet tortor. Maecenas dui lorem, condimentum in viverra et, vestibulum et nisi.</a:t>
            </a:r>
          </a:p>
        </p:txBody>
      </p:sp>
      <p:grpSp>
        <p:nvGrpSpPr>
          <p:cNvPr id="11" name="Group 11"/>
          <p:cNvGrpSpPr/>
          <p:nvPr/>
        </p:nvGrpSpPr>
        <p:grpSpPr>
          <a:xfrm>
            <a:off x="3846473" y="4513156"/>
            <a:ext cx="10595053" cy="2834920"/>
            <a:chOff x="0" y="0"/>
            <a:chExt cx="2790467" cy="746646"/>
          </a:xfrm>
        </p:grpSpPr>
        <p:sp>
          <p:nvSpPr>
            <p:cNvPr id="12" name="Freeform 12"/>
            <p:cNvSpPr/>
            <p:nvPr/>
          </p:nvSpPr>
          <p:spPr>
            <a:xfrm>
              <a:off x="0" y="0"/>
              <a:ext cx="2790467" cy="746646"/>
            </a:xfrm>
            <a:custGeom>
              <a:avLst/>
              <a:gdLst/>
              <a:ahLst/>
              <a:cxnLst/>
              <a:rect l="l" t="t" r="r" b="b"/>
              <a:pathLst>
                <a:path w="2790467" h="746646">
                  <a:moveTo>
                    <a:pt x="37266" y="0"/>
                  </a:moveTo>
                  <a:lnTo>
                    <a:pt x="2753200" y="0"/>
                  </a:lnTo>
                  <a:cubicBezTo>
                    <a:pt x="2763084" y="0"/>
                    <a:pt x="2772563" y="3926"/>
                    <a:pt x="2779552" y="10915"/>
                  </a:cubicBezTo>
                  <a:cubicBezTo>
                    <a:pt x="2786540" y="17904"/>
                    <a:pt x="2790467" y="27383"/>
                    <a:pt x="2790467" y="37266"/>
                  </a:cubicBezTo>
                  <a:lnTo>
                    <a:pt x="2790467" y="709379"/>
                  </a:lnTo>
                  <a:cubicBezTo>
                    <a:pt x="2790467" y="719263"/>
                    <a:pt x="2786540" y="728742"/>
                    <a:pt x="2779552" y="735731"/>
                  </a:cubicBezTo>
                  <a:cubicBezTo>
                    <a:pt x="2772563" y="742719"/>
                    <a:pt x="2763084" y="746646"/>
                    <a:pt x="2753200" y="746646"/>
                  </a:cubicBezTo>
                  <a:lnTo>
                    <a:pt x="37266" y="746646"/>
                  </a:lnTo>
                  <a:cubicBezTo>
                    <a:pt x="27383" y="746646"/>
                    <a:pt x="17904" y="742719"/>
                    <a:pt x="10915" y="735731"/>
                  </a:cubicBezTo>
                  <a:cubicBezTo>
                    <a:pt x="3926" y="728742"/>
                    <a:pt x="0" y="719263"/>
                    <a:pt x="0" y="709379"/>
                  </a:cubicBezTo>
                  <a:lnTo>
                    <a:pt x="0" y="37266"/>
                  </a:lnTo>
                  <a:cubicBezTo>
                    <a:pt x="0" y="27383"/>
                    <a:pt x="3926" y="17904"/>
                    <a:pt x="10915" y="10915"/>
                  </a:cubicBezTo>
                  <a:cubicBezTo>
                    <a:pt x="17904" y="3926"/>
                    <a:pt x="27383" y="0"/>
                    <a:pt x="37266" y="0"/>
                  </a:cubicBezTo>
                  <a:close/>
                </a:path>
              </a:pathLst>
            </a:custGeom>
            <a:solidFill>
              <a:srgbClr val="6977D4"/>
            </a:solidFill>
          </p:spPr>
        </p:sp>
        <p:sp>
          <p:nvSpPr>
            <p:cNvPr id="13" name="TextBox 13"/>
            <p:cNvSpPr txBox="1"/>
            <p:nvPr/>
          </p:nvSpPr>
          <p:spPr>
            <a:xfrm>
              <a:off x="0" y="-57150"/>
              <a:ext cx="2790467" cy="803796"/>
            </a:xfrm>
            <a:prstGeom prst="rect">
              <a:avLst/>
            </a:prstGeom>
          </p:spPr>
          <p:txBody>
            <a:bodyPr lIns="50800" tIns="50800" rIns="50800" bIns="50800" rtlCol="0" anchor="ctr"/>
            <a:lstStyle/>
            <a:p>
              <a:pPr algn="ctr">
                <a:lnSpc>
                  <a:spcPts val="2666"/>
                </a:lnSpc>
              </a:pPr>
              <a:endParaRPr/>
            </a:p>
          </p:txBody>
        </p:sp>
      </p:grpSp>
      <p:grpSp>
        <p:nvGrpSpPr>
          <p:cNvPr id="14" name="Group 14"/>
          <p:cNvGrpSpPr/>
          <p:nvPr/>
        </p:nvGrpSpPr>
        <p:grpSpPr>
          <a:xfrm>
            <a:off x="4187846" y="4658276"/>
            <a:ext cx="2388965" cy="529784"/>
            <a:chOff x="0" y="0"/>
            <a:chExt cx="629192" cy="139532"/>
          </a:xfrm>
        </p:grpSpPr>
        <p:sp>
          <p:nvSpPr>
            <p:cNvPr id="15" name="Freeform 15"/>
            <p:cNvSpPr/>
            <p:nvPr/>
          </p:nvSpPr>
          <p:spPr>
            <a:xfrm>
              <a:off x="0" y="0"/>
              <a:ext cx="629192" cy="139532"/>
            </a:xfrm>
            <a:custGeom>
              <a:avLst/>
              <a:gdLst/>
              <a:ahLst/>
              <a:cxnLst/>
              <a:rect l="l" t="t" r="r" b="b"/>
              <a:pathLst>
                <a:path w="629192" h="139532">
                  <a:moveTo>
                    <a:pt x="69766" y="0"/>
                  </a:moveTo>
                  <a:lnTo>
                    <a:pt x="559427" y="0"/>
                  </a:lnTo>
                  <a:cubicBezTo>
                    <a:pt x="577930" y="0"/>
                    <a:pt x="595675" y="7350"/>
                    <a:pt x="608758" y="20434"/>
                  </a:cubicBezTo>
                  <a:cubicBezTo>
                    <a:pt x="621842" y="33518"/>
                    <a:pt x="629192" y="51263"/>
                    <a:pt x="629192" y="69766"/>
                  </a:cubicBezTo>
                  <a:lnTo>
                    <a:pt x="629192" y="69766"/>
                  </a:lnTo>
                  <a:cubicBezTo>
                    <a:pt x="629192" y="88269"/>
                    <a:pt x="621842" y="106014"/>
                    <a:pt x="608758" y="119098"/>
                  </a:cubicBezTo>
                  <a:cubicBezTo>
                    <a:pt x="595675" y="132181"/>
                    <a:pt x="577930" y="139532"/>
                    <a:pt x="559427" y="139532"/>
                  </a:cubicBezTo>
                  <a:lnTo>
                    <a:pt x="69766" y="139532"/>
                  </a:lnTo>
                  <a:cubicBezTo>
                    <a:pt x="51263" y="139532"/>
                    <a:pt x="33518" y="132181"/>
                    <a:pt x="20434" y="119098"/>
                  </a:cubicBezTo>
                  <a:cubicBezTo>
                    <a:pt x="7350" y="106014"/>
                    <a:pt x="0" y="88269"/>
                    <a:pt x="0" y="69766"/>
                  </a:cubicBezTo>
                  <a:lnTo>
                    <a:pt x="0" y="69766"/>
                  </a:lnTo>
                  <a:cubicBezTo>
                    <a:pt x="0" y="51263"/>
                    <a:pt x="7350" y="33518"/>
                    <a:pt x="20434" y="20434"/>
                  </a:cubicBezTo>
                  <a:cubicBezTo>
                    <a:pt x="33518" y="7350"/>
                    <a:pt x="51263" y="0"/>
                    <a:pt x="69766" y="0"/>
                  </a:cubicBezTo>
                  <a:close/>
                </a:path>
              </a:pathLst>
            </a:custGeom>
            <a:solidFill>
              <a:srgbClr val="DA305D"/>
            </a:solidFill>
          </p:spPr>
        </p:sp>
        <p:sp>
          <p:nvSpPr>
            <p:cNvPr id="16" name="TextBox 16"/>
            <p:cNvSpPr txBox="1"/>
            <p:nvPr/>
          </p:nvSpPr>
          <p:spPr>
            <a:xfrm>
              <a:off x="0" y="-57150"/>
              <a:ext cx="629192" cy="196682"/>
            </a:xfrm>
            <a:prstGeom prst="rect">
              <a:avLst/>
            </a:prstGeom>
          </p:spPr>
          <p:txBody>
            <a:bodyPr lIns="50800" tIns="50800" rIns="50800" bIns="50800" rtlCol="0" anchor="ctr"/>
            <a:lstStyle/>
            <a:p>
              <a:pPr algn="ctr">
                <a:lnSpc>
                  <a:spcPts val="2666"/>
                </a:lnSpc>
              </a:pPr>
              <a:endParaRPr/>
            </a:p>
          </p:txBody>
        </p:sp>
      </p:grpSp>
      <p:grpSp>
        <p:nvGrpSpPr>
          <p:cNvPr id="17" name="Group 17"/>
          <p:cNvGrpSpPr/>
          <p:nvPr/>
        </p:nvGrpSpPr>
        <p:grpSpPr>
          <a:xfrm>
            <a:off x="7083737" y="4658276"/>
            <a:ext cx="2361848" cy="529784"/>
            <a:chOff x="0" y="0"/>
            <a:chExt cx="622050" cy="139532"/>
          </a:xfrm>
        </p:grpSpPr>
        <p:sp>
          <p:nvSpPr>
            <p:cNvPr id="18" name="Freeform 18"/>
            <p:cNvSpPr/>
            <p:nvPr/>
          </p:nvSpPr>
          <p:spPr>
            <a:xfrm>
              <a:off x="0" y="0"/>
              <a:ext cx="622050" cy="139532"/>
            </a:xfrm>
            <a:custGeom>
              <a:avLst/>
              <a:gdLst/>
              <a:ahLst/>
              <a:cxnLst/>
              <a:rect l="l" t="t" r="r" b="b"/>
              <a:pathLst>
                <a:path w="622050" h="139532">
                  <a:moveTo>
                    <a:pt x="69766" y="0"/>
                  </a:moveTo>
                  <a:lnTo>
                    <a:pt x="552285" y="0"/>
                  </a:lnTo>
                  <a:cubicBezTo>
                    <a:pt x="570788" y="0"/>
                    <a:pt x="588533" y="7350"/>
                    <a:pt x="601616" y="20434"/>
                  </a:cubicBezTo>
                  <a:cubicBezTo>
                    <a:pt x="614700" y="33518"/>
                    <a:pt x="622050" y="51263"/>
                    <a:pt x="622050" y="69766"/>
                  </a:cubicBezTo>
                  <a:lnTo>
                    <a:pt x="622050" y="69766"/>
                  </a:lnTo>
                  <a:cubicBezTo>
                    <a:pt x="622050" y="88269"/>
                    <a:pt x="614700" y="106014"/>
                    <a:pt x="601616" y="119098"/>
                  </a:cubicBezTo>
                  <a:cubicBezTo>
                    <a:pt x="588533" y="132181"/>
                    <a:pt x="570788" y="139532"/>
                    <a:pt x="552285" y="139532"/>
                  </a:cubicBezTo>
                  <a:lnTo>
                    <a:pt x="69766" y="139532"/>
                  </a:lnTo>
                  <a:cubicBezTo>
                    <a:pt x="51263" y="139532"/>
                    <a:pt x="33518" y="132181"/>
                    <a:pt x="20434" y="119098"/>
                  </a:cubicBezTo>
                  <a:cubicBezTo>
                    <a:pt x="7350" y="106014"/>
                    <a:pt x="0" y="88269"/>
                    <a:pt x="0" y="69766"/>
                  </a:cubicBezTo>
                  <a:lnTo>
                    <a:pt x="0" y="69766"/>
                  </a:lnTo>
                  <a:cubicBezTo>
                    <a:pt x="0" y="51263"/>
                    <a:pt x="7350" y="33518"/>
                    <a:pt x="20434" y="20434"/>
                  </a:cubicBezTo>
                  <a:cubicBezTo>
                    <a:pt x="33518" y="7350"/>
                    <a:pt x="51263" y="0"/>
                    <a:pt x="69766" y="0"/>
                  </a:cubicBezTo>
                  <a:close/>
                </a:path>
              </a:pathLst>
            </a:custGeom>
            <a:solidFill>
              <a:srgbClr val="DA305D"/>
            </a:solidFill>
          </p:spPr>
        </p:sp>
        <p:sp>
          <p:nvSpPr>
            <p:cNvPr id="19" name="TextBox 19"/>
            <p:cNvSpPr txBox="1"/>
            <p:nvPr/>
          </p:nvSpPr>
          <p:spPr>
            <a:xfrm>
              <a:off x="0" y="-57150"/>
              <a:ext cx="622050" cy="196682"/>
            </a:xfrm>
            <a:prstGeom prst="rect">
              <a:avLst/>
            </a:prstGeom>
          </p:spPr>
          <p:txBody>
            <a:bodyPr lIns="50800" tIns="50800" rIns="50800" bIns="50800" rtlCol="0" anchor="ctr"/>
            <a:lstStyle/>
            <a:p>
              <a:pPr algn="ctr">
                <a:lnSpc>
                  <a:spcPts val="2666"/>
                </a:lnSpc>
              </a:pPr>
              <a:endParaRPr/>
            </a:p>
          </p:txBody>
        </p:sp>
      </p:grpSp>
      <p:grpSp>
        <p:nvGrpSpPr>
          <p:cNvPr id="20" name="Group 20"/>
          <p:cNvGrpSpPr/>
          <p:nvPr/>
        </p:nvGrpSpPr>
        <p:grpSpPr>
          <a:xfrm>
            <a:off x="10128381" y="4658276"/>
            <a:ext cx="3869520" cy="529784"/>
            <a:chOff x="0" y="0"/>
            <a:chExt cx="1019133" cy="139532"/>
          </a:xfrm>
        </p:grpSpPr>
        <p:sp>
          <p:nvSpPr>
            <p:cNvPr id="21" name="Freeform 21"/>
            <p:cNvSpPr/>
            <p:nvPr/>
          </p:nvSpPr>
          <p:spPr>
            <a:xfrm>
              <a:off x="0" y="0"/>
              <a:ext cx="1019133" cy="139532"/>
            </a:xfrm>
            <a:custGeom>
              <a:avLst/>
              <a:gdLst/>
              <a:ahLst/>
              <a:cxnLst/>
              <a:rect l="l" t="t" r="r" b="b"/>
              <a:pathLst>
                <a:path w="1019133" h="139532">
                  <a:moveTo>
                    <a:pt x="69766" y="0"/>
                  </a:moveTo>
                  <a:lnTo>
                    <a:pt x="949367" y="0"/>
                  </a:lnTo>
                  <a:cubicBezTo>
                    <a:pt x="967870" y="0"/>
                    <a:pt x="985615" y="7350"/>
                    <a:pt x="998699" y="20434"/>
                  </a:cubicBezTo>
                  <a:cubicBezTo>
                    <a:pt x="1011783" y="33518"/>
                    <a:pt x="1019133" y="51263"/>
                    <a:pt x="1019133" y="69766"/>
                  </a:cubicBezTo>
                  <a:lnTo>
                    <a:pt x="1019133" y="69766"/>
                  </a:lnTo>
                  <a:cubicBezTo>
                    <a:pt x="1019133" y="88269"/>
                    <a:pt x="1011783" y="106014"/>
                    <a:pt x="998699" y="119098"/>
                  </a:cubicBezTo>
                  <a:cubicBezTo>
                    <a:pt x="985615" y="132181"/>
                    <a:pt x="967870" y="139532"/>
                    <a:pt x="949367" y="139532"/>
                  </a:cubicBezTo>
                  <a:lnTo>
                    <a:pt x="69766" y="139532"/>
                  </a:lnTo>
                  <a:cubicBezTo>
                    <a:pt x="51263" y="139532"/>
                    <a:pt x="33518" y="132181"/>
                    <a:pt x="20434" y="119098"/>
                  </a:cubicBezTo>
                  <a:cubicBezTo>
                    <a:pt x="7350" y="106014"/>
                    <a:pt x="0" y="88269"/>
                    <a:pt x="0" y="69766"/>
                  </a:cubicBezTo>
                  <a:lnTo>
                    <a:pt x="0" y="69766"/>
                  </a:lnTo>
                  <a:cubicBezTo>
                    <a:pt x="0" y="51263"/>
                    <a:pt x="7350" y="33518"/>
                    <a:pt x="20434" y="20434"/>
                  </a:cubicBezTo>
                  <a:cubicBezTo>
                    <a:pt x="33518" y="7350"/>
                    <a:pt x="51263" y="0"/>
                    <a:pt x="69766" y="0"/>
                  </a:cubicBezTo>
                  <a:close/>
                </a:path>
              </a:pathLst>
            </a:custGeom>
            <a:solidFill>
              <a:srgbClr val="DA305D"/>
            </a:solidFill>
          </p:spPr>
        </p:sp>
        <p:sp>
          <p:nvSpPr>
            <p:cNvPr id="22" name="TextBox 22"/>
            <p:cNvSpPr txBox="1"/>
            <p:nvPr/>
          </p:nvSpPr>
          <p:spPr>
            <a:xfrm>
              <a:off x="0" y="-57150"/>
              <a:ext cx="1019133" cy="196682"/>
            </a:xfrm>
            <a:prstGeom prst="rect">
              <a:avLst/>
            </a:prstGeom>
          </p:spPr>
          <p:txBody>
            <a:bodyPr lIns="50800" tIns="50800" rIns="50800" bIns="50800" rtlCol="0" anchor="ctr"/>
            <a:lstStyle/>
            <a:p>
              <a:pPr algn="ctr">
                <a:lnSpc>
                  <a:spcPts val="2666"/>
                </a:lnSpc>
              </a:pPr>
              <a:endParaRPr/>
            </a:p>
          </p:txBody>
        </p:sp>
      </p:grpSp>
      <p:sp>
        <p:nvSpPr>
          <p:cNvPr id="23" name="TextBox 23"/>
          <p:cNvSpPr txBox="1"/>
          <p:nvPr/>
        </p:nvSpPr>
        <p:spPr>
          <a:xfrm>
            <a:off x="4283106" y="5273785"/>
            <a:ext cx="244168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Speed</a:t>
            </a:r>
          </a:p>
        </p:txBody>
      </p:sp>
      <p:sp>
        <p:nvSpPr>
          <p:cNvPr id="24" name="TextBox 24"/>
          <p:cNvSpPr txBox="1"/>
          <p:nvPr/>
        </p:nvSpPr>
        <p:spPr>
          <a:xfrm>
            <a:off x="7335781" y="5273785"/>
            <a:ext cx="2109803"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Very fast</a:t>
            </a:r>
          </a:p>
        </p:txBody>
      </p:sp>
      <p:sp>
        <p:nvSpPr>
          <p:cNvPr id="25" name="TextBox 25"/>
          <p:cNvSpPr txBox="1"/>
          <p:nvPr/>
        </p:nvSpPr>
        <p:spPr>
          <a:xfrm>
            <a:off x="10380426" y="5273785"/>
            <a:ext cx="2993780"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Slower but creative</a:t>
            </a:r>
          </a:p>
        </p:txBody>
      </p:sp>
      <p:sp>
        <p:nvSpPr>
          <p:cNvPr id="26" name="TextBox 26"/>
          <p:cNvSpPr txBox="1"/>
          <p:nvPr/>
        </p:nvSpPr>
        <p:spPr>
          <a:xfrm>
            <a:off x="4283106" y="5714807"/>
            <a:ext cx="244168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Learning method</a:t>
            </a:r>
          </a:p>
        </p:txBody>
      </p:sp>
      <p:sp>
        <p:nvSpPr>
          <p:cNvPr id="27" name="TextBox 27"/>
          <p:cNvSpPr txBox="1"/>
          <p:nvPr/>
        </p:nvSpPr>
        <p:spPr>
          <a:xfrm>
            <a:off x="7335781" y="5714807"/>
            <a:ext cx="2109803"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From data</a:t>
            </a:r>
          </a:p>
        </p:txBody>
      </p:sp>
      <p:sp>
        <p:nvSpPr>
          <p:cNvPr id="28" name="TextBox 28"/>
          <p:cNvSpPr txBox="1"/>
          <p:nvPr/>
        </p:nvSpPr>
        <p:spPr>
          <a:xfrm>
            <a:off x="10380426" y="5714807"/>
            <a:ext cx="3617476"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From experience and feeling</a:t>
            </a:r>
          </a:p>
        </p:txBody>
      </p:sp>
      <p:sp>
        <p:nvSpPr>
          <p:cNvPr id="29" name="TextBox 29"/>
          <p:cNvSpPr txBox="1"/>
          <p:nvPr/>
        </p:nvSpPr>
        <p:spPr>
          <a:xfrm>
            <a:off x="4283106" y="6152212"/>
            <a:ext cx="244168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Emotions</a:t>
            </a:r>
          </a:p>
        </p:txBody>
      </p:sp>
      <p:sp>
        <p:nvSpPr>
          <p:cNvPr id="30" name="TextBox 30"/>
          <p:cNvSpPr txBox="1"/>
          <p:nvPr/>
        </p:nvSpPr>
        <p:spPr>
          <a:xfrm>
            <a:off x="4283106" y="6589618"/>
            <a:ext cx="2441684"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Decision making</a:t>
            </a:r>
          </a:p>
        </p:txBody>
      </p:sp>
      <p:sp>
        <p:nvSpPr>
          <p:cNvPr id="31" name="TextBox 31"/>
          <p:cNvSpPr txBox="1"/>
          <p:nvPr/>
        </p:nvSpPr>
        <p:spPr>
          <a:xfrm>
            <a:off x="7335781" y="6152212"/>
            <a:ext cx="2109803"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None</a:t>
            </a:r>
          </a:p>
        </p:txBody>
      </p:sp>
      <p:sp>
        <p:nvSpPr>
          <p:cNvPr id="32" name="TextBox 32"/>
          <p:cNvSpPr txBox="1"/>
          <p:nvPr/>
        </p:nvSpPr>
        <p:spPr>
          <a:xfrm>
            <a:off x="10380426" y="6152212"/>
            <a:ext cx="3617476"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Complex emotional response</a:t>
            </a:r>
          </a:p>
        </p:txBody>
      </p:sp>
      <p:sp>
        <p:nvSpPr>
          <p:cNvPr id="33" name="TextBox 33"/>
          <p:cNvSpPr txBox="1"/>
          <p:nvPr/>
        </p:nvSpPr>
        <p:spPr>
          <a:xfrm>
            <a:off x="7335781" y="6589618"/>
            <a:ext cx="2109803"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Logical</a:t>
            </a:r>
          </a:p>
        </p:txBody>
      </p:sp>
      <p:sp>
        <p:nvSpPr>
          <p:cNvPr id="34" name="TextBox 34"/>
          <p:cNvSpPr txBox="1"/>
          <p:nvPr/>
        </p:nvSpPr>
        <p:spPr>
          <a:xfrm>
            <a:off x="10380426" y="6589618"/>
            <a:ext cx="2993780" cy="342156"/>
          </a:xfrm>
          <a:prstGeom prst="rect">
            <a:avLst/>
          </a:prstGeom>
        </p:spPr>
        <p:txBody>
          <a:bodyPr lIns="0" tIns="0" rIns="0" bIns="0" rtlCol="0" anchor="t">
            <a:spAutoFit/>
          </a:bodyPr>
          <a:lstStyle/>
          <a:p>
            <a:pPr algn="l">
              <a:lnSpc>
                <a:spcPts val="2666"/>
              </a:lnSpc>
            </a:pPr>
            <a:r>
              <a:rPr lang="en-US" sz="1904" i="1" spc="-38">
                <a:solidFill>
                  <a:srgbClr val="FFFFFF"/>
                </a:solidFill>
                <a:latin typeface="Poppins Italics"/>
                <a:ea typeface="Poppins Italics"/>
                <a:cs typeface="Poppins Italics"/>
                <a:sym typeface="Poppins Italics"/>
              </a:rPr>
              <a:t>Logical + emotional</a:t>
            </a:r>
          </a:p>
        </p:txBody>
      </p:sp>
      <p:sp>
        <p:nvSpPr>
          <p:cNvPr id="35" name="TextBox 35"/>
          <p:cNvSpPr txBox="1"/>
          <p:nvPr/>
        </p:nvSpPr>
        <p:spPr>
          <a:xfrm>
            <a:off x="4414490" y="4698750"/>
            <a:ext cx="1604907" cy="391686"/>
          </a:xfrm>
          <a:prstGeom prst="rect">
            <a:avLst/>
          </a:prstGeom>
        </p:spPr>
        <p:txBody>
          <a:bodyPr lIns="0" tIns="0" rIns="0" bIns="0" rtlCol="0" anchor="t">
            <a:spAutoFit/>
          </a:bodyPr>
          <a:lstStyle/>
          <a:p>
            <a:pPr algn="l">
              <a:lnSpc>
                <a:spcPts val="3086"/>
              </a:lnSpc>
            </a:pPr>
            <a:r>
              <a:rPr lang="en-US" sz="2204" b="1" i="1" spc="-44">
                <a:solidFill>
                  <a:srgbClr val="FFFFFF"/>
                </a:solidFill>
                <a:latin typeface="Poppins Bold Italics"/>
                <a:ea typeface="Poppins Bold Italics"/>
                <a:cs typeface="Poppins Bold Italics"/>
                <a:sym typeface="Poppins Bold Italics"/>
              </a:rPr>
              <a:t>Risk</a:t>
            </a:r>
          </a:p>
        </p:txBody>
      </p:sp>
      <p:sp>
        <p:nvSpPr>
          <p:cNvPr id="36" name="TextBox 36"/>
          <p:cNvSpPr txBox="1"/>
          <p:nvPr/>
        </p:nvSpPr>
        <p:spPr>
          <a:xfrm>
            <a:off x="7462207" y="4698750"/>
            <a:ext cx="1604907" cy="391752"/>
          </a:xfrm>
          <a:prstGeom prst="rect">
            <a:avLst/>
          </a:prstGeom>
        </p:spPr>
        <p:txBody>
          <a:bodyPr lIns="0" tIns="0" rIns="0" bIns="0" rtlCol="0" anchor="t">
            <a:spAutoFit/>
          </a:bodyPr>
          <a:lstStyle/>
          <a:p>
            <a:pPr algn="l">
              <a:lnSpc>
                <a:spcPts val="3086"/>
              </a:lnSpc>
            </a:pPr>
            <a:r>
              <a:rPr lang="en-US" sz="2204" b="1" i="1" spc="-44">
                <a:solidFill>
                  <a:srgbClr val="FFFFFF"/>
                </a:solidFill>
                <a:latin typeface="Poppins Bold Italics"/>
                <a:ea typeface="Poppins Bold Italics"/>
                <a:cs typeface="Poppins Bold Italics"/>
                <a:sym typeface="Poppins Bold Italics"/>
              </a:rPr>
              <a:t>Ai</a:t>
            </a:r>
          </a:p>
        </p:txBody>
      </p:sp>
      <p:sp>
        <p:nvSpPr>
          <p:cNvPr id="37" name="TextBox 37"/>
          <p:cNvSpPr txBox="1"/>
          <p:nvPr/>
        </p:nvSpPr>
        <p:spPr>
          <a:xfrm>
            <a:off x="10380426" y="4698750"/>
            <a:ext cx="2993780" cy="391686"/>
          </a:xfrm>
          <a:prstGeom prst="rect">
            <a:avLst/>
          </a:prstGeom>
        </p:spPr>
        <p:txBody>
          <a:bodyPr lIns="0" tIns="0" rIns="0" bIns="0" rtlCol="0" anchor="t">
            <a:spAutoFit/>
          </a:bodyPr>
          <a:lstStyle/>
          <a:p>
            <a:pPr algn="l">
              <a:lnSpc>
                <a:spcPts val="3086"/>
              </a:lnSpc>
            </a:pPr>
            <a:r>
              <a:rPr lang="en-US" sz="2204" b="1" i="1" spc="-44">
                <a:solidFill>
                  <a:srgbClr val="FFFFFF"/>
                </a:solidFill>
                <a:latin typeface="Poppins Bold Italics"/>
                <a:ea typeface="Poppins Bold Italics"/>
                <a:cs typeface="Poppins Bold Italics"/>
                <a:sym typeface="Poppins Bold Italics"/>
              </a:rPr>
              <a:t>Human Intelligence</a:t>
            </a:r>
          </a:p>
        </p:txBody>
      </p:sp>
      <p:sp>
        <p:nvSpPr>
          <p:cNvPr id="38" name="AutoShape 38"/>
          <p:cNvSpPr/>
          <p:nvPr/>
        </p:nvSpPr>
        <p:spPr>
          <a:xfrm flipH="1">
            <a:off x="6743840" y="5166636"/>
            <a:ext cx="0" cy="1958198"/>
          </a:xfrm>
          <a:prstGeom prst="line">
            <a:avLst/>
          </a:prstGeom>
          <a:ln w="38100" cap="flat">
            <a:solidFill>
              <a:srgbClr val="FFFFFF"/>
            </a:solidFill>
            <a:prstDash val="solid"/>
            <a:headEnd type="none" w="sm" len="sm"/>
            <a:tailEnd type="none" w="sm" len="sm"/>
          </a:ln>
        </p:spPr>
      </p:sp>
      <p:sp>
        <p:nvSpPr>
          <p:cNvPr id="39" name="AutoShape 39"/>
          <p:cNvSpPr/>
          <p:nvPr/>
        </p:nvSpPr>
        <p:spPr>
          <a:xfrm>
            <a:off x="9788484" y="5166636"/>
            <a:ext cx="0" cy="1958198"/>
          </a:xfrm>
          <a:prstGeom prst="line">
            <a:avLst/>
          </a:prstGeom>
          <a:ln w="38100" cap="flat">
            <a:solidFill>
              <a:srgbClr val="FFFFFF"/>
            </a:solidFill>
            <a:prstDash val="solid"/>
            <a:headEnd type="none" w="sm" len="sm"/>
            <a:tailEnd type="none" w="sm" len="sm"/>
          </a:ln>
        </p:spPr>
      </p:sp>
      <p:sp>
        <p:nvSpPr>
          <p:cNvPr id="40" name="Freeform 40"/>
          <p:cNvSpPr/>
          <p:nvPr/>
        </p:nvSpPr>
        <p:spPr>
          <a:xfrm>
            <a:off x="-588352" y="7229657"/>
            <a:ext cx="4109657" cy="4114800"/>
          </a:xfrm>
          <a:custGeom>
            <a:avLst/>
            <a:gdLst/>
            <a:ahLst/>
            <a:cxnLst/>
            <a:rect l="l" t="t" r="r" b="b"/>
            <a:pathLst>
              <a:path w="4109657" h="4114800">
                <a:moveTo>
                  <a:pt x="0" y="0"/>
                </a:moveTo>
                <a:lnTo>
                  <a:pt x="4109657" y="0"/>
                </a:lnTo>
                <a:lnTo>
                  <a:pt x="4109657" y="4114800"/>
                </a:lnTo>
                <a:lnTo>
                  <a:pt x="0" y="4114800"/>
                </a:lnTo>
                <a:lnTo>
                  <a:pt x="0" y="0"/>
                </a:lnTo>
                <a:close/>
              </a:path>
            </a:pathLst>
          </a:custGeom>
          <a:blipFill>
            <a:blip>
              <a:alphaModFix amt="27000"/>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1257824" y="-769913"/>
            <a:ext cx="10836329" cy="11826826"/>
          </a:xfrm>
          <a:custGeom>
            <a:avLst/>
            <a:gdLst/>
            <a:ahLst/>
            <a:cxnLst/>
            <a:rect l="l" t="t" r="r" b="b"/>
            <a:pathLst>
              <a:path w="10836329" h="11826826">
                <a:moveTo>
                  <a:pt x="0" y="0"/>
                </a:moveTo>
                <a:lnTo>
                  <a:pt x="10836329" y="0"/>
                </a:lnTo>
                <a:lnTo>
                  <a:pt x="10836329" y="11826826"/>
                </a:lnTo>
                <a:lnTo>
                  <a:pt x="0" y="11826826"/>
                </a:lnTo>
                <a:lnTo>
                  <a:pt x="0" y="0"/>
                </a:lnTo>
                <a:close/>
              </a:path>
            </a:pathLst>
          </a:custGeom>
          <a:blipFill>
            <a:blip r:embed="rId3">
              <a:alphaModFix amt="35000"/>
            </a:blip>
            <a:stretch>
              <a:fillRect/>
            </a:stretch>
          </a:blipFill>
        </p:spPr>
      </p:sp>
      <p:sp>
        <p:nvSpPr>
          <p:cNvPr id="4" name="Freeform 4"/>
          <p:cNvSpPr/>
          <p:nvPr/>
        </p:nvSpPr>
        <p:spPr>
          <a:xfrm>
            <a:off x="8975154" y="-1523406"/>
            <a:ext cx="4038802" cy="4028705"/>
          </a:xfrm>
          <a:custGeom>
            <a:avLst/>
            <a:gdLst/>
            <a:ahLst/>
            <a:cxnLst/>
            <a:rect l="l" t="t" r="r" b="b"/>
            <a:pathLst>
              <a:path w="4038802" h="4028705">
                <a:moveTo>
                  <a:pt x="0" y="0"/>
                </a:moveTo>
                <a:lnTo>
                  <a:pt x="4038802" y="0"/>
                </a:lnTo>
                <a:lnTo>
                  <a:pt x="4038802" y="4028705"/>
                </a:lnTo>
                <a:lnTo>
                  <a:pt x="0" y="402870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816931" y="7319431"/>
            <a:ext cx="2206708" cy="2201192"/>
          </a:xfrm>
          <a:custGeom>
            <a:avLst/>
            <a:gdLst/>
            <a:ahLst/>
            <a:cxnLst/>
            <a:rect l="l" t="t" r="r" b="b"/>
            <a:pathLst>
              <a:path w="2206708" h="2201192">
                <a:moveTo>
                  <a:pt x="0" y="0"/>
                </a:moveTo>
                <a:lnTo>
                  <a:pt x="2206708" y="0"/>
                </a:lnTo>
                <a:lnTo>
                  <a:pt x="2206708" y="2201191"/>
                </a:lnTo>
                <a:lnTo>
                  <a:pt x="0" y="22011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6896135" y="8362402"/>
            <a:ext cx="558337" cy="656867"/>
          </a:xfrm>
          <a:custGeom>
            <a:avLst/>
            <a:gdLst/>
            <a:ahLst/>
            <a:cxnLst/>
            <a:rect l="l" t="t" r="r" b="b"/>
            <a:pathLst>
              <a:path w="558337" h="656867">
                <a:moveTo>
                  <a:pt x="0" y="0"/>
                </a:moveTo>
                <a:lnTo>
                  <a:pt x="558337" y="0"/>
                </a:lnTo>
                <a:lnTo>
                  <a:pt x="558337" y="656867"/>
                </a:lnTo>
                <a:lnTo>
                  <a:pt x="0" y="65686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a:off x="9299337" y="3341812"/>
            <a:ext cx="279168" cy="328433"/>
          </a:xfrm>
          <a:custGeom>
            <a:avLst/>
            <a:gdLst/>
            <a:ahLst/>
            <a:cxnLst/>
            <a:rect l="l" t="t" r="r" b="b"/>
            <a:pathLst>
              <a:path w="279168" h="328433">
                <a:moveTo>
                  <a:pt x="0" y="0"/>
                </a:moveTo>
                <a:lnTo>
                  <a:pt x="279168" y="0"/>
                </a:lnTo>
                <a:lnTo>
                  <a:pt x="279168" y="328433"/>
                </a:lnTo>
                <a:lnTo>
                  <a:pt x="0" y="328433"/>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a:off x="1454381" y="2620348"/>
            <a:ext cx="6760198" cy="6111219"/>
            <a:chOff x="0" y="0"/>
            <a:chExt cx="6350000" cy="5740400"/>
          </a:xfrm>
        </p:grpSpPr>
        <p:sp>
          <p:nvSpPr>
            <p:cNvPr id="9" name="Freeform 9"/>
            <p:cNvSpPr/>
            <p:nvPr/>
          </p:nvSpPr>
          <p:spPr>
            <a:xfrm>
              <a:off x="0" y="0"/>
              <a:ext cx="6351270" cy="5741670"/>
            </a:xfrm>
            <a:custGeom>
              <a:avLst/>
              <a:gdLst/>
              <a:ahLst/>
              <a:cxnLst/>
              <a:rect l="l" t="t" r="r" b="b"/>
              <a:pathLst>
                <a:path w="6351270" h="5741670">
                  <a:moveTo>
                    <a:pt x="0" y="542290"/>
                  </a:moveTo>
                  <a:lnTo>
                    <a:pt x="0" y="2392680"/>
                  </a:lnTo>
                  <a:cubicBezTo>
                    <a:pt x="0" y="2691130"/>
                    <a:pt x="242570" y="2933700"/>
                    <a:pt x="542290" y="2933700"/>
                  </a:cubicBezTo>
                  <a:lnTo>
                    <a:pt x="1148080" y="2933700"/>
                  </a:lnTo>
                  <a:cubicBezTo>
                    <a:pt x="1447800" y="2933700"/>
                    <a:pt x="1690370" y="3176270"/>
                    <a:pt x="1690370" y="3475990"/>
                  </a:cubicBezTo>
                  <a:lnTo>
                    <a:pt x="1690370" y="5199380"/>
                  </a:lnTo>
                  <a:cubicBezTo>
                    <a:pt x="1690370" y="5499100"/>
                    <a:pt x="1932940" y="5741670"/>
                    <a:pt x="2232660" y="5741670"/>
                  </a:cubicBezTo>
                  <a:lnTo>
                    <a:pt x="3599180" y="5741670"/>
                  </a:lnTo>
                  <a:cubicBezTo>
                    <a:pt x="3735070" y="5741670"/>
                    <a:pt x="3867150" y="5689600"/>
                    <a:pt x="3967480" y="5598160"/>
                  </a:cubicBezTo>
                  <a:lnTo>
                    <a:pt x="6177280" y="3553460"/>
                  </a:lnTo>
                  <a:cubicBezTo>
                    <a:pt x="6287770" y="3450590"/>
                    <a:pt x="6351270" y="3307080"/>
                    <a:pt x="6351270" y="3155950"/>
                  </a:cubicBezTo>
                  <a:lnTo>
                    <a:pt x="6351270" y="542290"/>
                  </a:lnTo>
                  <a:cubicBezTo>
                    <a:pt x="6350000" y="242570"/>
                    <a:pt x="6107430" y="0"/>
                    <a:pt x="5807710" y="0"/>
                  </a:cubicBezTo>
                  <a:lnTo>
                    <a:pt x="542290" y="0"/>
                  </a:lnTo>
                  <a:cubicBezTo>
                    <a:pt x="242570" y="0"/>
                    <a:pt x="0" y="242570"/>
                    <a:pt x="0" y="542290"/>
                  </a:cubicBezTo>
                  <a:close/>
                </a:path>
              </a:pathLst>
            </a:custGeom>
            <a:blipFill>
              <a:blip r:embed="rId6"/>
              <a:stretch>
                <a:fillRect l="-25334" r="-25334"/>
              </a:stretch>
            </a:blipFill>
          </p:spPr>
        </p:sp>
      </p:grpSp>
      <p:sp>
        <p:nvSpPr>
          <p:cNvPr id="10" name="Freeform 10"/>
          <p:cNvSpPr/>
          <p:nvPr/>
        </p:nvSpPr>
        <p:spPr>
          <a:xfrm>
            <a:off x="16719293" y="932561"/>
            <a:ext cx="270004" cy="434243"/>
          </a:xfrm>
          <a:custGeom>
            <a:avLst/>
            <a:gdLst/>
            <a:ahLst/>
            <a:cxnLst/>
            <a:rect l="l" t="t" r="r" b="b"/>
            <a:pathLst>
              <a:path w="270004" h="434243">
                <a:moveTo>
                  <a:pt x="0" y="0"/>
                </a:moveTo>
                <a:lnTo>
                  <a:pt x="270003" y="0"/>
                </a:lnTo>
                <a:lnTo>
                  <a:pt x="270003" y="434243"/>
                </a:lnTo>
                <a:lnTo>
                  <a:pt x="0" y="434243"/>
                </a:lnTo>
                <a:lnTo>
                  <a:pt x="0" y="0"/>
                </a:lnTo>
                <a:close/>
              </a:path>
            </a:pathLst>
          </a:custGeom>
          <a:blipFill>
            <a:blip>
              <a:extLst>
                <a:ext uri="{96DAC541-7B7A-43D3-8B79-37D633B846F1}">
                  <asvg:svgBlip xmlns:asvg="http://schemas.microsoft.com/office/drawing/2016/SVG/main" r:embed="rId7"/>
                </a:ext>
              </a:extLst>
            </a:blip>
            <a:stretch>
              <a:fillRect l="-327450"/>
            </a:stretch>
          </a:blipFill>
        </p:spPr>
      </p:sp>
      <p:sp>
        <p:nvSpPr>
          <p:cNvPr id="11" name="TextBox 11"/>
          <p:cNvSpPr txBox="1"/>
          <p:nvPr/>
        </p:nvSpPr>
        <p:spPr>
          <a:xfrm>
            <a:off x="11423116" y="3220551"/>
            <a:ext cx="5132578" cy="1857121"/>
          </a:xfrm>
          <a:prstGeom prst="rect">
            <a:avLst/>
          </a:prstGeom>
        </p:spPr>
        <p:txBody>
          <a:bodyPr lIns="0" tIns="0" rIns="0" bIns="0" rtlCol="0" anchor="t">
            <a:spAutoFit/>
          </a:bodyPr>
          <a:lstStyle/>
          <a:p>
            <a:pPr algn="r">
              <a:lnSpc>
                <a:spcPts val="7165"/>
              </a:lnSpc>
            </a:pPr>
            <a:r>
              <a:rPr lang="en-US" sz="7094">
                <a:solidFill>
                  <a:srgbClr val="FFFFFF"/>
                </a:solidFill>
                <a:latin typeface="League Spartan"/>
                <a:ea typeface="League Spartan"/>
                <a:cs typeface="League Spartan"/>
                <a:sym typeface="League Spartan"/>
              </a:rPr>
              <a:t>Final Thoughts</a:t>
            </a:r>
          </a:p>
        </p:txBody>
      </p:sp>
      <p:sp>
        <p:nvSpPr>
          <p:cNvPr id="12" name="TextBox 12"/>
          <p:cNvSpPr txBox="1"/>
          <p:nvPr/>
        </p:nvSpPr>
        <p:spPr>
          <a:xfrm>
            <a:off x="10994555" y="5858722"/>
            <a:ext cx="5670542" cy="328039"/>
          </a:xfrm>
          <a:prstGeom prst="rect">
            <a:avLst/>
          </a:prstGeom>
        </p:spPr>
        <p:txBody>
          <a:bodyPr lIns="0" tIns="0" rIns="0" bIns="0" rtlCol="0" anchor="t">
            <a:spAutoFit/>
          </a:bodyPr>
          <a:lstStyle/>
          <a:p>
            <a:pPr algn="r">
              <a:lnSpc>
                <a:spcPts val="2666"/>
              </a:lnSpc>
            </a:pPr>
            <a:r>
              <a:rPr lang="en-US" sz="1904" i="1" spc="-38">
                <a:solidFill>
                  <a:srgbClr val="FFFFFF"/>
                </a:solidFill>
                <a:latin typeface="Poppins Italics"/>
                <a:ea typeface="Poppins Italics"/>
                <a:cs typeface="Poppins Italics"/>
                <a:sym typeface="Poppins Italics"/>
              </a:rPr>
              <a:t>@powerpointrus</a:t>
            </a:r>
            <a:endParaRPr lang="en-US" sz="1904" i="1" spc="-38" dirty="0">
              <a:solidFill>
                <a:srgbClr val="FFFFFF"/>
              </a:solidFill>
              <a:latin typeface="Poppins Italics"/>
              <a:ea typeface="Poppins Italics"/>
              <a:cs typeface="Poppins Italics"/>
              <a:sym typeface="Poppins Italics"/>
            </a:endParaRPr>
          </a:p>
        </p:txBody>
      </p:sp>
      <p:sp>
        <p:nvSpPr>
          <p:cNvPr id="13" name="TextBox 13"/>
          <p:cNvSpPr txBox="1"/>
          <p:nvPr/>
        </p:nvSpPr>
        <p:spPr>
          <a:xfrm>
            <a:off x="12336794" y="7734402"/>
            <a:ext cx="4328304" cy="1008906"/>
          </a:xfrm>
          <a:prstGeom prst="rect">
            <a:avLst/>
          </a:prstGeom>
        </p:spPr>
        <p:txBody>
          <a:bodyPr lIns="0" tIns="0" rIns="0" bIns="0" rtlCol="0" anchor="t">
            <a:spAutoFit/>
          </a:bodyPr>
          <a:lstStyle/>
          <a:p>
            <a:pPr algn="r">
              <a:lnSpc>
                <a:spcPts val="2666"/>
              </a:lnSpc>
            </a:pPr>
            <a:r>
              <a:rPr lang="en-US" sz="1904" i="1" spc="-38">
                <a:solidFill>
                  <a:srgbClr val="FFFFFF"/>
                </a:solidFill>
                <a:latin typeface="Poppins Italics"/>
                <a:ea typeface="Poppins Italics"/>
                <a:cs typeface="Poppins Italics"/>
                <a:sym typeface="Poppins Italics"/>
              </a:rPr>
              <a:t>+123-456-7890</a:t>
            </a:r>
          </a:p>
          <a:p>
            <a:pPr algn="r">
              <a:lnSpc>
                <a:spcPts val="2666"/>
              </a:lnSpc>
            </a:pPr>
            <a:r>
              <a:rPr lang="en-US" sz="1904" i="1" spc="-38">
                <a:solidFill>
                  <a:srgbClr val="FFFFFF"/>
                </a:solidFill>
                <a:latin typeface="Poppins Italics"/>
                <a:ea typeface="Poppins Italics"/>
                <a:cs typeface="Poppins Italics"/>
                <a:sym typeface="Poppins Italics"/>
              </a:rPr>
              <a:t>www.reallygreatsite.com</a:t>
            </a:r>
          </a:p>
          <a:p>
            <a:pPr algn="r">
              <a:lnSpc>
                <a:spcPts val="2666"/>
              </a:lnSpc>
            </a:pPr>
            <a:r>
              <a:rPr lang="en-US" sz="1904" i="1" spc="-38">
                <a:solidFill>
                  <a:srgbClr val="FFFFFF"/>
                </a:solidFill>
                <a:latin typeface="Poppins Italics"/>
                <a:ea typeface="Poppins Italics"/>
                <a:cs typeface="Poppins Italics"/>
                <a:sym typeface="Poppins Italics"/>
              </a:rPr>
              <a:t>@reallygreatsite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469</Words>
  <Application>Microsoft Office PowerPoint</Application>
  <PresentationFormat>Произвольный</PresentationFormat>
  <Paragraphs>100</Paragraphs>
  <Slides>10</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10</vt:i4>
      </vt:variant>
    </vt:vector>
  </HeadingPairs>
  <TitlesOfParts>
    <vt:vector size="16" baseType="lpstr">
      <vt:lpstr>Calibri</vt:lpstr>
      <vt:lpstr>League Spartan</vt:lpstr>
      <vt:lpstr>Arial</vt:lpstr>
      <vt:lpstr>Poppins Bold Italics</vt:lpstr>
      <vt:lpstr>Poppins Italics</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And Blue Modern Gradient Artificial Intelligence Technology Presentation</dc:title>
  <cp:lastModifiedBy>sekal sekal</cp:lastModifiedBy>
  <cp:revision>2</cp:revision>
  <dcterms:created xsi:type="dcterms:W3CDTF">2006-08-16T00:00:00Z</dcterms:created>
  <dcterms:modified xsi:type="dcterms:W3CDTF">2026-04-20T00:28:17Z</dcterms:modified>
  <dc:identifier>DAHHVnfpJVo</dc:identifier>
</cp:coreProperties>
</file>