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Arimo" panose="020B0604020202020204" charset="0"/>
      <p:regular r:id="rId12"/>
    </p:embeddedFont>
    <p:embeddedFont>
      <p:font typeface="Arimo Bold"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516"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 Id="rId9" Type="http://schemas.openxmlformats.org/officeDocument/2006/relationships/image" Target="../media/image14.svg"/></Relationships>
</file>

<file path=ppt/slides/_rels/slide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9.sv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png"/><Relationship Id="rId9" Type="http://schemas.openxmlformats.org/officeDocument/2006/relationships/image" Target="../media/image27.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slideLayout" Target="../slideLayouts/slideLayout7.xml"/><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eg"/><Relationship Id="rId1" Type="http://schemas.openxmlformats.org/officeDocument/2006/relationships/slideLayout" Target="../slideLayouts/slideLayout7.xml"/><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86823" y="0"/>
            <a:ext cx="3385761" cy="1995819"/>
            <a:chOff x="0" y="0"/>
            <a:chExt cx="4514348" cy="2661092"/>
          </a:xfrm>
        </p:grpSpPr>
        <p:sp>
          <p:nvSpPr>
            <p:cNvPr id="3" name="Freeform 3"/>
            <p:cNvSpPr/>
            <p:nvPr/>
          </p:nvSpPr>
          <p:spPr>
            <a:xfrm>
              <a:off x="0" y="0"/>
              <a:ext cx="4514342" cy="2661031"/>
            </a:xfrm>
            <a:custGeom>
              <a:avLst/>
              <a:gdLst/>
              <a:ahLst/>
              <a:cxnLst/>
              <a:rect l="l" t="t" r="r" b="b"/>
              <a:pathLst>
                <a:path w="4514342" h="2661031">
                  <a:moveTo>
                    <a:pt x="543687" y="0"/>
                  </a:moveTo>
                  <a:lnTo>
                    <a:pt x="4514342" y="0"/>
                  </a:lnTo>
                  <a:lnTo>
                    <a:pt x="2978023" y="2661031"/>
                  </a:lnTo>
                  <a:lnTo>
                    <a:pt x="0" y="941705"/>
                  </a:lnTo>
                  <a:close/>
                </a:path>
              </a:pathLst>
            </a:custGeom>
            <a:solidFill>
              <a:srgbClr val="004AAD"/>
            </a:solidFill>
          </p:spPr>
        </p:sp>
      </p:grpSp>
      <p:grpSp>
        <p:nvGrpSpPr>
          <p:cNvPr id="4" name="Group 4"/>
          <p:cNvGrpSpPr/>
          <p:nvPr/>
        </p:nvGrpSpPr>
        <p:grpSpPr>
          <a:xfrm>
            <a:off x="0" y="0"/>
            <a:ext cx="2783602" cy="3492784"/>
            <a:chOff x="0" y="0"/>
            <a:chExt cx="3711470" cy="4657046"/>
          </a:xfrm>
        </p:grpSpPr>
        <p:sp>
          <p:nvSpPr>
            <p:cNvPr id="5" name="Freeform 5"/>
            <p:cNvSpPr/>
            <p:nvPr/>
          </p:nvSpPr>
          <p:spPr>
            <a:xfrm>
              <a:off x="0" y="0"/>
              <a:ext cx="3711448" cy="4657090"/>
            </a:xfrm>
            <a:custGeom>
              <a:avLst/>
              <a:gdLst/>
              <a:ahLst/>
              <a:cxnLst/>
              <a:rect l="l" t="t" r="r" b="b"/>
              <a:pathLst>
                <a:path w="3711448" h="4657090">
                  <a:moveTo>
                    <a:pt x="0" y="0"/>
                  </a:moveTo>
                  <a:lnTo>
                    <a:pt x="3711448" y="0"/>
                  </a:lnTo>
                  <a:lnTo>
                    <a:pt x="1022731" y="4657090"/>
                  </a:lnTo>
                  <a:lnTo>
                    <a:pt x="0" y="4066540"/>
                  </a:lnTo>
                  <a:close/>
                </a:path>
              </a:pathLst>
            </a:custGeom>
            <a:solidFill>
              <a:srgbClr val="5271FF"/>
            </a:solidFill>
          </p:spPr>
        </p:sp>
      </p:grpSp>
      <p:grpSp>
        <p:nvGrpSpPr>
          <p:cNvPr id="6" name="Group 6"/>
          <p:cNvGrpSpPr/>
          <p:nvPr/>
        </p:nvGrpSpPr>
        <p:grpSpPr>
          <a:xfrm>
            <a:off x="11290256" y="0"/>
            <a:ext cx="5682963" cy="5981843"/>
            <a:chOff x="0" y="0"/>
            <a:chExt cx="7591316" cy="7990560"/>
          </a:xfrm>
        </p:grpSpPr>
        <p:sp>
          <p:nvSpPr>
            <p:cNvPr id="7" name="Freeform 7"/>
            <p:cNvSpPr/>
            <p:nvPr/>
          </p:nvSpPr>
          <p:spPr>
            <a:xfrm>
              <a:off x="0" y="0"/>
              <a:ext cx="7591298" cy="7990586"/>
            </a:xfrm>
            <a:custGeom>
              <a:avLst/>
              <a:gdLst/>
              <a:ahLst/>
              <a:cxnLst/>
              <a:rect l="l" t="t" r="r" b="b"/>
              <a:pathLst>
                <a:path w="7591298" h="7990586">
                  <a:moveTo>
                    <a:pt x="3620643" y="0"/>
                  </a:moveTo>
                  <a:lnTo>
                    <a:pt x="7591298" y="0"/>
                  </a:lnTo>
                  <a:lnTo>
                    <a:pt x="2978023" y="7990586"/>
                  </a:lnTo>
                  <a:lnTo>
                    <a:pt x="0" y="6271260"/>
                  </a:lnTo>
                  <a:close/>
                </a:path>
              </a:pathLst>
            </a:custGeom>
            <a:solidFill>
              <a:srgbClr val="004AAD"/>
            </a:solidFill>
          </p:spPr>
        </p:sp>
      </p:grpSp>
      <p:grpSp>
        <p:nvGrpSpPr>
          <p:cNvPr id="8" name="Group 8"/>
          <p:cNvGrpSpPr/>
          <p:nvPr/>
        </p:nvGrpSpPr>
        <p:grpSpPr>
          <a:xfrm>
            <a:off x="13639160" y="19015"/>
            <a:ext cx="4648840" cy="4487644"/>
            <a:chOff x="0" y="0"/>
            <a:chExt cx="6209932" cy="5994606"/>
          </a:xfrm>
        </p:grpSpPr>
        <p:sp>
          <p:nvSpPr>
            <p:cNvPr id="9" name="Freeform 9"/>
            <p:cNvSpPr/>
            <p:nvPr/>
          </p:nvSpPr>
          <p:spPr>
            <a:xfrm>
              <a:off x="0" y="0"/>
              <a:ext cx="6209919" cy="5994654"/>
            </a:xfrm>
            <a:custGeom>
              <a:avLst/>
              <a:gdLst/>
              <a:ahLst/>
              <a:cxnLst/>
              <a:rect l="l" t="t" r="r" b="b"/>
              <a:pathLst>
                <a:path w="6209919" h="5994654">
                  <a:moveTo>
                    <a:pt x="2468372" y="0"/>
                  </a:moveTo>
                  <a:lnTo>
                    <a:pt x="6209919" y="0"/>
                  </a:lnTo>
                  <a:lnTo>
                    <a:pt x="6209919" y="396621"/>
                  </a:lnTo>
                  <a:lnTo>
                    <a:pt x="2978023" y="5994654"/>
                  </a:lnTo>
                  <a:lnTo>
                    <a:pt x="0" y="4275328"/>
                  </a:lnTo>
                  <a:close/>
                </a:path>
              </a:pathLst>
            </a:custGeom>
            <a:solidFill>
              <a:srgbClr val="5271FF"/>
            </a:solidFill>
          </p:spPr>
        </p:sp>
      </p:grpSp>
      <p:grpSp>
        <p:nvGrpSpPr>
          <p:cNvPr id="10" name="Group 10"/>
          <p:cNvGrpSpPr/>
          <p:nvPr/>
        </p:nvGrpSpPr>
        <p:grpSpPr>
          <a:xfrm>
            <a:off x="12531222" y="4506657"/>
            <a:ext cx="5566628" cy="5780343"/>
            <a:chOff x="0" y="0"/>
            <a:chExt cx="7435916" cy="7721396"/>
          </a:xfrm>
        </p:grpSpPr>
        <p:sp>
          <p:nvSpPr>
            <p:cNvPr id="11" name="Freeform 11"/>
            <p:cNvSpPr/>
            <p:nvPr/>
          </p:nvSpPr>
          <p:spPr>
            <a:xfrm>
              <a:off x="0" y="0"/>
              <a:ext cx="7435977" cy="7721346"/>
            </a:xfrm>
            <a:custGeom>
              <a:avLst/>
              <a:gdLst/>
              <a:ahLst/>
              <a:cxnLst/>
              <a:rect l="l" t="t" r="r" b="b"/>
              <a:pathLst>
                <a:path w="7435977" h="7721346">
                  <a:moveTo>
                    <a:pt x="4457954" y="0"/>
                  </a:moveTo>
                  <a:lnTo>
                    <a:pt x="7435977" y="1719326"/>
                  </a:lnTo>
                  <a:lnTo>
                    <a:pt x="3970655" y="7721346"/>
                  </a:lnTo>
                  <a:lnTo>
                    <a:pt x="0" y="7721346"/>
                  </a:lnTo>
                  <a:close/>
                </a:path>
              </a:pathLst>
            </a:custGeom>
            <a:solidFill>
              <a:srgbClr val="5271FF"/>
            </a:solidFill>
          </p:spPr>
        </p:sp>
      </p:grpSp>
      <p:grpSp>
        <p:nvGrpSpPr>
          <p:cNvPr id="12" name="Group 12"/>
          <p:cNvGrpSpPr/>
          <p:nvPr/>
        </p:nvGrpSpPr>
        <p:grpSpPr>
          <a:xfrm>
            <a:off x="8362823" y="1288873"/>
            <a:ext cx="5276337" cy="5277547"/>
            <a:chOff x="0" y="0"/>
            <a:chExt cx="7048144" cy="7049760"/>
          </a:xfrm>
        </p:grpSpPr>
        <p:sp>
          <p:nvSpPr>
            <p:cNvPr id="13" name="Freeform 13"/>
            <p:cNvSpPr/>
            <p:nvPr/>
          </p:nvSpPr>
          <p:spPr>
            <a:xfrm>
              <a:off x="0" y="0"/>
              <a:ext cx="7048119" cy="7049770"/>
            </a:xfrm>
            <a:custGeom>
              <a:avLst/>
              <a:gdLst/>
              <a:ahLst/>
              <a:cxnLst/>
              <a:rect l="l" t="t" r="r" b="b"/>
              <a:pathLst>
                <a:path w="7048119" h="7049770">
                  <a:moveTo>
                    <a:pt x="2581148" y="0"/>
                  </a:moveTo>
                  <a:lnTo>
                    <a:pt x="7048119" y="2578989"/>
                  </a:lnTo>
                  <a:lnTo>
                    <a:pt x="4466971" y="7049770"/>
                  </a:lnTo>
                  <a:lnTo>
                    <a:pt x="0" y="4470781"/>
                  </a:lnTo>
                  <a:close/>
                </a:path>
              </a:pathLst>
            </a:custGeom>
            <a:blipFill>
              <a:blip r:embed="rId2"/>
              <a:stretch>
                <a:fillRect l="-31651" r="-31651"/>
              </a:stretch>
            </a:blipFill>
          </p:spPr>
        </p:sp>
      </p:grpSp>
      <p:sp>
        <p:nvSpPr>
          <p:cNvPr id="14" name="Freeform 14"/>
          <p:cNvSpPr/>
          <p:nvPr/>
        </p:nvSpPr>
        <p:spPr>
          <a:xfrm>
            <a:off x="1028700" y="3897129"/>
            <a:ext cx="1031696" cy="1031696"/>
          </a:xfrm>
          <a:custGeom>
            <a:avLst/>
            <a:gdLst/>
            <a:ahLst/>
            <a:cxnLst/>
            <a:rect l="l" t="t" r="r" b="b"/>
            <a:pathLst>
              <a:path w="1031696" h="1031696">
                <a:moveTo>
                  <a:pt x="0" y="0"/>
                </a:moveTo>
                <a:lnTo>
                  <a:pt x="1031696" y="0"/>
                </a:lnTo>
                <a:lnTo>
                  <a:pt x="1031696" y="1031696"/>
                </a:lnTo>
                <a:lnTo>
                  <a:pt x="0" y="103169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5" name="TextBox 15"/>
          <p:cNvSpPr txBox="1"/>
          <p:nvPr/>
        </p:nvSpPr>
        <p:spPr>
          <a:xfrm>
            <a:off x="1028700" y="5114925"/>
            <a:ext cx="5917777" cy="3190875"/>
          </a:xfrm>
          <a:prstGeom prst="rect">
            <a:avLst/>
          </a:prstGeom>
        </p:spPr>
        <p:txBody>
          <a:bodyPr lIns="0" tIns="0" rIns="0" bIns="0" rtlCol="0" anchor="t">
            <a:spAutoFit/>
          </a:bodyPr>
          <a:lstStyle/>
          <a:p>
            <a:pPr algn="l">
              <a:lnSpc>
                <a:spcPts val="12480"/>
              </a:lnSpc>
            </a:pPr>
            <a:r>
              <a:rPr lang="en-US" sz="10400" b="1">
                <a:solidFill>
                  <a:srgbClr val="5271FF"/>
                </a:solidFill>
                <a:latin typeface="Arimo Bold"/>
                <a:ea typeface="Arimo Bold"/>
                <a:cs typeface="Arimo Bold"/>
                <a:sym typeface="Arimo Bold"/>
              </a:rPr>
              <a:t>WORK</a:t>
            </a:r>
          </a:p>
          <a:p>
            <a:pPr algn="l">
              <a:lnSpc>
                <a:spcPts val="12480"/>
              </a:lnSpc>
            </a:pPr>
            <a:r>
              <a:rPr lang="en-US" sz="10400" b="1">
                <a:solidFill>
                  <a:srgbClr val="5271FF"/>
                </a:solidFill>
                <a:latin typeface="Arimo Bold"/>
                <a:ea typeface="Arimo Bold"/>
                <a:cs typeface="Arimo Bold"/>
                <a:sym typeface="Arimo Bold"/>
              </a:rPr>
              <a:t>REPORT</a:t>
            </a:r>
          </a:p>
        </p:txBody>
      </p:sp>
      <p:sp>
        <p:nvSpPr>
          <p:cNvPr id="16" name="TextBox 16"/>
          <p:cNvSpPr txBox="1"/>
          <p:nvPr/>
        </p:nvSpPr>
        <p:spPr>
          <a:xfrm>
            <a:off x="1028700" y="8627453"/>
            <a:ext cx="5917777" cy="599440"/>
          </a:xfrm>
          <a:prstGeom prst="rect">
            <a:avLst/>
          </a:prstGeom>
        </p:spPr>
        <p:txBody>
          <a:bodyPr lIns="0" tIns="0" rIns="0" bIns="0" rtlCol="0" anchor="t">
            <a:spAutoFit/>
          </a:bodyPr>
          <a:lstStyle/>
          <a:p>
            <a:pPr algn="l">
              <a:lnSpc>
                <a:spcPts val="4759"/>
              </a:lnSpc>
            </a:pPr>
            <a:r>
              <a:rPr lang="en-US" sz="3399">
                <a:solidFill>
                  <a:srgbClr val="000000"/>
                </a:solidFill>
                <a:latin typeface="Arimo"/>
                <a:ea typeface="Arimo"/>
                <a:cs typeface="Arimo"/>
                <a:sym typeface="Arimo"/>
              </a:rPr>
              <a:t>www.reallygreatsite.com</a:t>
            </a:r>
          </a:p>
        </p:txBody>
      </p:sp>
      <p:sp>
        <p:nvSpPr>
          <p:cNvPr id="17" name="TextBox 17"/>
          <p:cNvSpPr txBox="1"/>
          <p:nvPr/>
        </p:nvSpPr>
        <p:spPr>
          <a:xfrm>
            <a:off x="2159365" y="3919264"/>
            <a:ext cx="3656448" cy="873125"/>
          </a:xfrm>
          <a:prstGeom prst="rect">
            <a:avLst/>
          </a:prstGeom>
        </p:spPr>
        <p:txBody>
          <a:bodyPr lIns="0" tIns="0" rIns="0" bIns="0" rtlCol="0" anchor="t">
            <a:spAutoFit/>
          </a:bodyPr>
          <a:lstStyle/>
          <a:p>
            <a:pPr algn="l">
              <a:lnSpc>
                <a:spcPts val="6999"/>
              </a:lnSpc>
            </a:pPr>
            <a:r>
              <a:rPr lang="en-US" sz="4999" spc="-99">
                <a:solidFill>
                  <a:srgbClr val="000000"/>
                </a:solidFill>
                <a:latin typeface="Arimo"/>
                <a:ea typeface="Arimo"/>
                <a:cs typeface="Arimo"/>
                <a:sym typeface="Arimo"/>
              </a:rPr>
              <a:t>Larana, Inc.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3088566" cy="1839564"/>
            <a:chOff x="0" y="0"/>
            <a:chExt cx="4118088" cy="2452752"/>
          </a:xfrm>
        </p:grpSpPr>
        <p:sp>
          <p:nvSpPr>
            <p:cNvPr id="3" name="Freeform 3"/>
            <p:cNvSpPr/>
            <p:nvPr/>
          </p:nvSpPr>
          <p:spPr>
            <a:xfrm>
              <a:off x="0" y="0"/>
              <a:ext cx="4118102" cy="2452751"/>
            </a:xfrm>
            <a:custGeom>
              <a:avLst/>
              <a:gdLst/>
              <a:ahLst/>
              <a:cxnLst/>
              <a:rect l="l" t="t" r="r" b="b"/>
              <a:pathLst>
                <a:path w="4118102" h="2452751">
                  <a:moveTo>
                    <a:pt x="0" y="0"/>
                  </a:moveTo>
                  <a:lnTo>
                    <a:pt x="4118102" y="0"/>
                  </a:lnTo>
                  <a:lnTo>
                    <a:pt x="2702052" y="2452751"/>
                  </a:lnTo>
                  <a:lnTo>
                    <a:pt x="0" y="892810"/>
                  </a:lnTo>
                  <a:close/>
                </a:path>
              </a:pathLst>
            </a:custGeom>
            <a:solidFill>
              <a:srgbClr val="004AAD"/>
            </a:solidFill>
          </p:spPr>
        </p:sp>
      </p:grpSp>
      <p:grpSp>
        <p:nvGrpSpPr>
          <p:cNvPr id="4" name="Group 4"/>
          <p:cNvGrpSpPr/>
          <p:nvPr/>
        </p:nvGrpSpPr>
        <p:grpSpPr>
          <a:xfrm>
            <a:off x="0" y="0"/>
            <a:ext cx="1599582" cy="2770557"/>
            <a:chOff x="0" y="0"/>
            <a:chExt cx="2132776" cy="3694076"/>
          </a:xfrm>
        </p:grpSpPr>
        <p:sp>
          <p:nvSpPr>
            <p:cNvPr id="5" name="Freeform 5"/>
            <p:cNvSpPr/>
            <p:nvPr/>
          </p:nvSpPr>
          <p:spPr>
            <a:xfrm>
              <a:off x="0" y="0"/>
              <a:ext cx="2132838" cy="3694049"/>
            </a:xfrm>
            <a:custGeom>
              <a:avLst/>
              <a:gdLst/>
              <a:ahLst/>
              <a:cxnLst/>
              <a:rect l="l" t="t" r="r" b="b"/>
              <a:pathLst>
                <a:path w="2132838" h="3694049">
                  <a:moveTo>
                    <a:pt x="0" y="0"/>
                  </a:moveTo>
                  <a:lnTo>
                    <a:pt x="2132838" y="0"/>
                  </a:lnTo>
                  <a:lnTo>
                    <a:pt x="0" y="3694049"/>
                  </a:lnTo>
                  <a:close/>
                </a:path>
              </a:pathLst>
            </a:custGeom>
            <a:solidFill>
              <a:srgbClr val="5271FF"/>
            </a:solidFill>
          </p:spPr>
        </p:sp>
      </p:grpSp>
      <p:grpSp>
        <p:nvGrpSpPr>
          <p:cNvPr id="6" name="Group 6"/>
          <p:cNvGrpSpPr/>
          <p:nvPr/>
        </p:nvGrpSpPr>
        <p:grpSpPr>
          <a:xfrm>
            <a:off x="15673590" y="8527172"/>
            <a:ext cx="2614410" cy="1759828"/>
            <a:chOff x="0" y="0"/>
            <a:chExt cx="3485880" cy="2346438"/>
          </a:xfrm>
        </p:grpSpPr>
        <p:sp>
          <p:nvSpPr>
            <p:cNvPr id="7" name="Freeform 7"/>
            <p:cNvSpPr/>
            <p:nvPr/>
          </p:nvSpPr>
          <p:spPr>
            <a:xfrm>
              <a:off x="0" y="0"/>
              <a:ext cx="3485896" cy="2346325"/>
            </a:xfrm>
            <a:custGeom>
              <a:avLst/>
              <a:gdLst/>
              <a:ahLst/>
              <a:cxnLst/>
              <a:rect l="l" t="t" r="r" b="b"/>
              <a:pathLst>
                <a:path w="3485896" h="2346325">
                  <a:moveTo>
                    <a:pt x="1354709" y="0"/>
                  </a:moveTo>
                  <a:lnTo>
                    <a:pt x="3485896" y="1230376"/>
                  </a:lnTo>
                  <a:lnTo>
                    <a:pt x="3485896" y="2346325"/>
                  </a:lnTo>
                  <a:lnTo>
                    <a:pt x="0" y="2346325"/>
                  </a:lnTo>
                  <a:close/>
                </a:path>
              </a:pathLst>
            </a:custGeom>
            <a:solidFill>
              <a:srgbClr val="004AAD"/>
            </a:solidFill>
          </p:spPr>
        </p:sp>
      </p:grpSp>
      <p:grpSp>
        <p:nvGrpSpPr>
          <p:cNvPr id="8" name="Group 8"/>
          <p:cNvGrpSpPr/>
          <p:nvPr/>
        </p:nvGrpSpPr>
        <p:grpSpPr>
          <a:xfrm>
            <a:off x="17162574" y="8337702"/>
            <a:ext cx="1125427" cy="1949298"/>
            <a:chOff x="0" y="0"/>
            <a:chExt cx="1500570" cy="2599064"/>
          </a:xfrm>
        </p:grpSpPr>
        <p:sp>
          <p:nvSpPr>
            <p:cNvPr id="9" name="Freeform 9"/>
            <p:cNvSpPr/>
            <p:nvPr/>
          </p:nvSpPr>
          <p:spPr>
            <a:xfrm>
              <a:off x="0" y="0"/>
              <a:ext cx="1500632" cy="2599055"/>
            </a:xfrm>
            <a:custGeom>
              <a:avLst/>
              <a:gdLst/>
              <a:ahLst/>
              <a:cxnLst/>
              <a:rect l="l" t="t" r="r" b="b"/>
              <a:pathLst>
                <a:path w="1500632" h="2599055">
                  <a:moveTo>
                    <a:pt x="1500632" y="0"/>
                  </a:moveTo>
                  <a:lnTo>
                    <a:pt x="1500632" y="2599055"/>
                  </a:lnTo>
                  <a:lnTo>
                    <a:pt x="0" y="2599055"/>
                  </a:lnTo>
                  <a:close/>
                </a:path>
              </a:pathLst>
            </a:custGeom>
            <a:solidFill>
              <a:srgbClr val="5271FF"/>
            </a:solidFill>
          </p:spPr>
        </p:sp>
      </p:grpSp>
      <p:grpSp>
        <p:nvGrpSpPr>
          <p:cNvPr id="10" name="Group 10"/>
          <p:cNvGrpSpPr/>
          <p:nvPr/>
        </p:nvGrpSpPr>
        <p:grpSpPr>
          <a:xfrm>
            <a:off x="1036080" y="2194102"/>
            <a:ext cx="4884370" cy="3094672"/>
            <a:chOff x="0" y="0"/>
            <a:chExt cx="6512494" cy="4126230"/>
          </a:xfrm>
        </p:grpSpPr>
        <p:sp>
          <p:nvSpPr>
            <p:cNvPr id="11" name="Freeform 11"/>
            <p:cNvSpPr/>
            <p:nvPr/>
          </p:nvSpPr>
          <p:spPr>
            <a:xfrm>
              <a:off x="0" y="0"/>
              <a:ext cx="6512433" cy="4126230"/>
            </a:xfrm>
            <a:custGeom>
              <a:avLst/>
              <a:gdLst/>
              <a:ahLst/>
              <a:cxnLst/>
              <a:rect l="l" t="t" r="r" b="b"/>
              <a:pathLst>
                <a:path w="6512433" h="4126230">
                  <a:moveTo>
                    <a:pt x="0" y="0"/>
                  </a:moveTo>
                  <a:lnTo>
                    <a:pt x="6512433" y="0"/>
                  </a:lnTo>
                  <a:lnTo>
                    <a:pt x="6512433" y="4126230"/>
                  </a:lnTo>
                  <a:lnTo>
                    <a:pt x="0" y="4126230"/>
                  </a:lnTo>
                  <a:close/>
                </a:path>
              </a:pathLst>
            </a:custGeom>
            <a:blipFill>
              <a:blip r:embed="rId2"/>
              <a:stretch>
                <a:fillRect l="-5700" r="-5700"/>
              </a:stretch>
            </a:blipFill>
          </p:spPr>
        </p:sp>
      </p:grpSp>
      <p:grpSp>
        <p:nvGrpSpPr>
          <p:cNvPr id="12" name="Group 12"/>
          <p:cNvGrpSpPr/>
          <p:nvPr/>
        </p:nvGrpSpPr>
        <p:grpSpPr>
          <a:xfrm>
            <a:off x="6698361" y="2194102"/>
            <a:ext cx="4884371" cy="3094672"/>
            <a:chOff x="0" y="0"/>
            <a:chExt cx="6512494" cy="4126230"/>
          </a:xfrm>
        </p:grpSpPr>
        <p:sp>
          <p:nvSpPr>
            <p:cNvPr id="13" name="Freeform 13"/>
            <p:cNvSpPr/>
            <p:nvPr/>
          </p:nvSpPr>
          <p:spPr>
            <a:xfrm>
              <a:off x="0" y="0"/>
              <a:ext cx="6512433" cy="4126230"/>
            </a:xfrm>
            <a:custGeom>
              <a:avLst/>
              <a:gdLst/>
              <a:ahLst/>
              <a:cxnLst/>
              <a:rect l="l" t="t" r="r" b="b"/>
              <a:pathLst>
                <a:path w="6512433" h="4126230">
                  <a:moveTo>
                    <a:pt x="0" y="0"/>
                  </a:moveTo>
                  <a:lnTo>
                    <a:pt x="6512433" y="0"/>
                  </a:lnTo>
                  <a:lnTo>
                    <a:pt x="6512433" y="4126230"/>
                  </a:lnTo>
                  <a:lnTo>
                    <a:pt x="0" y="4126230"/>
                  </a:lnTo>
                  <a:close/>
                </a:path>
              </a:pathLst>
            </a:custGeom>
            <a:blipFill>
              <a:blip r:embed="rId3"/>
              <a:stretch>
                <a:fillRect t="-2577" b="-2577"/>
              </a:stretch>
            </a:blipFill>
          </p:spPr>
        </p:sp>
      </p:grpSp>
      <p:grpSp>
        <p:nvGrpSpPr>
          <p:cNvPr id="14" name="Group 14"/>
          <p:cNvGrpSpPr/>
          <p:nvPr/>
        </p:nvGrpSpPr>
        <p:grpSpPr>
          <a:xfrm>
            <a:off x="12360642" y="2194102"/>
            <a:ext cx="4884370" cy="3094672"/>
            <a:chOff x="0" y="0"/>
            <a:chExt cx="6512494" cy="4126230"/>
          </a:xfrm>
        </p:grpSpPr>
        <p:sp>
          <p:nvSpPr>
            <p:cNvPr id="15" name="Freeform 15"/>
            <p:cNvSpPr/>
            <p:nvPr/>
          </p:nvSpPr>
          <p:spPr>
            <a:xfrm>
              <a:off x="0" y="0"/>
              <a:ext cx="6512433" cy="4126230"/>
            </a:xfrm>
            <a:custGeom>
              <a:avLst/>
              <a:gdLst/>
              <a:ahLst/>
              <a:cxnLst/>
              <a:rect l="l" t="t" r="r" b="b"/>
              <a:pathLst>
                <a:path w="6512433" h="4126230">
                  <a:moveTo>
                    <a:pt x="0" y="0"/>
                  </a:moveTo>
                  <a:lnTo>
                    <a:pt x="6512433" y="0"/>
                  </a:lnTo>
                  <a:lnTo>
                    <a:pt x="6512433" y="4126230"/>
                  </a:lnTo>
                  <a:lnTo>
                    <a:pt x="0" y="4126230"/>
                  </a:lnTo>
                  <a:close/>
                </a:path>
              </a:pathLst>
            </a:custGeom>
            <a:blipFill>
              <a:blip r:embed="rId4"/>
              <a:stretch>
                <a:fillRect t="-5154"/>
              </a:stretch>
            </a:blipFill>
          </p:spPr>
        </p:sp>
      </p:grpSp>
      <p:sp>
        <p:nvSpPr>
          <p:cNvPr id="16" name="TextBox 16"/>
          <p:cNvSpPr txBox="1"/>
          <p:nvPr/>
        </p:nvSpPr>
        <p:spPr>
          <a:xfrm>
            <a:off x="1028700" y="5703972"/>
            <a:ext cx="7759788" cy="641985"/>
          </a:xfrm>
          <a:prstGeom prst="rect">
            <a:avLst/>
          </a:prstGeom>
        </p:spPr>
        <p:txBody>
          <a:bodyPr lIns="0" tIns="0" rIns="0" bIns="0" rtlCol="0" anchor="t">
            <a:spAutoFit/>
          </a:bodyPr>
          <a:lstStyle/>
          <a:p>
            <a:pPr algn="l">
              <a:lnSpc>
                <a:spcPts val="5040"/>
              </a:lnSpc>
            </a:pPr>
            <a:r>
              <a:rPr lang="en-US" sz="3600" b="1">
                <a:solidFill>
                  <a:srgbClr val="000000"/>
                </a:solidFill>
                <a:latin typeface="Arimo Bold"/>
                <a:ea typeface="Arimo Bold"/>
                <a:cs typeface="Arimo Bold"/>
                <a:sym typeface="Arimo Bold"/>
              </a:rPr>
              <a:t>Overview of the Project</a:t>
            </a:r>
          </a:p>
        </p:txBody>
      </p:sp>
      <p:sp>
        <p:nvSpPr>
          <p:cNvPr id="17" name="TextBox 17"/>
          <p:cNvSpPr txBox="1"/>
          <p:nvPr/>
        </p:nvSpPr>
        <p:spPr>
          <a:xfrm>
            <a:off x="1028700" y="6437453"/>
            <a:ext cx="16230600" cy="1655445"/>
          </a:xfrm>
          <a:prstGeom prst="rect">
            <a:avLst/>
          </a:prstGeom>
        </p:spPr>
        <p:txBody>
          <a:bodyPr lIns="0" tIns="0" rIns="0" bIns="0" rtlCol="0" anchor="t">
            <a:spAutoFit/>
          </a:bodyPr>
          <a:lstStyle/>
          <a:p>
            <a:pPr algn="l">
              <a:lnSpc>
                <a:spcPts val="3360"/>
              </a:lnSpc>
            </a:pPr>
            <a:r>
              <a:rPr lang="en-US" sz="2100">
                <a:solidFill>
                  <a:srgbClr val="000000"/>
                </a:solidFill>
                <a:latin typeface="Arimo"/>
                <a:ea typeface="Arimo"/>
                <a:cs typeface="Arimo"/>
                <a:sym typeface="Arimo"/>
              </a:rPr>
              <a:t>This quarter, the company focused on promoting the "New Product Launch" project. The project aims to introduce a newly developed smart wearable device to the market to meet consumers' needs for health monitoring and convenient communication. The project was launched at the beginning of the year and has gone through multiple links such as product research and development, testing, and packaging design. Currently, it has entered the critical stage of market promotion.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3088566" cy="1839564"/>
            <a:chOff x="0" y="0"/>
            <a:chExt cx="4118088" cy="2452752"/>
          </a:xfrm>
        </p:grpSpPr>
        <p:sp>
          <p:nvSpPr>
            <p:cNvPr id="3" name="Freeform 3"/>
            <p:cNvSpPr/>
            <p:nvPr/>
          </p:nvSpPr>
          <p:spPr>
            <a:xfrm>
              <a:off x="0" y="0"/>
              <a:ext cx="4118102" cy="2452751"/>
            </a:xfrm>
            <a:custGeom>
              <a:avLst/>
              <a:gdLst/>
              <a:ahLst/>
              <a:cxnLst/>
              <a:rect l="l" t="t" r="r" b="b"/>
              <a:pathLst>
                <a:path w="4118102" h="2452751">
                  <a:moveTo>
                    <a:pt x="0" y="0"/>
                  </a:moveTo>
                  <a:lnTo>
                    <a:pt x="4118102" y="0"/>
                  </a:lnTo>
                  <a:lnTo>
                    <a:pt x="2702052" y="2452751"/>
                  </a:lnTo>
                  <a:lnTo>
                    <a:pt x="0" y="892810"/>
                  </a:lnTo>
                  <a:close/>
                </a:path>
              </a:pathLst>
            </a:custGeom>
            <a:solidFill>
              <a:srgbClr val="004AAD"/>
            </a:solidFill>
          </p:spPr>
        </p:sp>
      </p:grpSp>
      <p:grpSp>
        <p:nvGrpSpPr>
          <p:cNvPr id="4" name="Group 4"/>
          <p:cNvGrpSpPr/>
          <p:nvPr/>
        </p:nvGrpSpPr>
        <p:grpSpPr>
          <a:xfrm>
            <a:off x="0" y="0"/>
            <a:ext cx="1599582" cy="2770557"/>
            <a:chOff x="0" y="0"/>
            <a:chExt cx="2132776" cy="3694076"/>
          </a:xfrm>
        </p:grpSpPr>
        <p:sp>
          <p:nvSpPr>
            <p:cNvPr id="5" name="Freeform 5"/>
            <p:cNvSpPr/>
            <p:nvPr/>
          </p:nvSpPr>
          <p:spPr>
            <a:xfrm>
              <a:off x="0" y="0"/>
              <a:ext cx="2132838" cy="3694049"/>
            </a:xfrm>
            <a:custGeom>
              <a:avLst/>
              <a:gdLst/>
              <a:ahLst/>
              <a:cxnLst/>
              <a:rect l="l" t="t" r="r" b="b"/>
              <a:pathLst>
                <a:path w="2132838" h="3694049">
                  <a:moveTo>
                    <a:pt x="0" y="0"/>
                  </a:moveTo>
                  <a:lnTo>
                    <a:pt x="2132838" y="0"/>
                  </a:lnTo>
                  <a:lnTo>
                    <a:pt x="0" y="3694049"/>
                  </a:lnTo>
                  <a:close/>
                </a:path>
              </a:pathLst>
            </a:custGeom>
            <a:solidFill>
              <a:srgbClr val="5271FF"/>
            </a:solidFill>
          </p:spPr>
        </p:sp>
      </p:grpSp>
      <p:grpSp>
        <p:nvGrpSpPr>
          <p:cNvPr id="6" name="Group 6"/>
          <p:cNvGrpSpPr/>
          <p:nvPr/>
        </p:nvGrpSpPr>
        <p:grpSpPr>
          <a:xfrm>
            <a:off x="15673590" y="8527172"/>
            <a:ext cx="2614410" cy="1759828"/>
            <a:chOff x="0" y="0"/>
            <a:chExt cx="3485880" cy="2346438"/>
          </a:xfrm>
        </p:grpSpPr>
        <p:sp>
          <p:nvSpPr>
            <p:cNvPr id="7" name="Freeform 7"/>
            <p:cNvSpPr/>
            <p:nvPr/>
          </p:nvSpPr>
          <p:spPr>
            <a:xfrm>
              <a:off x="0" y="0"/>
              <a:ext cx="3485896" cy="2346325"/>
            </a:xfrm>
            <a:custGeom>
              <a:avLst/>
              <a:gdLst/>
              <a:ahLst/>
              <a:cxnLst/>
              <a:rect l="l" t="t" r="r" b="b"/>
              <a:pathLst>
                <a:path w="3485896" h="2346325">
                  <a:moveTo>
                    <a:pt x="1354709" y="0"/>
                  </a:moveTo>
                  <a:lnTo>
                    <a:pt x="3485896" y="1230376"/>
                  </a:lnTo>
                  <a:lnTo>
                    <a:pt x="3485896" y="2346325"/>
                  </a:lnTo>
                  <a:lnTo>
                    <a:pt x="0" y="2346325"/>
                  </a:lnTo>
                  <a:close/>
                </a:path>
              </a:pathLst>
            </a:custGeom>
            <a:solidFill>
              <a:srgbClr val="004AAD"/>
            </a:solidFill>
          </p:spPr>
        </p:sp>
      </p:grpSp>
      <p:grpSp>
        <p:nvGrpSpPr>
          <p:cNvPr id="8" name="Group 8"/>
          <p:cNvGrpSpPr/>
          <p:nvPr/>
        </p:nvGrpSpPr>
        <p:grpSpPr>
          <a:xfrm>
            <a:off x="17162574" y="8337702"/>
            <a:ext cx="1125427" cy="1949298"/>
            <a:chOff x="0" y="0"/>
            <a:chExt cx="1500570" cy="2599064"/>
          </a:xfrm>
        </p:grpSpPr>
        <p:sp>
          <p:nvSpPr>
            <p:cNvPr id="9" name="Freeform 9"/>
            <p:cNvSpPr/>
            <p:nvPr/>
          </p:nvSpPr>
          <p:spPr>
            <a:xfrm>
              <a:off x="0" y="0"/>
              <a:ext cx="1500632" cy="2599055"/>
            </a:xfrm>
            <a:custGeom>
              <a:avLst/>
              <a:gdLst/>
              <a:ahLst/>
              <a:cxnLst/>
              <a:rect l="l" t="t" r="r" b="b"/>
              <a:pathLst>
                <a:path w="1500632" h="2599055">
                  <a:moveTo>
                    <a:pt x="1500632" y="0"/>
                  </a:moveTo>
                  <a:lnTo>
                    <a:pt x="1500632" y="2599055"/>
                  </a:lnTo>
                  <a:lnTo>
                    <a:pt x="0" y="2599055"/>
                  </a:lnTo>
                  <a:close/>
                </a:path>
              </a:pathLst>
            </a:custGeom>
            <a:solidFill>
              <a:srgbClr val="5271FF"/>
            </a:solidFill>
          </p:spPr>
        </p:sp>
      </p:grpSp>
      <p:grpSp>
        <p:nvGrpSpPr>
          <p:cNvPr id="10" name="Group 10"/>
          <p:cNvGrpSpPr/>
          <p:nvPr/>
        </p:nvGrpSpPr>
        <p:grpSpPr>
          <a:xfrm>
            <a:off x="1028700" y="2165711"/>
            <a:ext cx="6450624" cy="2869479"/>
            <a:chOff x="0" y="0"/>
            <a:chExt cx="8600832" cy="3825972"/>
          </a:xfrm>
        </p:grpSpPr>
        <p:sp>
          <p:nvSpPr>
            <p:cNvPr id="11" name="Freeform 11"/>
            <p:cNvSpPr/>
            <p:nvPr/>
          </p:nvSpPr>
          <p:spPr>
            <a:xfrm>
              <a:off x="0" y="0"/>
              <a:ext cx="8600821" cy="3826002"/>
            </a:xfrm>
            <a:custGeom>
              <a:avLst/>
              <a:gdLst/>
              <a:ahLst/>
              <a:cxnLst/>
              <a:rect l="l" t="t" r="r" b="b"/>
              <a:pathLst>
                <a:path w="8600821" h="3826002">
                  <a:moveTo>
                    <a:pt x="0" y="0"/>
                  </a:moveTo>
                  <a:lnTo>
                    <a:pt x="8600821" y="0"/>
                  </a:lnTo>
                  <a:lnTo>
                    <a:pt x="8600821" y="3826002"/>
                  </a:lnTo>
                  <a:lnTo>
                    <a:pt x="0" y="3826002"/>
                  </a:lnTo>
                  <a:close/>
                </a:path>
              </a:pathLst>
            </a:custGeom>
            <a:solidFill>
              <a:srgbClr val="5271FF"/>
            </a:solidFill>
          </p:spPr>
        </p:sp>
      </p:grpSp>
      <p:grpSp>
        <p:nvGrpSpPr>
          <p:cNvPr id="12" name="Group 12"/>
          <p:cNvGrpSpPr/>
          <p:nvPr/>
        </p:nvGrpSpPr>
        <p:grpSpPr>
          <a:xfrm>
            <a:off x="6640465" y="2761591"/>
            <a:ext cx="1677717" cy="1677718"/>
            <a:chOff x="0" y="0"/>
            <a:chExt cx="2236956" cy="2236958"/>
          </a:xfrm>
        </p:grpSpPr>
        <p:sp>
          <p:nvSpPr>
            <p:cNvPr id="13" name="Freeform 13"/>
            <p:cNvSpPr/>
            <p:nvPr/>
          </p:nvSpPr>
          <p:spPr>
            <a:xfrm>
              <a:off x="0" y="0"/>
              <a:ext cx="2236978" cy="2236978"/>
            </a:xfrm>
            <a:custGeom>
              <a:avLst/>
              <a:gdLst/>
              <a:ahLst/>
              <a:cxnLst/>
              <a:rect l="l" t="t" r="r" b="b"/>
              <a:pathLst>
                <a:path w="2236978" h="2236978">
                  <a:moveTo>
                    <a:pt x="0" y="1118489"/>
                  </a:moveTo>
                  <a:cubicBezTo>
                    <a:pt x="0" y="500761"/>
                    <a:pt x="500761" y="0"/>
                    <a:pt x="1118489" y="0"/>
                  </a:cubicBezTo>
                  <a:cubicBezTo>
                    <a:pt x="1736217" y="0"/>
                    <a:pt x="2236978" y="500761"/>
                    <a:pt x="2236978" y="1118489"/>
                  </a:cubicBezTo>
                  <a:cubicBezTo>
                    <a:pt x="2236978" y="1736217"/>
                    <a:pt x="1736217" y="2236978"/>
                    <a:pt x="1118489" y="2236978"/>
                  </a:cubicBezTo>
                  <a:cubicBezTo>
                    <a:pt x="500761" y="2236978"/>
                    <a:pt x="0" y="1736217"/>
                    <a:pt x="0" y="1118489"/>
                  </a:cubicBezTo>
                  <a:close/>
                </a:path>
              </a:pathLst>
            </a:custGeom>
            <a:solidFill>
              <a:srgbClr val="004AAD"/>
            </a:solidFill>
          </p:spPr>
        </p:sp>
      </p:grpSp>
      <p:grpSp>
        <p:nvGrpSpPr>
          <p:cNvPr id="14" name="Group 14"/>
          <p:cNvGrpSpPr/>
          <p:nvPr/>
        </p:nvGrpSpPr>
        <p:grpSpPr>
          <a:xfrm>
            <a:off x="1028700" y="5251810"/>
            <a:ext cx="6450624" cy="2869479"/>
            <a:chOff x="0" y="0"/>
            <a:chExt cx="8600832" cy="3825972"/>
          </a:xfrm>
        </p:grpSpPr>
        <p:sp>
          <p:nvSpPr>
            <p:cNvPr id="15" name="Freeform 15"/>
            <p:cNvSpPr/>
            <p:nvPr/>
          </p:nvSpPr>
          <p:spPr>
            <a:xfrm>
              <a:off x="0" y="0"/>
              <a:ext cx="8600821" cy="3826002"/>
            </a:xfrm>
            <a:custGeom>
              <a:avLst/>
              <a:gdLst/>
              <a:ahLst/>
              <a:cxnLst/>
              <a:rect l="l" t="t" r="r" b="b"/>
              <a:pathLst>
                <a:path w="8600821" h="3826002">
                  <a:moveTo>
                    <a:pt x="0" y="0"/>
                  </a:moveTo>
                  <a:lnTo>
                    <a:pt x="8600821" y="0"/>
                  </a:lnTo>
                  <a:lnTo>
                    <a:pt x="8600821" y="3826002"/>
                  </a:lnTo>
                  <a:lnTo>
                    <a:pt x="0" y="3826002"/>
                  </a:lnTo>
                  <a:close/>
                </a:path>
              </a:pathLst>
            </a:custGeom>
            <a:solidFill>
              <a:srgbClr val="004AAD"/>
            </a:solidFill>
          </p:spPr>
        </p:sp>
      </p:grpSp>
      <p:grpSp>
        <p:nvGrpSpPr>
          <p:cNvPr id="16" name="Group 16"/>
          <p:cNvGrpSpPr/>
          <p:nvPr/>
        </p:nvGrpSpPr>
        <p:grpSpPr>
          <a:xfrm>
            <a:off x="6640465" y="5847692"/>
            <a:ext cx="1677717" cy="1677718"/>
            <a:chOff x="0" y="0"/>
            <a:chExt cx="2236956" cy="2236958"/>
          </a:xfrm>
        </p:grpSpPr>
        <p:sp>
          <p:nvSpPr>
            <p:cNvPr id="17" name="Freeform 17"/>
            <p:cNvSpPr/>
            <p:nvPr/>
          </p:nvSpPr>
          <p:spPr>
            <a:xfrm>
              <a:off x="0" y="0"/>
              <a:ext cx="2236978" cy="2236978"/>
            </a:xfrm>
            <a:custGeom>
              <a:avLst/>
              <a:gdLst/>
              <a:ahLst/>
              <a:cxnLst/>
              <a:rect l="l" t="t" r="r" b="b"/>
              <a:pathLst>
                <a:path w="2236978" h="2236978">
                  <a:moveTo>
                    <a:pt x="0" y="1118489"/>
                  </a:moveTo>
                  <a:cubicBezTo>
                    <a:pt x="0" y="500761"/>
                    <a:pt x="500761" y="0"/>
                    <a:pt x="1118489" y="0"/>
                  </a:cubicBezTo>
                  <a:cubicBezTo>
                    <a:pt x="1736217" y="0"/>
                    <a:pt x="2236978" y="500761"/>
                    <a:pt x="2236978" y="1118489"/>
                  </a:cubicBezTo>
                  <a:cubicBezTo>
                    <a:pt x="2236978" y="1736217"/>
                    <a:pt x="1736217" y="2236978"/>
                    <a:pt x="1118489" y="2236978"/>
                  </a:cubicBezTo>
                  <a:cubicBezTo>
                    <a:pt x="500761" y="2236978"/>
                    <a:pt x="0" y="1736217"/>
                    <a:pt x="0" y="1118489"/>
                  </a:cubicBezTo>
                  <a:close/>
                </a:path>
              </a:pathLst>
            </a:custGeom>
            <a:solidFill>
              <a:srgbClr val="5271FF"/>
            </a:solidFill>
          </p:spPr>
        </p:sp>
      </p:grpSp>
      <p:grpSp>
        <p:nvGrpSpPr>
          <p:cNvPr id="18" name="Group 18"/>
          <p:cNvGrpSpPr/>
          <p:nvPr/>
        </p:nvGrpSpPr>
        <p:grpSpPr>
          <a:xfrm>
            <a:off x="10808676" y="2165711"/>
            <a:ext cx="6450624" cy="2869479"/>
            <a:chOff x="0" y="0"/>
            <a:chExt cx="8600832" cy="3825972"/>
          </a:xfrm>
        </p:grpSpPr>
        <p:sp>
          <p:nvSpPr>
            <p:cNvPr id="19" name="Freeform 19"/>
            <p:cNvSpPr/>
            <p:nvPr/>
          </p:nvSpPr>
          <p:spPr>
            <a:xfrm>
              <a:off x="0" y="0"/>
              <a:ext cx="8600821" cy="3826002"/>
            </a:xfrm>
            <a:custGeom>
              <a:avLst/>
              <a:gdLst/>
              <a:ahLst/>
              <a:cxnLst/>
              <a:rect l="l" t="t" r="r" b="b"/>
              <a:pathLst>
                <a:path w="8600821" h="3826002">
                  <a:moveTo>
                    <a:pt x="0" y="0"/>
                  </a:moveTo>
                  <a:lnTo>
                    <a:pt x="8600821" y="0"/>
                  </a:lnTo>
                  <a:lnTo>
                    <a:pt x="8600821" y="3826002"/>
                  </a:lnTo>
                  <a:lnTo>
                    <a:pt x="0" y="3826002"/>
                  </a:lnTo>
                  <a:close/>
                </a:path>
              </a:pathLst>
            </a:custGeom>
            <a:solidFill>
              <a:srgbClr val="004AAD"/>
            </a:solidFill>
          </p:spPr>
        </p:sp>
      </p:grpSp>
      <p:grpSp>
        <p:nvGrpSpPr>
          <p:cNvPr id="20" name="Group 20"/>
          <p:cNvGrpSpPr/>
          <p:nvPr/>
        </p:nvGrpSpPr>
        <p:grpSpPr>
          <a:xfrm>
            <a:off x="9969817" y="2761591"/>
            <a:ext cx="1677717" cy="1677718"/>
            <a:chOff x="0" y="0"/>
            <a:chExt cx="2236956" cy="2236958"/>
          </a:xfrm>
        </p:grpSpPr>
        <p:sp>
          <p:nvSpPr>
            <p:cNvPr id="21" name="Freeform 21"/>
            <p:cNvSpPr/>
            <p:nvPr/>
          </p:nvSpPr>
          <p:spPr>
            <a:xfrm>
              <a:off x="0" y="0"/>
              <a:ext cx="2236978" cy="2236978"/>
            </a:xfrm>
            <a:custGeom>
              <a:avLst/>
              <a:gdLst/>
              <a:ahLst/>
              <a:cxnLst/>
              <a:rect l="l" t="t" r="r" b="b"/>
              <a:pathLst>
                <a:path w="2236978" h="2236978">
                  <a:moveTo>
                    <a:pt x="0" y="1118489"/>
                  </a:moveTo>
                  <a:cubicBezTo>
                    <a:pt x="0" y="500761"/>
                    <a:pt x="500761" y="0"/>
                    <a:pt x="1118489" y="0"/>
                  </a:cubicBezTo>
                  <a:cubicBezTo>
                    <a:pt x="1736217" y="0"/>
                    <a:pt x="2236978" y="500761"/>
                    <a:pt x="2236978" y="1118489"/>
                  </a:cubicBezTo>
                  <a:cubicBezTo>
                    <a:pt x="2236978" y="1736217"/>
                    <a:pt x="1736217" y="2236978"/>
                    <a:pt x="1118489" y="2236978"/>
                  </a:cubicBezTo>
                  <a:cubicBezTo>
                    <a:pt x="500761" y="2236978"/>
                    <a:pt x="0" y="1736217"/>
                    <a:pt x="0" y="1118489"/>
                  </a:cubicBezTo>
                  <a:close/>
                </a:path>
              </a:pathLst>
            </a:custGeom>
            <a:solidFill>
              <a:srgbClr val="5271FF"/>
            </a:solidFill>
          </p:spPr>
        </p:sp>
      </p:grpSp>
      <p:grpSp>
        <p:nvGrpSpPr>
          <p:cNvPr id="22" name="Group 22"/>
          <p:cNvGrpSpPr/>
          <p:nvPr/>
        </p:nvGrpSpPr>
        <p:grpSpPr>
          <a:xfrm>
            <a:off x="10808676" y="5251810"/>
            <a:ext cx="6450624" cy="2869479"/>
            <a:chOff x="0" y="0"/>
            <a:chExt cx="8600832" cy="3825972"/>
          </a:xfrm>
        </p:grpSpPr>
        <p:sp>
          <p:nvSpPr>
            <p:cNvPr id="23" name="Freeform 23"/>
            <p:cNvSpPr/>
            <p:nvPr/>
          </p:nvSpPr>
          <p:spPr>
            <a:xfrm>
              <a:off x="0" y="0"/>
              <a:ext cx="8600821" cy="3826002"/>
            </a:xfrm>
            <a:custGeom>
              <a:avLst/>
              <a:gdLst/>
              <a:ahLst/>
              <a:cxnLst/>
              <a:rect l="l" t="t" r="r" b="b"/>
              <a:pathLst>
                <a:path w="8600821" h="3826002">
                  <a:moveTo>
                    <a:pt x="0" y="0"/>
                  </a:moveTo>
                  <a:lnTo>
                    <a:pt x="8600821" y="0"/>
                  </a:lnTo>
                  <a:lnTo>
                    <a:pt x="8600821" y="3826002"/>
                  </a:lnTo>
                  <a:lnTo>
                    <a:pt x="0" y="3826002"/>
                  </a:lnTo>
                  <a:close/>
                </a:path>
              </a:pathLst>
            </a:custGeom>
            <a:solidFill>
              <a:srgbClr val="5271FF"/>
            </a:solidFill>
          </p:spPr>
        </p:sp>
      </p:grpSp>
      <p:grpSp>
        <p:nvGrpSpPr>
          <p:cNvPr id="24" name="Group 24"/>
          <p:cNvGrpSpPr/>
          <p:nvPr/>
        </p:nvGrpSpPr>
        <p:grpSpPr>
          <a:xfrm>
            <a:off x="9969817" y="5847691"/>
            <a:ext cx="1677717" cy="1677718"/>
            <a:chOff x="0" y="0"/>
            <a:chExt cx="2236956" cy="2236958"/>
          </a:xfrm>
        </p:grpSpPr>
        <p:sp>
          <p:nvSpPr>
            <p:cNvPr id="25" name="Freeform 25"/>
            <p:cNvSpPr/>
            <p:nvPr/>
          </p:nvSpPr>
          <p:spPr>
            <a:xfrm>
              <a:off x="0" y="0"/>
              <a:ext cx="2236978" cy="2236978"/>
            </a:xfrm>
            <a:custGeom>
              <a:avLst/>
              <a:gdLst/>
              <a:ahLst/>
              <a:cxnLst/>
              <a:rect l="l" t="t" r="r" b="b"/>
              <a:pathLst>
                <a:path w="2236978" h="2236978">
                  <a:moveTo>
                    <a:pt x="0" y="1118489"/>
                  </a:moveTo>
                  <a:cubicBezTo>
                    <a:pt x="0" y="500761"/>
                    <a:pt x="500761" y="0"/>
                    <a:pt x="1118489" y="0"/>
                  </a:cubicBezTo>
                  <a:cubicBezTo>
                    <a:pt x="1736217" y="0"/>
                    <a:pt x="2236978" y="500761"/>
                    <a:pt x="2236978" y="1118489"/>
                  </a:cubicBezTo>
                  <a:cubicBezTo>
                    <a:pt x="2236978" y="1736217"/>
                    <a:pt x="1736217" y="2236978"/>
                    <a:pt x="1118489" y="2236978"/>
                  </a:cubicBezTo>
                  <a:cubicBezTo>
                    <a:pt x="500761" y="2236978"/>
                    <a:pt x="0" y="1736217"/>
                    <a:pt x="0" y="1118489"/>
                  </a:cubicBezTo>
                  <a:close/>
                </a:path>
              </a:pathLst>
            </a:custGeom>
            <a:solidFill>
              <a:srgbClr val="004AAD"/>
            </a:solidFill>
          </p:spPr>
        </p:sp>
      </p:grpSp>
      <p:sp>
        <p:nvSpPr>
          <p:cNvPr id="26" name="Freeform 26"/>
          <p:cNvSpPr/>
          <p:nvPr/>
        </p:nvSpPr>
        <p:spPr>
          <a:xfrm>
            <a:off x="6975298" y="6145448"/>
            <a:ext cx="1008052" cy="1082205"/>
          </a:xfrm>
          <a:custGeom>
            <a:avLst/>
            <a:gdLst/>
            <a:ahLst/>
            <a:cxnLst/>
            <a:rect l="l" t="t" r="r" b="b"/>
            <a:pathLst>
              <a:path w="1008052" h="1082205">
                <a:moveTo>
                  <a:pt x="0" y="0"/>
                </a:moveTo>
                <a:lnTo>
                  <a:pt x="1008052" y="0"/>
                </a:lnTo>
                <a:lnTo>
                  <a:pt x="1008052" y="1082205"/>
                </a:lnTo>
                <a:lnTo>
                  <a:pt x="0" y="108220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7" name="Freeform 27"/>
          <p:cNvSpPr/>
          <p:nvPr/>
        </p:nvSpPr>
        <p:spPr>
          <a:xfrm>
            <a:off x="10365207" y="6145448"/>
            <a:ext cx="886939" cy="1082205"/>
          </a:xfrm>
          <a:custGeom>
            <a:avLst/>
            <a:gdLst/>
            <a:ahLst/>
            <a:cxnLst/>
            <a:rect l="l" t="t" r="r" b="b"/>
            <a:pathLst>
              <a:path w="886939" h="1082205">
                <a:moveTo>
                  <a:pt x="0" y="0"/>
                </a:moveTo>
                <a:lnTo>
                  <a:pt x="886938" y="0"/>
                </a:lnTo>
                <a:lnTo>
                  <a:pt x="886938" y="1082204"/>
                </a:lnTo>
                <a:lnTo>
                  <a:pt x="0" y="10822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8" name="Freeform 28"/>
          <p:cNvSpPr/>
          <p:nvPr/>
        </p:nvSpPr>
        <p:spPr>
          <a:xfrm>
            <a:off x="10259062" y="3059348"/>
            <a:ext cx="1099227" cy="1082205"/>
          </a:xfrm>
          <a:custGeom>
            <a:avLst/>
            <a:gdLst/>
            <a:ahLst/>
            <a:cxnLst/>
            <a:rect l="l" t="t" r="r" b="b"/>
            <a:pathLst>
              <a:path w="1099227" h="1082205">
                <a:moveTo>
                  <a:pt x="0" y="0"/>
                </a:moveTo>
                <a:lnTo>
                  <a:pt x="1099228" y="0"/>
                </a:lnTo>
                <a:lnTo>
                  <a:pt x="1099228" y="1082204"/>
                </a:lnTo>
                <a:lnTo>
                  <a:pt x="0" y="10822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9" name="Freeform 29"/>
          <p:cNvSpPr/>
          <p:nvPr/>
        </p:nvSpPr>
        <p:spPr>
          <a:xfrm>
            <a:off x="6935717" y="3059348"/>
            <a:ext cx="1087213" cy="1082205"/>
          </a:xfrm>
          <a:custGeom>
            <a:avLst/>
            <a:gdLst/>
            <a:ahLst/>
            <a:cxnLst/>
            <a:rect l="l" t="t" r="r" b="b"/>
            <a:pathLst>
              <a:path w="1087213" h="1082205">
                <a:moveTo>
                  <a:pt x="0" y="0"/>
                </a:moveTo>
                <a:lnTo>
                  <a:pt x="1087214" y="0"/>
                </a:lnTo>
                <a:lnTo>
                  <a:pt x="1087214" y="1082204"/>
                </a:lnTo>
                <a:lnTo>
                  <a:pt x="0" y="108220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0" name="TextBox 30"/>
          <p:cNvSpPr txBox="1"/>
          <p:nvPr/>
        </p:nvSpPr>
        <p:spPr>
          <a:xfrm>
            <a:off x="1291824" y="3059188"/>
            <a:ext cx="5196306" cy="1655445"/>
          </a:xfrm>
          <a:prstGeom prst="rect">
            <a:avLst/>
          </a:prstGeom>
        </p:spPr>
        <p:txBody>
          <a:bodyPr lIns="0" tIns="0" rIns="0" bIns="0" rtlCol="0" anchor="t">
            <a:spAutoFit/>
          </a:bodyPr>
          <a:lstStyle/>
          <a:p>
            <a:pPr algn="r">
              <a:lnSpc>
                <a:spcPts val="3360"/>
              </a:lnSpc>
            </a:pPr>
            <a:r>
              <a:rPr lang="en-US" sz="2100">
                <a:solidFill>
                  <a:srgbClr val="FFFFFF"/>
                </a:solidFill>
                <a:latin typeface="Arimo"/>
                <a:ea typeface="Arimo"/>
                <a:cs typeface="Arimo"/>
                <a:sym typeface="Arimo"/>
              </a:rPr>
              <a:t>With the improvement of people's living standards and the enhancement of health awareness, the demand for smart wearable devices is increasing day by day.</a:t>
            </a:r>
          </a:p>
        </p:txBody>
      </p:sp>
      <p:sp>
        <p:nvSpPr>
          <p:cNvPr id="31" name="TextBox 31"/>
          <p:cNvSpPr txBox="1"/>
          <p:nvPr/>
        </p:nvSpPr>
        <p:spPr>
          <a:xfrm>
            <a:off x="1291824" y="2391017"/>
            <a:ext cx="5196306" cy="641985"/>
          </a:xfrm>
          <a:prstGeom prst="rect">
            <a:avLst/>
          </a:prstGeom>
        </p:spPr>
        <p:txBody>
          <a:bodyPr lIns="0" tIns="0" rIns="0" bIns="0" rtlCol="0" anchor="t">
            <a:spAutoFit/>
          </a:bodyPr>
          <a:lstStyle/>
          <a:p>
            <a:pPr algn="r">
              <a:lnSpc>
                <a:spcPts val="5040"/>
              </a:lnSpc>
            </a:pPr>
            <a:r>
              <a:rPr lang="en-US" sz="3600" b="1">
                <a:solidFill>
                  <a:srgbClr val="FFFFFF"/>
                </a:solidFill>
                <a:latin typeface="Arimo Bold"/>
                <a:ea typeface="Arimo Bold"/>
                <a:cs typeface="Arimo Bold"/>
                <a:sym typeface="Arimo Bold"/>
              </a:rPr>
              <a:t>Project Background</a:t>
            </a:r>
          </a:p>
        </p:txBody>
      </p:sp>
      <p:sp>
        <p:nvSpPr>
          <p:cNvPr id="32" name="TextBox 32"/>
          <p:cNvSpPr txBox="1"/>
          <p:nvPr/>
        </p:nvSpPr>
        <p:spPr>
          <a:xfrm>
            <a:off x="11799870" y="3059188"/>
            <a:ext cx="5196306" cy="1655445"/>
          </a:xfrm>
          <a:prstGeom prst="rect">
            <a:avLst/>
          </a:prstGeom>
        </p:spPr>
        <p:txBody>
          <a:bodyPr lIns="0" tIns="0" rIns="0" bIns="0" rtlCol="0" anchor="t">
            <a:spAutoFit/>
          </a:bodyPr>
          <a:lstStyle/>
          <a:p>
            <a:pPr algn="l">
              <a:lnSpc>
                <a:spcPts val="3360"/>
              </a:lnSpc>
            </a:pPr>
            <a:r>
              <a:rPr lang="en-US" sz="2100">
                <a:solidFill>
                  <a:srgbClr val="FFFFFF"/>
                </a:solidFill>
                <a:latin typeface="Arimo"/>
                <a:ea typeface="Arimo"/>
                <a:cs typeface="Arimo"/>
                <a:sym typeface="Arimo"/>
              </a:rPr>
              <a:t>The project covers the entire process from product research and development to market promotion. In terms of products, it is responsible for the hardware design.</a:t>
            </a:r>
          </a:p>
        </p:txBody>
      </p:sp>
      <p:sp>
        <p:nvSpPr>
          <p:cNvPr id="33" name="TextBox 33"/>
          <p:cNvSpPr txBox="1"/>
          <p:nvPr/>
        </p:nvSpPr>
        <p:spPr>
          <a:xfrm>
            <a:off x="11799870" y="2391017"/>
            <a:ext cx="5196306" cy="641985"/>
          </a:xfrm>
          <a:prstGeom prst="rect">
            <a:avLst/>
          </a:prstGeom>
        </p:spPr>
        <p:txBody>
          <a:bodyPr lIns="0" tIns="0" rIns="0" bIns="0" rtlCol="0" anchor="t">
            <a:spAutoFit/>
          </a:bodyPr>
          <a:lstStyle/>
          <a:p>
            <a:pPr algn="l">
              <a:lnSpc>
                <a:spcPts val="5040"/>
              </a:lnSpc>
            </a:pPr>
            <a:r>
              <a:rPr lang="en-US" sz="3600" b="1">
                <a:solidFill>
                  <a:srgbClr val="FFFFFF"/>
                </a:solidFill>
                <a:latin typeface="Arimo Bold"/>
                <a:ea typeface="Arimo Bold"/>
                <a:cs typeface="Arimo Bold"/>
                <a:sym typeface="Arimo Bold"/>
              </a:rPr>
              <a:t>Project Scope</a:t>
            </a:r>
          </a:p>
        </p:txBody>
      </p:sp>
      <p:sp>
        <p:nvSpPr>
          <p:cNvPr id="34" name="TextBox 34"/>
          <p:cNvSpPr txBox="1"/>
          <p:nvPr/>
        </p:nvSpPr>
        <p:spPr>
          <a:xfrm>
            <a:off x="11799870" y="6145288"/>
            <a:ext cx="5196306" cy="1655445"/>
          </a:xfrm>
          <a:prstGeom prst="rect">
            <a:avLst/>
          </a:prstGeom>
        </p:spPr>
        <p:txBody>
          <a:bodyPr lIns="0" tIns="0" rIns="0" bIns="0" rtlCol="0" anchor="t">
            <a:spAutoFit/>
          </a:bodyPr>
          <a:lstStyle/>
          <a:p>
            <a:pPr algn="l">
              <a:lnSpc>
                <a:spcPts val="3360"/>
              </a:lnSpc>
            </a:pPr>
            <a:r>
              <a:rPr lang="en-US" sz="2100">
                <a:solidFill>
                  <a:srgbClr val="FFFFFF"/>
                </a:solidFill>
                <a:latin typeface="Arimo"/>
                <a:ea typeface="Arimo"/>
                <a:cs typeface="Arimo"/>
                <a:sym typeface="Arimo"/>
              </a:rPr>
              <a:t>The project team consists of senior engineers from the department who are responsible for product research and development.</a:t>
            </a:r>
          </a:p>
        </p:txBody>
      </p:sp>
      <p:sp>
        <p:nvSpPr>
          <p:cNvPr id="35" name="TextBox 35"/>
          <p:cNvSpPr txBox="1"/>
          <p:nvPr/>
        </p:nvSpPr>
        <p:spPr>
          <a:xfrm>
            <a:off x="11799870" y="5477117"/>
            <a:ext cx="5196306" cy="641985"/>
          </a:xfrm>
          <a:prstGeom prst="rect">
            <a:avLst/>
          </a:prstGeom>
        </p:spPr>
        <p:txBody>
          <a:bodyPr lIns="0" tIns="0" rIns="0" bIns="0" rtlCol="0" anchor="t">
            <a:spAutoFit/>
          </a:bodyPr>
          <a:lstStyle/>
          <a:p>
            <a:pPr algn="l">
              <a:lnSpc>
                <a:spcPts val="5040"/>
              </a:lnSpc>
            </a:pPr>
            <a:r>
              <a:rPr lang="en-US" sz="3600" b="1">
                <a:solidFill>
                  <a:srgbClr val="FFFFFF"/>
                </a:solidFill>
                <a:latin typeface="Arimo Bold"/>
                <a:ea typeface="Arimo Bold"/>
                <a:cs typeface="Arimo Bold"/>
                <a:sym typeface="Arimo Bold"/>
              </a:rPr>
              <a:t>Team Members</a:t>
            </a:r>
          </a:p>
        </p:txBody>
      </p:sp>
      <p:sp>
        <p:nvSpPr>
          <p:cNvPr id="36" name="TextBox 36"/>
          <p:cNvSpPr txBox="1"/>
          <p:nvPr/>
        </p:nvSpPr>
        <p:spPr>
          <a:xfrm>
            <a:off x="1276443" y="6145289"/>
            <a:ext cx="5196306" cy="1655445"/>
          </a:xfrm>
          <a:prstGeom prst="rect">
            <a:avLst/>
          </a:prstGeom>
        </p:spPr>
        <p:txBody>
          <a:bodyPr lIns="0" tIns="0" rIns="0" bIns="0" rtlCol="0" anchor="t">
            <a:spAutoFit/>
          </a:bodyPr>
          <a:lstStyle/>
          <a:p>
            <a:pPr algn="r">
              <a:lnSpc>
                <a:spcPts val="3360"/>
              </a:lnSpc>
            </a:pPr>
            <a:r>
              <a:rPr lang="en-US" sz="2100">
                <a:solidFill>
                  <a:srgbClr val="FFFFFF"/>
                </a:solidFill>
                <a:latin typeface="Arimo"/>
                <a:ea typeface="Arimo"/>
                <a:cs typeface="Arimo"/>
                <a:sym typeface="Arimo"/>
              </a:rPr>
              <a:t>The main goals of the project are to achieve sales of 100,000 units and occupy 5% of the market share within the first month after the product is launched.</a:t>
            </a:r>
          </a:p>
        </p:txBody>
      </p:sp>
      <p:sp>
        <p:nvSpPr>
          <p:cNvPr id="37" name="TextBox 37"/>
          <p:cNvSpPr txBox="1"/>
          <p:nvPr/>
        </p:nvSpPr>
        <p:spPr>
          <a:xfrm>
            <a:off x="1276443" y="5477118"/>
            <a:ext cx="5196306" cy="641985"/>
          </a:xfrm>
          <a:prstGeom prst="rect">
            <a:avLst/>
          </a:prstGeom>
        </p:spPr>
        <p:txBody>
          <a:bodyPr lIns="0" tIns="0" rIns="0" bIns="0" rtlCol="0" anchor="t">
            <a:spAutoFit/>
          </a:bodyPr>
          <a:lstStyle/>
          <a:p>
            <a:pPr algn="r">
              <a:lnSpc>
                <a:spcPts val="5040"/>
              </a:lnSpc>
            </a:pPr>
            <a:r>
              <a:rPr lang="en-US" sz="3600" b="1">
                <a:solidFill>
                  <a:srgbClr val="FFFFFF"/>
                </a:solidFill>
                <a:latin typeface="Arimo Bold"/>
                <a:ea typeface="Arimo Bold"/>
                <a:cs typeface="Arimo Bold"/>
                <a:sym typeface="Arimo Bold"/>
              </a:rPr>
              <a:t>Project Objectives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3088566" cy="1839564"/>
            <a:chOff x="0" y="0"/>
            <a:chExt cx="4118088" cy="2452752"/>
          </a:xfrm>
        </p:grpSpPr>
        <p:sp>
          <p:nvSpPr>
            <p:cNvPr id="3" name="Freeform 3"/>
            <p:cNvSpPr/>
            <p:nvPr/>
          </p:nvSpPr>
          <p:spPr>
            <a:xfrm>
              <a:off x="0" y="0"/>
              <a:ext cx="4118102" cy="2452751"/>
            </a:xfrm>
            <a:custGeom>
              <a:avLst/>
              <a:gdLst/>
              <a:ahLst/>
              <a:cxnLst/>
              <a:rect l="l" t="t" r="r" b="b"/>
              <a:pathLst>
                <a:path w="4118102" h="2452751">
                  <a:moveTo>
                    <a:pt x="0" y="0"/>
                  </a:moveTo>
                  <a:lnTo>
                    <a:pt x="4118102" y="0"/>
                  </a:lnTo>
                  <a:lnTo>
                    <a:pt x="2702052" y="2452751"/>
                  </a:lnTo>
                  <a:lnTo>
                    <a:pt x="0" y="892810"/>
                  </a:lnTo>
                  <a:close/>
                </a:path>
              </a:pathLst>
            </a:custGeom>
            <a:solidFill>
              <a:srgbClr val="004AAD"/>
            </a:solidFill>
          </p:spPr>
        </p:sp>
      </p:grpSp>
      <p:grpSp>
        <p:nvGrpSpPr>
          <p:cNvPr id="4" name="Group 4"/>
          <p:cNvGrpSpPr/>
          <p:nvPr/>
        </p:nvGrpSpPr>
        <p:grpSpPr>
          <a:xfrm>
            <a:off x="0" y="0"/>
            <a:ext cx="1599582" cy="2770557"/>
            <a:chOff x="0" y="0"/>
            <a:chExt cx="2132776" cy="3694076"/>
          </a:xfrm>
        </p:grpSpPr>
        <p:sp>
          <p:nvSpPr>
            <p:cNvPr id="5" name="Freeform 5"/>
            <p:cNvSpPr/>
            <p:nvPr/>
          </p:nvSpPr>
          <p:spPr>
            <a:xfrm>
              <a:off x="0" y="0"/>
              <a:ext cx="2132838" cy="3694049"/>
            </a:xfrm>
            <a:custGeom>
              <a:avLst/>
              <a:gdLst/>
              <a:ahLst/>
              <a:cxnLst/>
              <a:rect l="l" t="t" r="r" b="b"/>
              <a:pathLst>
                <a:path w="2132838" h="3694049">
                  <a:moveTo>
                    <a:pt x="0" y="0"/>
                  </a:moveTo>
                  <a:lnTo>
                    <a:pt x="2132838" y="0"/>
                  </a:lnTo>
                  <a:lnTo>
                    <a:pt x="0" y="3694049"/>
                  </a:lnTo>
                  <a:close/>
                </a:path>
              </a:pathLst>
            </a:custGeom>
            <a:solidFill>
              <a:srgbClr val="5271FF"/>
            </a:solidFill>
          </p:spPr>
        </p:sp>
      </p:grpSp>
      <p:grpSp>
        <p:nvGrpSpPr>
          <p:cNvPr id="6" name="Group 6"/>
          <p:cNvGrpSpPr/>
          <p:nvPr/>
        </p:nvGrpSpPr>
        <p:grpSpPr>
          <a:xfrm>
            <a:off x="15673590" y="8527172"/>
            <a:ext cx="2614410" cy="1759828"/>
            <a:chOff x="0" y="0"/>
            <a:chExt cx="3485880" cy="2346438"/>
          </a:xfrm>
        </p:grpSpPr>
        <p:sp>
          <p:nvSpPr>
            <p:cNvPr id="7" name="Freeform 7"/>
            <p:cNvSpPr/>
            <p:nvPr/>
          </p:nvSpPr>
          <p:spPr>
            <a:xfrm>
              <a:off x="0" y="0"/>
              <a:ext cx="3485896" cy="2346325"/>
            </a:xfrm>
            <a:custGeom>
              <a:avLst/>
              <a:gdLst/>
              <a:ahLst/>
              <a:cxnLst/>
              <a:rect l="l" t="t" r="r" b="b"/>
              <a:pathLst>
                <a:path w="3485896" h="2346325">
                  <a:moveTo>
                    <a:pt x="1354709" y="0"/>
                  </a:moveTo>
                  <a:lnTo>
                    <a:pt x="3485896" y="1230376"/>
                  </a:lnTo>
                  <a:lnTo>
                    <a:pt x="3485896" y="2346325"/>
                  </a:lnTo>
                  <a:lnTo>
                    <a:pt x="0" y="2346325"/>
                  </a:lnTo>
                  <a:close/>
                </a:path>
              </a:pathLst>
            </a:custGeom>
            <a:solidFill>
              <a:srgbClr val="004AAD"/>
            </a:solidFill>
          </p:spPr>
        </p:sp>
      </p:grpSp>
      <p:grpSp>
        <p:nvGrpSpPr>
          <p:cNvPr id="8" name="Group 8"/>
          <p:cNvGrpSpPr/>
          <p:nvPr/>
        </p:nvGrpSpPr>
        <p:grpSpPr>
          <a:xfrm>
            <a:off x="17162574" y="8337702"/>
            <a:ext cx="1125427" cy="1949298"/>
            <a:chOff x="0" y="0"/>
            <a:chExt cx="1500570" cy="2599064"/>
          </a:xfrm>
        </p:grpSpPr>
        <p:sp>
          <p:nvSpPr>
            <p:cNvPr id="9" name="Freeform 9"/>
            <p:cNvSpPr/>
            <p:nvPr/>
          </p:nvSpPr>
          <p:spPr>
            <a:xfrm>
              <a:off x="0" y="0"/>
              <a:ext cx="1500632" cy="2599055"/>
            </a:xfrm>
            <a:custGeom>
              <a:avLst/>
              <a:gdLst/>
              <a:ahLst/>
              <a:cxnLst/>
              <a:rect l="l" t="t" r="r" b="b"/>
              <a:pathLst>
                <a:path w="1500632" h="2599055">
                  <a:moveTo>
                    <a:pt x="1500632" y="0"/>
                  </a:moveTo>
                  <a:lnTo>
                    <a:pt x="1500632" y="2599055"/>
                  </a:lnTo>
                  <a:lnTo>
                    <a:pt x="0" y="2599055"/>
                  </a:lnTo>
                  <a:close/>
                </a:path>
              </a:pathLst>
            </a:custGeom>
            <a:solidFill>
              <a:srgbClr val="5271FF"/>
            </a:solidFill>
          </p:spPr>
        </p:sp>
      </p:grpSp>
      <p:grpSp>
        <p:nvGrpSpPr>
          <p:cNvPr id="10" name="Group 10"/>
          <p:cNvGrpSpPr/>
          <p:nvPr/>
        </p:nvGrpSpPr>
        <p:grpSpPr>
          <a:xfrm>
            <a:off x="1028700" y="2046133"/>
            <a:ext cx="8101012" cy="6194733"/>
            <a:chOff x="0" y="0"/>
            <a:chExt cx="10801350" cy="8259644"/>
          </a:xfrm>
        </p:grpSpPr>
        <p:sp>
          <p:nvSpPr>
            <p:cNvPr id="11" name="Freeform 11"/>
            <p:cNvSpPr/>
            <p:nvPr/>
          </p:nvSpPr>
          <p:spPr>
            <a:xfrm>
              <a:off x="0" y="0"/>
              <a:ext cx="10801350" cy="8259699"/>
            </a:xfrm>
            <a:custGeom>
              <a:avLst/>
              <a:gdLst/>
              <a:ahLst/>
              <a:cxnLst/>
              <a:rect l="l" t="t" r="r" b="b"/>
              <a:pathLst>
                <a:path w="10801350" h="8259699">
                  <a:moveTo>
                    <a:pt x="0" y="0"/>
                  </a:moveTo>
                  <a:lnTo>
                    <a:pt x="10801350" y="0"/>
                  </a:lnTo>
                  <a:lnTo>
                    <a:pt x="10801350" y="8259699"/>
                  </a:lnTo>
                  <a:lnTo>
                    <a:pt x="0" y="8259699"/>
                  </a:lnTo>
                  <a:close/>
                </a:path>
              </a:pathLst>
            </a:custGeom>
            <a:blipFill>
              <a:blip r:embed="rId2"/>
              <a:stretch>
                <a:fillRect l="-7387" r="-7387"/>
              </a:stretch>
            </a:blipFill>
          </p:spPr>
        </p:sp>
      </p:grpSp>
      <p:sp>
        <p:nvSpPr>
          <p:cNvPr id="12" name="TextBox 12"/>
          <p:cNvSpPr txBox="1"/>
          <p:nvPr/>
        </p:nvSpPr>
        <p:spPr>
          <a:xfrm>
            <a:off x="9699926" y="3085148"/>
            <a:ext cx="7559374" cy="1655445"/>
          </a:xfrm>
          <a:prstGeom prst="rect">
            <a:avLst/>
          </a:prstGeom>
        </p:spPr>
        <p:txBody>
          <a:bodyPr lIns="0" tIns="0" rIns="0" bIns="0" rtlCol="0" anchor="t">
            <a:spAutoFit/>
          </a:bodyPr>
          <a:lstStyle/>
          <a:p>
            <a:pPr algn="l">
              <a:lnSpc>
                <a:spcPts val="3360"/>
              </a:lnSpc>
            </a:pPr>
            <a:r>
              <a:rPr lang="en-US" sz="2100">
                <a:solidFill>
                  <a:srgbClr val="000000"/>
                </a:solidFill>
                <a:latin typeface="Arimo"/>
                <a:ea typeface="Arimo"/>
                <a:cs typeface="Arimo"/>
                <a:sym typeface="Arimo"/>
              </a:rPr>
              <a:t>IWe planned to complete the product research and development and small - batch production. and small - batch production also proceeded smoothly. A total of 50,000 products were produced, with a completion rate of 100%. </a:t>
            </a:r>
          </a:p>
        </p:txBody>
      </p:sp>
      <p:sp>
        <p:nvSpPr>
          <p:cNvPr id="13" name="TextBox 13"/>
          <p:cNvSpPr txBox="1"/>
          <p:nvPr/>
        </p:nvSpPr>
        <p:spPr>
          <a:xfrm>
            <a:off x="9699926" y="2351667"/>
            <a:ext cx="6320827" cy="641985"/>
          </a:xfrm>
          <a:prstGeom prst="rect">
            <a:avLst/>
          </a:prstGeom>
        </p:spPr>
        <p:txBody>
          <a:bodyPr lIns="0" tIns="0" rIns="0" bIns="0" rtlCol="0" anchor="t">
            <a:spAutoFit/>
          </a:bodyPr>
          <a:lstStyle/>
          <a:p>
            <a:pPr algn="l">
              <a:lnSpc>
                <a:spcPts val="5040"/>
              </a:lnSpc>
            </a:pPr>
            <a:r>
              <a:rPr lang="en-US" sz="3600" b="1">
                <a:solidFill>
                  <a:srgbClr val="000000"/>
                </a:solidFill>
                <a:latin typeface="Arimo Bold"/>
                <a:ea typeface="Arimo Bold"/>
                <a:cs typeface="Arimo Bold"/>
                <a:sym typeface="Arimo Bold"/>
              </a:rPr>
              <a:t>Task Completion</a:t>
            </a:r>
          </a:p>
        </p:txBody>
      </p:sp>
      <p:sp>
        <p:nvSpPr>
          <p:cNvPr id="14" name="TextBox 14"/>
          <p:cNvSpPr txBox="1"/>
          <p:nvPr/>
        </p:nvSpPr>
        <p:spPr>
          <a:xfrm>
            <a:off x="9699926" y="6184638"/>
            <a:ext cx="7559374" cy="1655445"/>
          </a:xfrm>
          <a:prstGeom prst="rect">
            <a:avLst/>
          </a:prstGeom>
        </p:spPr>
        <p:txBody>
          <a:bodyPr lIns="0" tIns="0" rIns="0" bIns="0" rtlCol="0" anchor="t">
            <a:spAutoFit/>
          </a:bodyPr>
          <a:lstStyle/>
          <a:p>
            <a:pPr algn="l">
              <a:lnSpc>
                <a:spcPts val="3360"/>
              </a:lnSpc>
            </a:pPr>
            <a:r>
              <a:rPr lang="en-US" sz="2100">
                <a:solidFill>
                  <a:srgbClr val="000000"/>
                </a:solidFill>
                <a:latin typeface="Arimo"/>
                <a:ea typeface="Arimo"/>
                <a:cs typeface="Arimo"/>
                <a:sym typeface="Arimo"/>
              </a:rPr>
              <a:t>We successfully completed product research and development and small - batch production, collected effective feedback through trials, and established cooperation with an important e - commerce platform.</a:t>
            </a:r>
          </a:p>
        </p:txBody>
      </p:sp>
      <p:sp>
        <p:nvSpPr>
          <p:cNvPr id="15" name="TextBox 15"/>
          <p:cNvSpPr txBox="1"/>
          <p:nvPr/>
        </p:nvSpPr>
        <p:spPr>
          <a:xfrm>
            <a:off x="9699926" y="5451157"/>
            <a:ext cx="6320827" cy="641985"/>
          </a:xfrm>
          <a:prstGeom prst="rect">
            <a:avLst/>
          </a:prstGeom>
        </p:spPr>
        <p:txBody>
          <a:bodyPr lIns="0" tIns="0" rIns="0" bIns="0" rtlCol="0" anchor="t">
            <a:spAutoFit/>
          </a:bodyPr>
          <a:lstStyle/>
          <a:p>
            <a:pPr algn="l">
              <a:lnSpc>
                <a:spcPts val="5040"/>
              </a:lnSpc>
            </a:pPr>
            <a:r>
              <a:rPr lang="en-US" sz="3600" b="1">
                <a:solidFill>
                  <a:srgbClr val="000000"/>
                </a:solidFill>
                <a:latin typeface="Arimo Bold"/>
                <a:ea typeface="Arimo Bold"/>
                <a:cs typeface="Arimo Bold"/>
                <a:sym typeface="Arimo Bold"/>
              </a:rPr>
              <a:t>Stage Summary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3088566" cy="1839564"/>
            <a:chOff x="0" y="0"/>
            <a:chExt cx="4118088" cy="2452752"/>
          </a:xfrm>
        </p:grpSpPr>
        <p:sp>
          <p:nvSpPr>
            <p:cNvPr id="3" name="Freeform 3"/>
            <p:cNvSpPr/>
            <p:nvPr/>
          </p:nvSpPr>
          <p:spPr>
            <a:xfrm>
              <a:off x="0" y="0"/>
              <a:ext cx="4118102" cy="2452751"/>
            </a:xfrm>
            <a:custGeom>
              <a:avLst/>
              <a:gdLst/>
              <a:ahLst/>
              <a:cxnLst/>
              <a:rect l="l" t="t" r="r" b="b"/>
              <a:pathLst>
                <a:path w="4118102" h="2452751">
                  <a:moveTo>
                    <a:pt x="0" y="0"/>
                  </a:moveTo>
                  <a:lnTo>
                    <a:pt x="4118102" y="0"/>
                  </a:lnTo>
                  <a:lnTo>
                    <a:pt x="2702052" y="2452751"/>
                  </a:lnTo>
                  <a:lnTo>
                    <a:pt x="0" y="892810"/>
                  </a:lnTo>
                  <a:close/>
                </a:path>
              </a:pathLst>
            </a:custGeom>
            <a:solidFill>
              <a:srgbClr val="004AAD"/>
            </a:solidFill>
          </p:spPr>
        </p:sp>
      </p:grpSp>
      <p:grpSp>
        <p:nvGrpSpPr>
          <p:cNvPr id="4" name="Group 4"/>
          <p:cNvGrpSpPr/>
          <p:nvPr/>
        </p:nvGrpSpPr>
        <p:grpSpPr>
          <a:xfrm>
            <a:off x="0" y="0"/>
            <a:ext cx="1599582" cy="2770557"/>
            <a:chOff x="0" y="0"/>
            <a:chExt cx="2132776" cy="3694076"/>
          </a:xfrm>
        </p:grpSpPr>
        <p:sp>
          <p:nvSpPr>
            <p:cNvPr id="5" name="Freeform 5"/>
            <p:cNvSpPr/>
            <p:nvPr/>
          </p:nvSpPr>
          <p:spPr>
            <a:xfrm>
              <a:off x="0" y="0"/>
              <a:ext cx="2132838" cy="3694049"/>
            </a:xfrm>
            <a:custGeom>
              <a:avLst/>
              <a:gdLst/>
              <a:ahLst/>
              <a:cxnLst/>
              <a:rect l="l" t="t" r="r" b="b"/>
              <a:pathLst>
                <a:path w="2132838" h="3694049">
                  <a:moveTo>
                    <a:pt x="0" y="0"/>
                  </a:moveTo>
                  <a:lnTo>
                    <a:pt x="2132838" y="0"/>
                  </a:lnTo>
                  <a:lnTo>
                    <a:pt x="0" y="3694049"/>
                  </a:lnTo>
                  <a:close/>
                </a:path>
              </a:pathLst>
            </a:custGeom>
            <a:solidFill>
              <a:srgbClr val="5271FF"/>
            </a:solidFill>
          </p:spPr>
        </p:sp>
      </p:grpSp>
      <p:grpSp>
        <p:nvGrpSpPr>
          <p:cNvPr id="6" name="Group 6"/>
          <p:cNvGrpSpPr/>
          <p:nvPr/>
        </p:nvGrpSpPr>
        <p:grpSpPr>
          <a:xfrm>
            <a:off x="15673590" y="8527172"/>
            <a:ext cx="2614410" cy="1759828"/>
            <a:chOff x="0" y="0"/>
            <a:chExt cx="3485880" cy="2346438"/>
          </a:xfrm>
        </p:grpSpPr>
        <p:sp>
          <p:nvSpPr>
            <p:cNvPr id="7" name="Freeform 7"/>
            <p:cNvSpPr/>
            <p:nvPr/>
          </p:nvSpPr>
          <p:spPr>
            <a:xfrm>
              <a:off x="0" y="0"/>
              <a:ext cx="3485896" cy="2346325"/>
            </a:xfrm>
            <a:custGeom>
              <a:avLst/>
              <a:gdLst/>
              <a:ahLst/>
              <a:cxnLst/>
              <a:rect l="l" t="t" r="r" b="b"/>
              <a:pathLst>
                <a:path w="3485896" h="2346325">
                  <a:moveTo>
                    <a:pt x="1354709" y="0"/>
                  </a:moveTo>
                  <a:lnTo>
                    <a:pt x="3485896" y="1230376"/>
                  </a:lnTo>
                  <a:lnTo>
                    <a:pt x="3485896" y="2346325"/>
                  </a:lnTo>
                  <a:lnTo>
                    <a:pt x="0" y="2346325"/>
                  </a:lnTo>
                  <a:close/>
                </a:path>
              </a:pathLst>
            </a:custGeom>
            <a:solidFill>
              <a:srgbClr val="004AAD"/>
            </a:solidFill>
          </p:spPr>
        </p:sp>
      </p:grpSp>
      <p:grpSp>
        <p:nvGrpSpPr>
          <p:cNvPr id="8" name="Group 8"/>
          <p:cNvGrpSpPr/>
          <p:nvPr/>
        </p:nvGrpSpPr>
        <p:grpSpPr>
          <a:xfrm>
            <a:off x="17162574" y="8337702"/>
            <a:ext cx="1125427" cy="1949298"/>
            <a:chOff x="0" y="0"/>
            <a:chExt cx="1500570" cy="2599064"/>
          </a:xfrm>
        </p:grpSpPr>
        <p:sp>
          <p:nvSpPr>
            <p:cNvPr id="9" name="Freeform 9"/>
            <p:cNvSpPr/>
            <p:nvPr/>
          </p:nvSpPr>
          <p:spPr>
            <a:xfrm>
              <a:off x="0" y="0"/>
              <a:ext cx="1500632" cy="2599055"/>
            </a:xfrm>
            <a:custGeom>
              <a:avLst/>
              <a:gdLst/>
              <a:ahLst/>
              <a:cxnLst/>
              <a:rect l="l" t="t" r="r" b="b"/>
              <a:pathLst>
                <a:path w="1500632" h="2599055">
                  <a:moveTo>
                    <a:pt x="1500632" y="0"/>
                  </a:moveTo>
                  <a:lnTo>
                    <a:pt x="1500632" y="2599055"/>
                  </a:lnTo>
                  <a:lnTo>
                    <a:pt x="0" y="2599055"/>
                  </a:lnTo>
                  <a:close/>
                </a:path>
              </a:pathLst>
            </a:custGeom>
            <a:solidFill>
              <a:srgbClr val="5271FF"/>
            </a:solidFill>
          </p:spPr>
        </p:sp>
      </p:grpSp>
      <p:grpSp>
        <p:nvGrpSpPr>
          <p:cNvPr id="10" name="Group 10"/>
          <p:cNvGrpSpPr/>
          <p:nvPr/>
        </p:nvGrpSpPr>
        <p:grpSpPr>
          <a:xfrm>
            <a:off x="3441993" y="2828159"/>
            <a:ext cx="1724889" cy="1724889"/>
            <a:chOff x="0" y="0"/>
            <a:chExt cx="2299852" cy="2299852"/>
          </a:xfrm>
        </p:grpSpPr>
        <p:sp>
          <p:nvSpPr>
            <p:cNvPr id="11" name="Freeform 11"/>
            <p:cNvSpPr/>
            <p:nvPr/>
          </p:nvSpPr>
          <p:spPr>
            <a:xfrm>
              <a:off x="0" y="0"/>
              <a:ext cx="2299843" cy="2299843"/>
            </a:xfrm>
            <a:custGeom>
              <a:avLst/>
              <a:gdLst/>
              <a:ahLst/>
              <a:cxnLst/>
              <a:rect l="l" t="t" r="r" b="b"/>
              <a:pathLst>
                <a:path w="2299843" h="2299843">
                  <a:moveTo>
                    <a:pt x="0" y="0"/>
                  </a:moveTo>
                  <a:lnTo>
                    <a:pt x="2299843" y="0"/>
                  </a:lnTo>
                  <a:lnTo>
                    <a:pt x="2299843" y="2299843"/>
                  </a:lnTo>
                  <a:lnTo>
                    <a:pt x="0" y="2299843"/>
                  </a:lnTo>
                  <a:close/>
                </a:path>
              </a:pathLst>
            </a:custGeom>
            <a:solidFill>
              <a:srgbClr val="5271FF"/>
            </a:solidFill>
          </p:spPr>
        </p:sp>
      </p:grpSp>
      <p:grpSp>
        <p:nvGrpSpPr>
          <p:cNvPr id="12" name="Group 12"/>
          <p:cNvGrpSpPr/>
          <p:nvPr/>
        </p:nvGrpSpPr>
        <p:grpSpPr>
          <a:xfrm>
            <a:off x="13298952" y="2828159"/>
            <a:ext cx="1724889" cy="1724889"/>
            <a:chOff x="0" y="0"/>
            <a:chExt cx="2299852" cy="2299852"/>
          </a:xfrm>
        </p:grpSpPr>
        <p:sp>
          <p:nvSpPr>
            <p:cNvPr id="13" name="Freeform 13"/>
            <p:cNvSpPr/>
            <p:nvPr/>
          </p:nvSpPr>
          <p:spPr>
            <a:xfrm>
              <a:off x="0" y="0"/>
              <a:ext cx="2299843" cy="2299843"/>
            </a:xfrm>
            <a:custGeom>
              <a:avLst/>
              <a:gdLst/>
              <a:ahLst/>
              <a:cxnLst/>
              <a:rect l="l" t="t" r="r" b="b"/>
              <a:pathLst>
                <a:path w="2299843" h="2299843">
                  <a:moveTo>
                    <a:pt x="0" y="0"/>
                  </a:moveTo>
                  <a:lnTo>
                    <a:pt x="2299843" y="0"/>
                  </a:lnTo>
                  <a:lnTo>
                    <a:pt x="2299843" y="2299843"/>
                  </a:lnTo>
                  <a:lnTo>
                    <a:pt x="0" y="2299843"/>
                  </a:lnTo>
                  <a:close/>
                </a:path>
              </a:pathLst>
            </a:custGeom>
            <a:solidFill>
              <a:srgbClr val="5271FF"/>
            </a:solidFill>
          </p:spPr>
        </p:sp>
      </p:grpSp>
      <p:sp>
        <p:nvSpPr>
          <p:cNvPr id="14" name="Freeform 14"/>
          <p:cNvSpPr/>
          <p:nvPr/>
        </p:nvSpPr>
        <p:spPr>
          <a:xfrm>
            <a:off x="13585496" y="3075564"/>
            <a:ext cx="1151801" cy="1230079"/>
          </a:xfrm>
          <a:custGeom>
            <a:avLst/>
            <a:gdLst/>
            <a:ahLst/>
            <a:cxnLst/>
            <a:rect l="l" t="t" r="r" b="b"/>
            <a:pathLst>
              <a:path w="1151801" h="1230079">
                <a:moveTo>
                  <a:pt x="0" y="0"/>
                </a:moveTo>
                <a:lnTo>
                  <a:pt x="1151801" y="0"/>
                </a:lnTo>
                <a:lnTo>
                  <a:pt x="1151801" y="1230079"/>
                </a:lnTo>
                <a:lnTo>
                  <a:pt x="0" y="12300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a:off x="3682409" y="3127363"/>
            <a:ext cx="1244058" cy="1126481"/>
          </a:xfrm>
          <a:custGeom>
            <a:avLst/>
            <a:gdLst/>
            <a:ahLst/>
            <a:cxnLst/>
            <a:rect l="l" t="t" r="r" b="b"/>
            <a:pathLst>
              <a:path w="1244058" h="1126481">
                <a:moveTo>
                  <a:pt x="0" y="0"/>
                </a:moveTo>
                <a:lnTo>
                  <a:pt x="1244057" y="0"/>
                </a:lnTo>
                <a:lnTo>
                  <a:pt x="1244057" y="1126481"/>
                </a:lnTo>
                <a:lnTo>
                  <a:pt x="0" y="112648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TextBox 16"/>
          <p:cNvSpPr txBox="1"/>
          <p:nvPr/>
        </p:nvSpPr>
        <p:spPr>
          <a:xfrm>
            <a:off x="1028700" y="5069916"/>
            <a:ext cx="6373641" cy="641985"/>
          </a:xfrm>
          <a:prstGeom prst="rect">
            <a:avLst/>
          </a:prstGeom>
        </p:spPr>
        <p:txBody>
          <a:bodyPr lIns="0" tIns="0" rIns="0" bIns="0" rtlCol="0" anchor="t">
            <a:spAutoFit/>
          </a:bodyPr>
          <a:lstStyle/>
          <a:p>
            <a:pPr algn="ctr">
              <a:lnSpc>
                <a:spcPts val="5040"/>
              </a:lnSpc>
            </a:pPr>
            <a:r>
              <a:rPr lang="en-US" sz="3600" b="1">
                <a:solidFill>
                  <a:srgbClr val="000000"/>
                </a:solidFill>
                <a:latin typeface="Arimo Bold"/>
                <a:ea typeface="Arimo Bold"/>
                <a:cs typeface="Arimo Bold"/>
                <a:sym typeface="Arimo Bold"/>
              </a:rPr>
              <a:t>Task Completion</a:t>
            </a:r>
          </a:p>
        </p:txBody>
      </p:sp>
      <p:sp>
        <p:nvSpPr>
          <p:cNvPr id="17" name="TextBox 17"/>
          <p:cNvSpPr txBox="1"/>
          <p:nvPr/>
        </p:nvSpPr>
        <p:spPr>
          <a:xfrm>
            <a:off x="1028700" y="5803396"/>
            <a:ext cx="6373641" cy="1655445"/>
          </a:xfrm>
          <a:prstGeom prst="rect">
            <a:avLst/>
          </a:prstGeom>
        </p:spPr>
        <p:txBody>
          <a:bodyPr lIns="0" tIns="0" rIns="0" bIns="0" rtlCol="0" anchor="t">
            <a:spAutoFit/>
          </a:bodyPr>
          <a:lstStyle/>
          <a:p>
            <a:pPr algn="ctr">
              <a:lnSpc>
                <a:spcPts val="3360"/>
              </a:lnSpc>
            </a:pPr>
            <a:r>
              <a:rPr lang="en-US" sz="2100">
                <a:solidFill>
                  <a:srgbClr val="000000"/>
                </a:solidFill>
                <a:latin typeface="Arimo"/>
                <a:ea typeface="Arimo"/>
                <a:cs typeface="Arimo"/>
                <a:sym typeface="Arimo"/>
              </a:rPr>
              <a:t>Social media advertising, live - streaming e - commerce, and other activities were carried out as planned, with a cumulative exposure of 50 million times, achieving 110% of the planned target.</a:t>
            </a:r>
          </a:p>
        </p:txBody>
      </p:sp>
      <p:sp>
        <p:nvSpPr>
          <p:cNvPr id="18" name="TextBox 18"/>
          <p:cNvSpPr txBox="1"/>
          <p:nvPr/>
        </p:nvSpPr>
        <p:spPr>
          <a:xfrm>
            <a:off x="10885659" y="5069916"/>
            <a:ext cx="6373641" cy="641985"/>
          </a:xfrm>
          <a:prstGeom prst="rect">
            <a:avLst/>
          </a:prstGeom>
        </p:spPr>
        <p:txBody>
          <a:bodyPr lIns="0" tIns="0" rIns="0" bIns="0" rtlCol="0" anchor="t">
            <a:spAutoFit/>
          </a:bodyPr>
          <a:lstStyle/>
          <a:p>
            <a:pPr algn="ctr">
              <a:lnSpc>
                <a:spcPts val="5040"/>
              </a:lnSpc>
            </a:pPr>
            <a:r>
              <a:rPr lang="en-US" sz="3600" b="1">
                <a:solidFill>
                  <a:srgbClr val="000000"/>
                </a:solidFill>
                <a:latin typeface="Arimo Bold"/>
                <a:ea typeface="Arimo Bold"/>
                <a:cs typeface="Arimo Bold"/>
                <a:sym typeface="Arimo Bold"/>
              </a:rPr>
              <a:t>Stage Summary</a:t>
            </a:r>
          </a:p>
        </p:txBody>
      </p:sp>
      <p:sp>
        <p:nvSpPr>
          <p:cNvPr id="19" name="TextBox 19"/>
          <p:cNvSpPr txBox="1"/>
          <p:nvPr/>
        </p:nvSpPr>
        <p:spPr>
          <a:xfrm>
            <a:off x="10885659" y="5803396"/>
            <a:ext cx="6373641" cy="1655445"/>
          </a:xfrm>
          <a:prstGeom prst="rect">
            <a:avLst/>
          </a:prstGeom>
        </p:spPr>
        <p:txBody>
          <a:bodyPr lIns="0" tIns="0" rIns="0" bIns="0" rtlCol="0" anchor="t">
            <a:spAutoFit/>
          </a:bodyPr>
          <a:lstStyle/>
          <a:p>
            <a:pPr algn="ctr">
              <a:lnSpc>
                <a:spcPts val="3360"/>
              </a:lnSpc>
            </a:pPr>
            <a:r>
              <a:rPr lang="en-US" sz="2100">
                <a:solidFill>
                  <a:srgbClr val="000000"/>
                </a:solidFill>
                <a:latin typeface="Arimo"/>
                <a:ea typeface="Arimo"/>
                <a:cs typeface="Arimo"/>
                <a:sym typeface="Arimo"/>
              </a:rPr>
              <a:t>However, during the promotion process, it was found that there are differences in market acceptance in different regions, and the promotion strategy needs to be further adjusted.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3088566" cy="1839564"/>
            <a:chOff x="0" y="0"/>
            <a:chExt cx="4118088" cy="2452752"/>
          </a:xfrm>
        </p:grpSpPr>
        <p:sp>
          <p:nvSpPr>
            <p:cNvPr id="3" name="Freeform 3"/>
            <p:cNvSpPr/>
            <p:nvPr/>
          </p:nvSpPr>
          <p:spPr>
            <a:xfrm>
              <a:off x="0" y="0"/>
              <a:ext cx="4118102" cy="2452751"/>
            </a:xfrm>
            <a:custGeom>
              <a:avLst/>
              <a:gdLst/>
              <a:ahLst/>
              <a:cxnLst/>
              <a:rect l="l" t="t" r="r" b="b"/>
              <a:pathLst>
                <a:path w="4118102" h="2452751">
                  <a:moveTo>
                    <a:pt x="0" y="0"/>
                  </a:moveTo>
                  <a:lnTo>
                    <a:pt x="4118102" y="0"/>
                  </a:lnTo>
                  <a:lnTo>
                    <a:pt x="2702052" y="2452751"/>
                  </a:lnTo>
                  <a:lnTo>
                    <a:pt x="0" y="892810"/>
                  </a:lnTo>
                  <a:close/>
                </a:path>
              </a:pathLst>
            </a:custGeom>
            <a:solidFill>
              <a:srgbClr val="004AAD"/>
            </a:solidFill>
          </p:spPr>
        </p:sp>
      </p:grpSp>
      <p:grpSp>
        <p:nvGrpSpPr>
          <p:cNvPr id="4" name="Group 4"/>
          <p:cNvGrpSpPr/>
          <p:nvPr/>
        </p:nvGrpSpPr>
        <p:grpSpPr>
          <a:xfrm>
            <a:off x="0" y="0"/>
            <a:ext cx="1599582" cy="2770557"/>
            <a:chOff x="0" y="0"/>
            <a:chExt cx="2132776" cy="3694076"/>
          </a:xfrm>
        </p:grpSpPr>
        <p:sp>
          <p:nvSpPr>
            <p:cNvPr id="5" name="Freeform 5"/>
            <p:cNvSpPr/>
            <p:nvPr/>
          </p:nvSpPr>
          <p:spPr>
            <a:xfrm>
              <a:off x="0" y="0"/>
              <a:ext cx="2132838" cy="3694049"/>
            </a:xfrm>
            <a:custGeom>
              <a:avLst/>
              <a:gdLst/>
              <a:ahLst/>
              <a:cxnLst/>
              <a:rect l="l" t="t" r="r" b="b"/>
              <a:pathLst>
                <a:path w="2132838" h="3694049">
                  <a:moveTo>
                    <a:pt x="0" y="0"/>
                  </a:moveTo>
                  <a:lnTo>
                    <a:pt x="2132838" y="0"/>
                  </a:lnTo>
                  <a:lnTo>
                    <a:pt x="0" y="3694049"/>
                  </a:lnTo>
                  <a:close/>
                </a:path>
              </a:pathLst>
            </a:custGeom>
            <a:solidFill>
              <a:srgbClr val="5271FF"/>
            </a:solidFill>
          </p:spPr>
        </p:sp>
      </p:grpSp>
      <p:grpSp>
        <p:nvGrpSpPr>
          <p:cNvPr id="6" name="Group 6"/>
          <p:cNvGrpSpPr/>
          <p:nvPr/>
        </p:nvGrpSpPr>
        <p:grpSpPr>
          <a:xfrm>
            <a:off x="15673590" y="8527172"/>
            <a:ext cx="2614410" cy="1759828"/>
            <a:chOff x="0" y="0"/>
            <a:chExt cx="3485880" cy="2346438"/>
          </a:xfrm>
        </p:grpSpPr>
        <p:sp>
          <p:nvSpPr>
            <p:cNvPr id="7" name="Freeform 7"/>
            <p:cNvSpPr/>
            <p:nvPr/>
          </p:nvSpPr>
          <p:spPr>
            <a:xfrm>
              <a:off x="0" y="0"/>
              <a:ext cx="3485896" cy="2346325"/>
            </a:xfrm>
            <a:custGeom>
              <a:avLst/>
              <a:gdLst/>
              <a:ahLst/>
              <a:cxnLst/>
              <a:rect l="l" t="t" r="r" b="b"/>
              <a:pathLst>
                <a:path w="3485896" h="2346325">
                  <a:moveTo>
                    <a:pt x="1354709" y="0"/>
                  </a:moveTo>
                  <a:lnTo>
                    <a:pt x="3485896" y="1230376"/>
                  </a:lnTo>
                  <a:lnTo>
                    <a:pt x="3485896" y="2346325"/>
                  </a:lnTo>
                  <a:lnTo>
                    <a:pt x="0" y="2346325"/>
                  </a:lnTo>
                  <a:close/>
                </a:path>
              </a:pathLst>
            </a:custGeom>
            <a:solidFill>
              <a:srgbClr val="004AAD"/>
            </a:solidFill>
          </p:spPr>
        </p:sp>
      </p:grpSp>
      <p:grpSp>
        <p:nvGrpSpPr>
          <p:cNvPr id="8" name="Group 8"/>
          <p:cNvGrpSpPr/>
          <p:nvPr/>
        </p:nvGrpSpPr>
        <p:grpSpPr>
          <a:xfrm>
            <a:off x="17162574" y="8337702"/>
            <a:ext cx="1125427" cy="1949298"/>
            <a:chOff x="0" y="0"/>
            <a:chExt cx="1500570" cy="2599064"/>
          </a:xfrm>
        </p:grpSpPr>
        <p:sp>
          <p:nvSpPr>
            <p:cNvPr id="9" name="Freeform 9"/>
            <p:cNvSpPr/>
            <p:nvPr/>
          </p:nvSpPr>
          <p:spPr>
            <a:xfrm>
              <a:off x="0" y="0"/>
              <a:ext cx="1500632" cy="2599055"/>
            </a:xfrm>
            <a:custGeom>
              <a:avLst/>
              <a:gdLst/>
              <a:ahLst/>
              <a:cxnLst/>
              <a:rect l="l" t="t" r="r" b="b"/>
              <a:pathLst>
                <a:path w="1500632" h="2599055">
                  <a:moveTo>
                    <a:pt x="1500632" y="0"/>
                  </a:moveTo>
                  <a:lnTo>
                    <a:pt x="1500632" y="2599055"/>
                  </a:lnTo>
                  <a:lnTo>
                    <a:pt x="0" y="2599055"/>
                  </a:lnTo>
                  <a:close/>
                </a:path>
              </a:pathLst>
            </a:custGeom>
            <a:solidFill>
              <a:srgbClr val="5271FF"/>
            </a:solidFill>
          </p:spPr>
        </p:sp>
      </p:grpSp>
      <p:grpSp>
        <p:nvGrpSpPr>
          <p:cNvPr id="10" name="Group 10"/>
          <p:cNvGrpSpPr/>
          <p:nvPr/>
        </p:nvGrpSpPr>
        <p:grpSpPr>
          <a:xfrm>
            <a:off x="6631998" y="2631501"/>
            <a:ext cx="2359760" cy="2359758"/>
            <a:chOff x="0" y="0"/>
            <a:chExt cx="2980406" cy="2980404"/>
          </a:xfrm>
        </p:grpSpPr>
        <p:sp>
          <p:nvSpPr>
            <p:cNvPr id="11" name="Freeform 11"/>
            <p:cNvSpPr/>
            <p:nvPr/>
          </p:nvSpPr>
          <p:spPr>
            <a:xfrm>
              <a:off x="0" y="0"/>
              <a:ext cx="2980436" cy="2980436"/>
            </a:xfrm>
            <a:custGeom>
              <a:avLst/>
              <a:gdLst/>
              <a:ahLst/>
              <a:cxnLst/>
              <a:rect l="l" t="t" r="r" b="b"/>
              <a:pathLst>
                <a:path w="2980436" h="2980436">
                  <a:moveTo>
                    <a:pt x="0" y="0"/>
                  </a:moveTo>
                  <a:lnTo>
                    <a:pt x="1781175" y="0"/>
                  </a:lnTo>
                  <a:lnTo>
                    <a:pt x="2980436" y="1199261"/>
                  </a:lnTo>
                  <a:lnTo>
                    <a:pt x="2980436" y="2980436"/>
                  </a:lnTo>
                  <a:lnTo>
                    <a:pt x="1199261" y="2980436"/>
                  </a:lnTo>
                  <a:lnTo>
                    <a:pt x="0" y="1781175"/>
                  </a:lnTo>
                  <a:lnTo>
                    <a:pt x="0" y="0"/>
                  </a:lnTo>
                  <a:close/>
                </a:path>
              </a:pathLst>
            </a:custGeom>
            <a:solidFill>
              <a:srgbClr val="5271FF"/>
            </a:solidFill>
          </p:spPr>
        </p:sp>
      </p:grpSp>
      <p:grpSp>
        <p:nvGrpSpPr>
          <p:cNvPr id="12" name="Group 12"/>
          <p:cNvGrpSpPr/>
          <p:nvPr/>
        </p:nvGrpSpPr>
        <p:grpSpPr>
          <a:xfrm>
            <a:off x="9296242" y="5295744"/>
            <a:ext cx="2359760" cy="2359758"/>
            <a:chOff x="0" y="0"/>
            <a:chExt cx="2980406" cy="2980404"/>
          </a:xfrm>
        </p:grpSpPr>
        <p:sp>
          <p:nvSpPr>
            <p:cNvPr id="13" name="Freeform 13"/>
            <p:cNvSpPr/>
            <p:nvPr/>
          </p:nvSpPr>
          <p:spPr>
            <a:xfrm>
              <a:off x="0" y="0"/>
              <a:ext cx="2980436" cy="2980436"/>
            </a:xfrm>
            <a:custGeom>
              <a:avLst/>
              <a:gdLst/>
              <a:ahLst/>
              <a:cxnLst/>
              <a:rect l="l" t="t" r="r" b="b"/>
              <a:pathLst>
                <a:path w="2980436" h="2980436">
                  <a:moveTo>
                    <a:pt x="0" y="0"/>
                  </a:moveTo>
                  <a:lnTo>
                    <a:pt x="1781175" y="0"/>
                  </a:lnTo>
                  <a:lnTo>
                    <a:pt x="2980436" y="1199261"/>
                  </a:lnTo>
                  <a:lnTo>
                    <a:pt x="2980436" y="2980436"/>
                  </a:lnTo>
                  <a:lnTo>
                    <a:pt x="1199261" y="2980436"/>
                  </a:lnTo>
                  <a:lnTo>
                    <a:pt x="0" y="1781175"/>
                  </a:lnTo>
                  <a:lnTo>
                    <a:pt x="0" y="0"/>
                  </a:lnTo>
                  <a:close/>
                </a:path>
              </a:pathLst>
            </a:custGeom>
            <a:solidFill>
              <a:srgbClr val="5271FF"/>
            </a:solidFill>
          </p:spPr>
        </p:sp>
      </p:grpSp>
      <p:grpSp>
        <p:nvGrpSpPr>
          <p:cNvPr id="14" name="Group 14"/>
          <p:cNvGrpSpPr/>
          <p:nvPr/>
        </p:nvGrpSpPr>
        <p:grpSpPr>
          <a:xfrm>
            <a:off x="9296242" y="2631498"/>
            <a:ext cx="2359760" cy="2359758"/>
            <a:chOff x="0" y="0"/>
            <a:chExt cx="2980406" cy="2980404"/>
          </a:xfrm>
        </p:grpSpPr>
        <p:sp>
          <p:nvSpPr>
            <p:cNvPr id="15" name="Freeform 15"/>
            <p:cNvSpPr/>
            <p:nvPr/>
          </p:nvSpPr>
          <p:spPr>
            <a:xfrm>
              <a:off x="0" y="0"/>
              <a:ext cx="2980436" cy="2980436"/>
            </a:xfrm>
            <a:custGeom>
              <a:avLst/>
              <a:gdLst/>
              <a:ahLst/>
              <a:cxnLst/>
              <a:rect l="l" t="t" r="r" b="b"/>
              <a:pathLst>
                <a:path w="2980436" h="2980436">
                  <a:moveTo>
                    <a:pt x="1199261" y="0"/>
                  </a:moveTo>
                  <a:lnTo>
                    <a:pt x="2980436" y="0"/>
                  </a:lnTo>
                  <a:lnTo>
                    <a:pt x="2980436" y="1781175"/>
                  </a:lnTo>
                  <a:lnTo>
                    <a:pt x="1781175" y="2980436"/>
                  </a:lnTo>
                  <a:lnTo>
                    <a:pt x="0" y="2980436"/>
                  </a:lnTo>
                  <a:lnTo>
                    <a:pt x="0" y="1199261"/>
                  </a:lnTo>
                  <a:close/>
                </a:path>
              </a:pathLst>
            </a:custGeom>
            <a:solidFill>
              <a:srgbClr val="004AAD"/>
            </a:solidFill>
          </p:spPr>
        </p:sp>
      </p:grpSp>
      <p:grpSp>
        <p:nvGrpSpPr>
          <p:cNvPr id="16" name="Group 16"/>
          <p:cNvGrpSpPr/>
          <p:nvPr/>
        </p:nvGrpSpPr>
        <p:grpSpPr>
          <a:xfrm>
            <a:off x="6631998" y="5295741"/>
            <a:ext cx="2359760" cy="2359758"/>
            <a:chOff x="0" y="0"/>
            <a:chExt cx="2980406" cy="2980404"/>
          </a:xfrm>
        </p:grpSpPr>
        <p:sp>
          <p:nvSpPr>
            <p:cNvPr id="17" name="Freeform 17"/>
            <p:cNvSpPr/>
            <p:nvPr/>
          </p:nvSpPr>
          <p:spPr>
            <a:xfrm>
              <a:off x="0" y="0"/>
              <a:ext cx="2980436" cy="2980436"/>
            </a:xfrm>
            <a:custGeom>
              <a:avLst/>
              <a:gdLst/>
              <a:ahLst/>
              <a:cxnLst/>
              <a:rect l="l" t="t" r="r" b="b"/>
              <a:pathLst>
                <a:path w="2980436" h="2980436">
                  <a:moveTo>
                    <a:pt x="1199261" y="0"/>
                  </a:moveTo>
                  <a:lnTo>
                    <a:pt x="2980436" y="0"/>
                  </a:lnTo>
                  <a:lnTo>
                    <a:pt x="2980436" y="1781175"/>
                  </a:lnTo>
                  <a:lnTo>
                    <a:pt x="1781175" y="2980436"/>
                  </a:lnTo>
                  <a:lnTo>
                    <a:pt x="0" y="2980436"/>
                  </a:lnTo>
                  <a:lnTo>
                    <a:pt x="0" y="1199261"/>
                  </a:lnTo>
                  <a:close/>
                </a:path>
              </a:pathLst>
            </a:custGeom>
            <a:solidFill>
              <a:srgbClr val="004AAD"/>
            </a:solidFill>
          </p:spPr>
        </p:sp>
      </p:grpSp>
      <p:sp>
        <p:nvSpPr>
          <p:cNvPr id="18" name="Freeform 18"/>
          <p:cNvSpPr/>
          <p:nvPr/>
        </p:nvSpPr>
        <p:spPr>
          <a:xfrm>
            <a:off x="9777876" y="5793881"/>
            <a:ext cx="1396492" cy="1363484"/>
          </a:xfrm>
          <a:custGeom>
            <a:avLst/>
            <a:gdLst/>
            <a:ahLst/>
            <a:cxnLst/>
            <a:rect l="l" t="t" r="r" b="b"/>
            <a:pathLst>
              <a:path w="1396492" h="1363484">
                <a:moveTo>
                  <a:pt x="0" y="0"/>
                </a:moveTo>
                <a:lnTo>
                  <a:pt x="1396492" y="0"/>
                </a:lnTo>
                <a:lnTo>
                  <a:pt x="1396492" y="1363484"/>
                </a:lnTo>
                <a:lnTo>
                  <a:pt x="0" y="13634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Freeform 19"/>
          <p:cNvSpPr/>
          <p:nvPr/>
        </p:nvSpPr>
        <p:spPr>
          <a:xfrm>
            <a:off x="9767862" y="3129635"/>
            <a:ext cx="1416520" cy="1363484"/>
          </a:xfrm>
          <a:custGeom>
            <a:avLst/>
            <a:gdLst/>
            <a:ahLst/>
            <a:cxnLst/>
            <a:rect l="l" t="t" r="r" b="b"/>
            <a:pathLst>
              <a:path w="1416520" h="1363484">
                <a:moveTo>
                  <a:pt x="0" y="0"/>
                </a:moveTo>
                <a:lnTo>
                  <a:pt x="1416520" y="0"/>
                </a:lnTo>
                <a:lnTo>
                  <a:pt x="1416520" y="1363484"/>
                </a:lnTo>
                <a:lnTo>
                  <a:pt x="0" y="136348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0" name="Freeform 20"/>
          <p:cNvSpPr/>
          <p:nvPr/>
        </p:nvSpPr>
        <p:spPr>
          <a:xfrm>
            <a:off x="7312347" y="5793878"/>
            <a:ext cx="999062" cy="1363484"/>
          </a:xfrm>
          <a:custGeom>
            <a:avLst/>
            <a:gdLst/>
            <a:ahLst/>
            <a:cxnLst/>
            <a:rect l="l" t="t" r="r" b="b"/>
            <a:pathLst>
              <a:path w="999062" h="1363484">
                <a:moveTo>
                  <a:pt x="0" y="0"/>
                </a:moveTo>
                <a:lnTo>
                  <a:pt x="999062" y="0"/>
                </a:lnTo>
                <a:lnTo>
                  <a:pt x="999062" y="1363484"/>
                </a:lnTo>
                <a:lnTo>
                  <a:pt x="0" y="13634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1" name="Freeform 21"/>
          <p:cNvSpPr/>
          <p:nvPr/>
        </p:nvSpPr>
        <p:spPr>
          <a:xfrm>
            <a:off x="7128261" y="3129638"/>
            <a:ext cx="1367234" cy="1363484"/>
          </a:xfrm>
          <a:custGeom>
            <a:avLst/>
            <a:gdLst/>
            <a:ahLst/>
            <a:cxnLst/>
            <a:rect l="l" t="t" r="r" b="b"/>
            <a:pathLst>
              <a:path w="1367234" h="1363484">
                <a:moveTo>
                  <a:pt x="0" y="0"/>
                </a:moveTo>
                <a:lnTo>
                  <a:pt x="1367234" y="0"/>
                </a:lnTo>
                <a:lnTo>
                  <a:pt x="1367234" y="1363484"/>
                </a:lnTo>
                <a:lnTo>
                  <a:pt x="0" y="136348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2" name="TextBox 22"/>
          <p:cNvSpPr txBox="1"/>
          <p:nvPr/>
        </p:nvSpPr>
        <p:spPr>
          <a:xfrm>
            <a:off x="1028700" y="1856858"/>
            <a:ext cx="5046891" cy="641985"/>
          </a:xfrm>
          <a:prstGeom prst="rect">
            <a:avLst/>
          </a:prstGeom>
        </p:spPr>
        <p:txBody>
          <a:bodyPr lIns="0" tIns="0" rIns="0" bIns="0" rtlCol="0" anchor="t">
            <a:spAutoFit/>
          </a:bodyPr>
          <a:lstStyle/>
          <a:p>
            <a:pPr algn="ctr">
              <a:lnSpc>
                <a:spcPts val="5040"/>
              </a:lnSpc>
            </a:pPr>
            <a:r>
              <a:rPr lang="en-US" sz="3600" b="1">
                <a:solidFill>
                  <a:srgbClr val="000000"/>
                </a:solidFill>
                <a:latin typeface="Arimo Bold"/>
                <a:ea typeface="Arimo Bold"/>
                <a:cs typeface="Arimo Bold"/>
                <a:sym typeface="Arimo Bold"/>
              </a:rPr>
              <a:t>Technical Difficulties</a:t>
            </a:r>
          </a:p>
        </p:txBody>
      </p:sp>
      <p:sp>
        <p:nvSpPr>
          <p:cNvPr id="23" name="TextBox 23"/>
          <p:cNvSpPr txBox="1"/>
          <p:nvPr/>
        </p:nvSpPr>
        <p:spPr>
          <a:xfrm>
            <a:off x="1028700" y="2590338"/>
            <a:ext cx="5046891" cy="1655445"/>
          </a:xfrm>
          <a:prstGeom prst="rect">
            <a:avLst/>
          </a:prstGeom>
        </p:spPr>
        <p:txBody>
          <a:bodyPr lIns="0" tIns="0" rIns="0" bIns="0" rtlCol="0" anchor="t">
            <a:spAutoFit/>
          </a:bodyPr>
          <a:lstStyle/>
          <a:p>
            <a:pPr algn="ctr">
              <a:lnSpc>
                <a:spcPts val="3360"/>
              </a:lnSpc>
            </a:pPr>
            <a:r>
              <a:rPr lang="en-US" sz="2100">
                <a:solidFill>
                  <a:srgbClr val="000000"/>
                </a:solidFill>
                <a:latin typeface="Arimo"/>
                <a:ea typeface="Arimo"/>
                <a:cs typeface="Arimo"/>
                <a:sym typeface="Arimo"/>
              </a:rPr>
              <a:t>In actual use, some users reported that the heart rate monitoring function of the product occasionally shows inaccurate data. </a:t>
            </a:r>
          </a:p>
        </p:txBody>
      </p:sp>
      <p:sp>
        <p:nvSpPr>
          <p:cNvPr id="24" name="TextBox 24"/>
          <p:cNvSpPr txBox="1"/>
          <p:nvPr/>
        </p:nvSpPr>
        <p:spPr>
          <a:xfrm>
            <a:off x="1028700" y="5945967"/>
            <a:ext cx="5046891" cy="641985"/>
          </a:xfrm>
          <a:prstGeom prst="rect">
            <a:avLst/>
          </a:prstGeom>
        </p:spPr>
        <p:txBody>
          <a:bodyPr lIns="0" tIns="0" rIns="0" bIns="0" rtlCol="0" anchor="t">
            <a:spAutoFit/>
          </a:bodyPr>
          <a:lstStyle/>
          <a:p>
            <a:pPr algn="ctr">
              <a:lnSpc>
                <a:spcPts val="5040"/>
              </a:lnSpc>
            </a:pPr>
            <a:r>
              <a:rPr lang="en-US" sz="3600" b="1">
                <a:solidFill>
                  <a:srgbClr val="000000"/>
                </a:solidFill>
                <a:latin typeface="Arimo Bold"/>
                <a:ea typeface="Arimo Bold"/>
                <a:cs typeface="Arimo Bold"/>
                <a:sym typeface="Arimo Bold"/>
              </a:rPr>
              <a:t>External Factors</a:t>
            </a:r>
          </a:p>
        </p:txBody>
      </p:sp>
      <p:sp>
        <p:nvSpPr>
          <p:cNvPr id="25" name="TextBox 25"/>
          <p:cNvSpPr txBox="1"/>
          <p:nvPr/>
        </p:nvSpPr>
        <p:spPr>
          <a:xfrm>
            <a:off x="1028700" y="6679447"/>
            <a:ext cx="5046891" cy="1655445"/>
          </a:xfrm>
          <a:prstGeom prst="rect">
            <a:avLst/>
          </a:prstGeom>
        </p:spPr>
        <p:txBody>
          <a:bodyPr lIns="0" tIns="0" rIns="0" bIns="0" rtlCol="0" anchor="t">
            <a:spAutoFit/>
          </a:bodyPr>
          <a:lstStyle/>
          <a:p>
            <a:pPr algn="ctr">
              <a:lnSpc>
                <a:spcPts val="3360"/>
              </a:lnSpc>
            </a:pPr>
            <a:r>
              <a:rPr lang="en-US" sz="2100">
                <a:solidFill>
                  <a:srgbClr val="000000"/>
                </a:solidFill>
                <a:latin typeface="Arimo"/>
                <a:ea typeface="Arimo"/>
                <a:cs typeface="Arimo"/>
                <a:sym typeface="Arimo"/>
              </a:rPr>
              <a:t>Shortly after the launch of our product, competitors also launched a smart wearable device with similar functions and at a slightly lower price.</a:t>
            </a:r>
          </a:p>
        </p:txBody>
      </p:sp>
      <p:sp>
        <p:nvSpPr>
          <p:cNvPr id="26" name="TextBox 26"/>
          <p:cNvSpPr txBox="1"/>
          <p:nvPr/>
        </p:nvSpPr>
        <p:spPr>
          <a:xfrm>
            <a:off x="12212409" y="1856858"/>
            <a:ext cx="5046891" cy="641985"/>
          </a:xfrm>
          <a:prstGeom prst="rect">
            <a:avLst/>
          </a:prstGeom>
        </p:spPr>
        <p:txBody>
          <a:bodyPr lIns="0" tIns="0" rIns="0" bIns="0" rtlCol="0" anchor="t">
            <a:spAutoFit/>
          </a:bodyPr>
          <a:lstStyle/>
          <a:p>
            <a:pPr algn="ctr">
              <a:lnSpc>
                <a:spcPts val="5040"/>
              </a:lnSpc>
            </a:pPr>
            <a:r>
              <a:rPr lang="en-US" sz="3600" b="1">
                <a:solidFill>
                  <a:srgbClr val="000000"/>
                </a:solidFill>
                <a:latin typeface="Arimo Bold"/>
                <a:ea typeface="Arimo Bold"/>
                <a:cs typeface="Arimo Bold"/>
                <a:sym typeface="Arimo Bold"/>
              </a:rPr>
              <a:t>Resource Constraints</a:t>
            </a:r>
          </a:p>
        </p:txBody>
      </p:sp>
      <p:sp>
        <p:nvSpPr>
          <p:cNvPr id="27" name="TextBox 27"/>
          <p:cNvSpPr txBox="1"/>
          <p:nvPr/>
        </p:nvSpPr>
        <p:spPr>
          <a:xfrm>
            <a:off x="12212409" y="2590338"/>
            <a:ext cx="5046891" cy="1655445"/>
          </a:xfrm>
          <a:prstGeom prst="rect">
            <a:avLst/>
          </a:prstGeom>
        </p:spPr>
        <p:txBody>
          <a:bodyPr lIns="0" tIns="0" rIns="0" bIns="0" rtlCol="0" anchor="t">
            <a:spAutoFit/>
          </a:bodyPr>
          <a:lstStyle/>
          <a:p>
            <a:pPr algn="ctr">
              <a:lnSpc>
                <a:spcPts val="3360"/>
              </a:lnSpc>
            </a:pPr>
            <a:r>
              <a:rPr lang="en-US" sz="2100">
                <a:solidFill>
                  <a:srgbClr val="000000"/>
                </a:solidFill>
                <a:latin typeface="Arimo"/>
                <a:ea typeface="Arimo"/>
                <a:cs typeface="Arimo"/>
                <a:sym typeface="Arimo"/>
              </a:rPr>
              <a:t>The budget for market promotion activities was originally planned to be 10 million yuan. However, due to the higher - than - expected online advertising costs.</a:t>
            </a:r>
          </a:p>
        </p:txBody>
      </p:sp>
      <p:sp>
        <p:nvSpPr>
          <p:cNvPr id="28" name="TextBox 28"/>
          <p:cNvSpPr txBox="1"/>
          <p:nvPr/>
        </p:nvSpPr>
        <p:spPr>
          <a:xfrm>
            <a:off x="12212409" y="5945967"/>
            <a:ext cx="5046891" cy="641985"/>
          </a:xfrm>
          <a:prstGeom prst="rect">
            <a:avLst/>
          </a:prstGeom>
        </p:spPr>
        <p:txBody>
          <a:bodyPr lIns="0" tIns="0" rIns="0" bIns="0" rtlCol="0" anchor="t">
            <a:spAutoFit/>
          </a:bodyPr>
          <a:lstStyle/>
          <a:p>
            <a:pPr algn="ctr">
              <a:lnSpc>
                <a:spcPts val="5040"/>
              </a:lnSpc>
            </a:pPr>
            <a:r>
              <a:rPr lang="en-US" sz="3600" b="1">
                <a:solidFill>
                  <a:srgbClr val="000000"/>
                </a:solidFill>
                <a:latin typeface="Arimo Bold"/>
                <a:ea typeface="Arimo Bold"/>
                <a:cs typeface="Arimo Bold"/>
                <a:sym typeface="Arimo Bold"/>
              </a:rPr>
              <a:t>Communication Issues</a:t>
            </a:r>
          </a:p>
        </p:txBody>
      </p:sp>
      <p:sp>
        <p:nvSpPr>
          <p:cNvPr id="29" name="TextBox 29"/>
          <p:cNvSpPr txBox="1"/>
          <p:nvPr/>
        </p:nvSpPr>
        <p:spPr>
          <a:xfrm>
            <a:off x="12212409" y="6679447"/>
            <a:ext cx="5046891" cy="1655445"/>
          </a:xfrm>
          <a:prstGeom prst="rect">
            <a:avLst/>
          </a:prstGeom>
        </p:spPr>
        <p:txBody>
          <a:bodyPr lIns="0" tIns="0" rIns="0" bIns="0" rtlCol="0" anchor="t">
            <a:spAutoFit/>
          </a:bodyPr>
          <a:lstStyle/>
          <a:p>
            <a:pPr algn="ctr">
              <a:lnSpc>
                <a:spcPts val="3360"/>
              </a:lnSpc>
            </a:pPr>
            <a:r>
              <a:rPr lang="en-US" sz="2100">
                <a:solidFill>
                  <a:srgbClr val="000000"/>
                </a:solidFill>
                <a:latin typeface="Arimo"/>
                <a:ea typeface="Arimo"/>
                <a:cs typeface="Arimo"/>
                <a:sym typeface="Arimo"/>
              </a:rPr>
              <a:t>There are communication breakdowns between the marketing department and the Larana, Inc. department in product function adjustment.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3088566" cy="1839564"/>
            <a:chOff x="0" y="0"/>
            <a:chExt cx="4118088" cy="2452752"/>
          </a:xfrm>
        </p:grpSpPr>
        <p:sp>
          <p:nvSpPr>
            <p:cNvPr id="3" name="Freeform 3"/>
            <p:cNvSpPr/>
            <p:nvPr/>
          </p:nvSpPr>
          <p:spPr>
            <a:xfrm>
              <a:off x="0" y="0"/>
              <a:ext cx="4118102" cy="2452751"/>
            </a:xfrm>
            <a:custGeom>
              <a:avLst/>
              <a:gdLst/>
              <a:ahLst/>
              <a:cxnLst/>
              <a:rect l="l" t="t" r="r" b="b"/>
              <a:pathLst>
                <a:path w="4118102" h="2452751">
                  <a:moveTo>
                    <a:pt x="0" y="0"/>
                  </a:moveTo>
                  <a:lnTo>
                    <a:pt x="4118102" y="0"/>
                  </a:lnTo>
                  <a:lnTo>
                    <a:pt x="2702052" y="2452751"/>
                  </a:lnTo>
                  <a:lnTo>
                    <a:pt x="0" y="892810"/>
                  </a:lnTo>
                  <a:close/>
                </a:path>
              </a:pathLst>
            </a:custGeom>
            <a:solidFill>
              <a:srgbClr val="004AAD"/>
            </a:solidFill>
          </p:spPr>
        </p:sp>
      </p:grpSp>
      <p:grpSp>
        <p:nvGrpSpPr>
          <p:cNvPr id="4" name="Group 4"/>
          <p:cNvGrpSpPr/>
          <p:nvPr/>
        </p:nvGrpSpPr>
        <p:grpSpPr>
          <a:xfrm>
            <a:off x="0" y="0"/>
            <a:ext cx="1599582" cy="2770557"/>
            <a:chOff x="0" y="0"/>
            <a:chExt cx="2132776" cy="3694076"/>
          </a:xfrm>
        </p:grpSpPr>
        <p:sp>
          <p:nvSpPr>
            <p:cNvPr id="5" name="Freeform 5"/>
            <p:cNvSpPr/>
            <p:nvPr/>
          </p:nvSpPr>
          <p:spPr>
            <a:xfrm>
              <a:off x="0" y="0"/>
              <a:ext cx="2132838" cy="3694049"/>
            </a:xfrm>
            <a:custGeom>
              <a:avLst/>
              <a:gdLst/>
              <a:ahLst/>
              <a:cxnLst/>
              <a:rect l="l" t="t" r="r" b="b"/>
              <a:pathLst>
                <a:path w="2132838" h="3694049">
                  <a:moveTo>
                    <a:pt x="0" y="0"/>
                  </a:moveTo>
                  <a:lnTo>
                    <a:pt x="2132838" y="0"/>
                  </a:lnTo>
                  <a:lnTo>
                    <a:pt x="0" y="3694049"/>
                  </a:lnTo>
                  <a:close/>
                </a:path>
              </a:pathLst>
            </a:custGeom>
            <a:solidFill>
              <a:srgbClr val="5271FF"/>
            </a:solidFill>
          </p:spPr>
        </p:sp>
      </p:grpSp>
      <p:grpSp>
        <p:nvGrpSpPr>
          <p:cNvPr id="6" name="Group 6"/>
          <p:cNvGrpSpPr/>
          <p:nvPr/>
        </p:nvGrpSpPr>
        <p:grpSpPr>
          <a:xfrm>
            <a:off x="15673590" y="8527172"/>
            <a:ext cx="2614410" cy="1759828"/>
            <a:chOff x="0" y="0"/>
            <a:chExt cx="3485880" cy="2346438"/>
          </a:xfrm>
        </p:grpSpPr>
        <p:sp>
          <p:nvSpPr>
            <p:cNvPr id="7" name="Freeform 7"/>
            <p:cNvSpPr/>
            <p:nvPr/>
          </p:nvSpPr>
          <p:spPr>
            <a:xfrm>
              <a:off x="0" y="0"/>
              <a:ext cx="3485896" cy="2346325"/>
            </a:xfrm>
            <a:custGeom>
              <a:avLst/>
              <a:gdLst/>
              <a:ahLst/>
              <a:cxnLst/>
              <a:rect l="l" t="t" r="r" b="b"/>
              <a:pathLst>
                <a:path w="3485896" h="2346325">
                  <a:moveTo>
                    <a:pt x="1354709" y="0"/>
                  </a:moveTo>
                  <a:lnTo>
                    <a:pt x="3485896" y="1230376"/>
                  </a:lnTo>
                  <a:lnTo>
                    <a:pt x="3485896" y="2346325"/>
                  </a:lnTo>
                  <a:lnTo>
                    <a:pt x="0" y="2346325"/>
                  </a:lnTo>
                  <a:close/>
                </a:path>
              </a:pathLst>
            </a:custGeom>
            <a:solidFill>
              <a:srgbClr val="004AAD"/>
            </a:solidFill>
          </p:spPr>
        </p:sp>
      </p:grpSp>
      <p:grpSp>
        <p:nvGrpSpPr>
          <p:cNvPr id="8" name="Group 8"/>
          <p:cNvGrpSpPr/>
          <p:nvPr/>
        </p:nvGrpSpPr>
        <p:grpSpPr>
          <a:xfrm>
            <a:off x="17162574" y="8337702"/>
            <a:ext cx="1125427" cy="1949298"/>
            <a:chOff x="0" y="0"/>
            <a:chExt cx="1500570" cy="2599064"/>
          </a:xfrm>
        </p:grpSpPr>
        <p:sp>
          <p:nvSpPr>
            <p:cNvPr id="9" name="Freeform 9"/>
            <p:cNvSpPr/>
            <p:nvPr/>
          </p:nvSpPr>
          <p:spPr>
            <a:xfrm>
              <a:off x="0" y="0"/>
              <a:ext cx="1500632" cy="2599055"/>
            </a:xfrm>
            <a:custGeom>
              <a:avLst/>
              <a:gdLst/>
              <a:ahLst/>
              <a:cxnLst/>
              <a:rect l="l" t="t" r="r" b="b"/>
              <a:pathLst>
                <a:path w="1500632" h="2599055">
                  <a:moveTo>
                    <a:pt x="1500632" y="0"/>
                  </a:moveTo>
                  <a:lnTo>
                    <a:pt x="1500632" y="2599055"/>
                  </a:lnTo>
                  <a:lnTo>
                    <a:pt x="0" y="2599055"/>
                  </a:lnTo>
                  <a:close/>
                </a:path>
              </a:pathLst>
            </a:custGeom>
            <a:solidFill>
              <a:srgbClr val="5271FF"/>
            </a:solidFill>
          </p:spPr>
        </p:sp>
      </p:grpSp>
      <p:grpSp>
        <p:nvGrpSpPr>
          <p:cNvPr id="10" name="Group 10"/>
          <p:cNvGrpSpPr/>
          <p:nvPr/>
        </p:nvGrpSpPr>
        <p:grpSpPr>
          <a:xfrm>
            <a:off x="1467096" y="2087882"/>
            <a:ext cx="4414158" cy="6111238"/>
            <a:chOff x="0" y="0"/>
            <a:chExt cx="5885544" cy="8148318"/>
          </a:xfrm>
        </p:grpSpPr>
        <p:sp>
          <p:nvSpPr>
            <p:cNvPr id="11" name="Freeform 11"/>
            <p:cNvSpPr/>
            <p:nvPr/>
          </p:nvSpPr>
          <p:spPr>
            <a:xfrm>
              <a:off x="0" y="0"/>
              <a:ext cx="5885561" cy="8148320"/>
            </a:xfrm>
            <a:custGeom>
              <a:avLst/>
              <a:gdLst/>
              <a:ahLst/>
              <a:cxnLst/>
              <a:rect l="l" t="t" r="r" b="b"/>
              <a:pathLst>
                <a:path w="5885561" h="8148320">
                  <a:moveTo>
                    <a:pt x="0" y="0"/>
                  </a:moveTo>
                  <a:lnTo>
                    <a:pt x="5885561" y="0"/>
                  </a:lnTo>
                  <a:lnTo>
                    <a:pt x="5885561" y="8148320"/>
                  </a:lnTo>
                  <a:lnTo>
                    <a:pt x="0" y="8148320"/>
                  </a:lnTo>
                  <a:lnTo>
                    <a:pt x="0" y="0"/>
                  </a:lnTo>
                </a:path>
              </a:pathLst>
            </a:custGeom>
            <a:solidFill>
              <a:srgbClr val="5271FF"/>
            </a:solidFill>
          </p:spPr>
        </p:sp>
      </p:grpSp>
      <p:grpSp>
        <p:nvGrpSpPr>
          <p:cNvPr id="12" name="Group 12"/>
          <p:cNvGrpSpPr/>
          <p:nvPr/>
        </p:nvGrpSpPr>
        <p:grpSpPr>
          <a:xfrm>
            <a:off x="1042988" y="2912578"/>
            <a:ext cx="5262376" cy="1122219"/>
            <a:chOff x="0" y="0"/>
            <a:chExt cx="7016502" cy="1496292"/>
          </a:xfrm>
        </p:grpSpPr>
        <p:sp>
          <p:nvSpPr>
            <p:cNvPr id="13" name="Freeform 13"/>
            <p:cNvSpPr/>
            <p:nvPr/>
          </p:nvSpPr>
          <p:spPr>
            <a:xfrm>
              <a:off x="0" y="0"/>
              <a:ext cx="7016496" cy="1496314"/>
            </a:xfrm>
            <a:custGeom>
              <a:avLst/>
              <a:gdLst/>
              <a:ahLst/>
              <a:cxnLst/>
              <a:rect l="l" t="t" r="r" b="b"/>
              <a:pathLst>
                <a:path w="7016496" h="1496314">
                  <a:moveTo>
                    <a:pt x="0" y="0"/>
                  </a:moveTo>
                  <a:lnTo>
                    <a:pt x="7016496" y="0"/>
                  </a:lnTo>
                  <a:lnTo>
                    <a:pt x="7016496" y="1496314"/>
                  </a:lnTo>
                  <a:lnTo>
                    <a:pt x="0" y="1496314"/>
                  </a:lnTo>
                  <a:close/>
                </a:path>
              </a:pathLst>
            </a:custGeom>
            <a:solidFill>
              <a:srgbClr val="004AAD"/>
            </a:solidFill>
          </p:spPr>
        </p:sp>
      </p:grpSp>
      <p:grpSp>
        <p:nvGrpSpPr>
          <p:cNvPr id="14" name="Group 14"/>
          <p:cNvGrpSpPr/>
          <p:nvPr/>
        </p:nvGrpSpPr>
        <p:grpSpPr>
          <a:xfrm>
            <a:off x="6936921" y="2087882"/>
            <a:ext cx="4414158" cy="6111238"/>
            <a:chOff x="0" y="0"/>
            <a:chExt cx="5885544" cy="8148318"/>
          </a:xfrm>
        </p:grpSpPr>
        <p:sp>
          <p:nvSpPr>
            <p:cNvPr id="15" name="Freeform 15"/>
            <p:cNvSpPr/>
            <p:nvPr/>
          </p:nvSpPr>
          <p:spPr>
            <a:xfrm>
              <a:off x="0" y="0"/>
              <a:ext cx="5885561" cy="8148320"/>
            </a:xfrm>
            <a:custGeom>
              <a:avLst/>
              <a:gdLst/>
              <a:ahLst/>
              <a:cxnLst/>
              <a:rect l="l" t="t" r="r" b="b"/>
              <a:pathLst>
                <a:path w="5885561" h="8148320">
                  <a:moveTo>
                    <a:pt x="0" y="0"/>
                  </a:moveTo>
                  <a:lnTo>
                    <a:pt x="5885561" y="0"/>
                  </a:lnTo>
                  <a:lnTo>
                    <a:pt x="5885561" y="8148320"/>
                  </a:lnTo>
                  <a:lnTo>
                    <a:pt x="0" y="8148320"/>
                  </a:lnTo>
                  <a:lnTo>
                    <a:pt x="0" y="0"/>
                  </a:lnTo>
                </a:path>
              </a:pathLst>
            </a:custGeom>
            <a:solidFill>
              <a:srgbClr val="004AAD"/>
            </a:solidFill>
          </p:spPr>
        </p:sp>
      </p:grpSp>
      <p:grpSp>
        <p:nvGrpSpPr>
          <p:cNvPr id="16" name="Group 16"/>
          <p:cNvGrpSpPr/>
          <p:nvPr/>
        </p:nvGrpSpPr>
        <p:grpSpPr>
          <a:xfrm>
            <a:off x="6512812" y="2912578"/>
            <a:ext cx="5262376" cy="1122219"/>
            <a:chOff x="0" y="0"/>
            <a:chExt cx="7016502" cy="1496292"/>
          </a:xfrm>
        </p:grpSpPr>
        <p:sp>
          <p:nvSpPr>
            <p:cNvPr id="17" name="Freeform 17"/>
            <p:cNvSpPr/>
            <p:nvPr/>
          </p:nvSpPr>
          <p:spPr>
            <a:xfrm>
              <a:off x="0" y="0"/>
              <a:ext cx="7016496" cy="1496314"/>
            </a:xfrm>
            <a:custGeom>
              <a:avLst/>
              <a:gdLst/>
              <a:ahLst/>
              <a:cxnLst/>
              <a:rect l="l" t="t" r="r" b="b"/>
              <a:pathLst>
                <a:path w="7016496" h="1496314">
                  <a:moveTo>
                    <a:pt x="0" y="0"/>
                  </a:moveTo>
                  <a:lnTo>
                    <a:pt x="7016496" y="0"/>
                  </a:lnTo>
                  <a:lnTo>
                    <a:pt x="7016496" y="1496314"/>
                  </a:lnTo>
                  <a:lnTo>
                    <a:pt x="0" y="1496314"/>
                  </a:lnTo>
                  <a:close/>
                </a:path>
              </a:pathLst>
            </a:custGeom>
            <a:solidFill>
              <a:srgbClr val="5271FF"/>
            </a:solidFill>
          </p:spPr>
        </p:sp>
      </p:grpSp>
      <p:grpSp>
        <p:nvGrpSpPr>
          <p:cNvPr id="18" name="Group 18"/>
          <p:cNvGrpSpPr/>
          <p:nvPr/>
        </p:nvGrpSpPr>
        <p:grpSpPr>
          <a:xfrm>
            <a:off x="12406745" y="2087882"/>
            <a:ext cx="4414158" cy="6111238"/>
            <a:chOff x="0" y="0"/>
            <a:chExt cx="5885544" cy="8148318"/>
          </a:xfrm>
        </p:grpSpPr>
        <p:sp>
          <p:nvSpPr>
            <p:cNvPr id="19" name="Freeform 19"/>
            <p:cNvSpPr/>
            <p:nvPr/>
          </p:nvSpPr>
          <p:spPr>
            <a:xfrm>
              <a:off x="0" y="0"/>
              <a:ext cx="5885561" cy="8148320"/>
            </a:xfrm>
            <a:custGeom>
              <a:avLst/>
              <a:gdLst/>
              <a:ahLst/>
              <a:cxnLst/>
              <a:rect l="l" t="t" r="r" b="b"/>
              <a:pathLst>
                <a:path w="5885561" h="8148320">
                  <a:moveTo>
                    <a:pt x="0" y="0"/>
                  </a:moveTo>
                  <a:lnTo>
                    <a:pt x="5885561" y="0"/>
                  </a:lnTo>
                  <a:lnTo>
                    <a:pt x="5885561" y="8148320"/>
                  </a:lnTo>
                  <a:lnTo>
                    <a:pt x="0" y="8148320"/>
                  </a:lnTo>
                  <a:lnTo>
                    <a:pt x="0" y="0"/>
                  </a:lnTo>
                </a:path>
              </a:pathLst>
            </a:custGeom>
            <a:solidFill>
              <a:srgbClr val="5271FF"/>
            </a:solidFill>
          </p:spPr>
        </p:sp>
      </p:grpSp>
      <p:grpSp>
        <p:nvGrpSpPr>
          <p:cNvPr id="20" name="Group 20"/>
          <p:cNvGrpSpPr/>
          <p:nvPr/>
        </p:nvGrpSpPr>
        <p:grpSpPr>
          <a:xfrm>
            <a:off x="11982636" y="2912578"/>
            <a:ext cx="5262376" cy="1122219"/>
            <a:chOff x="0" y="0"/>
            <a:chExt cx="7016502" cy="1496292"/>
          </a:xfrm>
        </p:grpSpPr>
        <p:sp>
          <p:nvSpPr>
            <p:cNvPr id="21" name="Freeform 21"/>
            <p:cNvSpPr/>
            <p:nvPr/>
          </p:nvSpPr>
          <p:spPr>
            <a:xfrm>
              <a:off x="0" y="0"/>
              <a:ext cx="7016496" cy="1496314"/>
            </a:xfrm>
            <a:custGeom>
              <a:avLst/>
              <a:gdLst/>
              <a:ahLst/>
              <a:cxnLst/>
              <a:rect l="l" t="t" r="r" b="b"/>
              <a:pathLst>
                <a:path w="7016496" h="1496314">
                  <a:moveTo>
                    <a:pt x="0" y="0"/>
                  </a:moveTo>
                  <a:lnTo>
                    <a:pt x="7016496" y="0"/>
                  </a:lnTo>
                  <a:lnTo>
                    <a:pt x="7016496" y="1496314"/>
                  </a:lnTo>
                  <a:lnTo>
                    <a:pt x="0" y="1496314"/>
                  </a:lnTo>
                  <a:close/>
                </a:path>
              </a:pathLst>
            </a:custGeom>
            <a:solidFill>
              <a:srgbClr val="004AAD"/>
            </a:solidFill>
          </p:spPr>
        </p:sp>
      </p:grpSp>
      <p:sp>
        <p:nvSpPr>
          <p:cNvPr id="22" name="TextBox 22"/>
          <p:cNvSpPr txBox="1"/>
          <p:nvPr/>
        </p:nvSpPr>
        <p:spPr>
          <a:xfrm>
            <a:off x="1235503" y="3105070"/>
            <a:ext cx="4877345" cy="641985"/>
          </a:xfrm>
          <a:prstGeom prst="rect">
            <a:avLst/>
          </a:prstGeom>
        </p:spPr>
        <p:txBody>
          <a:bodyPr lIns="0" tIns="0" rIns="0" bIns="0" rtlCol="0" anchor="t">
            <a:spAutoFit/>
          </a:bodyPr>
          <a:lstStyle/>
          <a:p>
            <a:pPr algn="ctr">
              <a:lnSpc>
                <a:spcPts val="5040"/>
              </a:lnSpc>
            </a:pPr>
            <a:r>
              <a:rPr lang="en-US" sz="3600" b="1">
                <a:solidFill>
                  <a:srgbClr val="FFFFFF"/>
                </a:solidFill>
                <a:latin typeface="Arimo Bold"/>
                <a:ea typeface="Arimo Bold"/>
                <a:cs typeface="Arimo Bold"/>
                <a:sym typeface="Arimo Bold"/>
              </a:rPr>
              <a:t>Problem Analysis</a:t>
            </a:r>
          </a:p>
        </p:txBody>
      </p:sp>
      <p:sp>
        <p:nvSpPr>
          <p:cNvPr id="23" name="TextBox 23"/>
          <p:cNvSpPr txBox="1"/>
          <p:nvPr/>
        </p:nvSpPr>
        <p:spPr>
          <a:xfrm>
            <a:off x="1632956" y="4656063"/>
            <a:ext cx="4082438" cy="2493645"/>
          </a:xfrm>
          <a:prstGeom prst="rect">
            <a:avLst/>
          </a:prstGeom>
        </p:spPr>
        <p:txBody>
          <a:bodyPr lIns="0" tIns="0" rIns="0" bIns="0" rtlCol="0" anchor="t">
            <a:spAutoFit/>
          </a:bodyPr>
          <a:lstStyle/>
          <a:p>
            <a:pPr algn="ctr">
              <a:lnSpc>
                <a:spcPts val="3360"/>
              </a:lnSpc>
            </a:pPr>
            <a:r>
              <a:rPr lang="en-US" sz="2100">
                <a:solidFill>
                  <a:srgbClr val="FFFFFF"/>
                </a:solidFill>
                <a:latin typeface="Arimo"/>
                <a:ea typeface="Arimo"/>
                <a:cs typeface="Arimo"/>
                <a:sym typeface="Arimo"/>
              </a:rPr>
              <a:t>The technical team conducted in - depth research on the inaccurate data problem of the heart rate monitoring function. After multiple rounds of simulation tests and data analysis.</a:t>
            </a:r>
          </a:p>
        </p:txBody>
      </p:sp>
      <p:sp>
        <p:nvSpPr>
          <p:cNvPr id="24" name="TextBox 24"/>
          <p:cNvSpPr txBox="1"/>
          <p:nvPr/>
        </p:nvSpPr>
        <p:spPr>
          <a:xfrm>
            <a:off x="6705328" y="3105070"/>
            <a:ext cx="4877345" cy="641985"/>
          </a:xfrm>
          <a:prstGeom prst="rect">
            <a:avLst/>
          </a:prstGeom>
        </p:spPr>
        <p:txBody>
          <a:bodyPr lIns="0" tIns="0" rIns="0" bIns="0" rtlCol="0" anchor="t">
            <a:spAutoFit/>
          </a:bodyPr>
          <a:lstStyle/>
          <a:p>
            <a:pPr algn="ctr">
              <a:lnSpc>
                <a:spcPts val="5040"/>
              </a:lnSpc>
            </a:pPr>
            <a:r>
              <a:rPr lang="en-US" sz="3600" b="1">
                <a:solidFill>
                  <a:srgbClr val="FFFFFF"/>
                </a:solidFill>
                <a:latin typeface="Arimo Bold"/>
                <a:ea typeface="Arimo Bold"/>
                <a:cs typeface="Arimo Bold"/>
                <a:sym typeface="Arimo Bold"/>
              </a:rPr>
              <a:t>Proposed Solutions</a:t>
            </a:r>
          </a:p>
        </p:txBody>
      </p:sp>
      <p:sp>
        <p:nvSpPr>
          <p:cNvPr id="25" name="TextBox 25"/>
          <p:cNvSpPr txBox="1"/>
          <p:nvPr/>
        </p:nvSpPr>
        <p:spPr>
          <a:xfrm>
            <a:off x="7102782" y="4656063"/>
            <a:ext cx="4082438" cy="2493645"/>
          </a:xfrm>
          <a:prstGeom prst="rect">
            <a:avLst/>
          </a:prstGeom>
        </p:spPr>
        <p:txBody>
          <a:bodyPr lIns="0" tIns="0" rIns="0" bIns="0" rtlCol="0" anchor="t">
            <a:spAutoFit/>
          </a:bodyPr>
          <a:lstStyle/>
          <a:p>
            <a:pPr algn="ctr">
              <a:lnSpc>
                <a:spcPts val="3360"/>
              </a:lnSpc>
            </a:pPr>
            <a:r>
              <a:rPr lang="en-US" sz="2100">
                <a:solidFill>
                  <a:srgbClr val="FFFFFF"/>
                </a:solidFill>
                <a:latin typeface="Arimo"/>
                <a:ea typeface="Arimo"/>
                <a:cs typeface="Arimo"/>
                <a:sym typeface="Arimo"/>
              </a:rPr>
              <a:t>To solve this problem, the technical team plans to optimize and upgrade the sensor algorithm. At the same time,  allowing users to calibrate the device regularly to further improve data accuracy.</a:t>
            </a:r>
          </a:p>
        </p:txBody>
      </p:sp>
      <p:sp>
        <p:nvSpPr>
          <p:cNvPr id="26" name="TextBox 26"/>
          <p:cNvSpPr txBox="1"/>
          <p:nvPr/>
        </p:nvSpPr>
        <p:spPr>
          <a:xfrm>
            <a:off x="12572605" y="4656063"/>
            <a:ext cx="4082438" cy="2912745"/>
          </a:xfrm>
          <a:prstGeom prst="rect">
            <a:avLst/>
          </a:prstGeom>
        </p:spPr>
        <p:txBody>
          <a:bodyPr lIns="0" tIns="0" rIns="0" bIns="0" rtlCol="0" anchor="t">
            <a:spAutoFit/>
          </a:bodyPr>
          <a:lstStyle/>
          <a:p>
            <a:pPr algn="ctr">
              <a:lnSpc>
                <a:spcPts val="3360"/>
              </a:lnSpc>
            </a:pPr>
            <a:r>
              <a:rPr lang="en-US" sz="2100">
                <a:solidFill>
                  <a:srgbClr val="FFFFFF"/>
                </a:solidFill>
                <a:latin typeface="Arimo"/>
                <a:ea typeface="Arimo"/>
                <a:cs typeface="Arimo"/>
                <a:sym typeface="Arimo"/>
              </a:rPr>
              <a:t>Currently, 70% of the research and development work of the new algorithm has been completed. It is expected that all development will be completed at the beginning of the fourth quarter, and internal testing will be carried out.</a:t>
            </a:r>
          </a:p>
        </p:txBody>
      </p:sp>
      <p:sp>
        <p:nvSpPr>
          <p:cNvPr id="27" name="TextBox 27"/>
          <p:cNvSpPr txBox="1"/>
          <p:nvPr/>
        </p:nvSpPr>
        <p:spPr>
          <a:xfrm>
            <a:off x="12175152" y="3105070"/>
            <a:ext cx="4877345" cy="641985"/>
          </a:xfrm>
          <a:prstGeom prst="rect">
            <a:avLst/>
          </a:prstGeom>
        </p:spPr>
        <p:txBody>
          <a:bodyPr lIns="0" tIns="0" rIns="0" bIns="0" rtlCol="0" anchor="t">
            <a:spAutoFit/>
          </a:bodyPr>
          <a:lstStyle/>
          <a:p>
            <a:pPr algn="ctr">
              <a:lnSpc>
                <a:spcPts val="5040"/>
              </a:lnSpc>
            </a:pPr>
            <a:r>
              <a:rPr lang="en-US" sz="3600" b="1">
                <a:solidFill>
                  <a:srgbClr val="FFFFFF"/>
                </a:solidFill>
                <a:latin typeface="Arimo Bold"/>
                <a:ea typeface="Arimo Bold"/>
                <a:cs typeface="Arimo Bold"/>
                <a:sym typeface="Arimo Bold"/>
              </a:rPr>
              <a:t>Implementation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3088566" cy="1839564"/>
            <a:chOff x="0" y="0"/>
            <a:chExt cx="4118088" cy="2452752"/>
          </a:xfrm>
        </p:grpSpPr>
        <p:sp>
          <p:nvSpPr>
            <p:cNvPr id="3" name="Freeform 3"/>
            <p:cNvSpPr/>
            <p:nvPr/>
          </p:nvSpPr>
          <p:spPr>
            <a:xfrm>
              <a:off x="0" y="0"/>
              <a:ext cx="4118102" cy="2452751"/>
            </a:xfrm>
            <a:custGeom>
              <a:avLst/>
              <a:gdLst/>
              <a:ahLst/>
              <a:cxnLst/>
              <a:rect l="l" t="t" r="r" b="b"/>
              <a:pathLst>
                <a:path w="4118102" h="2452751">
                  <a:moveTo>
                    <a:pt x="0" y="0"/>
                  </a:moveTo>
                  <a:lnTo>
                    <a:pt x="4118102" y="0"/>
                  </a:lnTo>
                  <a:lnTo>
                    <a:pt x="2702052" y="2452751"/>
                  </a:lnTo>
                  <a:lnTo>
                    <a:pt x="0" y="892810"/>
                  </a:lnTo>
                  <a:close/>
                </a:path>
              </a:pathLst>
            </a:custGeom>
            <a:solidFill>
              <a:srgbClr val="004AAD"/>
            </a:solidFill>
          </p:spPr>
        </p:sp>
      </p:grpSp>
      <p:grpSp>
        <p:nvGrpSpPr>
          <p:cNvPr id="4" name="Group 4"/>
          <p:cNvGrpSpPr/>
          <p:nvPr/>
        </p:nvGrpSpPr>
        <p:grpSpPr>
          <a:xfrm>
            <a:off x="0" y="0"/>
            <a:ext cx="1599582" cy="2770557"/>
            <a:chOff x="0" y="0"/>
            <a:chExt cx="2132776" cy="3694076"/>
          </a:xfrm>
        </p:grpSpPr>
        <p:sp>
          <p:nvSpPr>
            <p:cNvPr id="5" name="Freeform 5"/>
            <p:cNvSpPr/>
            <p:nvPr/>
          </p:nvSpPr>
          <p:spPr>
            <a:xfrm>
              <a:off x="0" y="0"/>
              <a:ext cx="2132838" cy="3694049"/>
            </a:xfrm>
            <a:custGeom>
              <a:avLst/>
              <a:gdLst/>
              <a:ahLst/>
              <a:cxnLst/>
              <a:rect l="l" t="t" r="r" b="b"/>
              <a:pathLst>
                <a:path w="2132838" h="3694049">
                  <a:moveTo>
                    <a:pt x="0" y="0"/>
                  </a:moveTo>
                  <a:lnTo>
                    <a:pt x="2132838" y="0"/>
                  </a:lnTo>
                  <a:lnTo>
                    <a:pt x="0" y="3694049"/>
                  </a:lnTo>
                  <a:close/>
                </a:path>
              </a:pathLst>
            </a:custGeom>
            <a:solidFill>
              <a:srgbClr val="5271FF"/>
            </a:solidFill>
          </p:spPr>
        </p:sp>
      </p:grpSp>
      <p:grpSp>
        <p:nvGrpSpPr>
          <p:cNvPr id="6" name="Group 6"/>
          <p:cNvGrpSpPr/>
          <p:nvPr/>
        </p:nvGrpSpPr>
        <p:grpSpPr>
          <a:xfrm>
            <a:off x="15673590" y="8527172"/>
            <a:ext cx="2614410" cy="1759828"/>
            <a:chOff x="0" y="0"/>
            <a:chExt cx="3485880" cy="2346438"/>
          </a:xfrm>
        </p:grpSpPr>
        <p:sp>
          <p:nvSpPr>
            <p:cNvPr id="7" name="Freeform 7"/>
            <p:cNvSpPr/>
            <p:nvPr/>
          </p:nvSpPr>
          <p:spPr>
            <a:xfrm>
              <a:off x="0" y="0"/>
              <a:ext cx="3485896" cy="2346325"/>
            </a:xfrm>
            <a:custGeom>
              <a:avLst/>
              <a:gdLst/>
              <a:ahLst/>
              <a:cxnLst/>
              <a:rect l="l" t="t" r="r" b="b"/>
              <a:pathLst>
                <a:path w="3485896" h="2346325">
                  <a:moveTo>
                    <a:pt x="1354709" y="0"/>
                  </a:moveTo>
                  <a:lnTo>
                    <a:pt x="3485896" y="1230376"/>
                  </a:lnTo>
                  <a:lnTo>
                    <a:pt x="3485896" y="2346325"/>
                  </a:lnTo>
                  <a:lnTo>
                    <a:pt x="0" y="2346325"/>
                  </a:lnTo>
                  <a:close/>
                </a:path>
              </a:pathLst>
            </a:custGeom>
            <a:solidFill>
              <a:srgbClr val="004AAD"/>
            </a:solidFill>
          </p:spPr>
        </p:sp>
      </p:grpSp>
      <p:grpSp>
        <p:nvGrpSpPr>
          <p:cNvPr id="8" name="Group 8"/>
          <p:cNvGrpSpPr/>
          <p:nvPr/>
        </p:nvGrpSpPr>
        <p:grpSpPr>
          <a:xfrm>
            <a:off x="17162574" y="8337702"/>
            <a:ext cx="1125427" cy="1949298"/>
            <a:chOff x="0" y="0"/>
            <a:chExt cx="1500570" cy="2599064"/>
          </a:xfrm>
        </p:grpSpPr>
        <p:sp>
          <p:nvSpPr>
            <p:cNvPr id="9" name="Freeform 9"/>
            <p:cNvSpPr/>
            <p:nvPr/>
          </p:nvSpPr>
          <p:spPr>
            <a:xfrm>
              <a:off x="0" y="0"/>
              <a:ext cx="1500632" cy="2599055"/>
            </a:xfrm>
            <a:custGeom>
              <a:avLst/>
              <a:gdLst/>
              <a:ahLst/>
              <a:cxnLst/>
              <a:rect l="l" t="t" r="r" b="b"/>
              <a:pathLst>
                <a:path w="1500632" h="2599055">
                  <a:moveTo>
                    <a:pt x="1500632" y="0"/>
                  </a:moveTo>
                  <a:lnTo>
                    <a:pt x="1500632" y="2599055"/>
                  </a:lnTo>
                  <a:lnTo>
                    <a:pt x="0" y="2599055"/>
                  </a:lnTo>
                  <a:close/>
                </a:path>
              </a:pathLst>
            </a:custGeom>
            <a:solidFill>
              <a:srgbClr val="5271FF"/>
            </a:solidFill>
          </p:spPr>
        </p:sp>
      </p:grpSp>
      <p:grpSp>
        <p:nvGrpSpPr>
          <p:cNvPr id="10" name="Group 10"/>
          <p:cNvGrpSpPr/>
          <p:nvPr/>
        </p:nvGrpSpPr>
        <p:grpSpPr>
          <a:xfrm>
            <a:off x="6068289" y="2218878"/>
            <a:ext cx="11176723" cy="3581808"/>
            <a:chOff x="0" y="0"/>
            <a:chExt cx="14902298" cy="4775744"/>
          </a:xfrm>
        </p:grpSpPr>
        <p:sp>
          <p:nvSpPr>
            <p:cNvPr id="11" name="Freeform 11"/>
            <p:cNvSpPr/>
            <p:nvPr/>
          </p:nvSpPr>
          <p:spPr>
            <a:xfrm>
              <a:off x="0" y="0"/>
              <a:ext cx="14902307" cy="4775708"/>
            </a:xfrm>
            <a:custGeom>
              <a:avLst/>
              <a:gdLst/>
              <a:ahLst/>
              <a:cxnLst/>
              <a:rect l="l" t="t" r="r" b="b"/>
              <a:pathLst>
                <a:path w="14902307" h="4775708">
                  <a:moveTo>
                    <a:pt x="0" y="0"/>
                  </a:moveTo>
                  <a:lnTo>
                    <a:pt x="14902307" y="0"/>
                  </a:lnTo>
                  <a:lnTo>
                    <a:pt x="14902307" y="4775708"/>
                  </a:lnTo>
                  <a:lnTo>
                    <a:pt x="0" y="4775708"/>
                  </a:lnTo>
                  <a:close/>
                </a:path>
              </a:pathLst>
            </a:custGeom>
            <a:solidFill>
              <a:srgbClr val="004AAD"/>
            </a:solidFill>
          </p:spPr>
        </p:sp>
      </p:grpSp>
      <p:grpSp>
        <p:nvGrpSpPr>
          <p:cNvPr id="12" name="Group 12"/>
          <p:cNvGrpSpPr/>
          <p:nvPr/>
        </p:nvGrpSpPr>
        <p:grpSpPr>
          <a:xfrm>
            <a:off x="1042986" y="2218878"/>
            <a:ext cx="4810124" cy="3581808"/>
            <a:chOff x="0" y="0"/>
            <a:chExt cx="6413498" cy="4775744"/>
          </a:xfrm>
        </p:grpSpPr>
        <p:sp>
          <p:nvSpPr>
            <p:cNvPr id="13" name="Freeform 13"/>
            <p:cNvSpPr/>
            <p:nvPr/>
          </p:nvSpPr>
          <p:spPr>
            <a:xfrm>
              <a:off x="0" y="0"/>
              <a:ext cx="6413500" cy="4775708"/>
            </a:xfrm>
            <a:custGeom>
              <a:avLst/>
              <a:gdLst/>
              <a:ahLst/>
              <a:cxnLst/>
              <a:rect l="l" t="t" r="r" b="b"/>
              <a:pathLst>
                <a:path w="6413500" h="4775708">
                  <a:moveTo>
                    <a:pt x="0" y="0"/>
                  </a:moveTo>
                  <a:lnTo>
                    <a:pt x="6413500" y="0"/>
                  </a:lnTo>
                  <a:lnTo>
                    <a:pt x="6413500" y="4775708"/>
                  </a:lnTo>
                  <a:lnTo>
                    <a:pt x="0" y="4775708"/>
                  </a:lnTo>
                  <a:close/>
                </a:path>
              </a:pathLst>
            </a:custGeom>
            <a:blipFill>
              <a:blip r:embed="rId2"/>
              <a:stretch>
                <a:fillRect l="-15462" r="-15462"/>
              </a:stretch>
            </a:blipFill>
          </p:spPr>
        </p:sp>
      </p:grpSp>
      <p:grpSp>
        <p:nvGrpSpPr>
          <p:cNvPr id="14" name="Group 14"/>
          <p:cNvGrpSpPr/>
          <p:nvPr/>
        </p:nvGrpSpPr>
        <p:grpSpPr>
          <a:xfrm>
            <a:off x="9611590" y="6563020"/>
            <a:ext cx="1255689" cy="1255689"/>
            <a:chOff x="0" y="0"/>
            <a:chExt cx="1674252" cy="1674252"/>
          </a:xfrm>
        </p:grpSpPr>
        <p:sp>
          <p:nvSpPr>
            <p:cNvPr id="15" name="Freeform 15"/>
            <p:cNvSpPr/>
            <p:nvPr/>
          </p:nvSpPr>
          <p:spPr>
            <a:xfrm>
              <a:off x="0" y="0"/>
              <a:ext cx="1674368" cy="1674368"/>
            </a:xfrm>
            <a:custGeom>
              <a:avLst/>
              <a:gdLst/>
              <a:ahLst/>
              <a:cxnLst/>
              <a:rect l="l" t="t" r="r" b="b"/>
              <a:pathLst>
                <a:path w="1674368" h="1674368">
                  <a:moveTo>
                    <a:pt x="0" y="837184"/>
                  </a:moveTo>
                  <a:cubicBezTo>
                    <a:pt x="0" y="374777"/>
                    <a:pt x="374777" y="0"/>
                    <a:pt x="837184" y="0"/>
                  </a:cubicBezTo>
                  <a:cubicBezTo>
                    <a:pt x="1299591" y="0"/>
                    <a:pt x="1674368" y="374777"/>
                    <a:pt x="1674368" y="837184"/>
                  </a:cubicBezTo>
                  <a:cubicBezTo>
                    <a:pt x="1674368" y="1299591"/>
                    <a:pt x="1299591" y="1674368"/>
                    <a:pt x="837184" y="1674368"/>
                  </a:cubicBezTo>
                  <a:cubicBezTo>
                    <a:pt x="374777" y="1674368"/>
                    <a:pt x="0" y="1299464"/>
                    <a:pt x="0" y="837184"/>
                  </a:cubicBezTo>
                  <a:close/>
                </a:path>
              </a:pathLst>
            </a:custGeom>
            <a:solidFill>
              <a:srgbClr val="5271FF"/>
            </a:solidFill>
          </p:spPr>
        </p:sp>
      </p:grpSp>
      <p:grpSp>
        <p:nvGrpSpPr>
          <p:cNvPr id="16" name="Group 16"/>
          <p:cNvGrpSpPr/>
          <p:nvPr/>
        </p:nvGrpSpPr>
        <p:grpSpPr>
          <a:xfrm>
            <a:off x="1028700" y="6563020"/>
            <a:ext cx="1255689" cy="1255689"/>
            <a:chOff x="0" y="0"/>
            <a:chExt cx="1674252" cy="1674252"/>
          </a:xfrm>
        </p:grpSpPr>
        <p:sp>
          <p:nvSpPr>
            <p:cNvPr id="17" name="Freeform 17"/>
            <p:cNvSpPr/>
            <p:nvPr/>
          </p:nvSpPr>
          <p:spPr>
            <a:xfrm>
              <a:off x="0" y="0"/>
              <a:ext cx="1674368" cy="1674368"/>
            </a:xfrm>
            <a:custGeom>
              <a:avLst/>
              <a:gdLst/>
              <a:ahLst/>
              <a:cxnLst/>
              <a:rect l="l" t="t" r="r" b="b"/>
              <a:pathLst>
                <a:path w="1674368" h="1674368">
                  <a:moveTo>
                    <a:pt x="0" y="837184"/>
                  </a:moveTo>
                  <a:cubicBezTo>
                    <a:pt x="0" y="374777"/>
                    <a:pt x="374777" y="0"/>
                    <a:pt x="837184" y="0"/>
                  </a:cubicBezTo>
                  <a:cubicBezTo>
                    <a:pt x="1299591" y="0"/>
                    <a:pt x="1674368" y="374777"/>
                    <a:pt x="1674368" y="837184"/>
                  </a:cubicBezTo>
                  <a:cubicBezTo>
                    <a:pt x="1674368" y="1299591"/>
                    <a:pt x="1299591" y="1674368"/>
                    <a:pt x="837184" y="1674368"/>
                  </a:cubicBezTo>
                  <a:cubicBezTo>
                    <a:pt x="374777" y="1674368"/>
                    <a:pt x="0" y="1299464"/>
                    <a:pt x="0" y="837184"/>
                  </a:cubicBezTo>
                  <a:close/>
                </a:path>
              </a:pathLst>
            </a:custGeom>
            <a:solidFill>
              <a:srgbClr val="5271FF"/>
            </a:solidFill>
          </p:spPr>
        </p:sp>
      </p:grpSp>
      <p:sp>
        <p:nvSpPr>
          <p:cNvPr id="18" name="Freeform 18"/>
          <p:cNvSpPr/>
          <p:nvPr/>
        </p:nvSpPr>
        <p:spPr>
          <a:xfrm>
            <a:off x="9942796" y="6904473"/>
            <a:ext cx="593278" cy="572783"/>
          </a:xfrm>
          <a:custGeom>
            <a:avLst/>
            <a:gdLst/>
            <a:ahLst/>
            <a:cxnLst/>
            <a:rect l="l" t="t" r="r" b="b"/>
            <a:pathLst>
              <a:path w="593278" h="572783">
                <a:moveTo>
                  <a:pt x="0" y="0"/>
                </a:moveTo>
                <a:lnTo>
                  <a:pt x="593278" y="0"/>
                </a:lnTo>
                <a:lnTo>
                  <a:pt x="593278" y="572783"/>
                </a:lnTo>
                <a:lnTo>
                  <a:pt x="0" y="57278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9" name="Freeform 19"/>
          <p:cNvSpPr/>
          <p:nvPr/>
        </p:nvSpPr>
        <p:spPr>
          <a:xfrm>
            <a:off x="1310440" y="6798434"/>
            <a:ext cx="692209" cy="784860"/>
          </a:xfrm>
          <a:custGeom>
            <a:avLst/>
            <a:gdLst/>
            <a:ahLst/>
            <a:cxnLst/>
            <a:rect l="l" t="t" r="r" b="b"/>
            <a:pathLst>
              <a:path w="692209" h="784860">
                <a:moveTo>
                  <a:pt x="0" y="0"/>
                </a:moveTo>
                <a:lnTo>
                  <a:pt x="692209" y="0"/>
                </a:lnTo>
                <a:lnTo>
                  <a:pt x="692209" y="784860"/>
                </a:lnTo>
                <a:lnTo>
                  <a:pt x="0" y="78486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0" name="TextBox 20"/>
          <p:cNvSpPr txBox="1"/>
          <p:nvPr/>
        </p:nvSpPr>
        <p:spPr>
          <a:xfrm>
            <a:off x="7007735" y="3291625"/>
            <a:ext cx="9297832" cy="2074545"/>
          </a:xfrm>
          <a:prstGeom prst="rect">
            <a:avLst/>
          </a:prstGeom>
        </p:spPr>
        <p:txBody>
          <a:bodyPr lIns="0" tIns="0" rIns="0" bIns="0" rtlCol="0" anchor="t">
            <a:spAutoFit/>
          </a:bodyPr>
          <a:lstStyle/>
          <a:p>
            <a:pPr algn="l">
              <a:lnSpc>
                <a:spcPts val="3360"/>
              </a:lnSpc>
            </a:pPr>
            <a:r>
              <a:rPr lang="en-US" sz="2100">
                <a:solidFill>
                  <a:srgbClr val="FFFFFF"/>
                </a:solidFill>
                <a:latin typeface="Arimo"/>
                <a:ea typeface="Arimo"/>
                <a:cs typeface="Arimo"/>
                <a:sym typeface="Arimo"/>
              </a:rPr>
              <a:t>In response to the budget overrun problem, we re - evaluated the priority of promotional activities. Some offline activities with insignificant effects were cut, and resources were concentrated on online advertising and offline experience activities in key areas. At the same time, we actively negotiated with suppliers to strive to reduce advertising costs and venue rental fees. </a:t>
            </a:r>
          </a:p>
        </p:txBody>
      </p:sp>
      <p:sp>
        <p:nvSpPr>
          <p:cNvPr id="21" name="TextBox 21"/>
          <p:cNvSpPr txBox="1"/>
          <p:nvPr/>
        </p:nvSpPr>
        <p:spPr>
          <a:xfrm>
            <a:off x="7007735" y="2558144"/>
            <a:ext cx="9297832" cy="641985"/>
          </a:xfrm>
          <a:prstGeom prst="rect">
            <a:avLst/>
          </a:prstGeom>
        </p:spPr>
        <p:txBody>
          <a:bodyPr lIns="0" tIns="0" rIns="0" bIns="0" rtlCol="0" anchor="t">
            <a:spAutoFit/>
          </a:bodyPr>
          <a:lstStyle/>
          <a:p>
            <a:pPr algn="l">
              <a:lnSpc>
                <a:spcPts val="5040"/>
              </a:lnSpc>
            </a:pPr>
            <a:r>
              <a:rPr lang="en-US" sz="3600" b="1">
                <a:solidFill>
                  <a:srgbClr val="FFFFFF"/>
                </a:solidFill>
                <a:latin typeface="Arimo Bold"/>
                <a:ea typeface="Arimo Bold"/>
                <a:cs typeface="Arimo Bold"/>
                <a:sym typeface="Arimo Bold"/>
              </a:rPr>
              <a:t>Resource Coordination Measures</a:t>
            </a:r>
          </a:p>
        </p:txBody>
      </p:sp>
      <p:sp>
        <p:nvSpPr>
          <p:cNvPr id="22" name="TextBox 22"/>
          <p:cNvSpPr txBox="1"/>
          <p:nvPr/>
        </p:nvSpPr>
        <p:spPr>
          <a:xfrm>
            <a:off x="11088282" y="5948776"/>
            <a:ext cx="6171018" cy="641985"/>
          </a:xfrm>
          <a:prstGeom prst="rect">
            <a:avLst/>
          </a:prstGeom>
        </p:spPr>
        <p:txBody>
          <a:bodyPr lIns="0" tIns="0" rIns="0" bIns="0" rtlCol="0" anchor="t">
            <a:spAutoFit/>
          </a:bodyPr>
          <a:lstStyle/>
          <a:p>
            <a:pPr algn="l">
              <a:lnSpc>
                <a:spcPts val="5040"/>
              </a:lnSpc>
            </a:pPr>
            <a:r>
              <a:rPr lang="en-US" sz="3600" b="1">
                <a:solidFill>
                  <a:srgbClr val="000000"/>
                </a:solidFill>
                <a:latin typeface="Arimo Bold"/>
                <a:ea typeface="Arimo Bold"/>
                <a:cs typeface="Arimo Bold"/>
                <a:sym typeface="Arimo Bold"/>
              </a:rPr>
              <a:t>Expected Results</a:t>
            </a:r>
          </a:p>
        </p:txBody>
      </p:sp>
      <p:sp>
        <p:nvSpPr>
          <p:cNvPr id="23" name="TextBox 23"/>
          <p:cNvSpPr txBox="1"/>
          <p:nvPr/>
        </p:nvSpPr>
        <p:spPr>
          <a:xfrm>
            <a:off x="11088282" y="6682257"/>
            <a:ext cx="6171018" cy="1655445"/>
          </a:xfrm>
          <a:prstGeom prst="rect">
            <a:avLst/>
          </a:prstGeom>
        </p:spPr>
        <p:txBody>
          <a:bodyPr lIns="0" tIns="0" rIns="0" bIns="0" rtlCol="0" anchor="t">
            <a:spAutoFit/>
          </a:bodyPr>
          <a:lstStyle/>
          <a:p>
            <a:pPr algn="l">
              <a:lnSpc>
                <a:spcPts val="3360"/>
              </a:lnSpc>
            </a:pPr>
            <a:r>
              <a:rPr lang="en-US" sz="2100">
                <a:solidFill>
                  <a:srgbClr val="000000"/>
                </a:solidFill>
                <a:latin typeface="Arimo"/>
                <a:ea typeface="Arimo"/>
                <a:cs typeface="Arimo"/>
                <a:sym typeface="Arimo"/>
              </a:rPr>
              <a:t>It is expected that through resource coordination, the market promotion coverage of the product can be expanded by 20% without increasing the budget. After communication optimization.</a:t>
            </a:r>
          </a:p>
        </p:txBody>
      </p:sp>
      <p:sp>
        <p:nvSpPr>
          <p:cNvPr id="24" name="TextBox 24"/>
          <p:cNvSpPr txBox="1"/>
          <p:nvPr/>
        </p:nvSpPr>
        <p:spPr>
          <a:xfrm>
            <a:off x="2505392" y="5948776"/>
            <a:ext cx="6171018" cy="641985"/>
          </a:xfrm>
          <a:prstGeom prst="rect">
            <a:avLst/>
          </a:prstGeom>
        </p:spPr>
        <p:txBody>
          <a:bodyPr lIns="0" tIns="0" rIns="0" bIns="0" rtlCol="0" anchor="t">
            <a:spAutoFit/>
          </a:bodyPr>
          <a:lstStyle/>
          <a:p>
            <a:pPr algn="l">
              <a:lnSpc>
                <a:spcPts val="5040"/>
              </a:lnSpc>
            </a:pPr>
            <a:r>
              <a:rPr lang="en-US" sz="3600" b="1">
                <a:solidFill>
                  <a:srgbClr val="000000"/>
                </a:solidFill>
                <a:latin typeface="Arimo Bold"/>
                <a:ea typeface="Arimo Bold"/>
                <a:cs typeface="Arimo Bold"/>
                <a:sym typeface="Arimo Bold"/>
              </a:rPr>
              <a:t>Implementation Plan</a:t>
            </a:r>
          </a:p>
        </p:txBody>
      </p:sp>
      <p:sp>
        <p:nvSpPr>
          <p:cNvPr id="25" name="TextBox 25"/>
          <p:cNvSpPr txBox="1"/>
          <p:nvPr/>
        </p:nvSpPr>
        <p:spPr>
          <a:xfrm>
            <a:off x="2505392" y="6682257"/>
            <a:ext cx="6171018" cy="388311"/>
          </a:xfrm>
          <a:prstGeom prst="rect">
            <a:avLst/>
          </a:prstGeom>
        </p:spPr>
        <p:txBody>
          <a:bodyPr lIns="0" tIns="0" rIns="0" bIns="0" rtlCol="0" anchor="t">
            <a:spAutoFit/>
          </a:bodyPr>
          <a:lstStyle/>
          <a:p>
            <a:pPr algn="l">
              <a:lnSpc>
                <a:spcPts val="3360"/>
              </a:lnSpc>
            </a:pPr>
            <a:r>
              <a:rPr lang="en-US" sz="2100">
                <a:solidFill>
                  <a:srgbClr val="000000"/>
                </a:solidFill>
                <a:latin typeface="Arimo"/>
                <a:ea typeface="Arimo"/>
                <a:cs typeface="Arimo"/>
                <a:sym typeface="Arimo"/>
              </a:rPr>
              <a:t>@powerpointrus</a:t>
            </a:r>
            <a:endParaRPr lang="en-US" sz="2100" dirty="0">
              <a:solidFill>
                <a:srgbClr val="000000"/>
              </a:solidFill>
              <a:latin typeface="Arimo"/>
              <a:ea typeface="Arimo"/>
              <a:cs typeface="Arimo"/>
              <a:sym typeface="Arim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3088566" cy="1839564"/>
            <a:chOff x="0" y="0"/>
            <a:chExt cx="4118088" cy="2452752"/>
          </a:xfrm>
        </p:grpSpPr>
        <p:sp>
          <p:nvSpPr>
            <p:cNvPr id="3" name="Freeform 3"/>
            <p:cNvSpPr/>
            <p:nvPr/>
          </p:nvSpPr>
          <p:spPr>
            <a:xfrm>
              <a:off x="0" y="0"/>
              <a:ext cx="4118102" cy="2452751"/>
            </a:xfrm>
            <a:custGeom>
              <a:avLst/>
              <a:gdLst/>
              <a:ahLst/>
              <a:cxnLst/>
              <a:rect l="l" t="t" r="r" b="b"/>
              <a:pathLst>
                <a:path w="4118102" h="2452751">
                  <a:moveTo>
                    <a:pt x="0" y="0"/>
                  </a:moveTo>
                  <a:lnTo>
                    <a:pt x="4118102" y="0"/>
                  </a:lnTo>
                  <a:lnTo>
                    <a:pt x="2702052" y="2452751"/>
                  </a:lnTo>
                  <a:lnTo>
                    <a:pt x="0" y="892810"/>
                  </a:lnTo>
                  <a:close/>
                </a:path>
              </a:pathLst>
            </a:custGeom>
            <a:solidFill>
              <a:srgbClr val="004AAD"/>
            </a:solidFill>
          </p:spPr>
        </p:sp>
      </p:grpSp>
      <p:grpSp>
        <p:nvGrpSpPr>
          <p:cNvPr id="4" name="Group 4"/>
          <p:cNvGrpSpPr/>
          <p:nvPr/>
        </p:nvGrpSpPr>
        <p:grpSpPr>
          <a:xfrm>
            <a:off x="0" y="0"/>
            <a:ext cx="1599582" cy="2770557"/>
            <a:chOff x="0" y="0"/>
            <a:chExt cx="2132776" cy="3694076"/>
          </a:xfrm>
        </p:grpSpPr>
        <p:sp>
          <p:nvSpPr>
            <p:cNvPr id="5" name="Freeform 5"/>
            <p:cNvSpPr/>
            <p:nvPr/>
          </p:nvSpPr>
          <p:spPr>
            <a:xfrm>
              <a:off x="0" y="0"/>
              <a:ext cx="2132838" cy="3694049"/>
            </a:xfrm>
            <a:custGeom>
              <a:avLst/>
              <a:gdLst/>
              <a:ahLst/>
              <a:cxnLst/>
              <a:rect l="l" t="t" r="r" b="b"/>
              <a:pathLst>
                <a:path w="2132838" h="3694049">
                  <a:moveTo>
                    <a:pt x="0" y="0"/>
                  </a:moveTo>
                  <a:lnTo>
                    <a:pt x="2132838" y="0"/>
                  </a:lnTo>
                  <a:lnTo>
                    <a:pt x="0" y="3694049"/>
                  </a:lnTo>
                  <a:close/>
                </a:path>
              </a:pathLst>
            </a:custGeom>
            <a:solidFill>
              <a:srgbClr val="5271FF"/>
            </a:solidFill>
          </p:spPr>
        </p:sp>
      </p:grpSp>
      <p:grpSp>
        <p:nvGrpSpPr>
          <p:cNvPr id="6" name="Group 6"/>
          <p:cNvGrpSpPr/>
          <p:nvPr/>
        </p:nvGrpSpPr>
        <p:grpSpPr>
          <a:xfrm>
            <a:off x="15673590" y="8527172"/>
            <a:ext cx="2614410" cy="1759828"/>
            <a:chOff x="0" y="0"/>
            <a:chExt cx="3485880" cy="2346438"/>
          </a:xfrm>
        </p:grpSpPr>
        <p:sp>
          <p:nvSpPr>
            <p:cNvPr id="7" name="Freeform 7"/>
            <p:cNvSpPr/>
            <p:nvPr/>
          </p:nvSpPr>
          <p:spPr>
            <a:xfrm>
              <a:off x="0" y="0"/>
              <a:ext cx="3485896" cy="2346325"/>
            </a:xfrm>
            <a:custGeom>
              <a:avLst/>
              <a:gdLst/>
              <a:ahLst/>
              <a:cxnLst/>
              <a:rect l="l" t="t" r="r" b="b"/>
              <a:pathLst>
                <a:path w="3485896" h="2346325">
                  <a:moveTo>
                    <a:pt x="1354709" y="0"/>
                  </a:moveTo>
                  <a:lnTo>
                    <a:pt x="3485896" y="1230376"/>
                  </a:lnTo>
                  <a:lnTo>
                    <a:pt x="3485896" y="2346325"/>
                  </a:lnTo>
                  <a:lnTo>
                    <a:pt x="0" y="2346325"/>
                  </a:lnTo>
                  <a:close/>
                </a:path>
              </a:pathLst>
            </a:custGeom>
            <a:solidFill>
              <a:srgbClr val="004AAD"/>
            </a:solidFill>
          </p:spPr>
        </p:sp>
      </p:grpSp>
      <p:grpSp>
        <p:nvGrpSpPr>
          <p:cNvPr id="8" name="Group 8"/>
          <p:cNvGrpSpPr/>
          <p:nvPr/>
        </p:nvGrpSpPr>
        <p:grpSpPr>
          <a:xfrm>
            <a:off x="17162574" y="8337702"/>
            <a:ext cx="1125427" cy="1949298"/>
            <a:chOff x="0" y="0"/>
            <a:chExt cx="1500570" cy="2599064"/>
          </a:xfrm>
        </p:grpSpPr>
        <p:sp>
          <p:nvSpPr>
            <p:cNvPr id="9" name="Freeform 9"/>
            <p:cNvSpPr/>
            <p:nvPr/>
          </p:nvSpPr>
          <p:spPr>
            <a:xfrm>
              <a:off x="0" y="0"/>
              <a:ext cx="1500632" cy="2599055"/>
            </a:xfrm>
            <a:custGeom>
              <a:avLst/>
              <a:gdLst/>
              <a:ahLst/>
              <a:cxnLst/>
              <a:rect l="l" t="t" r="r" b="b"/>
              <a:pathLst>
                <a:path w="1500632" h="2599055">
                  <a:moveTo>
                    <a:pt x="1500632" y="0"/>
                  </a:moveTo>
                  <a:lnTo>
                    <a:pt x="1500632" y="2599055"/>
                  </a:lnTo>
                  <a:lnTo>
                    <a:pt x="0" y="2599055"/>
                  </a:lnTo>
                  <a:close/>
                </a:path>
              </a:pathLst>
            </a:custGeom>
            <a:solidFill>
              <a:srgbClr val="5271FF"/>
            </a:solidFill>
          </p:spPr>
        </p:sp>
      </p:grpSp>
      <p:grpSp>
        <p:nvGrpSpPr>
          <p:cNvPr id="10" name="Group 10"/>
          <p:cNvGrpSpPr/>
          <p:nvPr/>
        </p:nvGrpSpPr>
        <p:grpSpPr>
          <a:xfrm>
            <a:off x="1042986" y="3011266"/>
            <a:ext cx="6272212" cy="5126911"/>
            <a:chOff x="0" y="0"/>
            <a:chExt cx="8362950" cy="6835882"/>
          </a:xfrm>
        </p:grpSpPr>
        <p:sp>
          <p:nvSpPr>
            <p:cNvPr id="11" name="Freeform 11"/>
            <p:cNvSpPr/>
            <p:nvPr/>
          </p:nvSpPr>
          <p:spPr>
            <a:xfrm>
              <a:off x="0" y="0"/>
              <a:ext cx="8362950" cy="6835902"/>
            </a:xfrm>
            <a:custGeom>
              <a:avLst/>
              <a:gdLst/>
              <a:ahLst/>
              <a:cxnLst/>
              <a:rect l="l" t="t" r="r" b="b"/>
              <a:pathLst>
                <a:path w="8362950" h="6835902">
                  <a:moveTo>
                    <a:pt x="2060194" y="0"/>
                  </a:moveTo>
                  <a:lnTo>
                    <a:pt x="8362950" y="0"/>
                  </a:lnTo>
                  <a:lnTo>
                    <a:pt x="8362950" y="4775708"/>
                  </a:lnTo>
                  <a:cubicBezTo>
                    <a:pt x="8362950" y="5913501"/>
                    <a:pt x="7440549" y="6835902"/>
                    <a:pt x="6302756" y="6835902"/>
                  </a:cubicBezTo>
                  <a:lnTo>
                    <a:pt x="0" y="6835902"/>
                  </a:lnTo>
                  <a:lnTo>
                    <a:pt x="0" y="2060194"/>
                  </a:lnTo>
                  <a:cubicBezTo>
                    <a:pt x="0" y="922401"/>
                    <a:pt x="922401" y="0"/>
                    <a:pt x="2060194" y="0"/>
                  </a:cubicBezTo>
                  <a:close/>
                </a:path>
              </a:pathLst>
            </a:custGeom>
            <a:solidFill>
              <a:srgbClr val="5271FF"/>
            </a:solidFill>
          </p:spPr>
        </p:sp>
      </p:grpSp>
      <p:grpSp>
        <p:nvGrpSpPr>
          <p:cNvPr id="12" name="Group 12"/>
          <p:cNvGrpSpPr/>
          <p:nvPr/>
        </p:nvGrpSpPr>
        <p:grpSpPr>
          <a:xfrm>
            <a:off x="10972802" y="2148822"/>
            <a:ext cx="6272212" cy="5126911"/>
            <a:chOff x="0" y="0"/>
            <a:chExt cx="8362950" cy="6835882"/>
          </a:xfrm>
        </p:grpSpPr>
        <p:sp>
          <p:nvSpPr>
            <p:cNvPr id="13" name="Freeform 13"/>
            <p:cNvSpPr/>
            <p:nvPr/>
          </p:nvSpPr>
          <p:spPr>
            <a:xfrm>
              <a:off x="0" y="0"/>
              <a:ext cx="8362950" cy="6835902"/>
            </a:xfrm>
            <a:custGeom>
              <a:avLst/>
              <a:gdLst/>
              <a:ahLst/>
              <a:cxnLst/>
              <a:rect l="l" t="t" r="r" b="b"/>
              <a:pathLst>
                <a:path w="8362950" h="6835902">
                  <a:moveTo>
                    <a:pt x="2060194" y="0"/>
                  </a:moveTo>
                  <a:lnTo>
                    <a:pt x="8362950" y="0"/>
                  </a:lnTo>
                  <a:lnTo>
                    <a:pt x="8362950" y="4775708"/>
                  </a:lnTo>
                  <a:cubicBezTo>
                    <a:pt x="8362950" y="5913501"/>
                    <a:pt x="7440549" y="6835902"/>
                    <a:pt x="6302756" y="6835902"/>
                  </a:cubicBezTo>
                  <a:lnTo>
                    <a:pt x="0" y="6835902"/>
                  </a:lnTo>
                  <a:lnTo>
                    <a:pt x="0" y="2060194"/>
                  </a:lnTo>
                  <a:cubicBezTo>
                    <a:pt x="0" y="922401"/>
                    <a:pt x="922401" y="0"/>
                    <a:pt x="2060194" y="0"/>
                  </a:cubicBezTo>
                  <a:close/>
                </a:path>
              </a:pathLst>
            </a:custGeom>
            <a:solidFill>
              <a:srgbClr val="5271FF"/>
            </a:solidFill>
          </p:spPr>
        </p:sp>
      </p:grpSp>
      <p:grpSp>
        <p:nvGrpSpPr>
          <p:cNvPr id="14" name="Group 14"/>
          <p:cNvGrpSpPr/>
          <p:nvPr/>
        </p:nvGrpSpPr>
        <p:grpSpPr>
          <a:xfrm>
            <a:off x="6452753" y="2148822"/>
            <a:ext cx="1724889" cy="1724889"/>
            <a:chOff x="0" y="0"/>
            <a:chExt cx="2299852" cy="2299852"/>
          </a:xfrm>
        </p:grpSpPr>
        <p:sp>
          <p:nvSpPr>
            <p:cNvPr id="15" name="Freeform 15"/>
            <p:cNvSpPr/>
            <p:nvPr/>
          </p:nvSpPr>
          <p:spPr>
            <a:xfrm>
              <a:off x="0" y="0"/>
              <a:ext cx="2299970" cy="2299970"/>
            </a:xfrm>
            <a:custGeom>
              <a:avLst/>
              <a:gdLst/>
              <a:ahLst/>
              <a:cxnLst/>
              <a:rect l="l" t="t" r="r" b="b"/>
              <a:pathLst>
                <a:path w="2299970" h="2299970">
                  <a:moveTo>
                    <a:pt x="0" y="1149985"/>
                  </a:moveTo>
                  <a:cubicBezTo>
                    <a:pt x="0" y="514858"/>
                    <a:pt x="514858" y="0"/>
                    <a:pt x="1149985" y="0"/>
                  </a:cubicBezTo>
                  <a:cubicBezTo>
                    <a:pt x="1785112" y="0"/>
                    <a:pt x="2299970" y="514858"/>
                    <a:pt x="2299970" y="1149985"/>
                  </a:cubicBezTo>
                  <a:cubicBezTo>
                    <a:pt x="2299970" y="1785112"/>
                    <a:pt x="1785112" y="2299970"/>
                    <a:pt x="1149985" y="2299970"/>
                  </a:cubicBezTo>
                  <a:cubicBezTo>
                    <a:pt x="514858" y="2299970"/>
                    <a:pt x="0" y="1784985"/>
                    <a:pt x="0" y="1149985"/>
                  </a:cubicBezTo>
                  <a:close/>
                </a:path>
              </a:pathLst>
            </a:custGeom>
            <a:solidFill>
              <a:srgbClr val="004AAD"/>
            </a:solidFill>
          </p:spPr>
        </p:sp>
      </p:grpSp>
      <p:grpSp>
        <p:nvGrpSpPr>
          <p:cNvPr id="16" name="Group 16"/>
          <p:cNvGrpSpPr/>
          <p:nvPr/>
        </p:nvGrpSpPr>
        <p:grpSpPr>
          <a:xfrm>
            <a:off x="10110356" y="6413289"/>
            <a:ext cx="1724889" cy="1724889"/>
            <a:chOff x="0" y="0"/>
            <a:chExt cx="2299852" cy="2299852"/>
          </a:xfrm>
        </p:grpSpPr>
        <p:sp>
          <p:nvSpPr>
            <p:cNvPr id="17" name="Freeform 17"/>
            <p:cNvSpPr/>
            <p:nvPr/>
          </p:nvSpPr>
          <p:spPr>
            <a:xfrm>
              <a:off x="0" y="0"/>
              <a:ext cx="2299970" cy="2299970"/>
            </a:xfrm>
            <a:custGeom>
              <a:avLst/>
              <a:gdLst/>
              <a:ahLst/>
              <a:cxnLst/>
              <a:rect l="l" t="t" r="r" b="b"/>
              <a:pathLst>
                <a:path w="2299970" h="2299970">
                  <a:moveTo>
                    <a:pt x="0" y="1149985"/>
                  </a:moveTo>
                  <a:cubicBezTo>
                    <a:pt x="0" y="514858"/>
                    <a:pt x="514858" y="0"/>
                    <a:pt x="1149985" y="0"/>
                  </a:cubicBezTo>
                  <a:cubicBezTo>
                    <a:pt x="1785112" y="0"/>
                    <a:pt x="2299970" y="514858"/>
                    <a:pt x="2299970" y="1149985"/>
                  </a:cubicBezTo>
                  <a:cubicBezTo>
                    <a:pt x="2299970" y="1785112"/>
                    <a:pt x="1785112" y="2299970"/>
                    <a:pt x="1149985" y="2299970"/>
                  </a:cubicBezTo>
                  <a:cubicBezTo>
                    <a:pt x="514858" y="2299970"/>
                    <a:pt x="0" y="1784985"/>
                    <a:pt x="0" y="1149985"/>
                  </a:cubicBezTo>
                  <a:close/>
                </a:path>
              </a:pathLst>
            </a:custGeom>
            <a:solidFill>
              <a:srgbClr val="004AAD"/>
            </a:solidFill>
          </p:spPr>
        </p:sp>
      </p:grpSp>
      <p:grpSp>
        <p:nvGrpSpPr>
          <p:cNvPr id="18" name="Group 18"/>
          <p:cNvGrpSpPr/>
          <p:nvPr/>
        </p:nvGrpSpPr>
        <p:grpSpPr>
          <a:xfrm>
            <a:off x="7585363" y="3584864"/>
            <a:ext cx="3117273" cy="3117273"/>
            <a:chOff x="0" y="0"/>
            <a:chExt cx="4156364" cy="4156364"/>
          </a:xfrm>
        </p:grpSpPr>
        <p:sp>
          <p:nvSpPr>
            <p:cNvPr id="19" name="Freeform 19"/>
            <p:cNvSpPr/>
            <p:nvPr/>
          </p:nvSpPr>
          <p:spPr>
            <a:xfrm>
              <a:off x="0" y="0"/>
              <a:ext cx="4156329" cy="4156329"/>
            </a:xfrm>
            <a:custGeom>
              <a:avLst/>
              <a:gdLst/>
              <a:ahLst/>
              <a:cxnLst/>
              <a:rect l="l" t="t" r="r" b="b"/>
              <a:pathLst>
                <a:path w="4156329" h="4156329">
                  <a:moveTo>
                    <a:pt x="0" y="2078228"/>
                  </a:moveTo>
                  <a:cubicBezTo>
                    <a:pt x="0" y="930402"/>
                    <a:pt x="930402" y="0"/>
                    <a:pt x="2078228" y="0"/>
                  </a:cubicBezTo>
                  <a:cubicBezTo>
                    <a:pt x="3226054" y="0"/>
                    <a:pt x="4156329" y="930402"/>
                    <a:pt x="4156329" y="2078228"/>
                  </a:cubicBezTo>
                  <a:cubicBezTo>
                    <a:pt x="4156329" y="3226054"/>
                    <a:pt x="3225927" y="4156329"/>
                    <a:pt x="2078228" y="4156329"/>
                  </a:cubicBezTo>
                  <a:cubicBezTo>
                    <a:pt x="930529" y="4156329"/>
                    <a:pt x="0" y="3225927"/>
                    <a:pt x="0" y="2078228"/>
                  </a:cubicBezTo>
                  <a:close/>
                </a:path>
              </a:pathLst>
            </a:custGeom>
            <a:blipFill>
              <a:blip r:embed="rId2"/>
              <a:stretch>
                <a:fillRect l="-25046" r="-25046"/>
              </a:stretch>
            </a:blipFill>
          </p:spPr>
        </p:sp>
      </p:grpSp>
      <p:sp>
        <p:nvSpPr>
          <p:cNvPr id="20" name="Freeform 20"/>
          <p:cNvSpPr/>
          <p:nvPr/>
        </p:nvSpPr>
        <p:spPr>
          <a:xfrm>
            <a:off x="10621862" y="6800104"/>
            <a:ext cx="701875" cy="951259"/>
          </a:xfrm>
          <a:custGeom>
            <a:avLst/>
            <a:gdLst/>
            <a:ahLst/>
            <a:cxnLst/>
            <a:rect l="l" t="t" r="r" b="b"/>
            <a:pathLst>
              <a:path w="701875" h="951259">
                <a:moveTo>
                  <a:pt x="0" y="0"/>
                </a:moveTo>
                <a:lnTo>
                  <a:pt x="701876" y="0"/>
                </a:lnTo>
                <a:lnTo>
                  <a:pt x="701876" y="951259"/>
                </a:lnTo>
                <a:lnTo>
                  <a:pt x="0" y="95125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1" name="Freeform 21"/>
          <p:cNvSpPr/>
          <p:nvPr/>
        </p:nvSpPr>
        <p:spPr>
          <a:xfrm>
            <a:off x="6808311" y="2557834"/>
            <a:ext cx="1013772" cy="906866"/>
          </a:xfrm>
          <a:custGeom>
            <a:avLst/>
            <a:gdLst/>
            <a:ahLst/>
            <a:cxnLst/>
            <a:rect l="l" t="t" r="r" b="b"/>
            <a:pathLst>
              <a:path w="1013772" h="906866">
                <a:moveTo>
                  <a:pt x="0" y="0"/>
                </a:moveTo>
                <a:lnTo>
                  <a:pt x="1013772" y="0"/>
                </a:lnTo>
                <a:lnTo>
                  <a:pt x="1013772" y="906865"/>
                </a:lnTo>
                <a:lnTo>
                  <a:pt x="0" y="90686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2" name="TextBox 22"/>
          <p:cNvSpPr txBox="1"/>
          <p:nvPr/>
        </p:nvSpPr>
        <p:spPr>
          <a:xfrm>
            <a:off x="1226068" y="4123084"/>
            <a:ext cx="5906049" cy="641985"/>
          </a:xfrm>
          <a:prstGeom prst="rect">
            <a:avLst/>
          </a:prstGeom>
        </p:spPr>
        <p:txBody>
          <a:bodyPr lIns="0" tIns="0" rIns="0" bIns="0" rtlCol="0" anchor="t">
            <a:spAutoFit/>
          </a:bodyPr>
          <a:lstStyle/>
          <a:p>
            <a:pPr algn="ctr">
              <a:lnSpc>
                <a:spcPts val="5040"/>
              </a:lnSpc>
            </a:pPr>
            <a:r>
              <a:rPr lang="en-US" sz="3600" b="1">
                <a:solidFill>
                  <a:srgbClr val="FFFFFF"/>
                </a:solidFill>
                <a:latin typeface="Arimo Bold"/>
                <a:ea typeface="Arimo Bold"/>
                <a:cs typeface="Arimo Bold"/>
                <a:sym typeface="Arimo Bold"/>
              </a:rPr>
              <a:t>Long - term Goals</a:t>
            </a:r>
          </a:p>
        </p:txBody>
      </p:sp>
      <p:sp>
        <p:nvSpPr>
          <p:cNvPr id="23" name="TextBox 23"/>
          <p:cNvSpPr txBox="1"/>
          <p:nvPr/>
        </p:nvSpPr>
        <p:spPr>
          <a:xfrm>
            <a:off x="1226068" y="4856565"/>
            <a:ext cx="5906049" cy="2074545"/>
          </a:xfrm>
          <a:prstGeom prst="rect">
            <a:avLst/>
          </a:prstGeom>
        </p:spPr>
        <p:txBody>
          <a:bodyPr lIns="0" tIns="0" rIns="0" bIns="0" rtlCol="0" anchor="t">
            <a:spAutoFit/>
          </a:bodyPr>
          <a:lstStyle/>
          <a:p>
            <a:pPr algn="ctr">
              <a:lnSpc>
                <a:spcPts val="3360"/>
              </a:lnSpc>
            </a:pPr>
            <a:r>
              <a:rPr lang="en-US" sz="2100">
                <a:solidFill>
                  <a:srgbClr val="FFFFFF"/>
                </a:solidFill>
                <a:latin typeface="Arimo"/>
                <a:ea typeface="Arimo"/>
                <a:cs typeface="Arimo"/>
                <a:sym typeface="Arimo"/>
              </a:rPr>
              <a:t>For more than six months, continuously optimize products and services, launch the second - generation version of the product, and add more innovative functions. Expand into the international market.</a:t>
            </a:r>
          </a:p>
        </p:txBody>
      </p:sp>
      <p:sp>
        <p:nvSpPr>
          <p:cNvPr id="24" name="TextBox 24"/>
          <p:cNvSpPr txBox="1"/>
          <p:nvPr/>
        </p:nvSpPr>
        <p:spPr>
          <a:xfrm>
            <a:off x="11155883" y="3260640"/>
            <a:ext cx="5906049" cy="641985"/>
          </a:xfrm>
          <a:prstGeom prst="rect">
            <a:avLst/>
          </a:prstGeom>
        </p:spPr>
        <p:txBody>
          <a:bodyPr lIns="0" tIns="0" rIns="0" bIns="0" rtlCol="0" anchor="t">
            <a:spAutoFit/>
          </a:bodyPr>
          <a:lstStyle/>
          <a:p>
            <a:pPr algn="ctr">
              <a:lnSpc>
                <a:spcPts val="5040"/>
              </a:lnSpc>
            </a:pPr>
            <a:r>
              <a:rPr lang="en-US" sz="3600" b="1">
                <a:solidFill>
                  <a:srgbClr val="FFFFFF"/>
                </a:solidFill>
                <a:latin typeface="Arimo Bold"/>
                <a:ea typeface="Arimo Bold"/>
                <a:cs typeface="Arimo Bold"/>
                <a:sym typeface="Arimo Bold"/>
              </a:rPr>
              <a:t>Risk Estimation</a:t>
            </a:r>
          </a:p>
        </p:txBody>
      </p:sp>
      <p:sp>
        <p:nvSpPr>
          <p:cNvPr id="25" name="TextBox 25"/>
          <p:cNvSpPr txBox="1"/>
          <p:nvPr/>
        </p:nvSpPr>
        <p:spPr>
          <a:xfrm>
            <a:off x="11155883" y="3994121"/>
            <a:ext cx="5906049" cy="2074545"/>
          </a:xfrm>
          <a:prstGeom prst="rect">
            <a:avLst/>
          </a:prstGeom>
        </p:spPr>
        <p:txBody>
          <a:bodyPr lIns="0" tIns="0" rIns="0" bIns="0" rtlCol="0" anchor="t">
            <a:spAutoFit/>
          </a:bodyPr>
          <a:lstStyle/>
          <a:p>
            <a:pPr algn="ctr">
              <a:lnSpc>
                <a:spcPts val="3360"/>
              </a:lnSpc>
            </a:pPr>
            <a:r>
              <a:rPr lang="en-US" sz="2100">
                <a:solidFill>
                  <a:srgbClr val="FFFFFF"/>
                </a:solidFill>
                <a:latin typeface="Arimo"/>
                <a:ea typeface="Arimo"/>
                <a:cs typeface="Arimo"/>
                <a:sym typeface="Arimo"/>
              </a:rPr>
              <a:t>During the implementation of the future plan, there may be risks such as delays in technology research and development progress, increased market competition, and changes in policies and regulations.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86823" y="0"/>
            <a:ext cx="3385761" cy="1995819"/>
            <a:chOff x="0" y="0"/>
            <a:chExt cx="4514348" cy="2661092"/>
          </a:xfrm>
        </p:grpSpPr>
        <p:sp>
          <p:nvSpPr>
            <p:cNvPr id="3" name="Freeform 3"/>
            <p:cNvSpPr/>
            <p:nvPr/>
          </p:nvSpPr>
          <p:spPr>
            <a:xfrm>
              <a:off x="0" y="0"/>
              <a:ext cx="4514342" cy="2661031"/>
            </a:xfrm>
            <a:custGeom>
              <a:avLst/>
              <a:gdLst/>
              <a:ahLst/>
              <a:cxnLst/>
              <a:rect l="l" t="t" r="r" b="b"/>
              <a:pathLst>
                <a:path w="4514342" h="2661031">
                  <a:moveTo>
                    <a:pt x="543687" y="0"/>
                  </a:moveTo>
                  <a:lnTo>
                    <a:pt x="4514342" y="0"/>
                  </a:lnTo>
                  <a:lnTo>
                    <a:pt x="2978023" y="2661031"/>
                  </a:lnTo>
                  <a:lnTo>
                    <a:pt x="0" y="941705"/>
                  </a:lnTo>
                  <a:close/>
                </a:path>
              </a:pathLst>
            </a:custGeom>
            <a:solidFill>
              <a:srgbClr val="004AAD"/>
            </a:solidFill>
          </p:spPr>
        </p:sp>
      </p:grpSp>
      <p:grpSp>
        <p:nvGrpSpPr>
          <p:cNvPr id="4" name="Group 4"/>
          <p:cNvGrpSpPr/>
          <p:nvPr/>
        </p:nvGrpSpPr>
        <p:grpSpPr>
          <a:xfrm>
            <a:off x="0" y="0"/>
            <a:ext cx="2783602" cy="3492784"/>
            <a:chOff x="0" y="0"/>
            <a:chExt cx="3711470" cy="4657046"/>
          </a:xfrm>
        </p:grpSpPr>
        <p:sp>
          <p:nvSpPr>
            <p:cNvPr id="5" name="Freeform 5"/>
            <p:cNvSpPr/>
            <p:nvPr/>
          </p:nvSpPr>
          <p:spPr>
            <a:xfrm>
              <a:off x="0" y="0"/>
              <a:ext cx="3711448" cy="4657090"/>
            </a:xfrm>
            <a:custGeom>
              <a:avLst/>
              <a:gdLst/>
              <a:ahLst/>
              <a:cxnLst/>
              <a:rect l="l" t="t" r="r" b="b"/>
              <a:pathLst>
                <a:path w="3711448" h="4657090">
                  <a:moveTo>
                    <a:pt x="0" y="0"/>
                  </a:moveTo>
                  <a:lnTo>
                    <a:pt x="3711448" y="0"/>
                  </a:lnTo>
                  <a:lnTo>
                    <a:pt x="1022731" y="4657090"/>
                  </a:lnTo>
                  <a:lnTo>
                    <a:pt x="0" y="4066540"/>
                  </a:lnTo>
                  <a:close/>
                </a:path>
              </a:pathLst>
            </a:custGeom>
            <a:solidFill>
              <a:srgbClr val="5271FF"/>
            </a:solidFill>
          </p:spPr>
        </p:sp>
      </p:grpSp>
      <p:grpSp>
        <p:nvGrpSpPr>
          <p:cNvPr id="6" name="Group 6"/>
          <p:cNvGrpSpPr/>
          <p:nvPr/>
        </p:nvGrpSpPr>
        <p:grpSpPr>
          <a:xfrm>
            <a:off x="11290256" y="0"/>
            <a:ext cx="5682963" cy="5981843"/>
            <a:chOff x="0" y="0"/>
            <a:chExt cx="7591316" cy="7990560"/>
          </a:xfrm>
        </p:grpSpPr>
        <p:sp>
          <p:nvSpPr>
            <p:cNvPr id="7" name="Freeform 7"/>
            <p:cNvSpPr/>
            <p:nvPr/>
          </p:nvSpPr>
          <p:spPr>
            <a:xfrm>
              <a:off x="0" y="0"/>
              <a:ext cx="7591298" cy="7990586"/>
            </a:xfrm>
            <a:custGeom>
              <a:avLst/>
              <a:gdLst/>
              <a:ahLst/>
              <a:cxnLst/>
              <a:rect l="l" t="t" r="r" b="b"/>
              <a:pathLst>
                <a:path w="7591298" h="7990586">
                  <a:moveTo>
                    <a:pt x="3620643" y="0"/>
                  </a:moveTo>
                  <a:lnTo>
                    <a:pt x="7591298" y="0"/>
                  </a:lnTo>
                  <a:lnTo>
                    <a:pt x="2978023" y="7990586"/>
                  </a:lnTo>
                  <a:lnTo>
                    <a:pt x="0" y="6271260"/>
                  </a:lnTo>
                  <a:close/>
                </a:path>
              </a:pathLst>
            </a:custGeom>
            <a:solidFill>
              <a:srgbClr val="004AAD"/>
            </a:solidFill>
          </p:spPr>
        </p:sp>
      </p:grpSp>
      <p:grpSp>
        <p:nvGrpSpPr>
          <p:cNvPr id="8" name="Group 8"/>
          <p:cNvGrpSpPr/>
          <p:nvPr/>
        </p:nvGrpSpPr>
        <p:grpSpPr>
          <a:xfrm>
            <a:off x="13639160" y="19015"/>
            <a:ext cx="4648840" cy="4487644"/>
            <a:chOff x="0" y="0"/>
            <a:chExt cx="6209932" cy="5994606"/>
          </a:xfrm>
        </p:grpSpPr>
        <p:sp>
          <p:nvSpPr>
            <p:cNvPr id="9" name="Freeform 9"/>
            <p:cNvSpPr/>
            <p:nvPr/>
          </p:nvSpPr>
          <p:spPr>
            <a:xfrm>
              <a:off x="0" y="0"/>
              <a:ext cx="6209919" cy="5994654"/>
            </a:xfrm>
            <a:custGeom>
              <a:avLst/>
              <a:gdLst/>
              <a:ahLst/>
              <a:cxnLst/>
              <a:rect l="l" t="t" r="r" b="b"/>
              <a:pathLst>
                <a:path w="6209919" h="5994654">
                  <a:moveTo>
                    <a:pt x="2468372" y="0"/>
                  </a:moveTo>
                  <a:lnTo>
                    <a:pt x="6209919" y="0"/>
                  </a:lnTo>
                  <a:lnTo>
                    <a:pt x="6209919" y="396621"/>
                  </a:lnTo>
                  <a:lnTo>
                    <a:pt x="2978023" y="5994654"/>
                  </a:lnTo>
                  <a:lnTo>
                    <a:pt x="0" y="4275328"/>
                  </a:lnTo>
                  <a:close/>
                </a:path>
              </a:pathLst>
            </a:custGeom>
            <a:solidFill>
              <a:srgbClr val="5271FF"/>
            </a:solidFill>
          </p:spPr>
        </p:sp>
      </p:grpSp>
      <p:grpSp>
        <p:nvGrpSpPr>
          <p:cNvPr id="10" name="Group 10"/>
          <p:cNvGrpSpPr/>
          <p:nvPr/>
        </p:nvGrpSpPr>
        <p:grpSpPr>
          <a:xfrm>
            <a:off x="12531222" y="4506657"/>
            <a:ext cx="5566628" cy="5780343"/>
            <a:chOff x="0" y="0"/>
            <a:chExt cx="7435916" cy="7721396"/>
          </a:xfrm>
        </p:grpSpPr>
        <p:sp>
          <p:nvSpPr>
            <p:cNvPr id="11" name="Freeform 11"/>
            <p:cNvSpPr/>
            <p:nvPr/>
          </p:nvSpPr>
          <p:spPr>
            <a:xfrm>
              <a:off x="0" y="0"/>
              <a:ext cx="7435977" cy="7721346"/>
            </a:xfrm>
            <a:custGeom>
              <a:avLst/>
              <a:gdLst/>
              <a:ahLst/>
              <a:cxnLst/>
              <a:rect l="l" t="t" r="r" b="b"/>
              <a:pathLst>
                <a:path w="7435977" h="7721346">
                  <a:moveTo>
                    <a:pt x="4457954" y="0"/>
                  </a:moveTo>
                  <a:lnTo>
                    <a:pt x="7435977" y="1719326"/>
                  </a:lnTo>
                  <a:lnTo>
                    <a:pt x="3970655" y="7721346"/>
                  </a:lnTo>
                  <a:lnTo>
                    <a:pt x="0" y="7721346"/>
                  </a:lnTo>
                  <a:close/>
                </a:path>
              </a:pathLst>
            </a:custGeom>
            <a:solidFill>
              <a:srgbClr val="5271FF"/>
            </a:solidFill>
          </p:spPr>
        </p:sp>
      </p:grpSp>
      <p:grpSp>
        <p:nvGrpSpPr>
          <p:cNvPr id="12" name="Group 12"/>
          <p:cNvGrpSpPr/>
          <p:nvPr/>
        </p:nvGrpSpPr>
        <p:grpSpPr>
          <a:xfrm>
            <a:off x="8362823" y="1288873"/>
            <a:ext cx="5276337" cy="5277547"/>
            <a:chOff x="0" y="0"/>
            <a:chExt cx="7048144" cy="7049760"/>
          </a:xfrm>
        </p:grpSpPr>
        <p:sp>
          <p:nvSpPr>
            <p:cNvPr id="13" name="Freeform 13"/>
            <p:cNvSpPr/>
            <p:nvPr/>
          </p:nvSpPr>
          <p:spPr>
            <a:xfrm>
              <a:off x="0" y="0"/>
              <a:ext cx="7048119" cy="7049770"/>
            </a:xfrm>
            <a:custGeom>
              <a:avLst/>
              <a:gdLst/>
              <a:ahLst/>
              <a:cxnLst/>
              <a:rect l="l" t="t" r="r" b="b"/>
              <a:pathLst>
                <a:path w="7048119" h="7049770">
                  <a:moveTo>
                    <a:pt x="2581148" y="0"/>
                  </a:moveTo>
                  <a:lnTo>
                    <a:pt x="7048119" y="2578989"/>
                  </a:lnTo>
                  <a:lnTo>
                    <a:pt x="4466971" y="7049770"/>
                  </a:lnTo>
                  <a:lnTo>
                    <a:pt x="0" y="4470781"/>
                  </a:lnTo>
                  <a:close/>
                </a:path>
              </a:pathLst>
            </a:custGeom>
            <a:blipFill>
              <a:blip r:embed="rId2"/>
              <a:stretch>
                <a:fillRect l="-31651" r="-31651"/>
              </a:stretch>
            </a:blipFill>
          </p:spPr>
        </p:sp>
      </p:grpSp>
      <p:sp>
        <p:nvSpPr>
          <p:cNvPr id="14" name="Freeform 14"/>
          <p:cNvSpPr/>
          <p:nvPr/>
        </p:nvSpPr>
        <p:spPr>
          <a:xfrm>
            <a:off x="1028700" y="3897129"/>
            <a:ext cx="1031696" cy="1031696"/>
          </a:xfrm>
          <a:custGeom>
            <a:avLst/>
            <a:gdLst/>
            <a:ahLst/>
            <a:cxnLst/>
            <a:rect l="l" t="t" r="r" b="b"/>
            <a:pathLst>
              <a:path w="1031696" h="1031696">
                <a:moveTo>
                  <a:pt x="0" y="0"/>
                </a:moveTo>
                <a:lnTo>
                  <a:pt x="1031696" y="0"/>
                </a:lnTo>
                <a:lnTo>
                  <a:pt x="1031696" y="1031696"/>
                </a:lnTo>
                <a:lnTo>
                  <a:pt x="0" y="103169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5" name="TextBox 15"/>
          <p:cNvSpPr txBox="1"/>
          <p:nvPr/>
        </p:nvSpPr>
        <p:spPr>
          <a:xfrm>
            <a:off x="1028700" y="5114925"/>
            <a:ext cx="5917777" cy="3190875"/>
          </a:xfrm>
          <a:prstGeom prst="rect">
            <a:avLst/>
          </a:prstGeom>
        </p:spPr>
        <p:txBody>
          <a:bodyPr lIns="0" tIns="0" rIns="0" bIns="0" rtlCol="0" anchor="t">
            <a:spAutoFit/>
          </a:bodyPr>
          <a:lstStyle/>
          <a:p>
            <a:pPr algn="l">
              <a:lnSpc>
                <a:spcPts val="12480"/>
              </a:lnSpc>
            </a:pPr>
            <a:r>
              <a:rPr lang="en-US" sz="10400" b="1">
                <a:solidFill>
                  <a:srgbClr val="5271FF"/>
                </a:solidFill>
                <a:latin typeface="Arimo Bold"/>
                <a:ea typeface="Arimo Bold"/>
                <a:cs typeface="Arimo Bold"/>
                <a:sym typeface="Arimo Bold"/>
              </a:rPr>
              <a:t>THANK</a:t>
            </a:r>
          </a:p>
          <a:p>
            <a:pPr algn="l">
              <a:lnSpc>
                <a:spcPts val="12480"/>
              </a:lnSpc>
            </a:pPr>
            <a:r>
              <a:rPr lang="en-US" sz="10400" b="1">
                <a:solidFill>
                  <a:srgbClr val="5271FF"/>
                </a:solidFill>
                <a:latin typeface="Arimo Bold"/>
                <a:ea typeface="Arimo Bold"/>
                <a:cs typeface="Arimo Bold"/>
                <a:sym typeface="Arimo Bold"/>
              </a:rPr>
              <a:t>YOU</a:t>
            </a:r>
          </a:p>
        </p:txBody>
      </p:sp>
      <p:sp>
        <p:nvSpPr>
          <p:cNvPr id="16" name="TextBox 16"/>
          <p:cNvSpPr txBox="1"/>
          <p:nvPr/>
        </p:nvSpPr>
        <p:spPr>
          <a:xfrm>
            <a:off x="1028700" y="8627453"/>
            <a:ext cx="5917777" cy="599440"/>
          </a:xfrm>
          <a:prstGeom prst="rect">
            <a:avLst/>
          </a:prstGeom>
        </p:spPr>
        <p:txBody>
          <a:bodyPr lIns="0" tIns="0" rIns="0" bIns="0" rtlCol="0" anchor="t">
            <a:spAutoFit/>
          </a:bodyPr>
          <a:lstStyle/>
          <a:p>
            <a:pPr algn="l">
              <a:lnSpc>
                <a:spcPts val="4759"/>
              </a:lnSpc>
            </a:pPr>
            <a:r>
              <a:rPr lang="en-US" sz="3399">
                <a:solidFill>
                  <a:srgbClr val="000000"/>
                </a:solidFill>
                <a:latin typeface="Arimo"/>
                <a:ea typeface="Arimo"/>
                <a:cs typeface="Arimo"/>
                <a:sym typeface="Arimo"/>
              </a:rPr>
              <a:t>www.reallygreatsite.com</a:t>
            </a:r>
          </a:p>
        </p:txBody>
      </p:sp>
      <p:sp>
        <p:nvSpPr>
          <p:cNvPr id="17" name="TextBox 17"/>
          <p:cNvSpPr txBox="1"/>
          <p:nvPr/>
        </p:nvSpPr>
        <p:spPr>
          <a:xfrm>
            <a:off x="2159365" y="3919264"/>
            <a:ext cx="3656448" cy="873125"/>
          </a:xfrm>
          <a:prstGeom prst="rect">
            <a:avLst/>
          </a:prstGeom>
        </p:spPr>
        <p:txBody>
          <a:bodyPr lIns="0" tIns="0" rIns="0" bIns="0" rtlCol="0" anchor="t">
            <a:spAutoFit/>
          </a:bodyPr>
          <a:lstStyle/>
          <a:p>
            <a:pPr algn="l">
              <a:lnSpc>
                <a:spcPts val="6999"/>
              </a:lnSpc>
            </a:pPr>
            <a:r>
              <a:rPr lang="en-US" sz="4999" spc="-99">
                <a:solidFill>
                  <a:srgbClr val="000000"/>
                </a:solidFill>
                <a:latin typeface="Arimo"/>
                <a:ea typeface="Arimo"/>
                <a:cs typeface="Arimo"/>
                <a:sym typeface="Arimo"/>
              </a:rPr>
              <a:t>Larana, Inc.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757</Words>
  <Application>Microsoft Office PowerPoint</Application>
  <PresentationFormat>Произвольный</PresentationFormat>
  <Paragraphs>50</Paragraphs>
  <Slides>10</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10</vt:i4>
      </vt:variant>
    </vt:vector>
  </HeadingPairs>
  <TitlesOfParts>
    <vt:vector size="15" baseType="lpstr">
      <vt:lpstr>Arimo</vt:lpstr>
      <vt:lpstr>Arial</vt:lpstr>
      <vt:lpstr>Calibri</vt:lpstr>
      <vt:lpstr>Arimo Bold</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Modern Work Report Presentation</dc:title>
  <cp:lastModifiedBy>sekal sekal</cp:lastModifiedBy>
  <cp:revision>2</cp:revision>
  <dcterms:created xsi:type="dcterms:W3CDTF">2006-08-16T00:00:00Z</dcterms:created>
  <dcterms:modified xsi:type="dcterms:W3CDTF">2026-03-23T18:37:25Z</dcterms:modified>
  <dc:identifier>DAHEypdu2DE</dc:identifier>
</cp:coreProperties>
</file>