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Liberation Sans" panose="020B0604020202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50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00659" y="7620043"/>
            <a:ext cx="3775967" cy="840608"/>
            <a:chOff x="0" y="0"/>
            <a:chExt cx="994493" cy="221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493" cy="221395"/>
            </a:xfrm>
            <a:custGeom>
              <a:avLst/>
              <a:gdLst/>
              <a:ahLst/>
              <a:cxnLst/>
              <a:rect l="l" t="t" r="r" b="b"/>
              <a:pathLst>
                <a:path w="994493" h="221395">
                  <a:moveTo>
                    <a:pt x="110697" y="0"/>
                  </a:moveTo>
                  <a:lnTo>
                    <a:pt x="883796" y="0"/>
                  </a:lnTo>
                  <a:cubicBezTo>
                    <a:pt x="913155" y="0"/>
                    <a:pt x="941311" y="11663"/>
                    <a:pt x="962071" y="32423"/>
                  </a:cubicBezTo>
                  <a:cubicBezTo>
                    <a:pt x="982831" y="53182"/>
                    <a:pt x="994493" y="81339"/>
                    <a:pt x="994493" y="110697"/>
                  </a:cubicBezTo>
                  <a:lnTo>
                    <a:pt x="994493" y="110697"/>
                  </a:lnTo>
                  <a:cubicBezTo>
                    <a:pt x="994493" y="140056"/>
                    <a:pt x="982831" y="168212"/>
                    <a:pt x="962071" y="188972"/>
                  </a:cubicBezTo>
                  <a:cubicBezTo>
                    <a:pt x="941311" y="209732"/>
                    <a:pt x="913155" y="221395"/>
                    <a:pt x="883796" y="221395"/>
                  </a:cubicBezTo>
                  <a:lnTo>
                    <a:pt x="110697" y="221395"/>
                  </a:lnTo>
                  <a:cubicBezTo>
                    <a:pt x="81339" y="221395"/>
                    <a:pt x="53182" y="209732"/>
                    <a:pt x="32423" y="188972"/>
                  </a:cubicBezTo>
                  <a:cubicBezTo>
                    <a:pt x="11663" y="168212"/>
                    <a:pt x="0" y="140056"/>
                    <a:pt x="0" y="110697"/>
                  </a:cubicBezTo>
                  <a:lnTo>
                    <a:pt x="0" y="110697"/>
                  </a:lnTo>
                  <a:cubicBezTo>
                    <a:pt x="0" y="81339"/>
                    <a:pt x="11663" y="53182"/>
                    <a:pt x="32423" y="32423"/>
                  </a:cubicBezTo>
                  <a:cubicBezTo>
                    <a:pt x="53182" y="11663"/>
                    <a:pt x="81339" y="0"/>
                    <a:pt x="110697" y="0"/>
                  </a:cubicBezTo>
                  <a:close/>
                </a:path>
              </a:pathLst>
            </a:custGeom>
            <a:solidFill>
              <a:srgbClr val="FFC61A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94493" cy="26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686172" y="6844488"/>
            <a:ext cx="1966034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-686172" y="1917145"/>
            <a:ext cx="1966034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17259300" y="-660290"/>
            <a:ext cx="0" cy="1171258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2011491" y="2783920"/>
            <a:ext cx="13765136" cy="3565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43"/>
              </a:lnSpc>
            </a:pPr>
            <a:r>
              <a:rPr lang="en-US" sz="14826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Web Designer Course</a:t>
            </a:r>
          </a:p>
        </p:txBody>
      </p:sp>
      <p:sp>
        <p:nvSpPr>
          <p:cNvPr id="9" name="Freeform 9"/>
          <p:cNvSpPr/>
          <p:nvPr/>
        </p:nvSpPr>
        <p:spPr>
          <a:xfrm>
            <a:off x="2011491" y="757163"/>
            <a:ext cx="625371" cy="361578"/>
          </a:xfrm>
          <a:custGeom>
            <a:avLst/>
            <a:gdLst/>
            <a:ahLst/>
            <a:cxnLst/>
            <a:rect l="l" t="t" r="r" b="b"/>
            <a:pathLst>
              <a:path w="625371" h="361578">
                <a:moveTo>
                  <a:pt x="0" y="0"/>
                </a:moveTo>
                <a:lnTo>
                  <a:pt x="625371" y="0"/>
                </a:lnTo>
                <a:lnTo>
                  <a:pt x="625371" y="361578"/>
                </a:lnTo>
                <a:lnTo>
                  <a:pt x="0" y="361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11491" y="7468865"/>
            <a:ext cx="6166108" cy="1066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Learn step-by-step how to become a professional web designer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78351" y="7735565"/>
            <a:ext cx="2722308" cy="533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sz="30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Presented by: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50600" y="7849847"/>
            <a:ext cx="3276084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Morgan Maxwell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87404" y="701750"/>
            <a:ext cx="4289222" cy="41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2"/>
              </a:lnSpc>
            </a:pPr>
            <a:r>
              <a:rPr lang="en-US" sz="24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Wednesday, 17 September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69570" y="3467428"/>
            <a:ext cx="8289730" cy="5790872"/>
            <a:chOff x="0" y="0"/>
            <a:chExt cx="2183303" cy="15251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3303" cy="1525168"/>
            </a:xfrm>
            <a:custGeom>
              <a:avLst/>
              <a:gdLst/>
              <a:ahLst/>
              <a:cxnLst/>
              <a:rect l="l" t="t" r="r" b="b"/>
              <a:pathLst>
                <a:path w="2183303" h="1525168">
                  <a:moveTo>
                    <a:pt x="0" y="0"/>
                  </a:moveTo>
                  <a:lnTo>
                    <a:pt x="2183303" y="0"/>
                  </a:lnTo>
                  <a:lnTo>
                    <a:pt x="2183303" y="1525168"/>
                  </a:lnTo>
                  <a:lnTo>
                    <a:pt x="0" y="1525168"/>
                  </a:lnTo>
                  <a:close/>
                </a:path>
              </a:pathLst>
            </a:custGeom>
            <a:solidFill>
              <a:srgbClr val="FFC61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183303" cy="1572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686172" y="9239250"/>
            <a:ext cx="1966034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-270047" y="-257893"/>
            <a:ext cx="18847466" cy="4270543"/>
          </a:xfrm>
          <a:custGeom>
            <a:avLst/>
            <a:gdLst/>
            <a:ahLst/>
            <a:cxnLst/>
            <a:rect l="l" t="t" r="r" b="b"/>
            <a:pathLst>
              <a:path w="18847466" h="4270543">
                <a:moveTo>
                  <a:pt x="0" y="0"/>
                </a:moveTo>
                <a:lnTo>
                  <a:pt x="18847466" y="0"/>
                </a:lnTo>
                <a:lnTo>
                  <a:pt x="18847466" y="4270543"/>
                </a:lnTo>
                <a:lnTo>
                  <a:pt x="0" y="42705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0842" b="-3285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36651" y="4913354"/>
            <a:ext cx="6231264" cy="367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104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What Is Web Design?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73780" y="4917183"/>
            <a:ext cx="6481311" cy="333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Web design is a design process designed to develop and create the visual appearance and user experience of a website. Web design involves combining visual elements, color, typography, and layout. Web design also focuses on the user experience and user interface.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97283" y="5809806"/>
            <a:ext cx="1963121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-686172" y="9239250"/>
            <a:ext cx="2048297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9637004" y="-288672"/>
            <a:ext cx="10178845" cy="2305402"/>
            <a:chOff x="0" y="0"/>
            <a:chExt cx="2680848" cy="60718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0848" cy="607184"/>
            </a:xfrm>
            <a:custGeom>
              <a:avLst/>
              <a:gdLst/>
              <a:ahLst/>
              <a:cxnLst/>
              <a:rect l="l" t="t" r="r" b="b"/>
              <a:pathLst>
                <a:path w="2680848" h="607184">
                  <a:moveTo>
                    <a:pt x="0" y="0"/>
                  </a:moveTo>
                  <a:lnTo>
                    <a:pt x="2680848" y="0"/>
                  </a:lnTo>
                  <a:lnTo>
                    <a:pt x="2680848" y="607184"/>
                  </a:lnTo>
                  <a:lnTo>
                    <a:pt x="0" y="607184"/>
                  </a:lnTo>
                  <a:close/>
                </a:path>
              </a:pathLst>
            </a:custGeom>
            <a:solidFill>
              <a:srgbClr val="FFC61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680848" cy="6548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617954" y="1028700"/>
            <a:ext cx="8765588" cy="4781106"/>
          </a:xfrm>
          <a:custGeom>
            <a:avLst/>
            <a:gdLst/>
            <a:ahLst/>
            <a:cxnLst/>
            <a:rect l="l" t="t" r="r" b="b"/>
            <a:pathLst>
              <a:path w="8765588" h="4781106">
                <a:moveTo>
                  <a:pt x="0" y="0"/>
                </a:moveTo>
                <a:lnTo>
                  <a:pt x="8765587" y="0"/>
                </a:lnTo>
                <a:lnTo>
                  <a:pt x="8765587" y="4781106"/>
                </a:lnTo>
                <a:lnTo>
                  <a:pt x="0" y="478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06" t="-17275" b="-1727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257300"/>
            <a:ext cx="8115300" cy="2328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6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The Purpose of Web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301536"/>
            <a:ext cx="7712954" cy="190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The primary goal of web design is to create a visually appealing website that is functional and effective in achieving business goals. The following are the goals of web design: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32529" y="6381079"/>
            <a:ext cx="2906101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Effective Communication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37004" y="6641093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37004" y="7910758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832529" y="7650743"/>
            <a:ext cx="2412321" cy="95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Improved User Experience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339659" y="6381079"/>
            <a:ext cx="2258650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Increased Conversions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44134" y="6641093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44134" y="7910758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339659" y="7650743"/>
            <a:ext cx="2258650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Supported Branding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23532" y="1009650"/>
            <a:ext cx="2048297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-623532" y="5174974"/>
            <a:ext cx="19348115" cy="2156664"/>
            <a:chOff x="0" y="0"/>
            <a:chExt cx="5095800" cy="5680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95800" cy="568010"/>
            </a:xfrm>
            <a:custGeom>
              <a:avLst/>
              <a:gdLst/>
              <a:ahLst/>
              <a:cxnLst/>
              <a:rect l="l" t="t" r="r" b="b"/>
              <a:pathLst>
                <a:path w="5095800" h="568010">
                  <a:moveTo>
                    <a:pt x="0" y="0"/>
                  </a:moveTo>
                  <a:lnTo>
                    <a:pt x="5095800" y="0"/>
                  </a:lnTo>
                  <a:lnTo>
                    <a:pt x="5095800" y="568010"/>
                  </a:lnTo>
                  <a:lnTo>
                    <a:pt x="0" y="5680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095800" cy="6156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737431" y="5174974"/>
            <a:ext cx="4813137" cy="2156664"/>
          </a:xfrm>
          <a:custGeom>
            <a:avLst/>
            <a:gdLst/>
            <a:ahLst/>
            <a:cxnLst/>
            <a:rect l="l" t="t" r="r" b="b"/>
            <a:pathLst>
              <a:path w="4813137" h="2156664">
                <a:moveTo>
                  <a:pt x="0" y="0"/>
                </a:moveTo>
                <a:lnTo>
                  <a:pt x="4813138" y="0"/>
                </a:lnTo>
                <a:lnTo>
                  <a:pt x="4813138" y="2156664"/>
                </a:lnTo>
                <a:lnTo>
                  <a:pt x="0" y="2156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296" t="-65540" b="-34451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5174974"/>
            <a:ext cx="4813137" cy="2156664"/>
          </a:xfrm>
          <a:custGeom>
            <a:avLst/>
            <a:gdLst/>
            <a:ahLst/>
            <a:cxnLst/>
            <a:rect l="l" t="t" r="r" b="b"/>
            <a:pathLst>
              <a:path w="4813137" h="2156664">
                <a:moveTo>
                  <a:pt x="0" y="0"/>
                </a:moveTo>
                <a:lnTo>
                  <a:pt x="4813137" y="0"/>
                </a:lnTo>
                <a:lnTo>
                  <a:pt x="4813137" y="2156664"/>
                </a:lnTo>
                <a:lnTo>
                  <a:pt x="0" y="2156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27" b="-202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446163" y="5174974"/>
            <a:ext cx="4813137" cy="2156664"/>
          </a:xfrm>
          <a:custGeom>
            <a:avLst/>
            <a:gdLst/>
            <a:ahLst/>
            <a:cxnLst/>
            <a:rect l="l" t="t" r="r" b="b"/>
            <a:pathLst>
              <a:path w="4813137" h="2156664">
                <a:moveTo>
                  <a:pt x="0" y="0"/>
                </a:moveTo>
                <a:lnTo>
                  <a:pt x="4813137" y="0"/>
                </a:lnTo>
                <a:lnTo>
                  <a:pt x="4813137" y="2156664"/>
                </a:lnTo>
                <a:lnTo>
                  <a:pt x="0" y="2156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793" b="-5793"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-197283" y="9321356"/>
            <a:ext cx="1963121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28700" y="1978120"/>
            <a:ext cx="8115300" cy="249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sz="104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Benefits of Web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7349" y="1867649"/>
            <a:ext cx="5801636" cy="2379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Good web design not only enhances the aesthetics of a website, but also provides various benefits for businesses and users. Here are some of the benefits of web design: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80249" y="7729783"/>
            <a:ext cx="2229826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Attracting Visitors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910758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88980" y="7729783"/>
            <a:ext cx="2906101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Increasing Engagement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37431" y="7910758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97712" y="7808355"/>
            <a:ext cx="3582376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Enhancing Business Credibility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46163" y="7989330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23532" y="1009650"/>
            <a:ext cx="1286523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2241705" y="8810535"/>
            <a:ext cx="5017595" cy="1858685"/>
            <a:chOff x="0" y="0"/>
            <a:chExt cx="1321507" cy="4895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21507" cy="489530"/>
            </a:xfrm>
            <a:custGeom>
              <a:avLst/>
              <a:gdLst/>
              <a:ahLst/>
              <a:cxnLst/>
              <a:rect l="l" t="t" r="r" b="b"/>
              <a:pathLst>
                <a:path w="1321507" h="489530">
                  <a:moveTo>
                    <a:pt x="0" y="0"/>
                  </a:moveTo>
                  <a:lnTo>
                    <a:pt x="1321507" y="0"/>
                  </a:lnTo>
                  <a:lnTo>
                    <a:pt x="1321507" y="489530"/>
                  </a:lnTo>
                  <a:lnTo>
                    <a:pt x="0" y="489530"/>
                  </a:lnTo>
                  <a:close/>
                </a:path>
              </a:pathLst>
            </a:custGeom>
            <a:solidFill>
              <a:srgbClr val="FFC61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21507" cy="5371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-3025621" y="5181600"/>
            <a:ext cx="1963121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2241705" y="-334354"/>
            <a:ext cx="5017595" cy="9592654"/>
          </a:xfrm>
          <a:custGeom>
            <a:avLst/>
            <a:gdLst/>
            <a:ahLst/>
            <a:cxnLst/>
            <a:rect l="l" t="t" r="r" b="b"/>
            <a:pathLst>
              <a:path w="5017595" h="9592654">
                <a:moveTo>
                  <a:pt x="0" y="0"/>
                </a:moveTo>
                <a:lnTo>
                  <a:pt x="5017595" y="0"/>
                </a:lnTo>
                <a:lnTo>
                  <a:pt x="5017595" y="9592654"/>
                </a:lnTo>
                <a:lnTo>
                  <a:pt x="0" y="9592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474" r="-934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006695"/>
            <a:ext cx="10739179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800"/>
              </a:lnSpc>
            </a:pPr>
            <a:r>
              <a:rPr lang="en-US" sz="120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Required Skills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750429"/>
            <a:ext cx="9277424" cy="47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There are several skills required in web design, including: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2204" y="5660689"/>
            <a:ext cx="3275658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Graphic design fundamentals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5841664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82204" y="6981304"/>
            <a:ext cx="3275658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Understanding of typography and color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4747" y="7162279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82204" y="8301918"/>
            <a:ext cx="3275658" cy="95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Knowledge of layout and grid systems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482893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51794" y="5819775"/>
            <a:ext cx="3275658" cy="474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Basic HTML &amp; CSS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98290" y="5841664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1794" y="6981304"/>
            <a:ext cx="3275658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Creativity and problem solving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98290" y="7162279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48767"/>
            <a:ext cx="5942087" cy="477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80"/>
              </a:lnSpc>
            </a:pPr>
            <a:r>
              <a:rPr lang="en-US" sz="102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Common Tools for Web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37562" y="1999041"/>
            <a:ext cx="4469973" cy="219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059" lvl="1" indent="-270029" algn="just">
              <a:lnSpc>
                <a:spcPts val="3502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Used for creating wireframes, mockups, and prototypes</a:t>
            </a:r>
          </a:p>
          <a:p>
            <a:pPr marL="540059" lvl="1" indent="-270029" algn="just">
              <a:lnSpc>
                <a:spcPts val="3502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Helps determine layout, colors, and typography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31082" y="1314215"/>
            <a:ext cx="4082932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36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Visual Design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789327" y="1999041"/>
            <a:ext cx="4469973" cy="219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059" lvl="1" indent="-270029" algn="just">
              <a:lnSpc>
                <a:spcPts val="3502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Creating and editing HTML, CSS, and JavaScript</a:t>
            </a:r>
          </a:p>
          <a:p>
            <a:pPr marL="540059" lvl="1" indent="-270029" algn="just">
              <a:lnSpc>
                <a:spcPts val="3502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Useful for understanding the basic structure of a website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982848" y="1314215"/>
            <a:ext cx="4082932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36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Code Editor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37562" y="6909073"/>
            <a:ext cx="4469973" cy="175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059" lvl="1" indent="-270029" algn="just">
              <a:lnSpc>
                <a:spcPts val="3502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Checking how a website looks on various devices</a:t>
            </a:r>
          </a:p>
          <a:p>
            <a:pPr marL="540059" lvl="1" indent="-270029" algn="just">
              <a:lnSpc>
                <a:spcPts val="3502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Testing website speed and performance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31082" y="5819413"/>
            <a:ext cx="3889411" cy="88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36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Browser Developer Tools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89327" y="6909073"/>
            <a:ext cx="4469973" cy="175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0059" lvl="1" indent="-270029" algn="just">
              <a:lnSpc>
                <a:spcPts val="3502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Organizing images, icons, and design files</a:t>
            </a:r>
          </a:p>
          <a:p>
            <a:pPr marL="540059" lvl="1" indent="-270029" algn="just">
              <a:lnSpc>
                <a:spcPts val="3502"/>
              </a:lnSpc>
              <a:buFont typeface="Arial"/>
              <a:buChar char="•"/>
            </a:pPr>
            <a:r>
              <a:rPr lang="en-US" sz="25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Keeping your project organized and accessible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34974" y="5819413"/>
            <a:ext cx="3737285" cy="88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36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Asset Management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-671606" y="9277350"/>
            <a:ext cx="1963121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7404174" y="5038363"/>
            <a:ext cx="11946366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H="1">
            <a:off x="7404174" y="-1127907"/>
            <a:ext cx="0" cy="10405257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23532" y="1009650"/>
            <a:ext cx="1931332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028700" y="1028700"/>
            <a:ext cx="6450333" cy="5608355"/>
          </a:xfrm>
          <a:custGeom>
            <a:avLst/>
            <a:gdLst/>
            <a:ahLst/>
            <a:cxnLst/>
            <a:rect l="l" t="t" r="r" b="b"/>
            <a:pathLst>
              <a:path w="6450333" h="5608355">
                <a:moveTo>
                  <a:pt x="0" y="0"/>
                </a:moveTo>
                <a:lnTo>
                  <a:pt x="6450333" y="0"/>
                </a:lnTo>
                <a:lnTo>
                  <a:pt x="6450333" y="5608355"/>
                </a:lnTo>
                <a:lnTo>
                  <a:pt x="0" y="560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13" r="-8913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-623532" y="6637055"/>
            <a:ext cx="1963121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8291536" y="1851073"/>
            <a:ext cx="8967764" cy="290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120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Web Design Principles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91536" y="5102249"/>
            <a:ext cx="6698496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In web design, there are several principles to consider, namely: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256180"/>
            <a:ext cx="2626057" cy="1426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Consistency: a uniform visual style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23351" y="7256180"/>
            <a:ext cx="2626057" cy="1426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Readability: clear and easy-to-read text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18002" y="7256180"/>
            <a:ext cx="3051996" cy="1426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Simple navigation: an easy-to-use user interface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38592" y="7256180"/>
            <a:ext cx="2626057" cy="1426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Responsiveness: adapts to various devices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33243" y="7256180"/>
            <a:ext cx="2626057" cy="1426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Contrast: balanced colors and elements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623532" y="9258300"/>
            <a:ext cx="19313321" cy="1563319"/>
            <a:chOff x="0" y="0"/>
            <a:chExt cx="5086636" cy="4117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6636" cy="411738"/>
            </a:xfrm>
            <a:custGeom>
              <a:avLst/>
              <a:gdLst/>
              <a:ahLst/>
              <a:cxnLst/>
              <a:rect l="l" t="t" r="r" b="b"/>
              <a:pathLst>
                <a:path w="5086636" h="411738">
                  <a:moveTo>
                    <a:pt x="0" y="0"/>
                  </a:moveTo>
                  <a:lnTo>
                    <a:pt x="5086636" y="0"/>
                  </a:lnTo>
                  <a:lnTo>
                    <a:pt x="5086636" y="411738"/>
                  </a:lnTo>
                  <a:lnTo>
                    <a:pt x="0" y="411738"/>
                  </a:lnTo>
                  <a:close/>
                </a:path>
              </a:pathLst>
            </a:custGeom>
            <a:solidFill>
              <a:srgbClr val="FFC61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5086636" cy="459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23532" y="1009650"/>
            <a:ext cx="1931332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H="1" flipV="1">
            <a:off x="8319457" y="1028700"/>
            <a:ext cx="0" cy="870988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1851073"/>
            <a:ext cx="6961931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800"/>
              </a:lnSpc>
            </a:pPr>
            <a:r>
              <a:rPr lang="en-US" sz="120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Basic Website Structure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56970" y="1789618"/>
            <a:ext cx="7444500" cy="95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A website typically has several basic structures, such as the following: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03160" y="3534793"/>
            <a:ext cx="2626057" cy="47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Header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03160" y="4524339"/>
            <a:ext cx="2626057" cy="47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Hero Section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03160" y="5569394"/>
            <a:ext cx="3051996" cy="47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Main Content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03160" y="6599999"/>
            <a:ext cx="2626057" cy="444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@powerpointrus</a:t>
            </a:r>
            <a:endParaRPr lang="en-US" sz="2701" dirty="0">
              <a:solidFill>
                <a:srgbClr val="FFFFFF"/>
              </a:solidFill>
              <a:latin typeface="Liberation Sans"/>
              <a:ea typeface="Liberation Sans"/>
              <a:cs typeface="Liberation Sans"/>
              <a:sym typeface="Liberatio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503160" y="7664103"/>
            <a:ext cx="2626057" cy="47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1"/>
              </a:lnSpc>
            </a:pPr>
            <a:r>
              <a:rPr lang="en-US" sz="27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Footer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623532" y="9258300"/>
            <a:ext cx="19313321" cy="1563319"/>
            <a:chOff x="0" y="0"/>
            <a:chExt cx="5086636" cy="4117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6636" cy="411738"/>
            </a:xfrm>
            <a:custGeom>
              <a:avLst/>
              <a:gdLst/>
              <a:ahLst/>
              <a:cxnLst/>
              <a:rect l="l" t="t" r="r" b="b"/>
              <a:pathLst>
                <a:path w="5086636" h="411738">
                  <a:moveTo>
                    <a:pt x="0" y="0"/>
                  </a:moveTo>
                  <a:lnTo>
                    <a:pt x="5086636" y="0"/>
                  </a:lnTo>
                  <a:lnTo>
                    <a:pt x="5086636" y="411738"/>
                  </a:lnTo>
                  <a:lnTo>
                    <a:pt x="0" y="411738"/>
                  </a:lnTo>
                  <a:close/>
                </a:path>
              </a:pathLst>
            </a:custGeom>
            <a:solidFill>
              <a:srgbClr val="FFC61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086636" cy="459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356970" y="3556682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56970" y="4546228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56970" y="5591283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56970" y="6621888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56970" y="7685992"/>
            <a:ext cx="947907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4800">
                <a:solidFill>
                  <a:srgbClr val="FFC61A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05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356970" y="4284129"/>
            <a:ext cx="74445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9356970" y="5338708"/>
            <a:ext cx="74445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9356970" y="6393288"/>
            <a:ext cx="74445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9356970" y="7447867"/>
            <a:ext cx="74445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23"/>
          <p:cNvSpPr/>
          <p:nvPr/>
        </p:nvSpPr>
        <p:spPr>
          <a:xfrm>
            <a:off x="9356970" y="8502447"/>
            <a:ext cx="74445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-623532" y="1009650"/>
            <a:ext cx="1931332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H="1" flipV="1">
            <a:off x="1009650" y="1028700"/>
            <a:ext cx="0" cy="988622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2232200" y="6036047"/>
            <a:ext cx="3775967" cy="840608"/>
            <a:chOff x="0" y="0"/>
            <a:chExt cx="994493" cy="2213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94493" cy="221395"/>
            </a:xfrm>
            <a:custGeom>
              <a:avLst/>
              <a:gdLst/>
              <a:ahLst/>
              <a:cxnLst/>
              <a:rect l="l" t="t" r="r" b="b"/>
              <a:pathLst>
                <a:path w="994493" h="221395">
                  <a:moveTo>
                    <a:pt x="110697" y="0"/>
                  </a:moveTo>
                  <a:lnTo>
                    <a:pt x="883796" y="0"/>
                  </a:lnTo>
                  <a:cubicBezTo>
                    <a:pt x="913155" y="0"/>
                    <a:pt x="941311" y="11663"/>
                    <a:pt x="962071" y="32423"/>
                  </a:cubicBezTo>
                  <a:cubicBezTo>
                    <a:pt x="982831" y="53182"/>
                    <a:pt x="994493" y="81339"/>
                    <a:pt x="994493" y="110697"/>
                  </a:cubicBezTo>
                  <a:lnTo>
                    <a:pt x="994493" y="110697"/>
                  </a:lnTo>
                  <a:cubicBezTo>
                    <a:pt x="994493" y="140056"/>
                    <a:pt x="982831" y="168212"/>
                    <a:pt x="962071" y="188972"/>
                  </a:cubicBezTo>
                  <a:cubicBezTo>
                    <a:pt x="941311" y="209732"/>
                    <a:pt x="913155" y="221395"/>
                    <a:pt x="883796" y="221395"/>
                  </a:cubicBezTo>
                  <a:lnTo>
                    <a:pt x="110697" y="221395"/>
                  </a:lnTo>
                  <a:cubicBezTo>
                    <a:pt x="81339" y="221395"/>
                    <a:pt x="53182" y="209732"/>
                    <a:pt x="32423" y="188972"/>
                  </a:cubicBezTo>
                  <a:cubicBezTo>
                    <a:pt x="11663" y="168212"/>
                    <a:pt x="0" y="140056"/>
                    <a:pt x="0" y="110697"/>
                  </a:cubicBezTo>
                  <a:lnTo>
                    <a:pt x="0" y="110697"/>
                  </a:lnTo>
                  <a:cubicBezTo>
                    <a:pt x="0" y="81339"/>
                    <a:pt x="11663" y="53182"/>
                    <a:pt x="32423" y="32423"/>
                  </a:cubicBezTo>
                  <a:cubicBezTo>
                    <a:pt x="53182" y="11663"/>
                    <a:pt x="81339" y="0"/>
                    <a:pt x="110697" y="0"/>
                  </a:cubicBezTo>
                  <a:close/>
                </a:path>
              </a:pathLst>
            </a:custGeom>
            <a:solidFill>
              <a:srgbClr val="FFC61A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994493" cy="26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45145" y="6036047"/>
            <a:ext cx="3775967" cy="840608"/>
            <a:chOff x="0" y="0"/>
            <a:chExt cx="994493" cy="2213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94493" cy="221395"/>
            </a:xfrm>
            <a:custGeom>
              <a:avLst/>
              <a:gdLst/>
              <a:ahLst/>
              <a:cxnLst/>
              <a:rect l="l" t="t" r="r" b="b"/>
              <a:pathLst>
                <a:path w="994493" h="221395">
                  <a:moveTo>
                    <a:pt x="110697" y="0"/>
                  </a:moveTo>
                  <a:lnTo>
                    <a:pt x="883796" y="0"/>
                  </a:lnTo>
                  <a:cubicBezTo>
                    <a:pt x="913155" y="0"/>
                    <a:pt x="941311" y="11663"/>
                    <a:pt x="962071" y="32423"/>
                  </a:cubicBezTo>
                  <a:cubicBezTo>
                    <a:pt x="982831" y="53182"/>
                    <a:pt x="994493" y="81339"/>
                    <a:pt x="994493" y="110697"/>
                  </a:cubicBezTo>
                  <a:lnTo>
                    <a:pt x="994493" y="110697"/>
                  </a:lnTo>
                  <a:cubicBezTo>
                    <a:pt x="994493" y="140056"/>
                    <a:pt x="982831" y="168212"/>
                    <a:pt x="962071" y="188972"/>
                  </a:cubicBezTo>
                  <a:cubicBezTo>
                    <a:pt x="941311" y="209732"/>
                    <a:pt x="913155" y="221395"/>
                    <a:pt x="883796" y="221395"/>
                  </a:cubicBezTo>
                  <a:lnTo>
                    <a:pt x="110697" y="221395"/>
                  </a:lnTo>
                  <a:cubicBezTo>
                    <a:pt x="81339" y="221395"/>
                    <a:pt x="53182" y="209732"/>
                    <a:pt x="32423" y="188972"/>
                  </a:cubicBezTo>
                  <a:cubicBezTo>
                    <a:pt x="11663" y="168212"/>
                    <a:pt x="0" y="140056"/>
                    <a:pt x="0" y="110697"/>
                  </a:cubicBezTo>
                  <a:lnTo>
                    <a:pt x="0" y="110697"/>
                  </a:lnTo>
                  <a:cubicBezTo>
                    <a:pt x="0" y="81339"/>
                    <a:pt x="11663" y="53182"/>
                    <a:pt x="32423" y="32423"/>
                  </a:cubicBezTo>
                  <a:cubicBezTo>
                    <a:pt x="53182" y="11663"/>
                    <a:pt x="81339" y="0"/>
                    <a:pt x="110697" y="0"/>
                  </a:cubicBezTo>
                  <a:close/>
                </a:path>
              </a:pathLst>
            </a:custGeom>
            <a:solidFill>
              <a:srgbClr val="FFC61A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994493" cy="26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54587" y="6036047"/>
            <a:ext cx="3775967" cy="840608"/>
            <a:chOff x="0" y="0"/>
            <a:chExt cx="994493" cy="22139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94493" cy="221395"/>
            </a:xfrm>
            <a:custGeom>
              <a:avLst/>
              <a:gdLst/>
              <a:ahLst/>
              <a:cxnLst/>
              <a:rect l="l" t="t" r="r" b="b"/>
              <a:pathLst>
                <a:path w="994493" h="221395">
                  <a:moveTo>
                    <a:pt x="110697" y="0"/>
                  </a:moveTo>
                  <a:lnTo>
                    <a:pt x="883796" y="0"/>
                  </a:lnTo>
                  <a:cubicBezTo>
                    <a:pt x="913155" y="0"/>
                    <a:pt x="941311" y="11663"/>
                    <a:pt x="962071" y="32423"/>
                  </a:cubicBezTo>
                  <a:cubicBezTo>
                    <a:pt x="982831" y="53182"/>
                    <a:pt x="994493" y="81339"/>
                    <a:pt x="994493" y="110697"/>
                  </a:cubicBezTo>
                  <a:lnTo>
                    <a:pt x="994493" y="110697"/>
                  </a:lnTo>
                  <a:cubicBezTo>
                    <a:pt x="994493" y="140056"/>
                    <a:pt x="982831" y="168212"/>
                    <a:pt x="962071" y="188972"/>
                  </a:cubicBezTo>
                  <a:cubicBezTo>
                    <a:pt x="941311" y="209732"/>
                    <a:pt x="913155" y="221395"/>
                    <a:pt x="883796" y="221395"/>
                  </a:cubicBezTo>
                  <a:lnTo>
                    <a:pt x="110697" y="221395"/>
                  </a:lnTo>
                  <a:cubicBezTo>
                    <a:pt x="81339" y="221395"/>
                    <a:pt x="53182" y="209732"/>
                    <a:pt x="32423" y="188972"/>
                  </a:cubicBezTo>
                  <a:cubicBezTo>
                    <a:pt x="11663" y="168212"/>
                    <a:pt x="0" y="140056"/>
                    <a:pt x="0" y="110697"/>
                  </a:cubicBezTo>
                  <a:lnTo>
                    <a:pt x="0" y="110697"/>
                  </a:lnTo>
                  <a:cubicBezTo>
                    <a:pt x="0" y="81339"/>
                    <a:pt x="11663" y="53182"/>
                    <a:pt x="32423" y="32423"/>
                  </a:cubicBezTo>
                  <a:cubicBezTo>
                    <a:pt x="53182" y="11663"/>
                    <a:pt x="81339" y="0"/>
                    <a:pt x="110697" y="0"/>
                  </a:cubicBezTo>
                  <a:close/>
                </a:path>
              </a:pathLst>
            </a:custGeom>
            <a:solidFill>
              <a:srgbClr val="FFC61A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94493" cy="26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232200" y="8004201"/>
            <a:ext cx="5781786" cy="840608"/>
            <a:chOff x="0" y="0"/>
            <a:chExt cx="1522775" cy="2213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2775" cy="221395"/>
            </a:xfrm>
            <a:custGeom>
              <a:avLst/>
              <a:gdLst/>
              <a:ahLst/>
              <a:cxnLst/>
              <a:rect l="l" t="t" r="r" b="b"/>
              <a:pathLst>
                <a:path w="1522775" h="221395">
                  <a:moveTo>
                    <a:pt x="110697" y="0"/>
                  </a:moveTo>
                  <a:lnTo>
                    <a:pt x="1412078" y="0"/>
                  </a:lnTo>
                  <a:cubicBezTo>
                    <a:pt x="1473214" y="0"/>
                    <a:pt x="1522775" y="49561"/>
                    <a:pt x="1522775" y="110697"/>
                  </a:cubicBezTo>
                  <a:lnTo>
                    <a:pt x="1522775" y="110697"/>
                  </a:lnTo>
                  <a:cubicBezTo>
                    <a:pt x="1522775" y="140056"/>
                    <a:pt x="1511112" y="168212"/>
                    <a:pt x="1490352" y="188972"/>
                  </a:cubicBezTo>
                  <a:cubicBezTo>
                    <a:pt x="1469593" y="209732"/>
                    <a:pt x="1441436" y="221395"/>
                    <a:pt x="1412078" y="221395"/>
                  </a:cubicBezTo>
                  <a:lnTo>
                    <a:pt x="110697" y="221395"/>
                  </a:lnTo>
                  <a:cubicBezTo>
                    <a:pt x="81339" y="221395"/>
                    <a:pt x="53182" y="209732"/>
                    <a:pt x="32423" y="188972"/>
                  </a:cubicBezTo>
                  <a:cubicBezTo>
                    <a:pt x="11663" y="168212"/>
                    <a:pt x="0" y="140056"/>
                    <a:pt x="0" y="110697"/>
                  </a:cubicBezTo>
                  <a:lnTo>
                    <a:pt x="0" y="110697"/>
                  </a:lnTo>
                  <a:cubicBezTo>
                    <a:pt x="0" y="81339"/>
                    <a:pt x="11663" y="53182"/>
                    <a:pt x="32423" y="32423"/>
                  </a:cubicBezTo>
                  <a:cubicBezTo>
                    <a:pt x="53182" y="11663"/>
                    <a:pt x="81339" y="0"/>
                    <a:pt x="110697" y="0"/>
                  </a:cubicBezTo>
                  <a:close/>
                </a:path>
              </a:pathLst>
            </a:custGeom>
            <a:solidFill>
              <a:srgbClr val="FFC61A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522775" cy="26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48768" y="8004201"/>
            <a:ext cx="5781786" cy="840608"/>
            <a:chOff x="0" y="0"/>
            <a:chExt cx="1522775" cy="22139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22775" cy="221395"/>
            </a:xfrm>
            <a:custGeom>
              <a:avLst/>
              <a:gdLst/>
              <a:ahLst/>
              <a:cxnLst/>
              <a:rect l="l" t="t" r="r" b="b"/>
              <a:pathLst>
                <a:path w="1522775" h="221395">
                  <a:moveTo>
                    <a:pt x="110697" y="0"/>
                  </a:moveTo>
                  <a:lnTo>
                    <a:pt x="1412078" y="0"/>
                  </a:lnTo>
                  <a:cubicBezTo>
                    <a:pt x="1473214" y="0"/>
                    <a:pt x="1522775" y="49561"/>
                    <a:pt x="1522775" y="110697"/>
                  </a:cubicBezTo>
                  <a:lnTo>
                    <a:pt x="1522775" y="110697"/>
                  </a:lnTo>
                  <a:cubicBezTo>
                    <a:pt x="1522775" y="140056"/>
                    <a:pt x="1511112" y="168212"/>
                    <a:pt x="1490352" y="188972"/>
                  </a:cubicBezTo>
                  <a:cubicBezTo>
                    <a:pt x="1469593" y="209732"/>
                    <a:pt x="1441436" y="221395"/>
                    <a:pt x="1412078" y="221395"/>
                  </a:cubicBezTo>
                  <a:lnTo>
                    <a:pt x="110697" y="221395"/>
                  </a:lnTo>
                  <a:cubicBezTo>
                    <a:pt x="81339" y="221395"/>
                    <a:pt x="53182" y="209732"/>
                    <a:pt x="32423" y="188972"/>
                  </a:cubicBezTo>
                  <a:cubicBezTo>
                    <a:pt x="11663" y="168212"/>
                    <a:pt x="0" y="140056"/>
                    <a:pt x="0" y="110697"/>
                  </a:cubicBezTo>
                  <a:lnTo>
                    <a:pt x="0" y="110697"/>
                  </a:lnTo>
                  <a:cubicBezTo>
                    <a:pt x="0" y="81339"/>
                    <a:pt x="11663" y="53182"/>
                    <a:pt x="32423" y="32423"/>
                  </a:cubicBezTo>
                  <a:cubicBezTo>
                    <a:pt x="53182" y="11663"/>
                    <a:pt x="81339" y="0"/>
                    <a:pt x="110697" y="0"/>
                  </a:cubicBezTo>
                  <a:close/>
                </a:path>
              </a:pathLst>
            </a:custGeom>
            <a:solidFill>
              <a:srgbClr val="FFC61A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522775" cy="26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330173" y="6203513"/>
            <a:ext cx="492967" cy="505675"/>
          </a:xfrm>
          <a:custGeom>
            <a:avLst/>
            <a:gdLst/>
            <a:ahLst/>
            <a:cxnLst/>
            <a:rect l="l" t="t" r="r" b="b"/>
            <a:pathLst>
              <a:path w="492967" h="505675">
                <a:moveTo>
                  <a:pt x="0" y="0"/>
                </a:moveTo>
                <a:lnTo>
                  <a:pt x="492966" y="0"/>
                </a:lnTo>
                <a:lnTo>
                  <a:pt x="492966" y="505676"/>
                </a:lnTo>
                <a:lnTo>
                  <a:pt x="0" y="505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232200" y="1851073"/>
            <a:ext cx="13781758" cy="290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12000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Web Designer Workflow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82141" y="6279186"/>
            <a:ext cx="3276084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Research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95086" y="6279186"/>
            <a:ext cx="3276084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Wireframe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04529" y="6279186"/>
            <a:ext cx="3276084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Design Mockup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14912" y="8247340"/>
            <a:ext cx="5016362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Prototype Testing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31480" y="8247340"/>
            <a:ext cx="5016362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7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Implementation and Revisio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244962" y="6203513"/>
            <a:ext cx="492967" cy="505675"/>
          </a:xfrm>
          <a:custGeom>
            <a:avLst/>
            <a:gdLst/>
            <a:ahLst/>
            <a:cxnLst/>
            <a:rect l="l" t="t" r="r" b="b"/>
            <a:pathLst>
              <a:path w="492967" h="505675">
                <a:moveTo>
                  <a:pt x="0" y="0"/>
                </a:moveTo>
                <a:lnTo>
                  <a:pt x="492967" y="0"/>
                </a:lnTo>
                <a:lnTo>
                  <a:pt x="492967" y="505676"/>
                </a:lnTo>
                <a:lnTo>
                  <a:pt x="0" y="505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flipH="1">
            <a:off x="8784894" y="8153005"/>
            <a:ext cx="492967" cy="505675"/>
          </a:xfrm>
          <a:custGeom>
            <a:avLst/>
            <a:gdLst/>
            <a:ahLst/>
            <a:cxnLst/>
            <a:rect l="l" t="t" r="r" b="b"/>
            <a:pathLst>
              <a:path w="492967" h="505675">
                <a:moveTo>
                  <a:pt x="492966" y="0"/>
                </a:moveTo>
                <a:lnTo>
                  <a:pt x="0" y="0"/>
                </a:lnTo>
                <a:lnTo>
                  <a:pt x="0" y="505676"/>
                </a:lnTo>
                <a:lnTo>
                  <a:pt x="492966" y="505676"/>
                </a:lnTo>
                <a:lnTo>
                  <a:pt x="492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5400000" flipH="1">
            <a:off x="13696088" y="7161980"/>
            <a:ext cx="492967" cy="505675"/>
          </a:xfrm>
          <a:custGeom>
            <a:avLst/>
            <a:gdLst/>
            <a:ahLst/>
            <a:cxnLst/>
            <a:rect l="l" t="t" r="r" b="b"/>
            <a:pathLst>
              <a:path w="492967" h="505675">
                <a:moveTo>
                  <a:pt x="492966" y="0"/>
                </a:moveTo>
                <a:lnTo>
                  <a:pt x="0" y="0"/>
                </a:lnTo>
                <a:lnTo>
                  <a:pt x="0" y="505675"/>
                </a:lnTo>
                <a:lnTo>
                  <a:pt x="492966" y="505675"/>
                </a:lnTo>
                <a:lnTo>
                  <a:pt x="4929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AutoShape 29"/>
          <p:cNvSpPr/>
          <p:nvPr/>
        </p:nvSpPr>
        <p:spPr>
          <a:xfrm>
            <a:off x="-512660" y="5244276"/>
            <a:ext cx="1931332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917145"/>
            <a:ext cx="6416257" cy="7341155"/>
          </a:xfrm>
          <a:custGeom>
            <a:avLst/>
            <a:gdLst/>
            <a:ahLst/>
            <a:cxnLst/>
            <a:rect l="l" t="t" r="r" b="b"/>
            <a:pathLst>
              <a:path w="6416257" h="7341155">
                <a:moveTo>
                  <a:pt x="0" y="0"/>
                </a:moveTo>
                <a:lnTo>
                  <a:pt x="6416257" y="0"/>
                </a:lnTo>
                <a:lnTo>
                  <a:pt x="6416257" y="7341155"/>
                </a:lnTo>
                <a:lnTo>
                  <a:pt x="0" y="7341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612" t="-10497" r="-48026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686172" y="1917145"/>
            <a:ext cx="1966034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7259300" y="-660290"/>
            <a:ext cx="0" cy="1171258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8164596" y="3564941"/>
            <a:ext cx="7612031" cy="4512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14"/>
              </a:lnSpc>
            </a:pPr>
            <a:r>
              <a:rPr lang="en-US" sz="18682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757163"/>
            <a:ext cx="625371" cy="361578"/>
          </a:xfrm>
          <a:custGeom>
            <a:avLst/>
            <a:gdLst/>
            <a:ahLst/>
            <a:cxnLst/>
            <a:rect l="l" t="t" r="r" b="b"/>
            <a:pathLst>
              <a:path w="625371" h="361578">
                <a:moveTo>
                  <a:pt x="0" y="0"/>
                </a:moveTo>
                <a:lnTo>
                  <a:pt x="625371" y="0"/>
                </a:lnTo>
                <a:lnTo>
                  <a:pt x="625371" y="361578"/>
                </a:lnTo>
                <a:lnTo>
                  <a:pt x="0" y="3615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487404" y="701750"/>
            <a:ext cx="4289222" cy="415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2"/>
              </a:lnSpc>
            </a:pPr>
            <a:r>
              <a:rPr lang="en-US" sz="2401">
                <a:solidFill>
                  <a:srgbClr val="FFFFFF"/>
                </a:solidFill>
                <a:latin typeface="Liberation Sans"/>
                <a:ea typeface="Liberation Sans"/>
                <a:cs typeface="Liberation Sans"/>
                <a:sym typeface="Liberation Sans"/>
              </a:rPr>
              <a:t>Wednesday, 17 September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623532" y="9258300"/>
            <a:ext cx="19313321" cy="1563319"/>
            <a:chOff x="0" y="0"/>
            <a:chExt cx="5086636" cy="4117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6636" cy="411738"/>
            </a:xfrm>
            <a:custGeom>
              <a:avLst/>
              <a:gdLst/>
              <a:ahLst/>
              <a:cxnLst/>
              <a:rect l="l" t="t" r="r" b="b"/>
              <a:pathLst>
                <a:path w="5086636" h="411738">
                  <a:moveTo>
                    <a:pt x="0" y="0"/>
                  </a:moveTo>
                  <a:lnTo>
                    <a:pt x="5086636" y="0"/>
                  </a:lnTo>
                  <a:lnTo>
                    <a:pt x="5086636" y="411738"/>
                  </a:lnTo>
                  <a:lnTo>
                    <a:pt x="0" y="411738"/>
                  </a:lnTo>
                  <a:close/>
                </a:path>
              </a:pathLst>
            </a:custGeom>
            <a:solidFill>
              <a:srgbClr val="FFC61A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086636" cy="459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Произвольный</PresentationFormat>
  <Paragraphs>77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Liberation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Yellow Minimalist Web Design Course Presentation</dc:title>
  <cp:lastModifiedBy>sekal sekal</cp:lastModifiedBy>
  <cp:revision>2</cp:revision>
  <dcterms:created xsi:type="dcterms:W3CDTF">2006-08-16T00:00:00Z</dcterms:created>
  <dcterms:modified xsi:type="dcterms:W3CDTF">2026-03-27T18:06:28Z</dcterms:modified>
  <dc:identifier>DAHFKmxgs-Y</dc:identifier>
</cp:coreProperties>
</file>