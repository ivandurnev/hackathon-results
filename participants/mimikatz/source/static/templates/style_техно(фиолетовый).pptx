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Open Sauce" panose="020B0604020202020204" charset="0"/>
      <p:regular r:id="rId14"/>
    </p:embeddedFont>
    <p:embeddedFont>
      <p:font typeface="Open Sauce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55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3.svg"/><Relationship Id="rId7"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3.sv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jpeg"/><Relationship Id="rId10" Type="http://schemas.openxmlformats.org/officeDocument/2006/relationships/image" Target="../media/image19.png"/><Relationship Id="rId4" Type="http://schemas.openxmlformats.org/officeDocument/2006/relationships/image" Target="../media/image13.jpe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3.sv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34.jpe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1.png"/><Relationship Id="rId9"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075461" y="3180387"/>
            <a:ext cx="11603160" cy="14213225"/>
          </a:xfrm>
          <a:custGeom>
            <a:avLst/>
            <a:gdLst/>
            <a:ahLst/>
            <a:cxnLst/>
            <a:rect l="l" t="t" r="r" b="b"/>
            <a:pathLst>
              <a:path w="11603160" h="14213225">
                <a:moveTo>
                  <a:pt x="0" y="0"/>
                </a:moveTo>
                <a:lnTo>
                  <a:pt x="11603160" y="0"/>
                </a:lnTo>
                <a:lnTo>
                  <a:pt x="11603160" y="14213226"/>
                </a:lnTo>
                <a:lnTo>
                  <a:pt x="0" y="14213226"/>
                </a:lnTo>
                <a:lnTo>
                  <a:pt x="0" y="0"/>
                </a:lnTo>
                <a:close/>
              </a:path>
            </a:pathLst>
          </a:custGeom>
          <a:blipFill>
            <a:blip r:embed="rId2"/>
            <a:stretch>
              <a:fillRect/>
            </a:stretch>
          </a:blipFill>
        </p:spPr>
      </p:sp>
      <p:grpSp>
        <p:nvGrpSpPr>
          <p:cNvPr id="3" name="Group 3"/>
          <p:cNvGrpSpPr/>
          <p:nvPr/>
        </p:nvGrpSpPr>
        <p:grpSpPr>
          <a:xfrm>
            <a:off x="6611406" y="6920555"/>
            <a:ext cx="9606500" cy="957288"/>
            <a:chOff x="0" y="0"/>
            <a:chExt cx="2530107" cy="252125"/>
          </a:xfrm>
        </p:grpSpPr>
        <p:sp>
          <p:nvSpPr>
            <p:cNvPr id="4" name="Freeform 4"/>
            <p:cNvSpPr/>
            <p:nvPr/>
          </p:nvSpPr>
          <p:spPr>
            <a:xfrm>
              <a:off x="0" y="0"/>
              <a:ext cx="2530107" cy="252125"/>
            </a:xfrm>
            <a:custGeom>
              <a:avLst/>
              <a:gdLst/>
              <a:ahLst/>
              <a:cxnLst/>
              <a:rect l="l" t="t" r="r" b="b"/>
              <a:pathLst>
                <a:path w="2530107" h="252125">
                  <a:moveTo>
                    <a:pt x="40295" y="0"/>
                  </a:moveTo>
                  <a:lnTo>
                    <a:pt x="2489812" y="0"/>
                  </a:lnTo>
                  <a:cubicBezTo>
                    <a:pt x="2500499" y="0"/>
                    <a:pt x="2510748" y="4245"/>
                    <a:pt x="2518305" y="11802"/>
                  </a:cubicBezTo>
                  <a:cubicBezTo>
                    <a:pt x="2525862" y="19359"/>
                    <a:pt x="2530107" y="29608"/>
                    <a:pt x="2530107" y="40295"/>
                  </a:cubicBezTo>
                  <a:lnTo>
                    <a:pt x="2530107" y="211830"/>
                  </a:lnTo>
                  <a:cubicBezTo>
                    <a:pt x="2530107" y="234085"/>
                    <a:pt x="2512066" y="252125"/>
                    <a:pt x="2489812" y="252125"/>
                  </a:cubicBezTo>
                  <a:lnTo>
                    <a:pt x="40295" y="252125"/>
                  </a:lnTo>
                  <a:cubicBezTo>
                    <a:pt x="29608" y="252125"/>
                    <a:pt x="19359" y="247880"/>
                    <a:pt x="11802" y="240323"/>
                  </a:cubicBezTo>
                  <a:cubicBezTo>
                    <a:pt x="4245" y="232766"/>
                    <a:pt x="0" y="222517"/>
                    <a:pt x="0" y="211830"/>
                  </a:cubicBezTo>
                  <a:lnTo>
                    <a:pt x="0" y="40295"/>
                  </a:lnTo>
                  <a:cubicBezTo>
                    <a:pt x="0" y="29608"/>
                    <a:pt x="4245" y="19359"/>
                    <a:pt x="11802" y="11802"/>
                  </a:cubicBezTo>
                  <a:cubicBezTo>
                    <a:pt x="19359" y="4245"/>
                    <a:pt x="29608" y="0"/>
                    <a:pt x="40295"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5" name="TextBox 5"/>
            <p:cNvSpPr txBox="1"/>
            <p:nvPr/>
          </p:nvSpPr>
          <p:spPr>
            <a:xfrm>
              <a:off x="0" y="-57150"/>
              <a:ext cx="2530107" cy="309275"/>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345637" y="-1192173"/>
            <a:ext cx="5512535" cy="5033403"/>
          </a:xfrm>
          <a:custGeom>
            <a:avLst/>
            <a:gdLst/>
            <a:ahLst/>
            <a:cxnLst/>
            <a:rect l="l" t="t" r="r" b="b"/>
            <a:pathLst>
              <a:path w="5512535" h="5033403">
                <a:moveTo>
                  <a:pt x="0" y="0"/>
                </a:moveTo>
                <a:lnTo>
                  <a:pt x="5512535" y="0"/>
                </a:lnTo>
                <a:lnTo>
                  <a:pt x="5512535" y="5033403"/>
                </a:lnTo>
                <a:lnTo>
                  <a:pt x="0" y="5033403"/>
                </a:lnTo>
                <a:lnTo>
                  <a:pt x="0" y="0"/>
                </a:lnTo>
                <a:close/>
              </a:path>
            </a:pathLst>
          </a:custGeom>
          <a:blipFill>
            <a:blip r:embed="rId3">
              <a:alphaModFix amt="54000"/>
              <a:extLst>
                <a:ext uri="{96DAC541-7B7A-43D3-8B79-37D633B846F1}">
                  <asvg:svgBlip xmlns:asvg="http://schemas.microsoft.com/office/drawing/2016/SVG/main" r:embed="rId4"/>
                </a:ext>
              </a:extLst>
            </a:blip>
            <a:stretch>
              <a:fillRect/>
            </a:stretch>
          </a:blipFill>
        </p:spPr>
      </p:sp>
      <p:sp>
        <p:nvSpPr>
          <p:cNvPr id="7" name="Freeform 7"/>
          <p:cNvSpPr/>
          <p:nvPr/>
        </p:nvSpPr>
        <p:spPr>
          <a:xfrm>
            <a:off x="-1570172" y="6445770"/>
            <a:ext cx="5512535" cy="5033403"/>
          </a:xfrm>
          <a:custGeom>
            <a:avLst/>
            <a:gdLst/>
            <a:ahLst/>
            <a:cxnLst/>
            <a:rect l="l" t="t" r="r" b="b"/>
            <a:pathLst>
              <a:path w="5512535" h="5033403">
                <a:moveTo>
                  <a:pt x="0" y="0"/>
                </a:moveTo>
                <a:lnTo>
                  <a:pt x="5512535" y="0"/>
                </a:lnTo>
                <a:lnTo>
                  <a:pt x="5512535" y="5033403"/>
                </a:lnTo>
                <a:lnTo>
                  <a:pt x="0" y="5033403"/>
                </a:lnTo>
                <a:lnTo>
                  <a:pt x="0" y="0"/>
                </a:lnTo>
                <a:close/>
              </a:path>
            </a:pathLst>
          </a:custGeom>
          <a:blipFill>
            <a:blip r:embed="rId3">
              <a:alphaModFix amt="54000"/>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028700" y="1028700"/>
            <a:ext cx="5151044" cy="8229600"/>
            <a:chOff x="0" y="0"/>
            <a:chExt cx="722457" cy="1154239"/>
          </a:xfrm>
        </p:grpSpPr>
        <p:sp>
          <p:nvSpPr>
            <p:cNvPr id="9" name="Freeform 9"/>
            <p:cNvSpPr/>
            <p:nvPr/>
          </p:nvSpPr>
          <p:spPr>
            <a:xfrm>
              <a:off x="0" y="0"/>
              <a:ext cx="722457" cy="1154239"/>
            </a:xfrm>
            <a:custGeom>
              <a:avLst/>
              <a:gdLst/>
              <a:ahLst/>
              <a:cxnLst/>
              <a:rect l="l" t="t" r="r" b="b"/>
              <a:pathLst>
                <a:path w="722457" h="1154239">
                  <a:moveTo>
                    <a:pt x="90179" y="0"/>
                  </a:moveTo>
                  <a:lnTo>
                    <a:pt x="632278" y="0"/>
                  </a:lnTo>
                  <a:cubicBezTo>
                    <a:pt x="656195" y="0"/>
                    <a:pt x="679133" y="9501"/>
                    <a:pt x="696044" y="26413"/>
                  </a:cubicBezTo>
                  <a:cubicBezTo>
                    <a:pt x="712956" y="43325"/>
                    <a:pt x="722457" y="66262"/>
                    <a:pt x="722457" y="90179"/>
                  </a:cubicBezTo>
                  <a:lnTo>
                    <a:pt x="722457" y="1064060"/>
                  </a:lnTo>
                  <a:cubicBezTo>
                    <a:pt x="722457" y="1087977"/>
                    <a:pt x="712956" y="1110914"/>
                    <a:pt x="696044" y="1127826"/>
                  </a:cubicBezTo>
                  <a:cubicBezTo>
                    <a:pt x="679133" y="1144738"/>
                    <a:pt x="656195" y="1154239"/>
                    <a:pt x="632278" y="1154239"/>
                  </a:cubicBezTo>
                  <a:lnTo>
                    <a:pt x="90179" y="1154239"/>
                  </a:lnTo>
                  <a:cubicBezTo>
                    <a:pt x="66262" y="1154239"/>
                    <a:pt x="43325" y="1144738"/>
                    <a:pt x="26413" y="1127826"/>
                  </a:cubicBezTo>
                  <a:cubicBezTo>
                    <a:pt x="9501" y="1110914"/>
                    <a:pt x="0" y="1087977"/>
                    <a:pt x="0" y="1064060"/>
                  </a:cubicBezTo>
                  <a:lnTo>
                    <a:pt x="0" y="90179"/>
                  </a:lnTo>
                  <a:cubicBezTo>
                    <a:pt x="0" y="66262"/>
                    <a:pt x="9501" y="43325"/>
                    <a:pt x="26413" y="26413"/>
                  </a:cubicBezTo>
                  <a:cubicBezTo>
                    <a:pt x="43325" y="9501"/>
                    <a:pt x="66262" y="0"/>
                    <a:pt x="90179" y="0"/>
                  </a:cubicBezTo>
                  <a:close/>
                </a:path>
              </a:pathLst>
            </a:custGeom>
            <a:blipFill>
              <a:blip r:embed="rId5"/>
              <a:stretch>
                <a:fillRect l="-69674" r="-69674"/>
              </a:stretch>
            </a:blipFill>
          </p:spPr>
        </p:sp>
      </p:grpSp>
      <p:grpSp>
        <p:nvGrpSpPr>
          <p:cNvPr id="10" name="Group 10"/>
          <p:cNvGrpSpPr/>
          <p:nvPr/>
        </p:nvGrpSpPr>
        <p:grpSpPr>
          <a:xfrm>
            <a:off x="12008017" y="804963"/>
            <a:ext cx="1399700" cy="447474"/>
            <a:chOff x="0" y="0"/>
            <a:chExt cx="1271220" cy="406400"/>
          </a:xfrm>
        </p:grpSpPr>
        <p:sp>
          <p:nvSpPr>
            <p:cNvPr id="11" name="Freeform 11"/>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2" name="TextBox 12"/>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3" name="TextBox 13"/>
          <p:cNvSpPr txBox="1"/>
          <p:nvPr/>
        </p:nvSpPr>
        <p:spPr>
          <a:xfrm>
            <a:off x="7042011" y="1906106"/>
            <a:ext cx="10217289" cy="4865422"/>
          </a:xfrm>
          <a:prstGeom prst="rect">
            <a:avLst/>
          </a:prstGeom>
        </p:spPr>
        <p:txBody>
          <a:bodyPr lIns="0" tIns="0" rIns="0" bIns="0" rtlCol="0" anchor="t">
            <a:spAutoFit/>
          </a:bodyPr>
          <a:lstStyle/>
          <a:p>
            <a:pPr algn="l">
              <a:lnSpc>
                <a:spcPts val="12590"/>
              </a:lnSpc>
            </a:pPr>
            <a:r>
              <a:rPr lang="en-US" sz="12980" b="1">
                <a:solidFill>
                  <a:srgbClr val="FFFBF7"/>
                </a:solidFill>
                <a:latin typeface="Open Sauce Bold"/>
                <a:ea typeface="Open Sauce Bold"/>
                <a:cs typeface="Open Sauce Bold"/>
                <a:sym typeface="Open Sauce Bold"/>
              </a:rPr>
              <a:t>Artificial Intelligence Project</a:t>
            </a:r>
          </a:p>
        </p:txBody>
      </p:sp>
      <p:sp>
        <p:nvSpPr>
          <p:cNvPr id="14" name="TextBox 14"/>
          <p:cNvSpPr txBox="1"/>
          <p:nvPr/>
        </p:nvSpPr>
        <p:spPr>
          <a:xfrm>
            <a:off x="7042011" y="7166857"/>
            <a:ext cx="10217289" cy="516890"/>
          </a:xfrm>
          <a:prstGeom prst="rect">
            <a:avLst/>
          </a:prstGeom>
        </p:spPr>
        <p:txBody>
          <a:bodyPr lIns="0" tIns="0" rIns="0" bIns="0" rtlCol="0" anchor="t">
            <a:spAutoFit/>
          </a:bodyPr>
          <a:lstStyle/>
          <a:p>
            <a:pPr algn="l">
              <a:lnSpc>
                <a:spcPts val="3879"/>
              </a:lnSpc>
            </a:pPr>
            <a:r>
              <a:rPr lang="en-US" sz="3999">
                <a:solidFill>
                  <a:srgbClr val="9560FF"/>
                </a:solidFill>
                <a:latin typeface="Open Sauce"/>
                <a:ea typeface="Open Sauce"/>
                <a:cs typeface="Open Sauce"/>
                <a:sym typeface="Open Sauce"/>
              </a:rPr>
              <a:t>A Comprehensive Project Overview</a:t>
            </a:r>
          </a:p>
        </p:txBody>
      </p:sp>
      <p:sp>
        <p:nvSpPr>
          <p:cNvPr id="15" name="TextBox 15"/>
          <p:cNvSpPr txBox="1"/>
          <p:nvPr/>
        </p:nvSpPr>
        <p:spPr>
          <a:xfrm>
            <a:off x="7042011" y="8101621"/>
            <a:ext cx="9341658" cy="565023"/>
          </a:xfrm>
          <a:prstGeom prst="rect">
            <a:avLst/>
          </a:prstGeom>
        </p:spPr>
        <p:txBody>
          <a:bodyPr lIns="0" tIns="0" rIns="0" bIns="0" rtlCol="0" anchor="t">
            <a:spAutoFit/>
          </a:bodyPr>
          <a:lstStyle/>
          <a:p>
            <a:pPr algn="l">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16" name="TextBox 16"/>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7" name="TextBox 17"/>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8" name="TextBox 18"/>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50886" y="-2049095"/>
            <a:ext cx="9964777" cy="9098671"/>
          </a:xfrm>
          <a:custGeom>
            <a:avLst/>
            <a:gdLst/>
            <a:ahLst/>
            <a:cxnLst/>
            <a:rect l="l" t="t" r="r" b="b"/>
            <a:pathLst>
              <a:path w="9964777" h="9098671">
                <a:moveTo>
                  <a:pt x="0" y="0"/>
                </a:moveTo>
                <a:lnTo>
                  <a:pt x="9964777" y="0"/>
                </a:lnTo>
                <a:lnTo>
                  <a:pt x="9964777" y="9098671"/>
                </a:lnTo>
                <a:lnTo>
                  <a:pt x="0" y="9098671"/>
                </a:lnTo>
                <a:lnTo>
                  <a:pt x="0" y="0"/>
                </a:lnTo>
                <a:close/>
              </a:path>
            </a:pathLst>
          </a:custGeom>
          <a:blipFill>
            <a:blip r:embed="rId2">
              <a:alphaModFix amt="58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3327663" y="3237424"/>
            <a:ext cx="9964777" cy="9098671"/>
          </a:xfrm>
          <a:custGeom>
            <a:avLst/>
            <a:gdLst/>
            <a:ahLst/>
            <a:cxnLst/>
            <a:rect l="l" t="t" r="r" b="b"/>
            <a:pathLst>
              <a:path w="9964777" h="9098671">
                <a:moveTo>
                  <a:pt x="9964777" y="9098671"/>
                </a:moveTo>
                <a:lnTo>
                  <a:pt x="0" y="9098671"/>
                </a:lnTo>
                <a:lnTo>
                  <a:pt x="0" y="0"/>
                </a:lnTo>
                <a:lnTo>
                  <a:pt x="9964777" y="0"/>
                </a:lnTo>
                <a:lnTo>
                  <a:pt x="9964777" y="9098671"/>
                </a:lnTo>
                <a:close/>
              </a:path>
            </a:pathLst>
          </a:custGeom>
          <a:blipFill>
            <a:blip r:embed="rId2">
              <a:alphaModFix amt="58000"/>
              <a:extLst>
                <a:ext uri="{96DAC541-7B7A-43D3-8B79-37D633B846F1}">
                  <asvg:svgBlip xmlns:asvg="http://schemas.microsoft.com/office/drawing/2016/SVG/main" r:embed="rId3"/>
                </a:ext>
              </a:extLst>
            </a:blip>
            <a:stretch>
              <a:fillRect/>
            </a:stretch>
          </a:blipFill>
        </p:spPr>
      </p:sp>
      <p:sp>
        <p:nvSpPr>
          <p:cNvPr id="4" name="Freeform 4"/>
          <p:cNvSpPr/>
          <p:nvPr/>
        </p:nvSpPr>
        <p:spPr>
          <a:xfrm rot="1307306">
            <a:off x="8638171" y="2657033"/>
            <a:ext cx="14705125" cy="16484026"/>
          </a:xfrm>
          <a:custGeom>
            <a:avLst/>
            <a:gdLst/>
            <a:ahLst/>
            <a:cxnLst/>
            <a:rect l="l" t="t" r="r" b="b"/>
            <a:pathLst>
              <a:path w="14705125" h="16484026">
                <a:moveTo>
                  <a:pt x="0" y="0"/>
                </a:moveTo>
                <a:lnTo>
                  <a:pt x="14705125" y="0"/>
                </a:lnTo>
                <a:lnTo>
                  <a:pt x="14705125" y="16484026"/>
                </a:lnTo>
                <a:lnTo>
                  <a:pt x="0" y="16484026"/>
                </a:lnTo>
                <a:lnTo>
                  <a:pt x="0" y="0"/>
                </a:lnTo>
                <a:close/>
              </a:path>
            </a:pathLst>
          </a:custGeom>
          <a:blipFill>
            <a:blip r:embed="rId4"/>
            <a:stretch>
              <a:fillRect/>
            </a:stretch>
          </a:blipFill>
        </p:spPr>
      </p:sp>
      <p:sp>
        <p:nvSpPr>
          <p:cNvPr id="5" name="Freeform 5"/>
          <p:cNvSpPr/>
          <p:nvPr/>
        </p:nvSpPr>
        <p:spPr>
          <a:xfrm rot="1307306">
            <a:off x="-7950368" y="-7213313"/>
            <a:ext cx="14705125" cy="16484026"/>
          </a:xfrm>
          <a:custGeom>
            <a:avLst/>
            <a:gdLst/>
            <a:ahLst/>
            <a:cxnLst/>
            <a:rect l="l" t="t" r="r" b="b"/>
            <a:pathLst>
              <a:path w="14705125" h="16484026">
                <a:moveTo>
                  <a:pt x="0" y="0"/>
                </a:moveTo>
                <a:lnTo>
                  <a:pt x="14705125" y="0"/>
                </a:lnTo>
                <a:lnTo>
                  <a:pt x="14705125" y="16484026"/>
                </a:lnTo>
                <a:lnTo>
                  <a:pt x="0" y="16484026"/>
                </a:lnTo>
                <a:lnTo>
                  <a:pt x="0" y="0"/>
                </a:lnTo>
                <a:close/>
              </a:path>
            </a:pathLst>
          </a:custGeom>
          <a:blipFill>
            <a:blip r:embed="rId4"/>
            <a:stretch>
              <a:fillRect/>
            </a:stretch>
          </a:blipFill>
        </p:spPr>
      </p:sp>
      <p:grpSp>
        <p:nvGrpSpPr>
          <p:cNvPr id="6" name="Group 6"/>
          <p:cNvGrpSpPr/>
          <p:nvPr/>
        </p:nvGrpSpPr>
        <p:grpSpPr>
          <a:xfrm>
            <a:off x="1654726" y="1874460"/>
            <a:ext cx="14738271" cy="6465702"/>
            <a:chOff x="0" y="0"/>
            <a:chExt cx="3881684" cy="1702901"/>
          </a:xfrm>
        </p:grpSpPr>
        <p:sp>
          <p:nvSpPr>
            <p:cNvPr id="7" name="Freeform 7"/>
            <p:cNvSpPr/>
            <p:nvPr/>
          </p:nvSpPr>
          <p:spPr>
            <a:xfrm>
              <a:off x="0" y="0"/>
              <a:ext cx="3881684" cy="1702901"/>
            </a:xfrm>
            <a:custGeom>
              <a:avLst/>
              <a:gdLst/>
              <a:ahLst/>
              <a:cxnLst/>
              <a:rect l="l" t="t" r="r" b="b"/>
              <a:pathLst>
                <a:path w="3881684" h="1702901">
                  <a:moveTo>
                    <a:pt x="26265" y="0"/>
                  </a:moveTo>
                  <a:lnTo>
                    <a:pt x="3855420" y="0"/>
                  </a:lnTo>
                  <a:cubicBezTo>
                    <a:pt x="3869925" y="0"/>
                    <a:pt x="3881684" y="11759"/>
                    <a:pt x="3881684" y="26265"/>
                  </a:cubicBezTo>
                  <a:lnTo>
                    <a:pt x="3881684" y="1676636"/>
                  </a:lnTo>
                  <a:cubicBezTo>
                    <a:pt x="3881684" y="1691142"/>
                    <a:pt x="3869925" y="1702901"/>
                    <a:pt x="3855420" y="1702901"/>
                  </a:cubicBezTo>
                  <a:lnTo>
                    <a:pt x="26265" y="1702901"/>
                  </a:lnTo>
                  <a:cubicBezTo>
                    <a:pt x="11759" y="1702901"/>
                    <a:pt x="0" y="1691142"/>
                    <a:pt x="0" y="1676636"/>
                  </a:cubicBezTo>
                  <a:lnTo>
                    <a:pt x="0" y="26265"/>
                  </a:lnTo>
                  <a:cubicBezTo>
                    <a:pt x="0" y="11759"/>
                    <a:pt x="11759" y="0"/>
                    <a:pt x="26265"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8" name="TextBox 8"/>
            <p:cNvSpPr txBox="1"/>
            <p:nvPr/>
          </p:nvSpPr>
          <p:spPr>
            <a:xfrm>
              <a:off x="0" y="-57150"/>
              <a:ext cx="3881684" cy="1760051"/>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818378" y="2733681"/>
            <a:ext cx="10651244" cy="2373630"/>
          </a:xfrm>
          <a:prstGeom prst="rect">
            <a:avLst/>
          </a:prstGeom>
        </p:spPr>
        <p:txBody>
          <a:bodyPr lIns="0" tIns="0" rIns="0" bIns="0" rtlCol="0" anchor="t">
            <a:spAutoFit/>
          </a:bodyPr>
          <a:lstStyle/>
          <a:p>
            <a:pPr algn="ctr">
              <a:lnSpc>
                <a:spcPts val="9360"/>
              </a:lnSpc>
            </a:pPr>
            <a:r>
              <a:rPr lang="en-US" sz="8000" b="1">
                <a:solidFill>
                  <a:srgbClr val="9560FF"/>
                </a:solidFill>
                <a:latin typeface="Open Sauce Bold"/>
                <a:ea typeface="Open Sauce Bold"/>
                <a:cs typeface="Open Sauce Bold"/>
                <a:sym typeface="Open Sauce Bold"/>
              </a:rPr>
              <a:t>What is Artificial Intelligence?</a:t>
            </a:r>
          </a:p>
        </p:txBody>
      </p:sp>
      <p:sp>
        <p:nvSpPr>
          <p:cNvPr id="10" name="TextBox 10"/>
          <p:cNvSpPr txBox="1"/>
          <p:nvPr/>
        </p:nvSpPr>
        <p:spPr>
          <a:xfrm>
            <a:off x="2466771" y="6028095"/>
            <a:ext cx="13354459" cy="5650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sp>
        <p:nvSpPr>
          <p:cNvPr id="11" name="TextBox 11"/>
          <p:cNvSpPr txBox="1"/>
          <p:nvPr/>
        </p:nvSpPr>
        <p:spPr>
          <a:xfrm>
            <a:off x="2466771" y="7007346"/>
            <a:ext cx="13354459" cy="5650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Duis aute irure dolor in reprehenderit in voluptate velit esse cillum dolore eu fugiat nulla pariatur. Excepteur sint occaecat cupidatat non proident, sunt in culpa qui officia deserunt mollit anim id est laborum.</a:t>
            </a:r>
          </a:p>
        </p:txBody>
      </p:sp>
      <p:grpSp>
        <p:nvGrpSpPr>
          <p:cNvPr id="12" name="Group 12"/>
          <p:cNvGrpSpPr/>
          <p:nvPr/>
        </p:nvGrpSpPr>
        <p:grpSpPr>
          <a:xfrm>
            <a:off x="12008017" y="804963"/>
            <a:ext cx="1399700" cy="447474"/>
            <a:chOff x="0" y="0"/>
            <a:chExt cx="1271220" cy="406400"/>
          </a:xfrm>
        </p:grpSpPr>
        <p:sp>
          <p:nvSpPr>
            <p:cNvPr id="13" name="Freeform 13"/>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4" name="TextBox 14"/>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5" name="TextBox 15"/>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6" name="TextBox 16"/>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7" name="TextBox 17"/>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503032" y="-1244549"/>
            <a:ext cx="5512535" cy="5033403"/>
          </a:xfrm>
          <a:custGeom>
            <a:avLst/>
            <a:gdLst/>
            <a:ahLst/>
            <a:cxnLst/>
            <a:rect l="l" t="t" r="r" b="b"/>
            <a:pathLst>
              <a:path w="5512535" h="5033403">
                <a:moveTo>
                  <a:pt x="0" y="0"/>
                </a:moveTo>
                <a:lnTo>
                  <a:pt x="5512536" y="0"/>
                </a:lnTo>
                <a:lnTo>
                  <a:pt x="5512536" y="5033403"/>
                </a:lnTo>
                <a:lnTo>
                  <a:pt x="0" y="5033403"/>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70172" y="6445770"/>
            <a:ext cx="5512535" cy="5033403"/>
          </a:xfrm>
          <a:custGeom>
            <a:avLst/>
            <a:gdLst/>
            <a:ahLst/>
            <a:cxnLst/>
            <a:rect l="l" t="t" r="r" b="b"/>
            <a:pathLst>
              <a:path w="5512535" h="5033403">
                <a:moveTo>
                  <a:pt x="5512535" y="5033403"/>
                </a:moveTo>
                <a:lnTo>
                  <a:pt x="0" y="5033403"/>
                </a:lnTo>
                <a:lnTo>
                  <a:pt x="0" y="0"/>
                </a:lnTo>
                <a:lnTo>
                  <a:pt x="5512535" y="0"/>
                </a:lnTo>
                <a:lnTo>
                  <a:pt x="5512535" y="5033403"/>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4" name="Freeform 4"/>
          <p:cNvSpPr/>
          <p:nvPr/>
        </p:nvSpPr>
        <p:spPr>
          <a:xfrm rot="-9385474">
            <a:off x="11564721" y="2731974"/>
            <a:ext cx="12686060" cy="14220711"/>
          </a:xfrm>
          <a:custGeom>
            <a:avLst/>
            <a:gdLst/>
            <a:ahLst/>
            <a:cxnLst/>
            <a:rect l="l" t="t" r="r" b="b"/>
            <a:pathLst>
              <a:path w="12686060" h="14220711">
                <a:moveTo>
                  <a:pt x="0" y="0"/>
                </a:moveTo>
                <a:lnTo>
                  <a:pt x="12686060" y="0"/>
                </a:lnTo>
                <a:lnTo>
                  <a:pt x="12686060" y="14220711"/>
                </a:lnTo>
                <a:lnTo>
                  <a:pt x="0" y="14220711"/>
                </a:lnTo>
                <a:lnTo>
                  <a:pt x="0" y="0"/>
                </a:lnTo>
                <a:close/>
              </a:path>
            </a:pathLst>
          </a:custGeom>
          <a:blipFill>
            <a:blip r:embed="rId4"/>
            <a:stretch>
              <a:fillRect/>
            </a:stretch>
          </a:blipFill>
        </p:spPr>
      </p:sp>
      <p:grpSp>
        <p:nvGrpSpPr>
          <p:cNvPr id="5" name="Group 5"/>
          <p:cNvGrpSpPr/>
          <p:nvPr/>
        </p:nvGrpSpPr>
        <p:grpSpPr>
          <a:xfrm>
            <a:off x="10132515" y="1656851"/>
            <a:ext cx="6928111" cy="1907213"/>
            <a:chOff x="0" y="0"/>
            <a:chExt cx="1824688" cy="502311"/>
          </a:xfrm>
        </p:grpSpPr>
        <p:sp>
          <p:nvSpPr>
            <p:cNvPr id="6" name="Freeform 6"/>
            <p:cNvSpPr/>
            <p:nvPr/>
          </p:nvSpPr>
          <p:spPr>
            <a:xfrm>
              <a:off x="0" y="0"/>
              <a:ext cx="1824688" cy="502311"/>
            </a:xfrm>
            <a:custGeom>
              <a:avLst/>
              <a:gdLst/>
              <a:ahLst/>
              <a:cxnLst/>
              <a:rect l="l" t="t" r="r" b="b"/>
              <a:pathLst>
                <a:path w="1824688" h="502311">
                  <a:moveTo>
                    <a:pt x="55873" y="0"/>
                  </a:moveTo>
                  <a:lnTo>
                    <a:pt x="1768815" y="0"/>
                  </a:lnTo>
                  <a:cubicBezTo>
                    <a:pt x="1783633" y="0"/>
                    <a:pt x="1797845" y="5887"/>
                    <a:pt x="1808323" y="16365"/>
                  </a:cubicBezTo>
                  <a:cubicBezTo>
                    <a:pt x="1818801" y="26843"/>
                    <a:pt x="1824688" y="41055"/>
                    <a:pt x="1824688" y="55873"/>
                  </a:cubicBezTo>
                  <a:lnTo>
                    <a:pt x="1824688" y="446438"/>
                  </a:lnTo>
                  <a:cubicBezTo>
                    <a:pt x="1824688" y="477296"/>
                    <a:pt x="1799672" y="502311"/>
                    <a:pt x="1768815" y="502311"/>
                  </a:cubicBezTo>
                  <a:lnTo>
                    <a:pt x="55873" y="502311"/>
                  </a:lnTo>
                  <a:cubicBezTo>
                    <a:pt x="41055" y="502311"/>
                    <a:pt x="26843" y="496425"/>
                    <a:pt x="16365" y="485946"/>
                  </a:cubicBezTo>
                  <a:cubicBezTo>
                    <a:pt x="5887" y="475468"/>
                    <a:pt x="0" y="461257"/>
                    <a:pt x="0" y="446438"/>
                  </a:cubicBezTo>
                  <a:lnTo>
                    <a:pt x="0" y="55873"/>
                  </a:lnTo>
                  <a:cubicBezTo>
                    <a:pt x="0" y="41055"/>
                    <a:pt x="5887" y="26843"/>
                    <a:pt x="16365" y="16365"/>
                  </a:cubicBezTo>
                  <a:cubicBezTo>
                    <a:pt x="26843" y="5887"/>
                    <a:pt x="41055" y="0"/>
                    <a:pt x="55873"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7" name="TextBox 7"/>
            <p:cNvSpPr txBox="1"/>
            <p:nvPr/>
          </p:nvSpPr>
          <p:spPr>
            <a:xfrm>
              <a:off x="0" y="-57150"/>
              <a:ext cx="1824688" cy="55946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132515" y="3564064"/>
            <a:ext cx="6928111" cy="1907213"/>
            <a:chOff x="0" y="0"/>
            <a:chExt cx="1824688" cy="502311"/>
          </a:xfrm>
        </p:grpSpPr>
        <p:sp>
          <p:nvSpPr>
            <p:cNvPr id="9" name="Freeform 9"/>
            <p:cNvSpPr/>
            <p:nvPr/>
          </p:nvSpPr>
          <p:spPr>
            <a:xfrm>
              <a:off x="0" y="0"/>
              <a:ext cx="1824688" cy="502311"/>
            </a:xfrm>
            <a:custGeom>
              <a:avLst/>
              <a:gdLst/>
              <a:ahLst/>
              <a:cxnLst/>
              <a:rect l="l" t="t" r="r" b="b"/>
              <a:pathLst>
                <a:path w="1824688" h="502311">
                  <a:moveTo>
                    <a:pt x="55873" y="0"/>
                  </a:moveTo>
                  <a:lnTo>
                    <a:pt x="1768815" y="0"/>
                  </a:lnTo>
                  <a:cubicBezTo>
                    <a:pt x="1783633" y="0"/>
                    <a:pt x="1797845" y="5887"/>
                    <a:pt x="1808323" y="16365"/>
                  </a:cubicBezTo>
                  <a:cubicBezTo>
                    <a:pt x="1818801" y="26843"/>
                    <a:pt x="1824688" y="41055"/>
                    <a:pt x="1824688" y="55873"/>
                  </a:cubicBezTo>
                  <a:lnTo>
                    <a:pt x="1824688" y="446438"/>
                  </a:lnTo>
                  <a:cubicBezTo>
                    <a:pt x="1824688" y="477296"/>
                    <a:pt x="1799672" y="502311"/>
                    <a:pt x="1768815" y="502311"/>
                  </a:cubicBezTo>
                  <a:lnTo>
                    <a:pt x="55873" y="502311"/>
                  </a:lnTo>
                  <a:cubicBezTo>
                    <a:pt x="41055" y="502311"/>
                    <a:pt x="26843" y="496425"/>
                    <a:pt x="16365" y="485946"/>
                  </a:cubicBezTo>
                  <a:cubicBezTo>
                    <a:pt x="5887" y="475468"/>
                    <a:pt x="0" y="461257"/>
                    <a:pt x="0" y="446438"/>
                  </a:cubicBezTo>
                  <a:lnTo>
                    <a:pt x="0" y="55873"/>
                  </a:lnTo>
                  <a:cubicBezTo>
                    <a:pt x="0" y="41055"/>
                    <a:pt x="5887" y="26843"/>
                    <a:pt x="16365" y="16365"/>
                  </a:cubicBezTo>
                  <a:cubicBezTo>
                    <a:pt x="26843" y="5887"/>
                    <a:pt x="41055" y="0"/>
                    <a:pt x="55873"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10" name="TextBox 10"/>
            <p:cNvSpPr txBox="1"/>
            <p:nvPr/>
          </p:nvSpPr>
          <p:spPr>
            <a:xfrm>
              <a:off x="0" y="-57150"/>
              <a:ext cx="1824688" cy="55946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0132515" y="5471278"/>
            <a:ext cx="6928111" cy="1907213"/>
            <a:chOff x="0" y="0"/>
            <a:chExt cx="1824688" cy="502311"/>
          </a:xfrm>
        </p:grpSpPr>
        <p:sp>
          <p:nvSpPr>
            <p:cNvPr id="12" name="Freeform 12"/>
            <p:cNvSpPr/>
            <p:nvPr/>
          </p:nvSpPr>
          <p:spPr>
            <a:xfrm>
              <a:off x="0" y="0"/>
              <a:ext cx="1824688" cy="502311"/>
            </a:xfrm>
            <a:custGeom>
              <a:avLst/>
              <a:gdLst/>
              <a:ahLst/>
              <a:cxnLst/>
              <a:rect l="l" t="t" r="r" b="b"/>
              <a:pathLst>
                <a:path w="1824688" h="502311">
                  <a:moveTo>
                    <a:pt x="55873" y="0"/>
                  </a:moveTo>
                  <a:lnTo>
                    <a:pt x="1768815" y="0"/>
                  </a:lnTo>
                  <a:cubicBezTo>
                    <a:pt x="1783633" y="0"/>
                    <a:pt x="1797845" y="5887"/>
                    <a:pt x="1808323" y="16365"/>
                  </a:cubicBezTo>
                  <a:cubicBezTo>
                    <a:pt x="1818801" y="26843"/>
                    <a:pt x="1824688" y="41055"/>
                    <a:pt x="1824688" y="55873"/>
                  </a:cubicBezTo>
                  <a:lnTo>
                    <a:pt x="1824688" y="446438"/>
                  </a:lnTo>
                  <a:cubicBezTo>
                    <a:pt x="1824688" y="477296"/>
                    <a:pt x="1799672" y="502311"/>
                    <a:pt x="1768815" y="502311"/>
                  </a:cubicBezTo>
                  <a:lnTo>
                    <a:pt x="55873" y="502311"/>
                  </a:lnTo>
                  <a:cubicBezTo>
                    <a:pt x="41055" y="502311"/>
                    <a:pt x="26843" y="496425"/>
                    <a:pt x="16365" y="485946"/>
                  </a:cubicBezTo>
                  <a:cubicBezTo>
                    <a:pt x="5887" y="475468"/>
                    <a:pt x="0" y="461257"/>
                    <a:pt x="0" y="446438"/>
                  </a:cubicBezTo>
                  <a:lnTo>
                    <a:pt x="0" y="55873"/>
                  </a:lnTo>
                  <a:cubicBezTo>
                    <a:pt x="0" y="41055"/>
                    <a:pt x="5887" y="26843"/>
                    <a:pt x="16365" y="16365"/>
                  </a:cubicBezTo>
                  <a:cubicBezTo>
                    <a:pt x="26843" y="5887"/>
                    <a:pt x="41055" y="0"/>
                    <a:pt x="55873"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13" name="TextBox 13"/>
            <p:cNvSpPr txBox="1"/>
            <p:nvPr/>
          </p:nvSpPr>
          <p:spPr>
            <a:xfrm>
              <a:off x="0" y="-57150"/>
              <a:ext cx="1824688" cy="55946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132515" y="7351087"/>
            <a:ext cx="6928111" cy="1907213"/>
            <a:chOff x="0" y="0"/>
            <a:chExt cx="1824688" cy="502311"/>
          </a:xfrm>
        </p:grpSpPr>
        <p:sp>
          <p:nvSpPr>
            <p:cNvPr id="15" name="Freeform 15"/>
            <p:cNvSpPr/>
            <p:nvPr/>
          </p:nvSpPr>
          <p:spPr>
            <a:xfrm>
              <a:off x="0" y="0"/>
              <a:ext cx="1824688" cy="502311"/>
            </a:xfrm>
            <a:custGeom>
              <a:avLst/>
              <a:gdLst/>
              <a:ahLst/>
              <a:cxnLst/>
              <a:rect l="l" t="t" r="r" b="b"/>
              <a:pathLst>
                <a:path w="1824688" h="502311">
                  <a:moveTo>
                    <a:pt x="55873" y="0"/>
                  </a:moveTo>
                  <a:lnTo>
                    <a:pt x="1768815" y="0"/>
                  </a:lnTo>
                  <a:cubicBezTo>
                    <a:pt x="1783633" y="0"/>
                    <a:pt x="1797845" y="5887"/>
                    <a:pt x="1808323" y="16365"/>
                  </a:cubicBezTo>
                  <a:cubicBezTo>
                    <a:pt x="1818801" y="26843"/>
                    <a:pt x="1824688" y="41055"/>
                    <a:pt x="1824688" y="55873"/>
                  </a:cubicBezTo>
                  <a:lnTo>
                    <a:pt x="1824688" y="446438"/>
                  </a:lnTo>
                  <a:cubicBezTo>
                    <a:pt x="1824688" y="477296"/>
                    <a:pt x="1799672" y="502311"/>
                    <a:pt x="1768815" y="502311"/>
                  </a:cubicBezTo>
                  <a:lnTo>
                    <a:pt x="55873" y="502311"/>
                  </a:lnTo>
                  <a:cubicBezTo>
                    <a:pt x="41055" y="502311"/>
                    <a:pt x="26843" y="496425"/>
                    <a:pt x="16365" y="485946"/>
                  </a:cubicBezTo>
                  <a:cubicBezTo>
                    <a:pt x="5887" y="475468"/>
                    <a:pt x="0" y="461257"/>
                    <a:pt x="0" y="446438"/>
                  </a:cubicBezTo>
                  <a:lnTo>
                    <a:pt x="0" y="55873"/>
                  </a:lnTo>
                  <a:cubicBezTo>
                    <a:pt x="0" y="41055"/>
                    <a:pt x="5887" y="26843"/>
                    <a:pt x="16365" y="16365"/>
                  </a:cubicBezTo>
                  <a:cubicBezTo>
                    <a:pt x="26843" y="5887"/>
                    <a:pt x="41055" y="0"/>
                    <a:pt x="55873"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16" name="TextBox 16"/>
            <p:cNvSpPr txBox="1"/>
            <p:nvPr/>
          </p:nvSpPr>
          <p:spPr>
            <a:xfrm>
              <a:off x="0" y="-57150"/>
              <a:ext cx="1824688" cy="55946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89139" y="1427006"/>
            <a:ext cx="8054861" cy="5603587"/>
            <a:chOff x="0" y="0"/>
            <a:chExt cx="894525" cy="622301"/>
          </a:xfrm>
        </p:grpSpPr>
        <p:sp>
          <p:nvSpPr>
            <p:cNvPr id="18" name="Freeform 18"/>
            <p:cNvSpPr/>
            <p:nvPr/>
          </p:nvSpPr>
          <p:spPr>
            <a:xfrm>
              <a:off x="0" y="0"/>
              <a:ext cx="894525" cy="622301"/>
            </a:xfrm>
            <a:custGeom>
              <a:avLst/>
              <a:gdLst/>
              <a:ahLst/>
              <a:cxnLst/>
              <a:rect l="l" t="t" r="r" b="b"/>
              <a:pathLst>
                <a:path w="894525" h="622301">
                  <a:moveTo>
                    <a:pt x="57669" y="0"/>
                  </a:moveTo>
                  <a:lnTo>
                    <a:pt x="836856" y="0"/>
                  </a:lnTo>
                  <a:cubicBezTo>
                    <a:pt x="868706" y="0"/>
                    <a:pt x="894525" y="25819"/>
                    <a:pt x="894525" y="57669"/>
                  </a:cubicBezTo>
                  <a:lnTo>
                    <a:pt x="894525" y="564632"/>
                  </a:lnTo>
                  <a:cubicBezTo>
                    <a:pt x="894525" y="596482"/>
                    <a:pt x="868706" y="622301"/>
                    <a:pt x="836856" y="622301"/>
                  </a:cubicBezTo>
                  <a:lnTo>
                    <a:pt x="57669" y="622301"/>
                  </a:lnTo>
                  <a:cubicBezTo>
                    <a:pt x="25819" y="622301"/>
                    <a:pt x="0" y="596482"/>
                    <a:pt x="0" y="564632"/>
                  </a:cubicBezTo>
                  <a:lnTo>
                    <a:pt x="0" y="57669"/>
                  </a:lnTo>
                  <a:cubicBezTo>
                    <a:pt x="0" y="25819"/>
                    <a:pt x="25819" y="0"/>
                    <a:pt x="57669" y="0"/>
                  </a:cubicBezTo>
                  <a:close/>
                </a:path>
              </a:pathLst>
            </a:custGeom>
            <a:blipFill>
              <a:blip r:embed="rId5"/>
              <a:stretch>
                <a:fillRect t="-57875" b="-57875"/>
              </a:stretch>
            </a:blipFill>
          </p:spPr>
        </p:sp>
      </p:grpSp>
      <p:sp>
        <p:nvSpPr>
          <p:cNvPr id="19" name="TextBox 19"/>
          <p:cNvSpPr txBox="1"/>
          <p:nvPr/>
        </p:nvSpPr>
        <p:spPr>
          <a:xfrm>
            <a:off x="1028700" y="7548872"/>
            <a:ext cx="6371074" cy="11925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Types of AI</a:t>
            </a:r>
          </a:p>
        </p:txBody>
      </p:sp>
      <p:sp>
        <p:nvSpPr>
          <p:cNvPr id="20" name="TextBox 20"/>
          <p:cNvSpPr txBox="1"/>
          <p:nvPr/>
        </p:nvSpPr>
        <p:spPr>
          <a:xfrm>
            <a:off x="10725288" y="1881641"/>
            <a:ext cx="5742565"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Narrow Artificial Intelligence</a:t>
            </a:r>
          </a:p>
        </p:txBody>
      </p:sp>
      <p:sp>
        <p:nvSpPr>
          <p:cNvPr id="21" name="TextBox 21"/>
          <p:cNvSpPr txBox="1"/>
          <p:nvPr/>
        </p:nvSpPr>
        <p:spPr>
          <a:xfrm>
            <a:off x="10725288" y="2388371"/>
            <a:ext cx="5742565"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22" name="TextBox 22"/>
          <p:cNvSpPr txBox="1"/>
          <p:nvPr/>
        </p:nvSpPr>
        <p:spPr>
          <a:xfrm>
            <a:off x="10725288" y="3788854"/>
            <a:ext cx="5742565"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General Artificial Intelligence</a:t>
            </a:r>
          </a:p>
        </p:txBody>
      </p:sp>
      <p:sp>
        <p:nvSpPr>
          <p:cNvPr id="23" name="TextBox 23"/>
          <p:cNvSpPr txBox="1"/>
          <p:nvPr/>
        </p:nvSpPr>
        <p:spPr>
          <a:xfrm>
            <a:off x="10725288" y="4295584"/>
            <a:ext cx="5742565"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24" name="TextBox 24"/>
          <p:cNvSpPr txBox="1"/>
          <p:nvPr/>
        </p:nvSpPr>
        <p:spPr>
          <a:xfrm>
            <a:off x="10725288" y="5696068"/>
            <a:ext cx="5742565"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Super Artificial Intelligence</a:t>
            </a:r>
          </a:p>
        </p:txBody>
      </p:sp>
      <p:sp>
        <p:nvSpPr>
          <p:cNvPr id="25" name="TextBox 25"/>
          <p:cNvSpPr txBox="1"/>
          <p:nvPr/>
        </p:nvSpPr>
        <p:spPr>
          <a:xfrm>
            <a:off x="10725288" y="6202797"/>
            <a:ext cx="5742565"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26" name="TextBox 26"/>
          <p:cNvSpPr txBox="1"/>
          <p:nvPr/>
        </p:nvSpPr>
        <p:spPr>
          <a:xfrm>
            <a:off x="10725288" y="7575877"/>
            <a:ext cx="5742565"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Reactive Artificial Intelligence</a:t>
            </a:r>
          </a:p>
        </p:txBody>
      </p:sp>
      <p:sp>
        <p:nvSpPr>
          <p:cNvPr id="27" name="TextBox 27"/>
          <p:cNvSpPr txBox="1"/>
          <p:nvPr/>
        </p:nvSpPr>
        <p:spPr>
          <a:xfrm>
            <a:off x="10725288" y="8082606"/>
            <a:ext cx="5742565"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grpSp>
        <p:nvGrpSpPr>
          <p:cNvPr id="28" name="Group 28"/>
          <p:cNvGrpSpPr/>
          <p:nvPr/>
        </p:nvGrpSpPr>
        <p:grpSpPr>
          <a:xfrm>
            <a:off x="12008017" y="804963"/>
            <a:ext cx="1399700" cy="447474"/>
            <a:chOff x="0" y="0"/>
            <a:chExt cx="1271220" cy="406400"/>
          </a:xfrm>
        </p:grpSpPr>
        <p:sp>
          <p:nvSpPr>
            <p:cNvPr id="29" name="Freeform 29"/>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30" name="TextBox 30"/>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31" name="TextBox 31"/>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32" name="TextBox 32"/>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33" name="TextBox 33"/>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50886" y="-2049095"/>
            <a:ext cx="9964777" cy="9098671"/>
          </a:xfrm>
          <a:custGeom>
            <a:avLst/>
            <a:gdLst/>
            <a:ahLst/>
            <a:cxnLst/>
            <a:rect l="l" t="t" r="r" b="b"/>
            <a:pathLst>
              <a:path w="9964777" h="9098671">
                <a:moveTo>
                  <a:pt x="0" y="0"/>
                </a:moveTo>
                <a:lnTo>
                  <a:pt x="9964777" y="0"/>
                </a:lnTo>
                <a:lnTo>
                  <a:pt x="9964777" y="9098671"/>
                </a:lnTo>
                <a:lnTo>
                  <a:pt x="0" y="90986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3327663" y="3237424"/>
            <a:ext cx="9964777" cy="9098671"/>
          </a:xfrm>
          <a:custGeom>
            <a:avLst/>
            <a:gdLst/>
            <a:ahLst/>
            <a:cxnLst/>
            <a:rect l="l" t="t" r="r" b="b"/>
            <a:pathLst>
              <a:path w="9964777" h="9098671">
                <a:moveTo>
                  <a:pt x="9964777" y="9098671"/>
                </a:moveTo>
                <a:lnTo>
                  <a:pt x="0" y="9098671"/>
                </a:lnTo>
                <a:lnTo>
                  <a:pt x="0" y="0"/>
                </a:lnTo>
                <a:lnTo>
                  <a:pt x="9964777" y="0"/>
                </a:lnTo>
                <a:lnTo>
                  <a:pt x="9964777" y="9098671"/>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4" name="Freeform 4"/>
          <p:cNvSpPr/>
          <p:nvPr/>
        </p:nvSpPr>
        <p:spPr>
          <a:xfrm>
            <a:off x="-4270227" y="-4960599"/>
            <a:ext cx="11231225" cy="13757625"/>
          </a:xfrm>
          <a:custGeom>
            <a:avLst/>
            <a:gdLst/>
            <a:ahLst/>
            <a:cxnLst/>
            <a:rect l="l" t="t" r="r" b="b"/>
            <a:pathLst>
              <a:path w="11231225" h="13757625">
                <a:moveTo>
                  <a:pt x="0" y="0"/>
                </a:moveTo>
                <a:lnTo>
                  <a:pt x="11231225" y="0"/>
                </a:lnTo>
                <a:lnTo>
                  <a:pt x="11231225" y="13757625"/>
                </a:lnTo>
                <a:lnTo>
                  <a:pt x="0" y="13757625"/>
                </a:lnTo>
                <a:lnTo>
                  <a:pt x="0" y="0"/>
                </a:lnTo>
                <a:close/>
              </a:path>
            </a:pathLst>
          </a:custGeom>
          <a:blipFill>
            <a:blip r:embed="rId4"/>
            <a:stretch>
              <a:fillRect/>
            </a:stretch>
          </a:blipFill>
        </p:spPr>
      </p:sp>
      <p:grpSp>
        <p:nvGrpSpPr>
          <p:cNvPr id="5" name="Group 5"/>
          <p:cNvGrpSpPr/>
          <p:nvPr/>
        </p:nvGrpSpPr>
        <p:grpSpPr>
          <a:xfrm>
            <a:off x="1159418" y="1028700"/>
            <a:ext cx="6310635" cy="8229600"/>
            <a:chOff x="0" y="0"/>
            <a:chExt cx="700822" cy="913931"/>
          </a:xfrm>
        </p:grpSpPr>
        <p:sp>
          <p:nvSpPr>
            <p:cNvPr id="6" name="Freeform 6"/>
            <p:cNvSpPr/>
            <p:nvPr/>
          </p:nvSpPr>
          <p:spPr>
            <a:xfrm>
              <a:off x="0" y="0"/>
              <a:ext cx="700822" cy="913931"/>
            </a:xfrm>
            <a:custGeom>
              <a:avLst/>
              <a:gdLst/>
              <a:ahLst/>
              <a:cxnLst/>
              <a:rect l="l" t="t" r="r" b="b"/>
              <a:pathLst>
                <a:path w="700822" h="913931">
                  <a:moveTo>
                    <a:pt x="73608" y="0"/>
                  </a:moveTo>
                  <a:lnTo>
                    <a:pt x="627213" y="0"/>
                  </a:lnTo>
                  <a:cubicBezTo>
                    <a:pt x="646736" y="0"/>
                    <a:pt x="665458" y="7755"/>
                    <a:pt x="679262" y="21559"/>
                  </a:cubicBezTo>
                  <a:cubicBezTo>
                    <a:pt x="693067" y="35364"/>
                    <a:pt x="700822" y="54086"/>
                    <a:pt x="700822" y="73608"/>
                  </a:cubicBezTo>
                  <a:lnTo>
                    <a:pt x="700822" y="840322"/>
                  </a:lnTo>
                  <a:cubicBezTo>
                    <a:pt x="700822" y="880975"/>
                    <a:pt x="667866" y="913931"/>
                    <a:pt x="627213" y="913931"/>
                  </a:cubicBezTo>
                  <a:lnTo>
                    <a:pt x="73608" y="913931"/>
                  </a:lnTo>
                  <a:cubicBezTo>
                    <a:pt x="54086" y="913931"/>
                    <a:pt x="35364" y="906175"/>
                    <a:pt x="21559" y="892371"/>
                  </a:cubicBezTo>
                  <a:cubicBezTo>
                    <a:pt x="7755" y="878567"/>
                    <a:pt x="0" y="859844"/>
                    <a:pt x="0" y="840322"/>
                  </a:cubicBezTo>
                  <a:lnTo>
                    <a:pt x="0" y="73608"/>
                  </a:lnTo>
                  <a:cubicBezTo>
                    <a:pt x="0" y="54086"/>
                    <a:pt x="7755" y="35364"/>
                    <a:pt x="21559" y="21559"/>
                  </a:cubicBezTo>
                  <a:cubicBezTo>
                    <a:pt x="35364" y="7755"/>
                    <a:pt x="54086" y="0"/>
                    <a:pt x="73608" y="0"/>
                  </a:cubicBezTo>
                  <a:close/>
                </a:path>
              </a:pathLst>
            </a:custGeom>
            <a:blipFill>
              <a:blip r:embed="rId5"/>
              <a:stretch>
                <a:fillRect l="-36938" r="-36938"/>
              </a:stretch>
            </a:blipFill>
          </p:spPr>
        </p:sp>
      </p:grpSp>
      <p:sp>
        <p:nvSpPr>
          <p:cNvPr id="7" name="TextBox 7"/>
          <p:cNvSpPr txBox="1"/>
          <p:nvPr/>
        </p:nvSpPr>
        <p:spPr>
          <a:xfrm>
            <a:off x="8295900" y="1939915"/>
            <a:ext cx="7685552" cy="35547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Machine Learning Fundamentals</a:t>
            </a:r>
          </a:p>
        </p:txBody>
      </p:sp>
      <p:sp>
        <p:nvSpPr>
          <p:cNvPr id="8" name="TextBox 8"/>
          <p:cNvSpPr txBox="1"/>
          <p:nvPr/>
        </p:nvSpPr>
        <p:spPr>
          <a:xfrm>
            <a:off x="8295900" y="6229231"/>
            <a:ext cx="8963400"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sp>
        <p:nvSpPr>
          <p:cNvPr id="9" name="TextBox 9"/>
          <p:cNvSpPr txBox="1"/>
          <p:nvPr/>
        </p:nvSpPr>
        <p:spPr>
          <a:xfrm>
            <a:off x="8295900" y="7515362"/>
            <a:ext cx="8963400"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Duis aute irure dolor in reprehenderit in voluptate velit esse cillum dolore eu fugiat nulla pariatur. Excepteur sint occaecat cupidatat non proident, sunt in culpa qui officia deserunt mollit anim id est laborum.</a:t>
            </a:r>
          </a:p>
        </p:txBody>
      </p:sp>
      <p:grpSp>
        <p:nvGrpSpPr>
          <p:cNvPr id="10" name="Group 10"/>
          <p:cNvGrpSpPr/>
          <p:nvPr/>
        </p:nvGrpSpPr>
        <p:grpSpPr>
          <a:xfrm>
            <a:off x="12008017" y="804963"/>
            <a:ext cx="1399700" cy="447474"/>
            <a:chOff x="0" y="0"/>
            <a:chExt cx="1271220" cy="406400"/>
          </a:xfrm>
        </p:grpSpPr>
        <p:sp>
          <p:nvSpPr>
            <p:cNvPr id="11" name="Freeform 11"/>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2" name="TextBox 12"/>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3" name="TextBox 13"/>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4" name="TextBox 14"/>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5" name="TextBox 15"/>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503032" y="-1244549"/>
            <a:ext cx="5512535" cy="5033403"/>
          </a:xfrm>
          <a:custGeom>
            <a:avLst/>
            <a:gdLst/>
            <a:ahLst/>
            <a:cxnLst/>
            <a:rect l="l" t="t" r="r" b="b"/>
            <a:pathLst>
              <a:path w="5512535" h="5033403">
                <a:moveTo>
                  <a:pt x="0" y="0"/>
                </a:moveTo>
                <a:lnTo>
                  <a:pt x="5512536" y="0"/>
                </a:lnTo>
                <a:lnTo>
                  <a:pt x="5512536" y="5033403"/>
                </a:lnTo>
                <a:lnTo>
                  <a:pt x="0" y="5033403"/>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70172" y="6445770"/>
            <a:ext cx="5512535" cy="5033403"/>
          </a:xfrm>
          <a:custGeom>
            <a:avLst/>
            <a:gdLst/>
            <a:ahLst/>
            <a:cxnLst/>
            <a:rect l="l" t="t" r="r" b="b"/>
            <a:pathLst>
              <a:path w="5512535" h="5033403">
                <a:moveTo>
                  <a:pt x="5512535" y="5033403"/>
                </a:moveTo>
                <a:lnTo>
                  <a:pt x="0" y="5033403"/>
                </a:lnTo>
                <a:lnTo>
                  <a:pt x="0" y="0"/>
                </a:lnTo>
                <a:lnTo>
                  <a:pt x="5512535" y="0"/>
                </a:lnTo>
                <a:lnTo>
                  <a:pt x="5512535" y="5033403"/>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243168" y="413328"/>
            <a:ext cx="11265735" cy="13799898"/>
          </a:xfrm>
          <a:custGeom>
            <a:avLst/>
            <a:gdLst/>
            <a:ahLst/>
            <a:cxnLst/>
            <a:rect l="l" t="t" r="r" b="b"/>
            <a:pathLst>
              <a:path w="11265735" h="13799898">
                <a:moveTo>
                  <a:pt x="0" y="0"/>
                </a:moveTo>
                <a:lnTo>
                  <a:pt x="11265735" y="0"/>
                </a:lnTo>
                <a:lnTo>
                  <a:pt x="11265735" y="13799897"/>
                </a:lnTo>
                <a:lnTo>
                  <a:pt x="0" y="13799897"/>
                </a:lnTo>
                <a:lnTo>
                  <a:pt x="0" y="0"/>
                </a:lnTo>
                <a:close/>
              </a:path>
            </a:pathLst>
          </a:custGeom>
          <a:blipFill>
            <a:blip r:embed="rId4"/>
            <a:stretch>
              <a:fillRect/>
            </a:stretch>
          </a:blipFill>
        </p:spPr>
      </p:sp>
      <p:grpSp>
        <p:nvGrpSpPr>
          <p:cNvPr id="5" name="Group 5"/>
          <p:cNvGrpSpPr/>
          <p:nvPr/>
        </p:nvGrpSpPr>
        <p:grpSpPr>
          <a:xfrm>
            <a:off x="9940343" y="1500780"/>
            <a:ext cx="7318957" cy="8229600"/>
            <a:chOff x="0" y="0"/>
            <a:chExt cx="812800" cy="913931"/>
          </a:xfrm>
        </p:grpSpPr>
        <p:sp>
          <p:nvSpPr>
            <p:cNvPr id="6" name="Freeform 6"/>
            <p:cNvSpPr/>
            <p:nvPr/>
          </p:nvSpPr>
          <p:spPr>
            <a:xfrm>
              <a:off x="0" y="0"/>
              <a:ext cx="812800" cy="913931"/>
            </a:xfrm>
            <a:custGeom>
              <a:avLst/>
              <a:gdLst/>
              <a:ahLst/>
              <a:cxnLst/>
              <a:rect l="l" t="t" r="r" b="b"/>
              <a:pathLst>
                <a:path w="812800" h="913931">
                  <a:moveTo>
                    <a:pt x="63467" y="0"/>
                  </a:moveTo>
                  <a:lnTo>
                    <a:pt x="749333" y="0"/>
                  </a:lnTo>
                  <a:cubicBezTo>
                    <a:pt x="766165" y="0"/>
                    <a:pt x="782308" y="6687"/>
                    <a:pt x="794211" y="18589"/>
                  </a:cubicBezTo>
                  <a:cubicBezTo>
                    <a:pt x="806113" y="30492"/>
                    <a:pt x="812800" y="46635"/>
                    <a:pt x="812800" y="63467"/>
                  </a:cubicBezTo>
                  <a:lnTo>
                    <a:pt x="812800" y="850463"/>
                  </a:lnTo>
                  <a:cubicBezTo>
                    <a:pt x="812800" y="885515"/>
                    <a:pt x="784385" y="913931"/>
                    <a:pt x="749333" y="913931"/>
                  </a:cubicBezTo>
                  <a:lnTo>
                    <a:pt x="63467" y="913931"/>
                  </a:lnTo>
                  <a:cubicBezTo>
                    <a:pt x="46635" y="913931"/>
                    <a:pt x="30492" y="907244"/>
                    <a:pt x="18589" y="895341"/>
                  </a:cubicBezTo>
                  <a:cubicBezTo>
                    <a:pt x="6687" y="883439"/>
                    <a:pt x="0" y="867296"/>
                    <a:pt x="0" y="850463"/>
                  </a:cubicBezTo>
                  <a:lnTo>
                    <a:pt x="0" y="63467"/>
                  </a:lnTo>
                  <a:cubicBezTo>
                    <a:pt x="0" y="46635"/>
                    <a:pt x="6687" y="30492"/>
                    <a:pt x="18589" y="18589"/>
                  </a:cubicBezTo>
                  <a:cubicBezTo>
                    <a:pt x="30492" y="6687"/>
                    <a:pt x="46635" y="0"/>
                    <a:pt x="63467" y="0"/>
                  </a:cubicBezTo>
                  <a:close/>
                </a:path>
              </a:pathLst>
            </a:custGeom>
            <a:blipFill>
              <a:blip r:embed="rId5"/>
              <a:stretch>
                <a:fillRect t="-16617" b="-16617"/>
              </a:stretch>
            </a:blipFill>
          </p:spPr>
        </p:sp>
      </p:grpSp>
      <p:sp>
        <p:nvSpPr>
          <p:cNvPr id="7" name="TextBox 7"/>
          <p:cNvSpPr txBox="1"/>
          <p:nvPr/>
        </p:nvSpPr>
        <p:spPr>
          <a:xfrm>
            <a:off x="1028700" y="1047750"/>
            <a:ext cx="7604357" cy="35547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Deep Learning and Neural Networks</a:t>
            </a:r>
          </a:p>
        </p:txBody>
      </p:sp>
      <p:sp>
        <p:nvSpPr>
          <p:cNvPr id="8" name="TextBox 8"/>
          <p:cNvSpPr txBox="1"/>
          <p:nvPr/>
        </p:nvSpPr>
        <p:spPr>
          <a:xfrm>
            <a:off x="2890492" y="5615580"/>
            <a:ext cx="344096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Key Concepts</a:t>
            </a:r>
          </a:p>
        </p:txBody>
      </p:sp>
      <p:sp>
        <p:nvSpPr>
          <p:cNvPr id="9" name="TextBox 9"/>
          <p:cNvSpPr txBox="1"/>
          <p:nvPr/>
        </p:nvSpPr>
        <p:spPr>
          <a:xfrm>
            <a:off x="2890492" y="6122310"/>
            <a:ext cx="5742565"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10" name="TextBox 10"/>
          <p:cNvSpPr txBox="1"/>
          <p:nvPr/>
        </p:nvSpPr>
        <p:spPr>
          <a:xfrm>
            <a:off x="2890492" y="7543504"/>
            <a:ext cx="344096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Applications</a:t>
            </a:r>
          </a:p>
        </p:txBody>
      </p:sp>
      <p:sp>
        <p:nvSpPr>
          <p:cNvPr id="11" name="TextBox 11"/>
          <p:cNvSpPr txBox="1"/>
          <p:nvPr/>
        </p:nvSpPr>
        <p:spPr>
          <a:xfrm>
            <a:off x="2890492" y="8050234"/>
            <a:ext cx="5742565" cy="8507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grpSp>
        <p:nvGrpSpPr>
          <p:cNvPr id="12" name="Group 12"/>
          <p:cNvGrpSpPr/>
          <p:nvPr/>
        </p:nvGrpSpPr>
        <p:grpSpPr>
          <a:xfrm>
            <a:off x="12008017" y="804963"/>
            <a:ext cx="1399700" cy="447474"/>
            <a:chOff x="0" y="0"/>
            <a:chExt cx="1271220" cy="406400"/>
          </a:xfrm>
        </p:grpSpPr>
        <p:sp>
          <p:nvSpPr>
            <p:cNvPr id="13" name="Freeform 13"/>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4" name="TextBox 14"/>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5" name="TextBox 15"/>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6" name="TextBox 16"/>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7" name="TextBox 17"/>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50886" y="-2049095"/>
            <a:ext cx="9964777" cy="9098671"/>
          </a:xfrm>
          <a:custGeom>
            <a:avLst/>
            <a:gdLst/>
            <a:ahLst/>
            <a:cxnLst/>
            <a:rect l="l" t="t" r="r" b="b"/>
            <a:pathLst>
              <a:path w="9964777" h="9098671">
                <a:moveTo>
                  <a:pt x="0" y="0"/>
                </a:moveTo>
                <a:lnTo>
                  <a:pt x="9964777" y="0"/>
                </a:lnTo>
                <a:lnTo>
                  <a:pt x="9964777" y="9098671"/>
                </a:lnTo>
                <a:lnTo>
                  <a:pt x="0" y="90986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3327663" y="3237424"/>
            <a:ext cx="9964777" cy="9098671"/>
          </a:xfrm>
          <a:custGeom>
            <a:avLst/>
            <a:gdLst/>
            <a:ahLst/>
            <a:cxnLst/>
            <a:rect l="l" t="t" r="r" b="b"/>
            <a:pathLst>
              <a:path w="9964777" h="9098671">
                <a:moveTo>
                  <a:pt x="9964777" y="9098671"/>
                </a:moveTo>
                <a:lnTo>
                  <a:pt x="0" y="9098671"/>
                </a:lnTo>
                <a:lnTo>
                  <a:pt x="0" y="0"/>
                </a:lnTo>
                <a:lnTo>
                  <a:pt x="9964777" y="0"/>
                </a:lnTo>
                <a:lnTo>
                  <a:pt x="9964777" y="9098671"/>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flipV="1">
            <a:off x="2525609" y="-8261053"/>
            <a:ext cx="13236782" cy="14838055"/>
          </a:xfrm>
          <a:custGeom>
            <a:avLst/>
            <a:gdLst/>
            <a:ahLst/>
            <a:cxnLst/>
            <a:rect l="l" t="t" r="r" b="b"/>
            <a:pathLst>
              <a:path w="13236782" h="14838055">
                <a:moveTo>
                  <a:pt x="0" y="14838055"/>
                </a:moveTo>
                <a:lnTo>
                  <a:pt x="13236782" y="14838055"/>
                </a:lnTo>
                <a:lnTo>
                  <a:pt x="13236782" y="0"/>
                </a:lnTo>
                <a:lnTo>
                  <a:pt x="0" y="0"/>
                </a:lnTo>
                <a:lnTo>
                  <a:pt x="0" y="14838055"/>
                </a:lnTo>
                <a:close/>
              </a:path>
            </a:pathLst>
          </a:custGeom>
          <a:blipFill>
            <a:blip r:embed="rId4"/>
            <a:stretch>
              <a:fillRect/>
            </a:stretch>
          </a:blipFill>
        </p:spPr>
      </p:sp>
      <p:grpSp>
        <p:nvGrpSpPr>
          <p:cNvPr id="5" name="Group 5"/>
          <p:cNvGrpSpPr/>
          <p:nvPr/>
        </p:nvGrpSpPr>
        <p:grpSpPr>
          <a:xfrm>
            <a:off x="2084702" y="4329204"/>
            <a:ext cx="3235762" cy="2495795"/>
            <a:chOff x="0" y="0"/>
            <a:chExt cx="572316" cy="441436"/>
          </a:xfrm>
        </p:grpSpPr>
        <p:sp>
          <p:nvSpPr>
            <p:cNvPr id="6" name="Freeform 6"/>
            <p:cNvSpPr/>
            <p:nvPr/>
          </p:nvSpPr>
          <p:spPr>
            <a:xfrm>
              <a:off x="0" y="0"/>
              <a:ext cx="572316" cy="441436"/>
            </a:xfrm>
            <a:custGeom>
              <a:avLst/>
              <a:gdLst/>
              <a:ahLst/>
              <a:cxnLst/>
              <a:rect l="l" t="t" r="r" b="b"/>
              <a:pathLst>
                <a:path w="572316" h="441436">
                  <a:moveTo>
                    <a:pt x="71778" y="0"/>
                  </a:moveTo>
                  <a:lnTo>
                    <a:pt x="500537" y="0"/>
                  </a:lnTo>
                  <a:cubicBezTo>
                    <a:pt x="519574" y="0"/>
                    <a:pt x="537831" y="7562"/>
                    <a:pt x="551292" y="21023"/>
                  </a:cubicBezTo>
                  <a:cubicBezTo>
                    <a:pt x="564753" y="34484"/>
                    <a:pt x="572316" y="52742"/>
                    <a:pt x="572316" y="71778"/>
                  </a:cubicBezTo>
                  <a:lnTo>
                    <a:pt x="572316" y="369658"/>
                  </a:lnTo>
                  <a:cubicBezTo>
                    <a:pt x="572316" y="409300"/>
                    <a:pt x="540179" y="441436"/>
                    <a:pt x="500537" y="441436"/>
                  </a:cubicBezTo>
                  <a:lnTo>
                    <a:pt x="71778" y="441436"/>
                  </a:lnTo>
                  <a:cubicBezTo>
                    <a:pt x="52742" y="441436"/>
                    <a:pt x="34484" y="433874"/>
                    <a:pt x="21023" y="420413"/>
                  </a:cubicBezTo>
                  <a:cubicBezTo>
                    <a:pt x="7562" y="406952"/>
                    <a:pt x="0" y="388695"/>
                    <a:pt x="0" y="369658"/>
                  </a:cubicBezTo>
                  <a:lnTo>
                    <a:pt x="0" y="71778"/>
                  </a:lnTo>
                  <a:cubicBezTo>
                    <a:pt x="0" y="52742"/>
                    <a:pt x="7562" y="34484"/>
                    <a:pt x="21023" y="21023"/>
                  </a:cubicBezTo>
                  <a:cubicBezTo>
                    <a:pt x="34484" y="7562"/>
                    <a:pt x="52742" y="0"/>
                    <a:pt x="71778" y="0"/>
                  </a:cubicBezTo>
                  <a:close/>
                </a:path>
              </a:pathLst>
            </a:custGeom>
            <a:blipFill>
              <a:blip r:embed="rId5"/>
              <a:stretch>
                <a:fillRect t="-57630" b="-36963"/>
              </a:stretch>
            </a:blipFill>
          </p:spPr>
        </p:sp>
      </p:grpSp>
      <p:grpSp>
        <p:nvGrpSpPr>
          <p:cNvPr id="7" name="Group 7"/>
          <p:cNvGrpSpPr/>
          <p:nvPr/>
        </p:nvGrpSpPr>
        <p:grpSpPr>
          <a:xfrm>
            <a:off x="5712313" y="4329204"/>
            <a:ext cx="3235762" cy="2495795"/>
            <a:chOff x="0" y="0"/>
            <a:chExt cx="572316" cy="441436"/>
          </a:xfrm>
        </p:grpSpPr>
        <p:sp>
          <p:nvSpPr>
            <p:cNvPr id="8" name="Freeform 8"/>
            <p:cNvSpPr/>
            <p:nvPr/>
          </p:nvSpPr>
          <p:spPr>
            <a:xfrm>
              <a:off x="0" y="0"/>
              <a:ext cx="572316" cy="441436"/>
            </a:xfrm>
            <a:custGeom>
              <a:avLst/>
              <a:gdLst/>
              <a:ahLst/>
              <a:cxnLst/>
              <a:rect l="l" t="t" r="r" b="b"/>
              <a:pathLst>
                <a:path w="572316" h="441436">
                  <a:moveTo>
                    <a:pt x="71778" y="0"/>
                  </a:moveTo>
                  <a:lnTo>
                    <a:pt x="500537" y="0"/>
                  </a:lnTo>
                  <a:cubicBezTo>
                    <a:pt x="519574" y="0"/>
                    <a:pt x="537831" y="7562"/>
                    <a:pt x="551292" y="21023"/>
                  </a:cubicBezTo>
                  <a:cubicBezTo>
                    <a:pt x="564753" y="34484"/>
                    <a:pt x="572316" y="52742"/>
                    <a:pt x="572316" y="71778"/>
                  </a:cubicBezTo>
                  <a:lnTo>
                    <a:pt x="572316" y="369658"/>
                  </a:lnTo>
                  <a:cubicBezTo>
                    <a:pt x="572316" y="409300"/>
                    <a:pt x="540179" y="441436"/>
                    <a:pt x="500537" y="441436"/>
                  </a:cubicBezTo>
                  <a:lnTo>
                    <a:pt x="71778" y="441436"/>
                  </a:lnTo>
                  <a:cubicBezTo>
                    <a:pt x="52742" y="441436"/>
                    <a:pt x="34484" y="433874"/>
                    <a:pt x="21023" y="420413"/>
                  </a:cubicBezTo>
                  <a:cubicBezTo>
                    <a:pt x="7562" y="406952"/>
                    <a:pt x="0" y="388695"/>
                    <a:pt x="0" y="369658"/>
                  </a:cubicBezTo>
                  <a:lnTo>
                    <a:pt x="0" y="71778"/>
                  </a:lnTo>
                  <a:cubicBezTo>
                    <a:pt x="0" y="52742"/>
                    <a:pt x="7562" y="34484"/>
                    <a:pt x="21023" y="21023"/>
                  </a:cubicBezTo>
                  <a:cubicBezTo>
                    <a:pt x="34484" y="7562"/>
                    <a:pt x="52742" y="0"/>
                    <a:pt x="71778" y="0"/>
                  </a:cubicBezTo>
                  <a:close/>
                </a:path>
              </a:pathLst>
            </a:custGeom>
            <a:blipFill>
              <a:blip r:embed="rId6"/>
              <a:stretch>
                <a:fillRect l="-8543" r="-8543"/>
              </a:stretch>
            </a:blipFill>
          </p:spPr>
        </p:sp>
      </p:grpSp>
      <p:grpSp>
        <p:nvGrpSpPr>
          <p:cNvPr id="9" name="Group 9"/>
          <p:cNvGrpSpPr/>
          <p:nvPr/>
        </p:nvGrpSpPr>
        <p:grpSpPr>
          <a:xfrm>
            <a:off x="9339925" y="4329204"/>
            <a:ext cx="3235762" cy="2495795"/>
            <a:chOff x="0" y="0"/>
            <a:chExt cx="572316" cy="441436"/>
          </a:xfrm>
        </p:grpSpPr>
        <p:sp>
          <p:nvSpPr>
            <p:cNvPr id="10" name="Freeform 10"/>
            <p:cNvSpPr/>
            <p:nvPr/>
          </p:nvSpPr>
          <p:spPr>
            <a:xfrm>
              <a:off x="0" y="0"/>
              <a:ext cx="572316" cy="441436"/>
            </a:xfrm>
            <a:custGeom>
              <a:avLst/>
              <a:gdLst/>
              <a:ahLst/>
              <a:cxnLst/>
              <a:rect l="l" t="t" r="r" b="b"/>
              <a:pathLst>
                <a:path w="572316" h="441436">
                  <a:moveTo>
                    <a:pt x="71778" y="0"/>
                  </a:moveTo>
                  <a:lnTo>
                    <a:pt x="500537" y="0"/>
                  </a:lnTo>
                  <a:cubicBezTo>
                    <a:pt x="519574" y="0"/>
                    <a:pt x="537831" y="7562"/>
                    <a:pt x="551292" y="21023"/>
                  </a:cubicBezTo>
                  <a:cubicBezTo>
                    <a:pt x="564753" y="34484"/>
                    <a:pt x="572316" y="52742"/>
                    <a:pt x="572316" y="71778"/>
                  </a:cubicBezTo>
                  <a:lnTo>
                    <a:pt x="572316" y="369658"/>
                  </a:lnTo>
                  <a:cubicBezTo>
                    <a:pt x="572316" y="409300"/>
                    <a:pt x="540179" y="441436"/>
                    <a:pt x="500537" y="441436"/>
                  </a:cubicBezTo>
                  <a:lnTo>
                    <a:pt x="71778" y="441436"/>
                  </a:lnTo>
                  <a:cubicBezTo>
                    <a:pt x="52742" y="441436"/>
                    <a:pt x="34484" y="433874"/>
                    <a:pt x="21023" y="420413"/>
                  </a:cubicBezTo>
                  <a:cubicBezTo>
                    <a:pt x="7562" y="406952"/>
                    <a:pt x="0" y="388695"/>
                    <a:pt x="0" y="369658"/>
                  </a:cubicBezTo>
                  <a:lnTo>
                    <a:pt x="0" y="71778"/>
                  </a:lnTo>
                  <a:cubicBezTo>
                    <a:pt x="0" y="52742"/>
                    <a:pt x="7562" y="34484"/>
                    <a:pt x="21023" y="21023"/>
                  </a:cubicBezTo>
                  <a:cubicBezTo>
                    <a:pt x="34484" y="7562"/>
                    <a:pt x="52742" y="0"/>
                    <a:pt x="71778" y="0"/>
                  </a:cubicBezTo>
                  <a:close/>
                </a:path>
              </a:pathLst>
            </a:custGeom>
            <a:blipFill>
              <a:blip r:embed="rId7"/>
              <a:stretch>
                <a:fillRect t="-47419" b="-47419"/>
              </a:stretch>
            </a:blipFill>
          </p:spPr>
        </p:sp>
      </p:grpSp>
      <p:grpSp>
        <p:nvGrpSpPr>
          <p:cNvPr id="11" name="Group 11"/>
          <p:cNvGrpSpPr/>
          <p:nvPr/>
        </p:nvGrpSpPr>
        <p:grpSpPr>
          <a:xfrm>
            <a:off x="12967536" y="4329204"/>
            <a:ext cx="3235762" cy="2495795"/>
            <a:chOff x="0" y="0"/>
            <a:chExt cx="572316" cy="441436"/>
          </a:xfrm>
        </p:grpSpPr>
        <p:sp>
          <p:nvSpPr>
            <p:cNvPr id="12" name="Freeform 12"/>
            <p:cNvSpPr/>
            <p:nvPr/>
          </p:nvSpPr>
          <p:spPr>
            <a:xfrm>
              <a:off x="0" y="0"/>
              <a:ext cx="572316" cy="441436"/>
            </a:xfrm>
            <a:custGeom>
              <a:avLst/>
              <a:gdLst/>
              <a:ahLst/>
              <a:cxnLst/>
              <a:rect l="l" t="t" r="r" b="b"/>
              <a:pathLst>
                <a:path w="572316" h="441436">
                  <a:moveTo>
                    <a:pt x="71778" y="0"/>
                  </a:moveTo>
                  <a:lnTo>
                    <a:pt x="500537" y="0"/>
                  </a:lnTo>
                  <a:cubicBezTo>
                    <a:pt x="519574" y="0"/>
                    <a:pt x="537831" y="7562"/>
                    <a:pt x="551292" y="21023"/>
                  </a:cubicBezTo>
                  <a:cubicBezTo>
                    <a:pt x="564753" y="34484"/>
                    <a:pt x="572316" y="52742"/>
                    <a:pt x="572316" y="71778"/>
                  </a:cubicBezTo>
                  <a:lnTo>
                    <a:pt x="572316" y="369658"/>
                  </a:lnTo>
                  <a:cubicBezTo>
                    <a:pt x="572316" y="409300"/>
                    <a:pt x="540179" y="441436"/>
                    <a:pt x="500537" y="441436"/>
                  </a:cubicBezTo>
                  <a:lnTo>
                    <a:pt x="71778" y="441436"/>
                  </a:lnTo>
                  <a:cubicBezTo>
                    <a:pt x="52742" y="441436"/>
                    <a:pt x="34484" y="433874"/>
                    <a:pt x="21023" y="420413"/>
                  </a:cubicBezTo>
                  <a:cubicBezTo>
                    <a:pt x="7562" y="406952"/>
                    <a:pt x="0" y="388695"/>
                    <a:pt x="0" y="369658"/>
                  </a:cubicBezTo>
                  <a:lnTo>
                    <a:pt x="0" y="71778"/>
                  </a:lnTo>
                  <a:cubicBezTo>
                    <a:pt x="0" y="52742"/>
                    <a:pt x="7562" y="34484"/>
                    <a:pt x="21023" y="21023"/>
                  </a:cubicBezTo>
                  <a:cubicBezTo>
                    <a:pt x="34484" y="7562"/>
                    <a:pt x="52742" y="0"/>
                    <a:pt x="71778" y="0"/>
                  </a:cubicBezTo>
                  <a:close/>
                </a:path>
              </a:pathLst>
            </a:custGeom>
            <a:blipFill>
              <a:blip r:embed="rId8"/>
              <a:stretch>
                <a:fillRect l="-7796" r="-7796"/>
              </a:stretch>
            </a:blipFill>
          </p:spPr>
        </p:sp>
      </p:grpSp>
      <p:sp>
        <p:nvSpPr>
          <p:cNvPr id="13" name="TextBox 13"/>
          <p:cNvSpPr txBox="1"/>
          <p:nvPr/>
        </p:nvSpPr>
        <p:spPr>
          <a:xfrm>
            <a:off x="1955842" y="2385645"/>
            <a:ext cx="14376316" cy="1192530"/>
          </a:xfrm>
          <a:prstGeom prst="rect">
            <a:avLst/>
          </a:prstGeom>
        </p:spPr>
        <p:txBody>
          <a:bodyPr lIns="0" tIns="0" rIns="0" bIns="0" rtlCol="0" anchor="t">
            <a:spAutoFit/>
          </a:bodyPr>
          <a:lstStyle/>
          <a:p>
            <a:pPr algn="ctr">
              <a:lnSpc>
                <a:spcPts val="9360"/>
              </a:lnSpc>
            </a:pPr>
            <a:r>
              <a:rPr lang="en-US" sz="8000" b="1">
                <a:solidFill>
                  <a:srgbClr val="FFFFFF"/>
                </a:solidFill>
                <a:latin typeface="Open Sauce Bold"/>
                <a:ea typeface="Open Sauce Bold"/>
                <a:cs typeface="Open Sauce Bold"/>
                <a:sym typeface="Open Sauce Bold"/>
              </a:rPr>
              <a:t>AI Applications in Industry</a:t>
            </a:r>
          </a:p>
        </p:txBody>
      </p:sp>
      <p:sp>
        <p:nvSpPr>
          <p:cNvPr id="14" name="TextBox 14"/>
          <p:cNvSpPr txBox="1"/>
          <p:nvPr/>
        </p:nvSpPr>
        <p:spPr>
          <a:xfrm>
            <a:off x="2142005" y="7072409"/>
            <a:ext cx="3121155" cy="449580"/>
          </a:xfrm>
          <a:prstGeom prst="rect">
            <a:avLst/>
          </a:prstGeom>
        </p:spPr>
        <p:txBody>
          <a:bodyPr lIns="0" tIns="0" rIns="0" bIns="0" rtlCol="0" anchor="t">
            <a:spAutoFit/>
          </a:bodyPr>
          <a:lstStyle/>
          <a:p>
            <a:pPr algn="ctr">
              <a:lnSpc>
                <a:spcPts val="3509"/>
              </a:lnSpc>
            </a:pPr>
            <a:r>
              <a:rPr lang="en-US" sz="2999" b="1">
                <a:solidFill>
                  <a:srgbClr val="9560FF"/>
                </a:solidFill>
                <a:latin typeface="Open Sauce Bold"/>
                <a:ea typeface="Open Sauce Bold"/>
                <a:cs typeface="Open Sauce Bold"/>
                <a:sym typeface="Open Sauce Bold"/>
              </a:rPr>
              <a:t>Healthcare</a:t>
            </a:r>
          </a:p>
        </p:txBody>
      </p:sp>
      <p:sp>
        <p:nvSpPr>
          <p:cNvPr id="15" name="TextBox 15"/>
          <p:cNvSpPr txBox="1"/>
          <p:nvPr/>
        </p:nvSpPr>
        <p:spPr>
          <a:xfrm>
            <a:off x="2084702" y="7579139"/>
            <a:ext cx="3235762" cy="5650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Disease diagnosis, drug discovery</a:t>
            </a:r>
          </a:p>
        </p:txBody>
      </p:sp>
      <p:sp>
        <p:nvSpPr>
          <p:cNvPr id="16" name="TextBox 16"/>
          <p:cNvSpPr txBox="1"/>
          <p:nvPr/>
        </p:nvSpPr>
        <p:spPr>
          <a:xfrm>
            <a:off x="5769617" y="7072409"/>
            <a:ext cx="3121155" cy="449580"/>
          </a:xfrm>
          <a:prstGeom prst="rect">
            <a:avLst/>
          </a:prstGeom>
        </p:spPr>
        <p:txBody>
          <a:bodyPr lIns="0" tIns="0" rIns="0" bIns="0" rtlCol="0" anchor="t">
            <a:spAutoFit/>
          </a:bodyPr>
          <a:lstStyle/>
          <a:p>
            <a:pPr algn="ctr">
              <a:lnSpc>
                <a:spcPts val="3509"/>
              </a:lnSpc>
            </a:pPr>
            <a:r>
              <a:rPr lang="en-US" sz="2999" b="1">
                <a:solidFill>
                  <a:srgbClr val="9560FF"/>
                </a:solidFill>
                <a:latin typeface="Open Sauce Bold"/>
                <a:ea typeface="Open Sauce Bold"/>
                <a:cs typeface="Open Sauce Bold"/>
                <a:sym typeface="Open Sauce Bold"/>
              </a:rPr>
              <a:t>Finance</a:t>
            </a:r>
          </a:p>
        </p:txBody>
      </p:sp>
      <p:sp>
        <p:nvSpPr>
          <p:cNvPr id="17" name="TextBox 17"/>
          <p:cNvSpPr txBox="1"/>
          <p:nvPr/>
        </p:nvSpPr>
        <p:spPr>
          <a:xfrm>
            <a:off x="6007016" y="7579139"/>
            <a:ext cx="2646356" cy="5650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Fraud detection, algorithmic trading.</a:t>
            </a:r>
          </a:p>
        </p:txBody>
      </p:sp>
      <p:sp>
        <p:nvSpPr>
          <p:cNvPr id="18" name="TextBox 18"/>
          <p:cNvSpPr txBox="1"/>
          <p:nvPr/>
        </p:nvSpPr>
        <p:spPr>
          <a:xfrm>
            <a:off x="9397228" y="7072409"/>
            <a:ext cx="3121155" cy="449580"/>
          </a:xfrm>
          <a:prstGeom prst="rect">
            <a:avLst/>
          </a:prstGeom>
        </p:spPr>
        <p:txBody>
          <a:bodyPr lIns="0" tIns="0" rIns="0" bIns="0" rtlCol="0" anchor="t">
            <a:spAutoFit/>
          </a:bodyPr>
          <a:lstStyle/>
          <a:p>
            <a:pPr algn="ctr">
              <a:lnSpc>
                <a:spcPts val="3509"/>
              </a:lnSpc>
            </a:pPr>
            <a:r>
              <a:rPr lang="en-US" sz="2999" b="1">
                <a:solidFill>
                  <a:srgbClr val="9560FF"/>
                </a:solidFill>
                <a:latin typeface="Open Sauce Bold"/>
                <a:ea typeface="Open Sauce Bold"/>
                <a:cs typeface="Open Sauce Bold"/>
                <a:sym typeface="Open Sauce Bold"/>
              </a:rPr>
              <a:t>Transportation</a:t>
            </a:r>
          </a:p>
        </p:txBody>
      </p:sp>
      <p:sp>
        <p:nvSpPr>
          <p:cNvPr id="19" name="TextBox 19"/>
          <p:cNvSpPr txBox="1"/>
          <p:nvPr/>
        </p:nvSpPr>
        <p:spPr>
          <a:xfrm>
            <a:off x="9980583" y="7579139"/>
            <a:ext cx="1954445" cy="5650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Autonomous vehicles</a:t>
            </a:r>
          </a:p>
        </p:txBody>
      </p:sp>
      <p:sp>
        <p:nvSpPr>
          <p:cNvPr id="20" name="TextBox 20"/>
          <p:cNvSpPr txBox="1"/>
          <p:nvPr/>
        </p:nvSpPr>
        <p:spPr>
          <a:xfrm>
            <a:off x="13024839" y="7072409"/>
            <a:ext cx="3121155" cy="449580"/>
          </a:xfrm>
          <a:prstGeom prst="rect">
            <a:avLst/>
          </a:prstGeom>
        </p:spPr>
        <p:txBody>
          <a:bodyPr lIns="0" tIns="0" rIns="0" bIns="0" rtlCol="0" anchor="t">
            <a:spAutoFit/>
          </a:bodyPr>
          <a:lstStyle/>
          <a:p>
            <a:pPr algn="ctr">
              <a:lnSpc>
                <a:spcPts val="3509"/>
              </a:lnSpc>
            </a:pPr>
            <a:r>
              <a:rPr lang="en-US" sz="2999" b="1">
                <a:solidFill>
                  <a:srgbClr val="9560FF"/>
                </a:solidFill>
                <a:latin typeface="Open Sauce Bold"/>
                <a:ea typeface="Open Sauce Bold"/>
                <a:cs typeface="Open Sauce Bold"/>
                <a:sym typeface="Open Sauce Bold"/>
              </a:rPr>
              <a:t>Entertainment</a:t>
            </a:r>
          </a:p>
        </p:txBody>
      </p:sp>
      <p:sp>
        <p:nvSpPr>
          <p:cNvPr id="21" name="TextBox 21"/>
          <p:cNvSpPr txBox="1"/>
          <p:nvPr/>
        </p:nvSpPr>
        <p:spPr>
          <a:xfrm>
            <a:off x="13505689" y="7579139"/>
            <a:ext cx="2159456" cy="5650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Content recommendation</a:t>
            </a:r>
          </a:p>
        </p:txBody>
      </p:sp>
      <p:grpSp>
        <p:nvGrpSpPr>
          <p:cNvPr id="22" name="Group 22"/>
          <p:cNvGrpSpPr/>
          <p:nvPr/>
        </p:nvGrpSpPr>
        <p:grpSpPr>
          <a:xfrm>
            <a:off x="12008017" y="804963"/>
            <a:ext cx="1399700" cy="447474"/>
            <a:chOff x="0" y="0"/>
            <a:chExt cx="1271220" cy="406400"/>
          </a:xfrm>
        </p:grpSpPr>
        <p:sp>
          <p:nvSpPr>
            <p:cNvPr id="23" name="Freeform 23"/>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24" name="TextBox 24"/>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25" name="TextBox 25"/>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26" name="TextBox 26"/>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27" name="TextBox 27"/>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503032" y="-1244549"/>
            <a:ext cx="5512535" cy="5033403"/>
          </a:xfrm>
          <a:custGeom>
            <a:avLst/>
            <a:gdLst/>
            <a:ahLst/>
            <a:cxnLst/>
            <a:rect l="l" t="t" r="r" b="b"/>
            <a:pathLst>
              <a:path w="5512535" h="5033403">
                <a:moveTo>
                  <a:pt x="0" y="0"/>
                </a:moveTo>
                <a:lnTo>
                  <a:pt x="5512536" y="0"/>
                </a:lnTo>
                <a:lnTo>
                  <a:pt x="5512536" y="5033403"/>
                </a:lnTo>
                <a:lnTo>
                  <a:pt x="0" y="5033403"/>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70172" y="6445770"/>
            <a:ext cx="5512535" cy="5033403"/>
          </a:xfrm>
          <a:custGeom>
            <a:avLst/>
            <a:gdLst/>
            <a:ahLst/>
            <a:cxnLst/>
            <a:rect l="l" t="t" r="r" b="b"/>
            <a:pathLst>
              <a:path w="5512535" h="5033403">
                <a:moveTo>
                  <a:pt x="5512535" y="5033403"/>
                </a:moveTo>
                <a:lnTo>
                  <a:pt x="0" y="5033403"/>
                </a:lnTo>
                <a:lnTo>
                  <a:pt x="0" y="0"/>
                </a:lnTo>
                <a:lnTo>
                  <a:pt x="5512535" y="0"/>
                </a:lnTo>
                <a:lnTo>
                  <a:pt x="5512535" y="5033403"/>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28700" y="3854853"/>
            <a:ext cx="2908307" cy="3395646"/>
            <a:chOff x="0" y="0"/>
            <a:chExt cx="765974" cy="894326"/>
          </a:xfrm>
        </p:grpSpPr>
        <p:sp>
          <p:nvSpPr>
            <p:cNvPr id="5" name="Freeform 5"/>
            <p:cNvSpPr/>
            <p:nvPr/>
          </p:nvSpPr>
          <p:spPr>
            <a:xfrm>
              <a:off x="0" y="0"/>
              <a:ext cx="765974" cy="894326"/>
            </a:xfrm>
            <a:custGeom>
              <a:avLst/>
              <a:gdLst/>
              <a:ahLst/>
              <a:cxnLst/>
              <a:rect l="l" t="t" r="r" b="b"/>
              <a:pathLst>
                <a:path w="765974" h="894326">
                  <a:moveTo>
                    <a:pt x="55902" y="0"/>
                  </a:moveTo>
                  <a:lnTo>
                    <a:pt x="710072" y="0"/>
                  </a:lnTo>
                  <a:cubicBezTo>
                    <a:pt x="724898" y="0"/>
                    <a:pt x="739117" y="5890"/>
                    <a:pt x="749600" y="16373"/>
                  </a:cubicBezTo>
                  <a:cubicBezTo>
                    <a:pt x="760084" y="26857"/>
                    <a:pt x="765974" y="41076"/>
                    <a:pt x="765974" y="55902"/>
                  </a:cubicBezTo>
                  <a:lnTo>
                    <a:pt x="765974" y="838424"/>
                  </a:lnTo>
                  <a:cubicBezTo>
                    <a:pt x="765974" y="853251"/>
                    <a:pt x="760084" y="867469"/>
                    <a:pt x="749600" y="877953"/>
                  </a:cubicBezTo>
                  <a:cubicBezTo>
                    <a:pt x="739117" y="888437"/>
                    <a:pt x="724898" y="894326"/>
                    <a:pt x="710072" y="894326"/>
                  </a:cubicBezTo>
                  <a:lnTo>
                    <a:pt x="55902" y="894326"/>
                  </a:lnTo>
                  <a:cubicBezTo>
                    <a:pt x="41076" y="894326"/>
                    <a:pt x="26857" y="888437"/>
                    <a:pt x="16373" y="877953"/>
                  </a:cubicBezTo>
                  <a:cubicBezTo>
                    <a:pt x="5890" y="867469"/>
                    <a:pt x="0" y="853251"/>
                    <a:pt x="0" y="838424"/>
                  </a:cubicBezTo>
                  <a:lnTo>
                    <a:pt x="0" y="55902"/>
                  </a:lnTo>
                  <a:cubicBezTo>
                    <a:pt x="0" y="41076"/>
                    <a:pt x="5890" y="26857"/>
                    <a:pt x="16373" y="16373"/>
                  </a:cubicBezTo>
                  <a:cubicBezTo>
                    <a:pt x="26857" y="5890"/>
                    <a:pt x="41076" y="0"/>
                    <a:pt x="55902" y="0"/>
                  </a:cubicBezTo>
                  <a:close/>
                </a:path>
              </a:pathLst>
            </a:custGeom>
            <a:solidFill>
              <a:srgbClr val="000000">
                <a:alpha val="40000"/>
              </a:srgbClr>
            </a:solidFill>
            <a:ln w="28575" cap="rnd">
              <a:gradFill>
                <a:gsLst>
                  <a:gs pos="0">
                    <a:srgbClr val="9560FF">
                      <a:alpha val="0"/>
                    </a:srgbClr>
                  </a:gs>
                  <a:gs pos="100000">
                    <a:srgbClr val="9560FF">
                      <a:alpha val="40000"/>
                    </a:srgbClr>
                  </a:gs>
                </a:gsLst>
                <a:lin ang="5400000"/>
              </a:gradFill>
              <a:prstDash val="solid"/>
              <a:round/>
            </a:ln>
          </p:spPr>
        </p:sp>
        <p:sp>
          <p:nvSpPr>
            <p:cNvPr id="6" name="TextBox 6"/>
            <p:cNvSpPr txBox="1"/>
            <p:nvPr/>
          </p:nvSpPr>
          <p:spPr>
            <a:xfrm>
              <a:off x="0" y="-57150"/>
              <a:ext cx="765974" cy="951476"/>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377366" y="5667921"/>
            <a:ext cx="256459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Efficiency</a:t>
            </a:r>
          </a:p>
        </p:txBody>
      </p:sp>
      <p:sp>
        <p:nvSpPr>
          <p:cNvPr id="8" name="TextBox 8"/>
          <p:cNvSpPr txBox="1"/>
          <p:nvPr/>
        </p:nvSpPr>
        <p:spPr>
          <a:xfrm>
            <a:off x="1377366" y="6174651"/>
            <a:ext cx="2564590" cy="850773"/>
          </a:xfrm>
          <a:prstGeom prst="rect">
            <a:avLst/>
          </a:prstGeom>
        </p:spPr>
        <p:txBody>
          <a:bodyPr lIns="0" tIns="0" rIns="0" bIns="0" rtlCol="0" anchor="t">
            <a:spAutoFit/>
          </a:bodyPr>
          <a:lstStyle/>
          <a:p>
            <a:pPr algn="l">
              <a:lnSpc>
                <a:spcPts val="2286"/>
              </a:lnSpc>
            </a:pPr>
            <a:r>
              <a:rPr lang="en-US" sz="1800">
                <a:solidFill>
                  <a:srgbClr val="FFFBF7"/>
                </a:solidFill>
                <a:latin typeface="Open Sauce"/>
                <a:ea typeface="Open Sauce"/>
                <a:cs typeface="Open Sauce"/>
                <a:sym typeface="Open Sauce"/>
              </a:rPr>
              <a:t>Automates repetitive tasks, boosts productivity</a:t>
            </a:r>
          </a:p>
        </p:txBody>
      </p:sp>
      <p:grpSp>
        <p:nvGrpSpPr>
          <p:cNvPr id="9" name="Group 9"/>
          <p:cNvGrpSpPr/>
          <p:nvPr/>
        </p:nvGrpSpPr>
        <p:grpSpPr>
          <a:xfrm>
            <a:off x="3937007" y="3854853"/>
            <a:ext cx="2908307" cy="3395646"/>
            <a:chOff x="0" y="0"/>
            <a:chExt cx="765974" cy="894326"/>
          </a:xfrm>
        </p:grpSpPr>
        <p:sp>
          <p:nvSpPr>
            <p:cNvPr id="10" name="Freeform 10"/>
            <p:cNvSpPr/>
            <p:nvPr/>
          </p:nvSpPr>
          <p:spPr>
            <a:xfrm>
              <a:off x="0" y="0"/>
              <a:ext cx="765974" cy="894326"/>
            </a:xfrm>
            <a:custGeom>
              <a:avLst/>
              <a:gdLst/>
              <a:ahLst/>
              <a:cxnLst/>
              <a:rect l="l" t="t" r="r" b="b"/>
              <a:pathLst>
                <a:path w="765974" h="894326">
                  <a:moveTo>
                    <a:pt x="55902" y="0"/>
                  </a:moveTo>
                  <a:lnTo>
                    <a:pt x="710072" y="0"/>
                  </a:lnTo>
                  <a:cubicBezTo>
                    <a:pt x="724898" y="0"/>
                    <a:pt x="739117" y="5890"/>
                    <a:pt x="749600" y="16373"/>
                  </a:cubicBezTo>
                  <a:cubicBezTo>
                    <a:pt x="760084" y="26857"/>
                    <a:pt x="765974" y="41076"/>
                    <a:pt x="765974" y="55902"/>
                  </a:cubicBezTo>
                  <a:lnTo>
                    <a:pt x="765974" y="838424"/>
                  </a:lnTo>
                  <a:cubicBezTo>
                    <a:pt x="765974" y="853251"/>
                    <a:pt x="760084" y="867469"/>
                    <a:pt x="749600" y="877953"/>
                  </a:cubicBezTo>
                  <a:cubicBezTo>
                    <a:pt x="739117" y="888437"/>
                    <a:pt x="724898" y="894326"/>
                    <a:pt x="710072" y="894326"/>
                  </a:cubicBezTo>
                  <a:lnTo>
                    <a:pt x="55902" y="894326"/>
                  </a:lnTo>
                  <a:cubicBezTo>
                    <a:pt x="41076" y="894326"/>
                    <a:pt x="26857" y="888437"/>
                    <a:pt x="16373" y="877953"/>
                  </a:cubicBezTo>
                  <a:cubicBezTo>
                    <a:pt x="5890" y="867469"/>
                    <a:pt x="0" y="853251"/>
                    <a:pt x="0" y="838424"/>
                  </a:cubicBezTo>
                  <a:lnTo>
                    <a:pt x="0" y="55902"/>
                  </a:lnTo>
                  <a:cubicBezTo>
                    <a:pt x="0" y="41076"/>
                    <a:pt x="5890" y="26857"/>
                    <a:pt x="16373" y="16373"/>
                  </a:cubicBezTo>
                  <a:cubicBezTo>
                    <a:pt x="26857" y="5890"/>
                    <a:pt x="41076" y="0"/>
                    <a:pt x="55902" y="0"/>
                  </a:cubicBezTo>
                  <a:close/>
                </a:path>
              </a:pathLst>
            </a:custGeom>
            <a:solidFill>
              <a:srgbClr val="000000">
                <a:alpha val="40000"/>
              </a:srgbClr>
            </a:solidFill>
            <a:ln w="28575" cap="rnd">
              <a:gradFill>
                <a:gsLst>
                  <a:gs pos="0">
                    <a:srgbClr val="9560FF">
                      <a:alpha val="0"/>
                    </a:srgbClr>
                  </a:gs>
                  <a:gs pos="100000">
                    <a:srgbClr val="9560FF">
                      <a:alpha val="40000"/>
                    </a:srgbClr>
                  </a:gs>
                </a:gsLst>
                <a:lin ang="5400000"/>
              </a:gradFill>
              <a:prstDash val="solid"/>
              <a:round/>
            </a:ln>
          </p:spPr>
        </p:sp>
        <p:sp>
          <p:nvSpPr>
            <p:cNvPr id="11" name="TextBox 11"/>
            <p:cNvSpPr txBox="1"/>
            <p:nvPr/>
          </p:nvSpPr>
          <p:spPr>
            <a:xfrm>
              <a:off x="0" y="-57150"/>
              <a:ext cx="765974" cy="951476"/>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4285672" y="5667921"/>
            <a:ext cx="256459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Innovation</a:t>
            </a:r>
          </a:p>
        </p:txBody>
      </p:sp>
      <p:grpSp>
        <p:nvGrpSpPr>
          <p:cNvPr id="13" name="Group 13"/>
          <p:cNvGrpSpPr/>
          <p:nvPr/>
        </p:nvGrpSpPr>
        <p:grpSpPr>
          <a:xfrm>
            <a:off x="6845313" y="3854853"/>
            <a:ext cx="2908307" cy="3395646"/>
            <a:chOff x="0" y="0"/>
            <a:chExt cx="765974" cy="894326"/>
          </a:xfrm>
        </p:grpSpPr>
        <p:sp>
          <p:nvSpPr>
            <p:cNvPr id="14" name="Freeform 14"/>
            <p:cNvSpPr/>
            <p:nvPr/>
          </p:nvSpPr>
          <p:spPr>
            <a:xfrm>
              <a:off x="0" y="0"/>
              <a:ext cx="765974" cy="894326"/>
            </a:xfrm>
            <a:custGeom>
              <a:avLst/>
              <a:gdLst/>
              <a:ahLst/>
              <a:cxnLst/>
              <a:rect l="l" t="t" r="r" b="b"/>
              <a:pathLst>
                <a:path w="765974" h="894326">
                  <a:moveTo>
                    <a:pt x="55902" y="0"/>
                  </a:moveTo>
                  <a:lnTo>
                    <a:pt x="710072" y="0"/>
                  </a:lnTo>
                  <a:cubicBezTo>
                    <a:pt x="724898" y="0"/>
                    <a:pt x="739117" y="5890"/>
                    <a:pt x="749600" y="16373"/>
                  </a:cubicBezTo>
                  <a:cubicBezTo>
                    <a:pt x="760084" y="26857"/>
                    <a:pt x="765974" y="41076"/>
                    <a:pt x="765974" y="55902"/>
                  </a:cubicBezTo>
                  <a:lnTo>
                    <a:pt x="765974" y="838424"/>
                  </a:lnTo>
                  <a:cubicBezTo>
                    <a:pt x="765974" y="853251"/>
                    <a:pt x="760084" y="867469"/>
                    <a:pt x="749600" y="877953"/>
                  </a:cubicBezTo>
                  <a:cubicBezTo>
                    <a:pt x="739117" y="888437"/>
                    <a:pt x="724898" y="894326"/>
                    <a:pt x="710072" y="894326"/>
                  </a:cubicBezTo>
                  <a:lnTo>
                    <a:pt x="55902" y="894326"/>
                  </a:lnTo>
                  <a:cubicBezTo>
                    <a:pt x="41076" y="894326"/>
                    <a:pt x="26857" y="888437"/>
                    <a:pt x="16373" y="877953"/>
                  </a:cubicBezTo>
                  <a:cubicBezTo>
                    <a:pt x="5890" y="867469"/>
                    <a:pt x="0" y="853251"/>
                    <a:pt x="0" y="838424"/>
                  </a:cubicBezTo>
                  <a:lnTo>
                    <a:pt x="0" y="55902"/>
                  </a:lnTo>
                  <a:cubicBezTo>
                    <a:pt x="0" y="41076"/>
                    <a:pt x="5890" y="26857"/>
                    <a:pt x="16373" y="16373"/>
                  </a:cubicBezTo>
                  <a:cubicBezTo>
                    <a:pt x="26857" y="5890"/>
                    <a:pt x="41076" y="0"/>
                    <a:pt x="55902" y="0"/>
                  </a:cubicBezTo>
                  <a:close/>
                </a:path>
              </a:pathLst>
            </a:custGeom>
            <a:solidFill>
              <a:srgbClr val="000000">
                <a:alpha val="40000"/>
              </a:srgbClr>
            </a:solidFill>
            <a:ln w="28575" cap="rnd">
              <a:gradFill>
                <a:gsLst>
                  <a:gs pos="0">
                    <a:srgbClr val="9560FF">
                      <a:alpha val="0"/>
                    </a:srgbClr>
                  </a:gs>
                  <a:gs pos="100000">
                    <a:srgbClr val="9560FF">
                      <a:alpha val="40000"/>
                    </a:srgbClr>
                  </a:gs>
                </a:gsLst>
                <a:lin ang="5400000"/>
              </a:gradFill>
              <a:prstDash val="solid"/>
              <a:round/>
            </a:ln>
          </p:spPr>
        </p:sp>
        <p:sp>
          <p:nvSpPr>
            <p:cNvPr id="15" name="TextBox 15"/>
            <p:cNvSpPr txBox="1"/>
            <p:nvPr/>
          </p:nvSpPr>
          <p:spPr>
            <a:xfrm>
              <a:off x="0" y="-57150"/>
              <a:ext cx="765974" cy="951476"/>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7193979" y="5667921"/>
            <a:ext cx="256459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Accessibility</a:t>
            </a:r>
          </a:p>
        </p:txBody>
      </p:sp>
      <p:grpSp>
        <p:nvGrpSpPr>
          <p:cNvPr id="17" name="Group 17"/>
          <p:cNvGrpSpPr/>
          <p:nvPr/>
        </p:nvGrpSpPr>
        <p:grpSpPr>
          <a:xfrm>
            <a:off x="9753620" y="3854853"/>
            <a:ext cx="2908307" cy="3395646"/>
            <a:chOff x="0" y="0"/>
            <a:chExt cx="765974" cy="894326"/>
          </a:xfrm>
        </p:grpSpPr>
        <p:sp>
          <p:nvSpPr>
            <p:cNvPr id="18" name="Freeform 18"/>
            <p:cNvSpPr/>
            <p:nvPr/>
          </p:nvSpPr>
          <p:spPr>
            <a:xfrm>
              <a:off x="0" y="0"/>
              <a:ext cx="765974" cy="894326"/>
            </a:xfrm>
            <a:custGeom>
              <a:avLst/>
              <a:gdLst/>
              <a:ahLst/>
              <a:cxnLst/>
              <a:rect l="l" t="t" r="r" b="b"/>
              <a:pathLst>
                <a:path w="765974" h="894326">
                  <a:moveTo>
                    <a:pt x="55902" y="0"/>
                  </a:moveTo>
                  <a:lnTo>
                    <a:pt x="710072" y="0"/>
                  </a:lnTo>
                  <a:cubicBezTo>
                    <a:pt x="724898" y="0"/>
                    <a:pt x="739117" y="5890"/>
                    <a:pt x="749600" y="16373"/>
                  </a:cubicBezTo>
                  <a:cubicBezTo>
                    <a:pt x="760084" y="26857"/>
                    <a:pt x="765974" y="41076"/>
                    <a:pt x="765974" y="55902"/>
                  </a:cubicBezTo>
                  <a:lnTo>
                    <a:pt x="765974" y="838424"/>
                  </a:lnTo>
                  <a:cubicBezTo>
                    <a:pt x="765974" y="853251"/>
                    <a:pt x="760084" y="867469"/>
                    <a:pt x="749600" y="877953"/>
                  </a:cubicBezTo>
                  <a:cubicBezTo>
                    <a:pt x="739117" y="888437"/>
                    <a:pt x="724898" y="894326"/>
                    <a:pt x="710072" y="894326"/>
                  </a:cubicBezTo>
                  <a:lnTo>
                    <a:pt x="55902" y="894326"/>
                  </a:lnTo>
                  <a:cubicBezTo>
                    <a:pt x="41076" y="894326"/>
                    <a:pt x="26857" y="888437"/>
                    <a:pt x="16373" y="877953"/>
                  </a:cubicBezTo>
                  <a:cubicBezTo>
                    <a:pt x="5890" y="867469"/>
                    <a:pt x="0" y="853251"/>
                    <a:pt x="0" y="838424"/>
                  </a:cubicBezTo>
                  <a:lnTo>
                    <a:pt x="0" y="55902"/>
                  </a:lnTo>
                  <a:cubicBezTo>
                    <a:pt x="0" y="41076"/>
                    <a:pt x="5890" y="26857"/>
                    <a:pt x="16373" y="16373"/>
                  </a:cubicBezTo>
                  <a:cubicBezTo>
                    <a:pt x="26857" y="5890"/>
                    <a:pt x="41076" y="0"/>
                    <a:pt x="55902" y="0"/>
                  </a:cubicBezTo>
                  <a:close/>
                </a:path>
              </a:pathLst>
            </a:custGeom>
            <a:solidFill>
              <a:srgbClr val="000000">
                <a:alpha val="40000"/>
              </a:srgbClr>
            </a:solidFill>
            <a:ln w="28575" cap="rnd">
              <a:gradFill>
                <a:gsLst>
                  <a:gs pos="0">
                    <a:srgbClr val="9560FF">
                      <a:alpha val="0"/>
                    </a:srgbClr>
                  </a:gs>
                  <a:gs pos="100000">
                    <a:srgbClr val="9560FF">
                      <a:alpha val="40000"/>
                    </a:srgbClr>
                  </a:gs>
                </a:gsLst>
                <a:lin ang="5400000"/>
              </a:gradFill>
              <a:prstDash val="solid"/>
              <a:round/>
            </a:ln>
          </p:spPr>
        </p:sp>
        <p:sp>
          <p:nvSpPr>
            <p:cNvPr id="19" name="TextBox 19"/>
            <p:cNvSpPr txBox="1"/>
            <p:nvPr/>
          </p:nvSpPr>
          <p:spPr>
            <a:xfrm>
              <a:off x="0" y="-57150"/>
              <a:ext cx="765974" cy="951476"/>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3522469" y="1790573"/>
            <a:ext cx="3736831" cy="3574092"/>
            <a:chOff x="0" y="0"/>
            <a:chExt cx="822405" cy="786590"/>
          </a:xfrm>
        </p:grpSpPr>
        <p:sp>
          <p:nvSpPr>
            <p:cNvPr id="21" name="Freeform 21"/>
            <p:cNvSpPr/>
            <p:nvPr/>
          </p:nvSpPr>
          <p:spPr>
            <a:xfrm>
              <a:off x="0" y="0"/>
              <a:ext cx="822405" cy="786590"/>
            </a:xfrm>
            <a:custGeom>
              <a:avLst/>
              <a:gdLst/>
              <a:ahLst/>
              <a:cxnLst/>
              <a:rect l="l" t="t" r="r" b="b"/>
              <a:pathLst>
                <a:path w="822405" h="786590">
                  <a:moveTo>
                    <a:pt x="124307" y="0"/>
                  </a:moveTo>
                  <a:lnTo>
                    <a:pt x="698098" y="0"/>
                  </a:lnTo>
                  <a:cubicBezTo>
                    <a:pt x="731067" y="0"/>
                    <a:pt x="762685" y="13097"/>
                    <a:pt x="785997" y="36409"/>
                  </a:cubicBezTo>
                  <a:cubicBezTo>
                    <a:pt x="809309" y="59721"/>
                    <a:pt x="822405" y="91339"/>
                    <a:pt x="822405" y="124307"/>
                  </a:cubicBezTo>
                  <a:lnTo>
                    <a:pt x="822405" y="662282"/>
                  </a:lnTo>
                  <a:cubicBezTo>
                    <a:pt x="822405" y="695251"/>
                    <a:pt x="809309" y="726869"/>
                    <a:pt x="785997" y="750181"/>
                  </a:cubicBezTo>
                  <a:cubicBezTo>
                    <a:pt x="762685" y="773493"/>
                    <a:pt x="731067" y="786590"/>
                    <a:pt x="698098" y="786590"/>
                  </a:cubicBezTo>
                  <a:lnTo>
                    <a:pt x="124307" y="786590"/>
                  </a:lnTo>
                  <a:cubicBezTo>
                    <a:pt x="91339" y="786590"/>
                    <a:pt x="59721" y="773493"/>
                    <a:pt x="36409" y="750181"/>
                  </a:cubicBezTo>
                  <a:cubicBezTo>
                    <a:pt x="13097" y="726869"/>
                    <a:pt x="0" y="695251"/>
                    <a:pt x="0" y="662282"/>
                  </a:cubicBezTo>
                  <a:lnTo>
                    <a:pt x="0" y="124307"/>
                  </a:lnTo>
                  <a:cubicBezTo>
                    <a:pt x="0" y="91339"/>
                    <a:pt x="13097" y="59721"/>
                    <a:pt x="36409" y="36409"/>
                  </a:cubicBezTo>
                  <a:cubicBezTo>
                    <a:pt x="59721" y="13097"/>
                    <a:pt x="91339" y="0"/>
                    <a:pt x="124307" y="0"/>
                  </a:cubicBezTo>
                  <a:close/>
                </a:path>
              </a:pathLst>
            </a:custGeom>
            <a:blipFill>
              <a:blip r:embed="rId4"/>
              <a:stretch>
                <a:fillRect l="-13763" r="-13763"/>
              </a:stretch>
            </a:blipFill>
          </p:spPr>
        </p:sp>
      </p:grpSp>
      <p:grpSp>
        <p:nvGrpSpPr>
          <p:cNvPr id="22" name="Group 22"/>
          <p:cNvGrpSpPr/>
          <p:nvPr/>
        </p:nvGrpSpPr>
        <p:grpSpPr>
          <a:xfrm>
            <a:off x="13522469" y="5684208"/>
            <a:ext cx="3736831" cy="3574092"/>
            <a:chOff x="0" y="0"/>
            <a:chExt cx="822405" cy="786590"/>
          </a:xfrm>
        </p:grpSpPr>
        <p:sp>
          <p:nvSpPr>
            <p:cNvPr id="23" name="Freeform 23"/>
            <p:cNvSpPr/>
            <p:nvPr/>
          </p:nvSpPr>
          <p:spPr>
            <a:xfrm>
              <a:off x="0" y="0"/>
              <a:ext cx="822405" cy="786590"/>
            </a:xfrm>
            <a:custGeom>
              <a:avLst/>
              <a:gdLst/>
              <a:ahLst/>
              <a:cxnLst/>
              <a:rect l="l" t="t" r="r" b="b"/>
              <a:pathLst>
                <a:path w="822405" h="786590">
                  <a:moveTo>
                    <a:pt x="124307" y="0"/>
                  </a:moveTo>
                  <a:lnTo>
                    <a:pt x="698098" y="0"/>
                  </a:lnTo>
                  <a:cubicBezTo>
                    <a:pt x="731067" y="0"/>
                    <a:pt x="762685" y="13097"/>
                    <a:pt x="785997" y="36409"/>
                  </a:cubicBezTo>
                  <a:cubicBezTo>
                    <a:pt x="809309" y="59721"/>
                    <a:pt x="822405" y="91339"/>
                    <a:pt x="822405" y="124307"/>
                  </a:cubicBezTo>
                  <a:lnTo>
                    <a:pt x="822405" y="662282"/>
                  </a:lnTo>
                  <a:cubicBezTo>
                    <a:pt x="822405" y="695251"/>
                    <a:pt x="809309" y="726869"/>
                    <a:pt x="785997" y="750181"/>
                  </a:cubicBezTo>
                  <a:cubicBezTo>
                    <a:pt x="762685" y="773493"/>
                    <a:pt x="731067" y="786590"/>
                    <a:pt x="698098" y="786590"/>
                  </a:cubicBezTo>
                  <a:lnTo>
                    <a:pt x="124307" y="786590"/>
                  </a:lnTo>
                  <a:cubicBezTo>
                    <a:pt x="91339" y="786590"/>
                    <a:pt x="59721" y="773493"/>
                    <a:pt x="36409" y="750181"/>
                  </a:cubicBezTo>
                  <a:cubicBezTo>
                    <a:pt x="13097" y="726869"/>
                    <a:pt x="0" y="695251"/>
                    <a:pt x="0" y="662282"/>
                  </a:cubicBezTo>
                  <a:lnTo>
                    <a:pt x="0" y="124307"/>
                  </a:lnTo>
                  <a:cubicBezTo>
                    <a:pt x="0" y="91339"/>
                    <a:pt x="13097" y="59721"/>
                    <a:pt x="36409" y="36409"/>
                  </a:cubicBezTo>
                  <a:cubicBezTo>
                    <a:pt x="59721" y="13097"/>
                    <a:pt x="91339" y="0"/>
                    <a:pt x="124307" y="0"/>
                  </a:cubicBezTo>
                  <a:close/>
                </a:path>
              </a:pathLst>
            </a:custGeom>
            <a:blipFill>
              <a:blip r:embed="rId5"/>
              <a:stretch>
                <a:fillRect l="-1643" r="-41645"/>
              </a:stretch>
            </a:blipFill>
          </p:spPr>
        </p:sp>
      </p:grpSp>
      <p:sp>
        <p:nvSpPr>
          <p:cNvPr id="24" name="Freeform 24"/>
          <p:cNvSpPr/>
          <p:nvPr/>
        </p:nvSpPr>
        <p:spPr>
          <a:xfrm>
            <a:off x="1453168" y="4334979"/>
            <a:ext cx="1029686" cy="1029686"/>
          </a:xfrm>
          <a:custGeom>
            <a:avLst/>
            <a:gdLst/>
            <a:ahLst/>
            <a:cxnLst/>
            <a:rect l="l" t="t" r="r" b="b"/>
            <a:pathLst>
              <a:path w="1029686" h="1029686">
                <a:moveTo>
                  <a:pt x="0" y="0"/>
                </a:moveTo>
                <a:lnTo>
                  <a:pt x="1029685" y="0"/>
                </a:lnTo>
                <a:lnTo>
                  <a:pt x="1029685" y="1029686"/>
                </a:lnTo>
                <a:lnTo>
                  <a:pt x="0" y="10296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 name="Freeform 25"/>
          <p:cNvSpPr/>
          <p:nvPr/>
        </p:nvSpPr>
        <p:spPr>
          <a:xfrm>
            <a:off x="4361474" y="4334979"/>
            <a:ext cx="1029686" cy="1029686"/>
          </a:xfrm>
          <a:custGeom>
            <a:avLst/>
            <a:gdLst/>
            <a:ahLst/>
            <a:cxnLst/>
            <a:rect l="l" t="t" r="r" b="b"/>
            <a:pathLst>
              <a:path w="1029686" h="1029686">
                <a:moveTo>
                  <a:pt x="0" y="0"/>
                </a:moveTo>
                <a:lnTo>
                  <a:pt x="1029686" y="0"/>
                </a:lnTo>
                <a:lnTo>
                  <a:pt x="1029686" y="1029686"/>
                </a:lnTo>
                <a:lnTo>
                  <a:pt x="0" y="10296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6" name="Freeform 26"/>
          <p:cNvSpPr/>
          <p:nvPr/>
        </p:nvSpPr>
        <p:spPr>
          <a:xfrm>
            <a:off x="7273938" y="4334979"/>
            <a:ext cx="857447" cy="1029686"/>
          </a:xfrm>
          <a:custGeom>
            <a:avLst/>
            <a:gdLst/>
            <a:ahLst/>
            <a:cxnLst/>
            <a:rect l="l" t="t" r="r" b="b"/>
            <a:pathLst>
              <a:path w="857447" h="1029686">
                <a:moveTo>
                  <a:pt x="0" y="0"/>
                </a:moveTo>
                <a:lnTo>
                  <a:pt x="857448" y="0"/>
                </a:lnTo>
                <a:lnTo>
                  <a:pt x="857448" y="1029686"/>
                </a:lnTo>
                <a:lnTo>
                  <a:pt x="0" y="10296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7" name="Freeform 27"/>
          <p:cNvSpPr/>
          <p:nvPr/>
        </p:nvSpPr>
        <p:spPr>
          <a:xfrm>
            <a:off x="10097336" y="4334979"/>
            <a:ext cx="967905" cy="1029686"/>
          </a:xfrm>
          <a:custGeom>
            <a:avLst/>
            <a:gdLst/>
            <a:ahLst/>
            <a:cxnLst/>
            <a:rect l="l" t="t" r="r" b="b"/>
            <a:pathLst>
              <a:path w="967905" h="1029686">
                <a:moveTo>
                  <a:pt x="0" y="0"/>
                </a:moveTo>
                <a:lnTo>
                  <a:pt x="967905" y="0"/>
                </a:lnTo>
                <a:lnTo>
                  <a:pt x="967905" y="1029686"/>
                </a:lnTo>
                <a:lnTo>
                  <a:pt x="0" y="102968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8" name="TextBox 28"/>
          <p:cNvSpPr txBox="1"/>
          <p:nvPr/>
        </p:nvSpPr>
        <p:spPr>
          <a:xfrm>
            <a:off x="1028700" y="1809623"/>
            <a:ext cx="7822916" cy="11925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Benefits of AI</a:t>
            </a:r>
          </a:p>
        </p:txBody>
      </p:sp>
      <p:sp>
        <p:nvSpPr>
          <p:cNvPr id="29" name="TextBox 29"/>
          <p:cNvSpPr txBox="1"/>
          <p:nvPr/>
        </p:nvSpPr>
        <p:spPr>
          <a:xfrm>
            <a:off x="4285672" y="6174651"/>
            <a:ext cx="1597301" cy="850773"/>
          </a:xfrm>
          <a:prstGeom prst="rect">
            <a:avLst/>
          </a:prstGeom>
        </p:spPr>
        <p:txBody>
          <a:bodyPr lIns="0" tIns="0" rIns="0" bIns="0" rtlCol="0" anchor="t">
            <a:spAutoFit/>
          </a:bodyPr>
          <a:lstStyle/>
          <a:p>
            <a:pPr algn="l">
              <a:lnSpc>
                <a:spcPts val="2286"/>
              </a:lnSpc>
            </a:pPr>
            <a:r>
              <a:rPr lang="en-US" sz="1800">
                <a:solidFill>
                  <a:srgbClr val="FFFBF7"/>
                </a:solidFill>
                <a:latin typeface="Open Sauce"/>
                <a:ea typeface="Open Sauce"/>
                <a:cs typeface="Open Sauce"/>
                <a:sym typeface="Open Sauce"/>
              </a:rPr>
              <a:t>Solves complex problems</a:t>
            </a:r>
          </a:p>
        </p:txBody>
      </p:sp>
      <p:sp>
        <p:nvSpPr>
          <p:cNvPr id="30" name="TextBox 30"/>
          <p:cNvSpPr txBox="1"/>
          <p:nvPr/>
        </p:nvSpPr>
        <p:spPr>
          <a:xfrm>
            <a:off x="7193979" y="6174651"/>
            <a:ext cx="1417340" cy="850773"/>
          </a:xfrm>
          <a:prstGeom prst="rect">
            <a:avLst/>
          </a:prstGeom>
        </p:spPr>
        <p:txBody>
          <a:bodyPr lIns="0" tIns="0" rIns="0" bIns="0" rtlCol="0" anchor="t">
            <a:spAutoFit/>
          </a:bodyPr>
          <a:lstStyle/>
          <a:p>
            <a:pPr algn="l">
              <a:lnSpc>
                <a:spcPts val="2286"/>
              </a:lnSpc>
            </a:pPr>
            <a:r>
              <a:rPr lang="en-US" sz="1800">
                <a:solidFill>
                  <a:srgbClr val="FFFBF7"/>
                </a:solidFill>
                <a:latin typeface="Open Sauce"/>
                <a:ea typeface="Open Sauce"/>
                <a:cs typeface="Open Sauce"/>
                <a:sym typeface="Open Sauce"/>
              </a:rPr>
              <a:t>Aids disabled individuals</a:t>
            </a:r>
          </a:p>
        </p:txBody>
      </p:sp>
      <p:sp>
        <p:nvSpPr>
          <p:cNvPr id="31" name="TextBox 31"/>
          <p:cNvSpPr txBox="1"/>
          <p:nvPr/>
        </p:nvSpPr>
        <p:spPr>
          <a:xfrm>
            <a:off x="10097336" y="5667921"/>
            <a:ext cx="256459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Economic</a:t>
            </a:r>
          </a:p>
        </p:txBody>
      </p:sp>
      <p:sp>
        <p:nvSpPr>
          <p:cNvPr id="32" name="TextBox 32"/>
          <p:cNvSpPr txBox="1"/>
          <p:nvPr/>
        </p:nvSpPr>
        <p:spPr>
          <a:xfrm>
            <a:off x="10097336" y="6174651"/>
            <a:ext cx="2114688" cy="850773"/>
          </a:xfrm>
          <a:prstGeom prst="rect">
            <a:avLst/>
          </a:prstGeom>
        </p:spPr>
        <p:txBody>
          <a:bodyPr lIns="0" tIns="0" rIns="0" bIns="0" rtlCol="0" anchor="t">
            <a:spAutoFit/>
          </a:bodyPr>
          <a:lstStyle/>
          <a:p>
            <a:pPr algn="l">
              <a:lnSpc>
                <a:spcPts val="2286"/>
              </a:lnSpc>
            </a:pPr>
            <a:r>
              <a:rPr lang="en-US" sz="1800">
                <a:solidFill>
                  <a:srgbClr val="FFFBF7"/>
                </a:solidFill>
                <a:latin typeface="Open Sauce"/>
                <a:ea typeface="Open Sauce"/>
                <a:cs typeface="Open Sauce"/>
                <a:sym typeface="Open Sauce"/>
              </a:rPr>
              <a:t>Projected to add $15.7 trillion to global</a:t>
            </a:r>
          </a:p>
        </p:txBody>
      </p:sp>
      <p:sp>
        <p:nvSpPr>
          <p:cNvPr id="33" name="TextBox 33"/>
          <p:cNvSpPr txBox="1"/>
          <p:nvPr/>
        </p:nvSpPr>
        <p:spPr>
          <a:xfrm>
            <a:off x="1028700" y="8098224"/>
            <a:ext cx="11527991" cy="274306"/>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@powerpointrus</a:t>
            </a:r>
            <a:endParaRPr lang="en-US" sz="1800" dirty="0">
              <a:solidFill>
                <a:srgbClr val="FFFBF7"/>
              </a:solidFill>
              <a:latin typeface="Open Sauce"/>
              <a:ea typeface="Open Sauce"/>
              <a:cs typeface="Open Sauce"/>
              <a:sym typeface="Open Sauce"/>
            </a:endParaRPr>
          </a:p>
        </p:txBody>
      </p:sp>
      <p:grpSp>
        <p:nvGrpSpPr>
          <p:cNvPr id="34" name="Group 34"/>
          <p:cNvGrpSpPr/>
          <p:nvPr/>
        </p:nvGrpSpPr>
        <p:grpSpPr>
          <a:xfrm>
            <a:off x="12008017" y="804963"/>
            <a:ext cx="1399700" cy="447474"/>
            <a:chOff x="0" y="0"/>
            <a:chExt cx="1271220" cy="406400"/>
          </a:xfrm>
        </p:grpSpPr>
        <p:sp>
          <p:nvSpPr>
            <p:cNvPr id="35" name="Freeform 35"/>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36" name="TextBox 36"/>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37" name="TextBox 37"/>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38" name="TextBox 38"/>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39" name="TextBox 39"/>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50886" y="-2049095"/>
            <a:ext cx="9964777" cy="9098671"/>
          </a:xfrm>
          <a:custGeom>
            <a:avLst/>
            <a:gdLst/>
            <a:ahLst/>
            <a:cxnLst/>
            <a:rect l="l" t="t" r="r" b="b"/>
            <a:pathLst>
              <a:path w="9964777" h="9098671">
                <a:moveTo>
                  <a:pt x="0" y="0"/>
                </a:moveTo>
                <a:lnTo>
                  <a:pt x="9964777" y="0"/>
                </a:lnTo>
                <a:lnTo>
                  <a:pt x="9964777" y="9098671"/>
                </a:lnTo>
                <a:lnTo>
                  <a:pt x="0" y="90986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3327663" y="3237424"/>
            <a:ext cx="9964777" cy="9098671"/>
          </a:xfrm>
          <a:custGeom>
            <a:avLst/>
            <a:gdLst/>
            <a:ahLst/>
            <a:cxnLst/>
            <a:rect l="l" t="t" r="r" b="b"/>
            <a:pathLst>
              <a:path w="9964777" h="9098671">
                <a:moveTo>
                  <a:pt x="9964777" y="9098671"/>
                </a:moveTo>
                <a:lnTo>
                  <a:pt x="0" y="9098671"/>
                </a:lnTo>
                <a:lnTo>
                  <a:pt x="0" y="0"/>
                </a:lnTo>
                <a:lnTo>
                  <a:pt x="9964777" y="0"/>
                </a:lnTo>
                <a:lnTo>
                  <a:pt x="9964777" y="9098671"/>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4" name="Freeform 4"/>
          <p:cNvSpPr/>
          <p:nvPr/>
        </p:nvSpPr>
        <p:spPr>
          <a:xfrm rot="-9385474">
            <a:off x="3222282" y="4265516"/>
            <a:ext cx="13054145" cy="14633324"/>
          </a:xfrm>
          <a:custGeom>
            <a:avLst/>
            <a:gdLst/>
            <a:ahLst/>
            <a:cxnLst/>
            <a:rect l="l" t="t" r="r" b="b"/>
            <a:pathLst>
              <a:path w="13054145" h="14633324">
                <a:moveTo>
                  <a:pt x="0" y="0"/>
                </a:moveTo>
                <a:lnTo>
                  <a:pt x="13054144" y="0"/>
                </a:lnTo>
                <a:lnTo>
                  <a:pt x="13054144" y="14633324"/>
                </a:lnTo>
                <a:lnTo>
                  <a:pt x="0" y="14633324"/>
                </a:lnTo>
                <a:lnTo>
                  <a:pt x="0" y="0"/>
                </a:lnTo>
                <a:close/>
              </a:path>
            </a:pathLst>
          </a:custGeom>
          <a:blipFill>
            <a:blip r:embed="rId4"/>
            <a:stretch>
              <a:fillRect/>
            </a:stretch>
          </a:blipFill>
        </p:spPr>
      </p:sp>
      <p:grpSp>
        <p:nvGrpSpPr>
          <p:cNvPr id="5" name="Group 5"/>
          <p:cNvGrpSpPr/>
          <p:nvPr/>
        </p:nvGrpSpPr>
        <p:grpSpPr>
          <a:xfrm>
            <a:off x="9463127" y="4349197"/>
            <a:ext cx="6065396" cy="1254855"/>
            <a:chOff x="0" y="0"/>
            <a:chExt cx="1597471" cy="330497"/>
          </a:xfrm>
        </p:grpSpPr>
        <p:sp>
          <p:nvSpPr>
            <p:cNvPr id="6" name="Freeform 6"/>
            <p:cNvSpPr/>
            <p:nvPr/>
          </p:nvSpPr>
          <p:spPr>
            <a:xfrm>
              <a:off x="0" y="0"/>
              <a:ext cx="1597471" cy="330497"/>
            </a:xfrm>
            <a:custGeom>
              <a:avLst/>
              <a:gdLst/>
              <a:ahLst/>
              <a:cxnLst/>
              <a:rect l="l" t="t" r="r" b="b"/>
              <a:pathLst>
                <a:path w="1597471" h="330497">
                  <a:moveTo>
                    <a:pt x="63820" y="0"/>
                  </a:moveTo>
                  <a:lnTo>
                    <a:pt x="1533650" y="0"/>
                  </a:lnTo>
                  <a:cubicBezTo>
                    <a:pt x="1568897" y="0"/>
                    <a:pt x="1597471" y="28573"/>
                    <a:pt x="1597471" y="63820"/>
                  </a:cubicBezTo>
                  <a:lnTo>
                    <a:pt x="1597471" y="266676"/>
                  </a:lnTo>
                  <a:cubicBezTo>
                    <a:pt x="1597471" y="283603"/>
                    <a:pt x="1590747" y="299836"/>
                    <a:pt x="1578778" y="311804"/>
                  </a:cubicBezTo>
                  <a:cubicBezTo>
                    <a:pt x="1566809" y="323773"/>
                    <a:pt x="1550577" y="330497"/>
                    <a:pt x="1533650" y="330497"/>
                  </a:cubicBezTo>
                  <a:lnTo>
                    <a:pt x="63820" y="330497"/>
                  </a:lnTo>
                  <a:cubicBezTo>
                    <a:pt x="46894" y="330497"/>
                    <a:pt x="30661" y="323773"/>
                    <a:pt x="18693" y="311804"/>
                  </a:cubicBezTo>
                  <a:cubicBezTo>
                    <a:pt x="6724" y="299836"/>
                    <a:pt x="0" y="283603"/>
                    <a:pt x="0" y="266676"/>
                  </a:cubicBezTo>
                  <a:lnTo>
                    <a:pt x="0" y="63820"/>
                  </a:lnTo>
                  <a:cubicBezTo>
                    <a:pt x="0" y="46894"/>
                    <a:pt x="6724" y="30661"/>
                    <a:pt x="18693" y="18693"/>
                  </a:cubicBezTo>
                  <a:cubicBezTo>
                    <a:pt x="30661" y="6724"/>
                    <a:pt x="46894" y="0"/>
                    <a:pt x="63820"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7" name="TextBox 7"/>
            <p:cNvSpPr txBox="1"/>
            <p:nvPr/>
          </p:nvSpPr>
          <p:spPr>
            <a:xfrm>
              <a:off x="0" y="-57150"/>
              <a:ext cx="1597471" cy="38764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463127" y="5670727"/>
            <a:ext cx="6065396" cy="1254855"/>
            <a:chOff x="0" y="0"/>
            <a:chExt cx="1597471" cy="330497"/>
          </a:xfrm>
        </p:grpSpPr>
        <p:sp>
          <p:nvSpPr>
            <p:cNvPr id="9" name="Freeform 9"/>
            <p:cNvSpPr/>
            <p:nvPr/>
          </p:nvSpPr>
          <p:spPr>
            <a:xfrm>
              <a:off x="0" y="0"/>
              <a:ext cx="1597471" cy="330497"/>
            </a:xfrm>
            <a:custGeom>
              <a:avLst/>
              <a:gdLst/>
              <a:ahLst/>
              <a:cxnLst/>
              <a:rect l="l" t="t" r="r" b="b"/>
              <a:pathLst>
                <a:path w="1597471" h="330497">
                  <a:moveTo>
                    <a:pt x="63820" y="0"/>
                  </a:moveTo>
                  <a:lnTo>
                    <a:pt x="1533650" y="0"/>
                  </a:lnTo>
                  <a:cubicBezTo>
                    <a:pt x="1568897" y="0"/>
                    <a:pt x="1597471" y="28573"/>
                    <a:pt x="1597471" y="63820"/>
                  </a:cubicBezTo>
                  <a:lnTo>
                    <a:pt x="1597471" y="266676"/>
                  </a:lnTo>
                  <a:cubicBezTo>
                    <a:pt x="1597471" y="283603"/>
                    <a:pt x="1590747" y="299836"/>
                    <a:pt x="1578778" y="311804"/>
                  </a:cubicBezTo>
                  <a:cubicBezTo>
                    <a:pt x="1566809" y="323773"/>
                    <a:pt x="1550577" y="330497"/>
                    <a:pt x="1533650" y="330497"/>
                  </a:cubicBezTo>
                  <a:lnTo>
                    <a:pt x="63820" y="330497"/>
                  </a:lnTo>
                  <a:cubicBezTo>
                    <a:pt x="46894" y="330497"/>
                    <a:pt x="30661" y="323773"/>
                    <a:pt x="18693" y="311804"/>
                  </a:cubicBezTo>
                  <a:cubicBezTo>
                    <a:pt x="6724" y="299836"/>
                    <a:pt x="0" y="283603"/>
                    <a:pt x="0" y="266676"/>
                  </a:cubicBezTo>
                  <a:lnTo>
                    <a:pt x="0" y="63820"/>
                  </a:lnTo>
                  <a:cubicBezTo>
                    <a:pt x="0" y="46894"/>
                    <a:pt x="6724" y="30661"/>
                    <a:pt x="18693" y="18693"/>
                  </a:cubicBezTo>
                  <a:cubicBezTo>
                    <a:pt x="30661" y="6724"/>
                    <a:pt x="46894" y="0"/>
                    <a:pt x="63820"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10" name="TextBox 10"/>
            <p:cNvSpPr txBox="1"/>
            <p:nvPr/>
          </p:nvSpPr>
          <p:spPr>
            <a:xfrm>
              <a:off x="0" y="-57150"/>
              <a:ext cx="1597471" cy="38764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463127" y="6992257"/>
            <a:ext cx="6065396" cy="1254855"/>
            <a:chOff x="0" y="0"/>
            <a:chExt cx="1597471" cy="330497"/>
          </a:xfrm>
        </p:grpSpPr>
        <p:sp>
          <p:nvSpPr>
            <p:cNvPr id="12" name="Freeform 12"/>
            <p:cNvSpPr/>
            <p:nvPr/>
          </p:nvSpPr>
          <p:spPr>
            <a:xfrm>
              <a:off x="0" y="0"/>
              <a:ext cx="1597471" cy="330497"/>
            </a:xfrm>
            <a:custGeom>
              <a:avLst/>
              <a:gdLst/>
              <a:ahLst/>
              <a:cxnLst/>
              <a:rect l="l" t="t" r="r" b="b"/>
              <a:pathLst>
                <a:path w="1597471" h="330497">
                  <a:moveTo>
                    <a:pt x="63820" y="0"/>
                  </a:moveTo>
                  <a:lnTo>
                    <a:pt x="1533650" y="0"/>
                  </a:lnTo>
                  <a:cubicBezTo>
                    <a:pt x="1568897" y="0"/>
                    <a:pt x="1597471" y="28573"/>
                    <a:pt x="1597471" y="63820"/>
                  </a:cubicBezTo>
                  <a:lnTo>
                    <a:pt x="1597471" y="266676"/>
                  </a:lnTo>
                  <a:cubicBezTo>
                    <a:pt x="1597471" y="283603"/>
                    <a:pt x="1590747" y="299836"/>
                    <a:pt x="1578778" y="311804"/>
                  </a:cubicBezTo>
                  <a:cubicBezTo>
                    <a:pt x="1566809" y="323773"/>
                    <a:pt x="1550577" y="330497"/>
                    <a:pt x="1533650" y="330497"/>
                  </a:cubicBezTo>
                  <a:lnTo>
                    <a:pt x="63820" y="330497"/>
                  </a:lnTo>
                  <a:cubicBezTo>
                    <a:pt x="46894" y="330497"/>
                    <a:pt x="30661" y="323773"/>
                    <a:pt x="18693" y="311804"/>
                  </a:cubicBezTo>
                  <a:cubicBezTo>
                    <a:pt x="6724" y="299836"/>
                    <a:pt x="0" y="283603"/>
                    <a:pt x="0" y="266676"/>
                  </a:cubicBezTo>
                  <a:lnTo>
                    <a:pt x="0" y="63820"/>
                  </a:lnTo>
                  <a:cubicBezTo>
                    <a:pt x="0" y="46894"/>
                    <a:pt x="6724" y="30661"/>
                    <a:pt x="18693" y="18693"/>
                  </a:cubicBezTo>
                  <a:cubicBezTo>
                    <a:pt x="30661" y="6724"/>
                    <a:pt x="46894" y="0"/>
                    <a:pt x="63820"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13" name="TextBox 13"/>
            <p:cNvSpPr txBox="1"/>
            <p:nvPr/>
          </p:nvSpPr>
          <p:spPr>
            <a:xfrm>
              <a:off x="0" y="-57150"/>
              <a:ext cx="1597471" cy="38764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9463127" y="8313787"/>
            <a:ext cx="6065396" cy="1254855"/>
            <a:chOff x="0" y="0"/>
            <a:chExt cx="1597471" cy="330497"/>
          </a:xfrm>
        </p:grpSpPr>
        <p:sp>
          <p:nvSpPr>
            <p:cNvPr id="15" name="Freeform 15"/>
            <p:cNvSpPr/>
            <p:nvPr/>
          </p:nvSpPr>
          <p:spPr>
            <a:xfrm>
              <a:off x="0" y="0"/>
              <a:ext cx="1597471" cy="330497"/>
            </a:xfrm>
            <a:custGeom>
              <a:avLst/>
              <a:gdLst/>
              <a:ahLst/>
              <a:cxnLst/>
              <a:rect l="l" t="t" r="r" b="b"/>
              <a:pathLst>
                <a:path w="1597471" h="330497">
                  <a:moveTo>
                    <a:pt x="63820" y="0"/>
                  </a:moveTo>
                  <a:lnTo>
                    <a:pt x="1533650" y="0"/>
                  </a:lnTo>
                  <a:cubicBezTo>
                    <a:pt x="1568897" y="0"/>
                    <a:pt x="1597471" y="28573"/>
                    <a:pt x="1597471" y="63820"/>
                  </a:cubicBezTo>
                  <a:lnTo>
                    <a:pt x="1597471" y="266676"/>
                  </a:lnTo>
                  <a:cubicBezTo>
                    <a:pt x="1597471" y="283603"/>
                    <a:pt x="1590747" y="299836"/>
                    <a:pt x="1578778" y="311804"/>
                  </a:cubicBezTo>
                  <a:cubicBezTo>
                    <a:pt x="1566809" y="323773"/>
                    <a:pt x="1550577" y="330497"/>
                    <a:pt x="1533650" y="330497"/>
                  </a:cubicBezTo>
                  <a:lnTo>
                    <a:pt x="63820" y="330497"/>
                  </a:lnTo>
                  <a:cubicBezTo>
                    <a:pt x="46894" y="330497"/>
                    <a:pt x="30661" y="323773"/>
                    <a:pt x="18693" y="311804"/>
                  </a:cubicBezTo>
                  <a:cubicBezTo>
                    <a:pt x="6724" y="299836"/>
                    <a:pt x="0" y="283603"/>
                    <a:pt x="0" y="266676"/>
                  </a:cubicBezTo>
                  <a:lnTo>
                    <a:pt x="0" y="63820"/>
                  </a:lnTo>
                  <a:cubicBezTo>
                    <a:pt x="0" y="46894"/>
                    <a:pt x="6724" y="30661"/>
                    <a:pt x="18693" y="18693"/>
                  </a:cubicBezTo>
                  <a:cubicBezTo>
                    <a:pt x="30661" y="6724"/>
                    <a:pt x="46894" y="0"/>
                    <a:pt x="63820"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16" name="TextBox 16"/>
            <p:cNvSpPr txBox="1"/>
            <p:nvPr/>
          </p:nvSpPr>
          <p:spPr>
            <a:xfrm>
              <a:off x="0" y="-57150"/>
              <a:ext cx="1597471" cy="387647"/>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403584" y="785566"/>
            <a:ext cx="7159116" cy="8783076"/>
            <a:chOff x="0" y="0"/>
            <a:chExt cx="572316" cy="702139"/>
          </a:xfrm>
        </p:grpSpPr>
        <p:sp>
          <p:nvSpPr>
            <p:cNvPr id="18" name="Freeform 18"/>
            <p:cNvSpPr/>
            <p:nvPr/>
          </p:nvSpPr>
          <p:spPr>
            <a:xfrm>
              <a:off x="0" y="0"/>
              <a:ext cx="572316" cy="702139"/>
            </a:xfrm>
            <a:custGeom>
              <a:avLst/>
              <a:gdLst/>
              <a:ahLst/>
              <a:cxnLst/>
              <a:rect l="l" t="t" r="r" b="b"/>
              <a:pathLst>
                <a:path w="572316" h="702139">
                  <a:moveTo>
                    <a:pt x="32442" y="0"/>
                  </a:moveTo>
                  <a:lnTo>
                    <a:pt x="539873" y="0"/>
                  </a:lnTo>
                  <a:cubicBezTo>
                    <a:pt x="557791" y="0"/>
                    <a:pt x="572316" y="14525"/>
                    <a:pt x="572316" y="32442"/>
                  </a:cubicBezTo>
                  <a:lnTo>
                    <a:pt x="572316" y="669696"/>
                  </a:lnTo>
                  <a:cubicBezTo>
                    <a:pt x="572316" y="687614"/>
                    <a:pt x="557791" y="702139"/>
                    <a:pt x="539873" y="702139"/>
                  </a:cubicBezTo>
                  <a:lnTo>
                    <a:pt x="32442" y="702139"/>
                  </a:lnTo>
                  <a:cubicBezTo>
                    <a:pt x="14525" y="702139"/>
                    <a:pt x="0" y="687614"/>
                    <a:pt x="0" y="669696"/>
                  </a:cubicBezTo>
                  <a:lnTo>
                    <a:pt x="0" y="32442"/>
                  </a:lnTo>
                  <a:cubicBezTo>
                    <a:pt x="0" y="14525"/>
                    <a:pt x="14525" y="0"/>
                    <a:pt x="32442" y="0"/>
                  </a:cubicBezTo>
                  <a:close/>
                </a:path>
              </a:pathLst>
            </a:custGeom>
            <a:blipFill>
              <a:blip r:embed="rId5"/>
              <a:stretch>
                <a:fillRect t="-11170" b="-11170"/>
              </a:stretch>
            </a:blipFill>
          </p:spPr>
        </p:sp>
      </p:grpSp>
      <p:sp>
        <p:nvSpPr>
          <p:cNvPr id="19" name="TextBox 19"/>
          <p:cNvSpPr txBox="1"/>
          <p:nvPr/>
        </p:nvSpPr>
        <p:spPr>
          <a:xfrm>
            <a:off x="9463127" y="1659800"/>
            <a:ext cx="6489481" cy="23736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Challenges and Risks</a:t>
            </a:r>
          </a:p>
        </p:txBody>
      </p:sp>
      <p:sp>
        <p:nvSpPr>
          <p:cNvPr id="20" name="TextBox 20"/>
          <p:cNvSpPr txBox="1"/>
          <p:nvPr/>
        </p:nvSpPr>
        <p:spPr>
          <a:xfrm>
            <a:off x="11045684" y="4573987"/>
            <a:ext cx="272822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Technical</a:t>
            </a:r>
          </a:p>
        </p:txBody>
      </p:sp>
      <p:sp>
        <p:nvSpPr>
          <p:cNvPr id="21" name="TextBox 21"/>
          <p:cNvSpPr txBox="1"/>
          <p:nvPr/>
        </p:nvSpPr>
        <p:spPr>
          <a:xfrm>
            <a:off x="11045684" y="5080716"/>
            <a:ext cx="4190402" cy="2792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Data bias, high computational costs.</a:t>
            </a:r>
          </a:p>
        </p:txBody>
      </p:sp>
      <p:sp>
        <p:nvSpPr>
          <p:cNvPr id="22" name="TextBox 22"/>
          <p:cNvSpPr txBox="1"/>
          <p:nvPr/>
        </p:nvSpPr>
        <p:spPr>
          <a:xfrm>
            <a:off x="9902576" y="4583512"/>
            <a:ext cx="1143109" cy="752475"/>
          </a:xfrm>
          <a:prstGeom prst="rect">
            <a:avLst/>
          </a:prstGeom>
        </p:spPr>
        <p:txBody>
          <a:bodyPr lIns="0" tIns="0" rIns="0" bIns="0" rtlCol="0" anchor="t">
            <a:spAutoFit/>
          </a:bodyPr>
          <a:lstStyle/>
          <a:p>
            <a:pPr algn="l">
              <a:lnSpc>
                <a:spcPts val="5850"/>
              </a:lnSpc>
            </a:pPr>
            <a:r>
              <a:rPr lang="en-US" sz="5000" b="1">
                <a:solidFill>
                  <a:srgbClr val="9560FF"/>
                </a:solidFill>
                <a:latin typeface="Open Sauce Bold"/>
                <a:ea typeface="Open Sauce Bold"/>
                <a:cs typeface="Open Sauce Bold"/>
                <a:sym typeface="Open Sauce Bold"/>
              </a:rPr>
              <a:t>01.</a:t>
            </a:r>
          </a:p>
        </p:txBody>
      </p:sp>
      <p:sp>
        <p:nvSpPr>
          <p:cNvPr id="23" name="TextBox 23"/>
          <p:cNvSpPr txBox="1"/>
          <p:nvPr/>
        </p:nvSpPr>
        <p:spPr>
          <a:xfrm>
            <a:off x="11045684" y="5895517"/>
            <a:ext cx="272822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Societal</a:t>
            </a:r>
          </a:p>
        </p:txBody>
      </p:sp>
      <p:sp>
        <p:nvSpPr>
          <p:cNvPr id="24" name="TextBox 24"/>
          <p:cNvSpPr txBox="1"/>
          <p:nvPr/>
        </p:nvSpPr>
        <p:spPr>
          <a:xfrm>
            <a:off x="11045684" y="6402247"/>
            <a:ext cx="4190402" cy="2792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Job displacement, privacy concerns.</a:t>
            </a:r>
          </a:p>
        </p:txBody>
      </p:sp>
      <p:sp>
        <p:nvSpPr>
          <p:cNvPr id="25" name="TextBox 25"/>
          <p:cNvSpPr txBox="1"/>
          <p:nvPr/>
        </p:nvSpPr>
        <p:spPr>
          <a:xfrm>
            <a:off x="9902576" y="5905042"/>
            <a:ext cx="1143109" cy="752475"/>
          </a:xfrm>
          <a:prstGeom prst="rect">
            <a:avLst/>
          </a:prstGeom>
        </p:spPr>
        <p:txBody>
          <a:bodyPr lIns="0" tIns="0" rIns="0" bIns="0" rtlCol="0" anchor="t">
            <a:spAutoFit/>
          </a:bodyPr>
          <a:lstStyle/>
          <a:p>
            <a:pPr algn="l">
              <a:lnSpc>
                <a:spcPts val="5850"/>
              </a:lnSpc>
            </a:pPr>
            <a:r>
              <a:rPr lang="en-US" sz="5000" b="1">
                <a:solidFill>
                  <a:srgbClr val="9560FF"/>
                </a:solidFill>
                <a:latin typeface="Open Sauce Bold"/>
                <a:ea typeface="Open Sauce Bold"/>
                <a:cs typeface="Open Sauce Bold"/>
                <a:sym typeface="Open Sauce Bold"/>
              </a:rPr>
              <a:t>02.</a:t>
            </a:r>
          </a:p>
        </p:txBody>
      </p:sp>
      <p:sp>
        <p:nvSpPr>
          <p:cNvPr id="26" name="TextBox 26"/>
          <p:cNvSpPr txBox="1"/>
          <p:nvPr/>
        </p:nvSpPr>
        <p:spPr>
          <a:xfrm>
            <a:off x="11045684" y="7217047"/>
            <a:ext cx="272822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Security</a:t>
            </a:r>
          </a:p>
        </p:txBody>
      </p:sp>
      <p:sp>
        <p:nvSpPr>
          <p:cNvPr id="27" name="TextBox 27"/>
          <p:cNvSpPr txBox="1"/>
          <p:nvPr/>
        </p:nvSpPr>
        <p:spPr>
          <a:xfrm>
            <a:off x="11045684" y="7723777"/>
            <a:ext cx="4190402" cy="2792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AI in cyberattacks or deepfakes.</a:t>
            </a:r>
          </a:p>
        </p:txBody>
      </p:sp>
      <p:sp>
        <p:nvSpPr>
          <p:cNvPr id="28" name="TextBox 28"/>
          <p:cNvSpPr txBox="1"/>
          <p:nvPr/>
        </p:nvSpPr>
        <p:spPr>
          <a:xfrm>
            <a:off x="9902576" y="7226572"/>
            <a:ext cx="1143109" cy="752475"/>
          </a:xfrm>
          <a:prstGeom prst="rect">
            <a:avLst/>
          </a:prstGeom>
        </p:spPr>
        <p:txBody>
          <a:bodyPr lIns="0" tIns="0" rIns="0" bIns="0" rtlCol="0" anchor="t">
            <a:spAutoFit/>
          </a:bodyPr>
          <a:lstStyle/>
          <a:p>
            <a:pPr algn="l">
              <a:lnSpc>
                <a:spcPts val="5850"/>
              </a:lnSpc>
            </a:pPr>
            <a:r>
              <a:rPr lang="en-US" sz="5000" b="1">
                <a:solidFill>
                  <a:srgbClr val="9560FF"/>
                </a:solidFill>
                <a:latin typeface="Open Sauce Bold"/>
                <a:ea typeface="Open Sauce Bold"/>
                <a:cs typeface="Open Sauce Bold"/>
                <a:sym typeface="Open Sauce Bold"/>
              </a:rPr>
              <a:t>03.</a:t>
            </a:r>
          </a:p>
        </p:txBody>
      </p:sp>
      <p:sp>
        <p:nvSpPr>
          <p:cNvPr id="29" name="TextBox 29"/>
          <p:cNvSpPr txBox="1"/>
          <p:nvPr/>
        </p:nvSpPr>
        <p:spPr>
          <a:xfrm>
            <a:off x="11045684" y="8538577"/>
            <a:ext cx="2728220" cy="449580"/>
          </a:xfrm>
          <a:prstGeom prst="rect">
            <a:avLst/>
          </a:prstGeom>
        </p:spPr>
        <p:txBody>
          <a:bodyPr lIns="0" tIns="0" rIns="0" bIns="0" rtlCol="0" anchor="t">
            <a:spAutoFit/>
          </a:bodyPr>
          <a:lstStyle/>
          <a:p>
            <a:pPr algn="l">
              <a:lnSpc>
                <a:spcPts val="3509"/>
              </a:lnSpc>
            </a:pPr>
            <a:r>
              <a:rPr lang="en-US" sz="2999" b="1">
                <a:solidFill>
                  <a:srgbClr val="9560FF"/>
                </a:solidFill>
                <a:latin typeface="Open Sauce Bold"/>
                <a:ea typeface="Open Sauce Bold"/>
                <a:cs typeface="Open Sauce Bold"/>
                <a:sym typeface="Open Sauce Bold"/>
              </a:rPr>
              <a:t>Existential</a:t>
            </a:r>
          </a:p>
        </p:txBody>
      </p:sp>
      <p:sp>
        <p:nvSpPr>
          <p:cNvPr id="30" name="TextBox 30"/>
          <p:cNvSpPr txBox="1"/>
          <p:nvPr/>
        </p:nvSpPr>
        <p:spPr>
          <a:xfrm>
            <a:off x="11045684" y="9045307"/>
            <a:ext cx="4190402" cy="2792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Uncontrolled super AI</a:t>
            </a:r>
          </a:p>
        </p:txBody>
      </p:sp>
      <p:sp>
        <p:nvSpPr>
          <p:cNvPr id="31" name="TextBox 31"/>
          <p:cNvSpPr txBox="1"/>
          <p:nvPr/>
        </p:nvSpPr>
        <p:spPr>
          <a:xfrm>
            <a:off x="9902576" y="8548102"/>
            <a:ext cx="1143109" cy="752475"/>
          </a:xfrm>
          <a:prstGeom prst="rect">
            <a:avLst/>
          </a:prstGeom>
        </p:spPr>
        <p:txBody>
          <a:bodyPr lIns="0" tIns="0" rIns="0" bIns="0" rtlCol="0" anchor="t">
            <a:spAutoFit/>
          </a:bodyPr>
          <a:lstStyle/>
          <a:p>
            <a:pPr algn="l">
              <a:lnSpc>
                <a:spcPts val="5850"/>
              </a:lnSpc>
            </a:pPr>
            <a:r>
              <a:rPr lang="en-US" sz="5000" b="1">
                <a:solidFill>
                  <a:srgbClr val="9560FF"/>
                </a:solidFill>
                <a:latin typeface="Open Sauce Bold"/>
                <a:ea typeface="Open Sauce Bold"/>
                <a:cs typeface="Open Sauce Bold"/>
                <a:sym typeface="Open Sauce Bold"/>
              </a:rPr>
              <a:t>04.</a:t>
            </a:r>
          </a:p>
        </p:txBody>
      </p:sp>
      <p:grpSp>
        <p:nvGrpSpPr>
          <p:cNvPr id="32" name="Group 32"/>
          <p:cNvGrpSpPr/>
          <p:nvPr/>
        </p:nvGrpSpPr>
        <p:grpSpPr>
          <a:xfrm>
            <a:off x="12008017" y="804963"/>
            <a:ext cx="1399700" cy="447474"/>
            <a:chOff x="0" y="0"/>
            <a:chExt cx="1271220" cy="406400"/>
          </a:xfrm>
        </p:grpSpPr>
        <p:sp>
          <p:nvSpPr>
            <p:cNvPr id="33" name="Freeform 33"/>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34" name="TextBox 34"/>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35" name="TextBox 35"/>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36" name="TextBox 36"/>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37" name="TextBox 37"/>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503032" y="-1244549"/>
            <a:ext cx="5512535" cy="5033403"/>
          </a:xfrm>
          <a:custGeom>
            <a:avLst/>
            <a:gdLst/>
            <a:ahLst/>
            <a:cxnLst/>
            <a:rect l="l" t="t" r="r" b="b"/>
            <a:pathLst>
              <a:path w="5512535" h="5033403">
                <a:moveTo>
                  <a:pt x="0" y="0"/>
                </a:moveTo>
                <a:lnTo>
                  <a:pt x="5512536" y="0"/>
                </a:lnTo>
                <a:lnTo>
                  <a:pt x="5512536" y="5033403"/>
                </a:lnTo>
                <a:lnTo>
                  <a:pt x="0" y="5033403"/>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70172" y="6445770"/>
            <a:ext cx="5512535" cy="5033403"/>
          </a:xfrm>
          <a:custGeom>
            <a:avLst/>
            <a:gdLst/>
            <a:ahLst/>
            <a:cxnLst/>
            <a:rect l="l" t="t" r="r" b="b"/>
            <a:pathLst>
              <a:path w="5512535" h="5033403">
                <a:moveTo>
                  <a:pt x="5512535" y="5033403"/>
                </a:moveTo>
                <a:lnTo>
                  <a:pt x="0" y="5033403"/>
                </a:lnTo>
                <a:lnTo>
                  <a:pt x="0" y="0"/>
                </a:lnTo>
                <a:lnTo>
                  <a:pt x="5512535" y="0"/>
                </a:lnTo>
                <a:lnTo>
                  <a:pt x="5512535" y="5033403"/>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4" name="Freeform 4"/>
          <p:cNvSpPr/>
          <p:nvPr/>
        </p:nvSpPr>
        <p:spPr>
          <a:xfrm rot="-9385474">
            <a:off x="2381557" y="3368069"/>
            <a:ext cx="13054145" cy="14633324"/>
          </a:xfrm>
          <a:custGeom>
            <a:avLst/>
            <a:gdLst/>
            <a:ahLst/>
            <a:cxnLst/>
            <a:rect l="l" t="t" r="r" b="b"/>
            <a:pathLst>
              <a:path w="13054145" h="14633324">
                <a:moveTo>
                  <a:pt x="0" y="0"/>
                </a:moveTo>
                <a:lnTo>
                  <a:pt x="13054144" y="0"/>
                </a:lnTo>
                <a:lnTo>
                  <a:pt x="13054144" y="14633325"/>
                </a:lnTo>
                <a:lnTo>
                  <a:pt x="0" y="14633325"/>
                </a:lnTo>
                <a:lnTo>
                  <a:pt x="0" y="0"/>
                </a:lnTo>
                <a:close/>
              </a:path>
            </a:pathLst>
          </a:custGeom>
          <a:blipFill>
            <a:blip r:embed="rId4"/>
            <a:stretch>
              <a:fillRect/>
            </a:stretch>
          </a:blipFill>
        </p:spPr>
      </p:sp>
      <p:grpSp>
        <p:nvGrpSpPr>
          <p:cNvPr id="5" name="Group 5"/>
          <p:cNvGrpSpPr/>
          <p:nvPr/>
        </p:nvGrpSpPr>
        <p:grpSpPr>
          <a:xfrm>
            <a:off x="9327898" y="2181690"/>
            <a:ext cx="3775070" cy="7076610"/>
            <a:chOff x="0" y="0"/>
            <a:chExt cx="529471" cy="992526"/>
          </a:xfrm>
        </p:grpSpPr>
        <p:sp>
          <p:nvSpPr>
            <p:cNvPr id="6" name="Freeform 6"/>
            <p:cNvSpPr/>
            <p:nvPr/>
          </p:nvSpPr>
          <p:spPr>
            <a:xfrm>
              <a:off x="0" y="0"/>
              <a:ext cx="529471" cy="992526"/>
            </a:xfrm>
            <a:custGeom>
              <a:avLst/>
              <a:gdLst/>
              <a:ahLst/>
              <a:cxnLst/>
              <a:rect l="l" t="t" r="r" b="b"/>
              <a:pathLst>
                <a:path w="529471" h="992526">
                  <a:moveTo>
                    <a:pt x="123048" y="0"/>
                  </a:moveTo>
                  <a:lnTo>
                    <a:pt x="406422" y="0"/>
                  </a:lnTo>
                  <a:cubicBezTo>
                    <a:pt x="474380" y="0"/>
                    <a:pt x="529471" y="55091"/>
                    <a:pt x="529471" y="123048"/>
                  </a:cubicBezTo>
                  <a:lnTo>
                    <a:pt x="529471" y="869478"/>
                  </a:lnTo>
                  <a:cubicBezTo>
                    <a:pt x="529471" y="902113"/>
                    <a:pt x="516507" y="933410"/>
                    <a:pt x="493431" y="956486"/>
                  </a:cubicBezTo>
                  <a:cubicBezTo>
                    <a:pt x="470355" y="979562"/>
                    <a:pt x="439057" y="992526"/>
                    <a:pt x="406422" y="992526"/>
                  </a:cubicBezTo>
                  <a:lnTo>
                    <a:pt x="123048" y="992526"/>
                  </a:lnTo>
                  <a:cubicBezTo>
                    <a:pt x="90414" y="992526"/>
                    <a:pt x="59116" y="979562"/>
                    <a:pt x="36040" y="956486"/>
                  </a:cubicBezTo>
                  <a:cubicBezTo>
                    <a:pt x="12964" y="933410"/>
                    <a:pt x="0" y="902113"/>
                    <a:pt x="0" y="869478"/>
                  </a:cubicBezTo>
                  <a:lnTo>
                    <a:pt x="0" y="123048"/>
                  </a:lnTo>
                  <a:cubicBezTo>
                    <a:pt x="0" y="55091"/>
                    <a:pt x="55091" y="0"/>
                    <a:pt x="123048" y="0"/>
                  </a:cubicBezTo>
                  <a:close/>
                </a:path>
              </a:pathLst>
            </a:custGeom>
            <a:blipFill>
              <a:blip r:embed="rId5"/>
              <a:stretch>
                <a:fillRect l="-90464" r="-90464"/>
              </a:stretch>
            </a:blipFill>
          </p:spPr>
        </p:sp>
      </p:grpSp>
      <p:grpSp>
        <p:nvGrpSpPr>
          <p:cNvPr id="7" name="Group 7"/>
          <p:cNvGrpSpPr/>
          <p:nvPr/>
        </p:nvGrpSpPr>
        <p:grpSpPr>
          <a:xfrm>
            <a:off x="13484230" y="2181690"/>
            <a:ext cx="3775070" cy="7076610"/>
            <a:chOff x="0" y="0"/>
            <a:chExt cx="529471" cy="992526"/>
          </a:xfrm>
        </p:grpSpPr>
        <p:sp>
          <p:nvSpPr>
            <p:cNvPr id="8" name="Freeform 8"/>
            <p:cNvSpPr/>
            <p:nvPr/>
          </p:nvSpPr>
          <p:spPr>
            <a:xfrm>
              <a:off x="0" y="0"/>
              <a:ext cx="529471" cy="992526"/>
            </a:xfrm>
            <a:custGeom>
              <a:avLst/>
              <a:gdLst/>
              <a:ahLst/>
              <a:cxnLst/>
              <a:rect l="l" t="t" r="r" b="b"/>
              <a:pathLst>
                <a:path w="529471" h="992526">
                  <a:moveTo>
                    <a:pt x="123048" y="0"/>
                  </a:moveTo>
                  <a:lnTo>
                    <a:pt x="406422" y="0"/>
                  </a:lnTo>
                  <a:cubicBezTo>
                    <a:pt x="474380" y="0"/>
                    <a:pt x="529471" y="55091"/>
                    <a:pt x="529471" y="123048"/>
                  </a:cubicBezTo>
                  <a:lnTo>
                    <a:pt x="529471" y="869478"/>
                  </a:lnTo>
                  <a:cubicBezTo>
                    <a:pt x="529471" y="902113"/>
                    <a:pt x="516507" y="933410"/>
                    <a:pt x="493431" y="956486"/>
                  </a:cubicBezTo>
                  <a:cubicBezTo>
                    <a:pt x="470355" y="979562"/>
                    <a:pt x="439057" y="992526"/>
                    <a:pt x="406422" y="992526"/>
                  </a:cubicBezTo>
                  <a:lnTo>
                    <a:pt x="123048" y="992526"/>
                  </a:lnTo>
                  <a:cubicBezTo>
                    <a:pt x="90414" y="992526"/>
                    <a:pt x="59116" y="979562"/>
                    <a:pt x="36040" y="956486"/>
                  </a:cubicBezTo>
                  <a:cubicBezTo>
                    <a:pt x="12964" y="933410"/>
                    <a:pt x="0" y="902113"/>
                    <a:pt x="0" y="869478"/>
                  </a:cubicBezTo>
                  <a:lnTo>
                    <a:pt x="0" y="123048"/>
                  </a:lnTo>
                  <a:cubicBezTo>
                    <a:pt x="0" y="55091"/>
                    <a:pt x="55091" y="0"/>
                    <a:pt x="123048" y="0"/>
                  </a:cubicBezTo>
                  <a:close/>
                </a:path>
              </a:pathLst>
            </a:custGeom>
            <a:blipFill>
              <a:blip r:embed="rId6"/>
              <a:stretch>
                <a:fillRect l="-26042" r="-154790"/>
              </a:stretch>
            </a:blipFill>
          </p:spPr>
        </p:sp>
      </p:grpSp>
      <p:sp>
        <p:nvSpPr>
          <p:cNvPr id="9" name="TextBox 9"/>
          <p:cNvSpPr txBox="1"/>
          <p:nvPr/>
        </p:nvSpPr>
        <p:spPr>
          <a:xfrm>
            <a:off x="1639200" y="2627731"/>
            <a:ext cx="6677229" cy="11925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Future of AI</a:t>
            </a:r>
          </a:p>
        </p:txBody>
      </p:sp>
      <p:sp>
        <p:nvSpPr>
          <p:cNvPr id="10" name="TextBox 10"/>
          <p:cNvSpPr txBox="1"/>
          <p:nvPr/>
        </p:nvSpPr>
        <p:spPr>
          <a:xfrm>
            <a:off x="1639200" y="6042451"/>
            <a:ext cx="6677229" cy="113652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sp>
        <p:nvSpPr>
          <p:cNvPr id="11" name="TextBox 11"/>
          <p:cNvSpPr txBox="1"/>
          <p:nvPr/>
        </p:nvSpPr>
        <p:spPr>
          <a:xfrm>
            <a:off x="1639200" y="7694786"/>
            <a:ext cx="6677229" cy="113652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Duis aute irure dolor in reprehenderit in voluptate velit esse cillum dolore eu fugiat nulla pariatur. Excepteur sint occaecat cupidatat non proident, sunt in culpa qui officia deserunt mollit anim id est laborum.</a:t>
            </a:r>
          </a:p>
        </p:txBody>
      </p:sp>
      <p:grpSp>
        <p:nvGrpSpPr>
          <p:cNvPr id="12" name="Group 12"/>
          <p:cNvGrpSpPr/>
          <p:nvPr/>
        </p:nvGrpSpPr>
        <p:grpSpPr>
          <a:xfrm>
            <a:off x="12008017" y="804963"/>
            <a:ext cx="1399700" cy="447474"/>
            <a:chOff x="0" y="0"/>
            <a:chExt cx="1271220" cy="406400"/>
          </a:xfrm>
        </p:grpSpPr>
        <p:sp>
          <p:nvSpPr>
            <p:cNvPr id="13" name="Freeform 13"/>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4" name="TextBox 14"/>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5" name="TextBox 15"/>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6" name="TextBox 16"/>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7" name="TextBox 17"/>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50886" y="-2049095"/>
            <a:ext cx="9964777" cy="9098671"/>
          </a:xfrm>
          <a:custGeom>
            <a:avLst/>
            <a:gdLst/>
            <a:ahLst/>
            <a:cxnLst/>
            <a:rect l="l" t="t" r="r" b="b"/>
            <a:pathLst>
              <a:path w="9964777" h="9098671">
                <a:moveTo>
                  <a:pt x="0" y="0"/>
                </a:moveTo>
                <a:lnTo>
                  <a:pt x="9964777" y="0"/>
                </a:lnTo>
                <a:lnTo>
                  <a:pt x="9964777" y="9098671"/>
                </a:lnTo>
                <a:lnTo>
                  <a:pt x="0" y="90986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3327663" y="3237424"/>
            <a:ext cx="9964777" cy="9098671"/>
          </a:xfrm>
          <a:custGeom>
            <a:avLst/>
            <a:gdLst/>
            <a:ahLst/>
            <a:cxnLst/>
            <a:rect l="l" t="t" r="r" b="b"/>
            <a:pathLst>
              <a:path w="9964777" h="9098671">
                <a:moveTo>
                  <a:pt x="9964777" y="9098671"/>
                </a:moveTo>
                <a:lnTo>
                  <a:pt x="0" y="9098671"/>
                </a:lnTo>
                <a:lnTo>
                  <a:pt x="0" y="0"/>
                </a:lnTo>
                <a:lnTo>
                  <a:pt x="9964777" y="0"/>
                </a:lnTo>
                <a:lnTo>
                  <a:pt x="9964777" y="9098671"/>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4" name="Freeform 4"/>
          <p:cNvSpPr/>
          <p:nvPr/>
        </p:nvSpPr>
        <p:spPr>
          <a:xfrm rot="-9385474">
            <a:off x="-6575990" y="4322848"/>
            <a:ext cx="12686060" cy="14220711"/>
          </a:xfrm>
          <a:custGeom>
            <a:avLst/>
            <a:gdLst/>
            <a:ahLst/>
            <a:cxnLst/>
            <a:rect l="l" t="t" r="r" b="b"/>
            <a:pathLst>
              <a:path w="12686060" h="14220711">
                <a:moveTo>
                  <a:pt x="0" y="0"/>
                </a:moveTo>
                <a:lnTo>
                  <a:pt x="12686060" y="0"/>
                </a:lnTo>
                <a:lnTo>
                  <a:pt x="12686060" y="14220711"/>
                </a:lnTo>
                <a:lnTo>
                  <a:pt x="0" y="14220711"/>
                </a:lnTo>
                <a:lnTo>
                  <a:pt x="0" y="0"/>
                </a:lnTo>
                <a:close/>
              </a:path>
            </a:pathLst>
          </a:custGeom>
          <a:blipFill>
            <a:blip r:embed="rId4"/>
            <a:stretch>
              <a:fillRect/>
            </a:stretch>
          </a:blipFill>
        </p:spPr>
      </p:sp>
      <p:grpSp>
        <p:nvGrpSpPr>
          <p:cNvPr id="5" name="Group 5"/>
          <p:cNvGrpSpPr/>
          <p:nvPr/>
        </p:nvGrpSpPr>
        <p:grpSpPr>
          <a:xfrm>
            <a:off x="1352179" y="1576394"/>
            <a:ext cx="8166289" cy="7134212"/>
            <a:chOff x="0" y="0"/>
            <a:chExt cx="652831" cy="570325"/>
          </a:xfrm>
        </p:grpSpPr>
        <p:sp>
          <p:nvSpPr>
            <p:cNvPr id="6" name="Freeform 6"/>
            <p:cNvSpPr/>
            <p:nvPr/>
          </p:nvSpPr>
          <p:spPr>
            <a:xfrm>
              <a:off x="0" y="0"/>
              <a:ext cx="652831" cy="570325"/>
            </a:xfrm>
            <a:custGeom>
              <a:avLst/>
              <a:gdLst/>
              <a:ahLst/>
              <a:cxnLst/>
              <a:rect l="l" t="t" r="r" b="b"/>
              <a:pathLst>
                <a:path w="652831" h="570325">
                  <a:moveTo>
                    <a:pt x="28441" y="0"/>
                  </a:moveTo>
                  <a:lnTo>
                    <a:pt x="624390" y="0"/>
                  </a:lnTo>
                  <a:cubicBezTo>
                    <a:pt x="631933" y="0"/>
                    <a:pt x="639167" y="2996"/>
                    <a:pt x="644501" y="8330"/>
                  </a:cubicBezTo>
                  <a:cubicBezTo>
                    <a:pt x="649835" y="13664"/>
                    <a:pt x="652831" y="20898"/>
                    <a:pt x="652831" y="28441"/>
                  </a:cubicBezTo>
                  <a:lnTo>
                    <a:pt x="652831" y="541884"/>
                  </a:lnTo>
                  <a:cubicBezTo>
                    <a:pt x="652831" y="549427"/>
                    <a:pt x="649835" y="556661"/>
                    <a:pt x="644501" y="561995"/>
                  </a:cubicBezTo>
                  <a:cubicBezTo>
                    <a:pt x="639167" y="567328"/>
                    <a:pt x="631933" y="570325"/>
                    <a:pt x="624390" y="570325"/>
                  </a:cubicBezTo>
                  <a:lnTo>
                    <a:pt x="28441" y="570325"/>
                  </a:lnTo>
                  <a:cubicBezTo>
                    <a:pt x="20898" y="570325"/>
                    <a:pt x="13664" y="567328"/>
                    <a:pt x="8330" y="561995"/>
                  </a:cubicBezTo>
                  <a:cubicBezTo>
                    <a:pt x="2996" y="556661"/>
                    <a:pt x="0" y="549427"/>
                    <a:pt x="0" y="541884"/>
                  </a:cubicBezTo>
                  <a:lnTo>
                    <a:pt x="0" y="28441"/>
                  </a:lnTo>
                  <a:cubicBezTo>
                    <a:pt x="0" y="20898"/>
                    <a:pt x="2996" y="13664"/>
                    <a:pt x="8330" y="8330"/>
                  </a:cubicBezTo>
                  <a:cubicBezTo>
                    <a:pt x="13664" y="2996"/>
                    <a:pt x="20898" y="0"/>
                    <a:pt x="28441" y="0"/>
                  </a:cubicBezTo>
                  <a:close/>
                </a:path>
              </a:pathLst>
            </a:custGeom>
            <a:blipFill>
              <a:blip r:embed="rId5"/>
              <a:stretch>
                <a:fillRect l="-15562" r="-15562"/>
              </a:stretch>
            </a:blipFill>
          </p:spPr>
        </p:sp>
      </p:grpSp>
      <p:sp>
        <p:nvSpPr>
          <p:cNvPr id="7" name="TextBox 7"/>
          <p:cNvSpPr txBox="1"/>
          <p:nvPr/>
        </p:nvSpPr>
        <p:spPr>
          <a:xfrm>
            <a:off x="10025075" y="2942762"/>
            <a:ext cx="6910746" cy="1192530"/>
          </a:xfrm>
          <a:prstGeom prst="rect">
            <a:avLst/>
          </a:prstGeom>
        </p:spPr>
        <p:txBody>
          <a:bodyPr lIns="0" tIns="0" rIns="0" bIns="0" rtlCol="0" anchor="t">
            <a:spAutoFit/>
          </a:bodyPr>
          <a:lstStyle/>
          <a:p>
            <a:pPr algn="ctr">
              <a:lnSpc>
                <a:spcPts val="9360"/>
              </a:lnSpc>
            </a:pPr>
            <a:r>
              <a:rPr lang="en-US" sz="8000" b="1">
                <a:solidFill>
                  <a:srgbClr val="9560FF"/>
                </a:solidFill>
                <a:latin typeface="Open Sauce Bold"/>
                <a:ea typeface="Open Sauce Bold"/>
                <a:cs typeface="Open Sauce Bold"/>
                <a:sym typeface="Open Sauce Bold"/>
              </a:rPr>
              <a:t>Conclusion</a:t>
            </a:r>
          </a:p>
        </p:txBody>
      </p:sp>
      <p:sp>
        <p:nvSpPr>
          <p:cNvPr id="8" name="TextBox 8"/>
          <p:cNvSpPr txBox="1"/>
          <p:nvPr/>
        </p:nvSpPr>
        <p:spPr>
          <a:xfrm>
            <a:off x="10083454" y="4611542"/>
            <a:ext cx="6793988" cy="11365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sp>
        <p:nvSpPr>
          <p:cNvPr id="9" name="TextBox 9"/>
          <p:cNvSpPr txBox="1"/>
          <p:nvPr/>
        </p:nvSpPr>
        <p:spPr>
          <a:xfrm>
            <a:off x="10083454" y="6226765"/>
            <a:ext cx="6793988" cy="113652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Duis aute irure dolor in reprehenderit in voluptate velit esse cillum dolore eu fugiat nulla pariatur. Excepteur sint occaecat cupidatat non proident, sunt in culpa qui officia deserunt mollit anim id est laborum.</a:t>
            </a:r>
          </a:p>
        </p:txBody>
      </p:sp>
      <p:grpSp>
        <p:nvGrpSpPr>
          <p:cNvPr id="10" name="Group 10"/>
          <p:cNvGrpSpPr/>
          <p:nvPr/>
        </p:nvGrpSpPr>
        <p:grpSpPr>
          <a:xfrm>
            <a:off x="12008017" y="804963"/>
            <a:ext cx="1399700" cy="447474"/>
            <a:chOff x="0" y="0"/>
            <a:chExt cx="1271220" cy="406400"/>
          </a:xfrm>
        </p:grpSpPr>
        <p:sp>
          <p:nvSpPr>
            <p:cNvPr id="11" name="Freeform 11"/>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2" name="TextBox 12"/>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3" name="TextBox 13"/>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4" name="TextBox 14"/>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5" name="TextBox 15"/>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flipV="1">
            <a:off x="-1570172" y="6445770"/>
            <a:ext cx="5512535" cy="5033403"/>
          </a:xfrm>
          <a:custGeom>
            <a:avLst/>
            <a:gdLst/>
            <a:ahLst/>
            <a:cxnLst/>
            <a:rect l="l" t="t" r="r" b="b"/>
            <a:pathLst>
              <a:path w="5512535" h="5033403">
                <a:moveTo>
                  <a:pt x="5512535" y="5033403"/>
                </a:moveTo>
                <a:lnTo>
                  <a:pt x="0" y="5033403"/>
                </a:lnTo>
                <a:lnTo>
                  <a:pt x="0" y="0"/>
                </a:lnTo>
                <a:lnTo>
                  <a:pt x="5512535" y="0"/>
                </a:lnTo>
                <a:lnTo>
                  <a:pt x="5512535" y="5033403"/>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
        <p:nvSpPr>
          <p:cNvPr id="3" name="Freeform 3"/>
          <p:cNvSpPr/>
          <p:nvPr/>
        </p:nvSpPr>
        <p:spPr>
          <a:xfrm rot="-9385474">
            <a:off x="1806152" y="5284044"/>
            <a:ext cx="12686060" cy="14220711"/>
          </a:xfrm>
          <a:custGeom>
            <a:avLst/>
            <a:gdLst/>
            <a:ahLst/>
            <a:cxnLst/>
            <a:rect l="l" t="t" r="r" b="b"/>
            <a:pathLst>
              <a:path w="12686060" h="14220711">
                <a:moveTo>
                  <a:pt x="0" y="0"/>
                </a:moveTo>
                <a:lnTo>
                  <a:pt x="12686060" y="0"/>
                </a:lnTo>
                <a:lnTo>
                  <a:pt x="12686060" y="14220711"/>
                </a:lnTo>
                <a:lnTo>
                  <a:pt x="0" y="14220711"/>
                </a:lnTo>
                <a:lnTo>
                  <a:pt x="0" y="0"/>
                </a:lnTo>
                <a:close/>
              </a:path>
            </a:pathLst>
          </a:custGeom>
          <a:blipFill>
            <a:blip r:embed="rId4"/>
            <a:stretch>
              <a:fillRect/>
            </a:stretch>
          </a:blipFill>
        </p:spPr>
      </p:sp>
      <p:grpSp>
        <p:nvGrpSpPr>
          <p:cNvPr id="4" name="Group 4"/>
          <p:cNvGrpSpPr/>
          <p:nvPr/>
        </p:nvGrpSpPr>
        <p:grpSpPr>
          <a:xfrm>
            <a:off x="9025473" y="0"/>
            <a:ext cx="9702260" cy="10287000"/>
            <a:chOff x="0" y="0"/>
            <a:chExt cx="957756" cy="1015478"/>
          </a:xfrm>
        </p:grpSpPr>
        <p:sp>
          <p:nvSpPr>
            <p:cNvPr id="5" name="Freeform 5"/>
            <p:cNvSpPr/>
            <p:nvPr/>
          </p:nvSpPr>
          <p:spPr>
            <a:xfrm>
              <a:off x="0" y="0"/>
              <a:ext cx="957756" cy="1015478"/>
            </a:xfrm>
            <a:custGeom>
              <a:avLst/>
              <a:gdLst/>
              <a:ahLst/>
              <a:cxnLst/>
              <a:rect l="l" t="t" r="r" b="b"/>
              <a:pathLst>
                <a:path w="957756" h="1015478">
                  <a:moveTo>
                    <a:pt x="47877" y="0"/>
                  </a:moveTo>
                  <a:lnTo>
                    <a:pt x="909879" y="0"/>
                  </a:lnTo>
                  <a:cubicBezTo>
                    <a:pt x="936321" y="0"/>
                    <a:pt x="957756" y="21435"/>
                    <a:pt x="957756" y="47877"/>
                  </a:cubicBezTo>
                  <a:lnTo>
                    <a:pt x="957756" y="967601"/>
                  </a:lnTo>
                  <a:cubicBezTo>
                    <a:pt x="957756" y="994043"/>
                    <a:pt x="936321" y="1015478"/>
                    <a:pt x="909879" y="1015478"/>
                  </a:cubicBezTo>
                  <a:lnTo>
                    <a:pt x="47877" y="1015478"/>
                  </a:lnTo>
                  <a:cubicBezTo>
                    <a:pt x="21435" y="1015478"/>
                    <a:pt x="0" y="994043"/>
                    <a:pt x="0" y="967601"/>
                  </a:cubicBezTo>
                  <a:lnTo>
                    <a:pt x="0" y="47877"/>
                  </a:lnTo>
                  <a:cubicBezTo>
                    <a:pt x="0" y="21435"/>
                    <a:pt x="21435" y="0"/>
                    <a:pt x="47877" y="0"/>
                  </a:cubicBezTo>
                  <a:close/>
                </a:path>
              </a:pathLst>
            </a:custGeom>
            <a:blipFill>
              <a:blip r:embed="rId5"/>
              <a:stretch>
                <a:fillRect t="-25449" b="-16112"/>
              </a:stretch>
            </a:blipFill>
          </p:spPr>
        </p:sp>
      </p:grpSp>
      <p:sp>
        <p:nvSpPr>
          <p:cNvPr id="6" name="TextBox 6"/>
          <p:cNvSpPr txBox="1"/>
          <p:nvPr/>
        </p:nvSpPr>
        <p:spPr>
          <a:xfrm>
            <a:off x="1487621" y="2277977"/>
            <a:ext cx="5773069" cy="3554730"/>
          </a:xfrm>
          <a:prstGeom prst="rect">
            <a:avLst/>
          </a:prstGeom>
        </p:spPr>
        <p:txBody>
          <a:bodyPr lIns="0" tIns="0" rIns="0" bIns="0" rtlCol="0" anchor="t">
            <a:spAutoFit/>
          </a:bodyPr>
          <a:lstStyle/>
          <a:p>
            <a:pPr algn="l">
              <a:lnSpc>
                <a:spcPts val="9360"/>
              </a:lnSpc>
            </a:pPr>
            <a:r>
              <a:rPr lang="en-US" sz="8000" b="1">
                <a:solidFill>
                  <a:srgbClr val="9560FF"/>
                </a:solidFill>
                <a:latin typeface="Open Sauce Bold"/>
                <a:ea typeface="Open Sauce Bold"/>
                <a:cs typeface="Open Sauce Bold"/>
                <a:sym typeface="Open Sauce Bold"/>
              </a:rPr>
              <a:t>Project Case Study</a:t>
            </a:r>
          </a:p>
        </p:txBody>
      </p:sp>
      <p:sp>
        <p:nvSpPr>
          <p:cNvPr id="7" name="TextBox 7"/>
          <p:cNvSpPr txBox="1"/>
          <p:nvPr/>
        </p:nvSpPr>
        <p:spPr>
          <a:xfrm>
            <a:off x="1487621" y="6605800"/>
            <a:ext cx="5514748" cy="1422273"/>
          </a:xfrm>
          <a:prstGeom prst="rect">
            <a:avLst/>
          </a:prstGeom>
        </p:spPr>
        <p:txBody>
          <a:bodyPr lIns="0" tIns="0" rIns="0" bIns="0" rtlCol="0" anchor="t">
            <a:spAutoFit/>
          </a:bodyPr>
          <a:lstStyle/>
          <a:p>
            <a:pPr algn="just">
              <a:lnSpc>
                <a:spcPts val="2286"/>
              </a:lnSpc>
            </a:pPr>
            <a:r>
              <a:rPr lang="en-US" sz="1800">
                <a:solidFill>
                  <a:srgbClr val="FFFBF7"/>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id="8" name="Group 8"/>
          <p:cNvGrpSpPr/>
          <p:nvPr/>
        </p:nvGrpSpPr>
        <p:grpSpPr>
          <a:xfrm>
            <a:off x="12008017" y="804963"/>
            <a:ext cx="1399700" cy="447474"/>
            <a:chOff x="0" y="0"/>
            <a:chExt cx="1271220" cy="406400"/>
          </a:xfrm>
        </p:grpSpPr>
        <p:sp>
          <p:nvSpPr>
            <p:cNvPr id="9" name="Freeform 9"/>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0" name="TextBox 10"/>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1" name="TextBox 11"/>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12" name="TextBox 12"/>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13" name="TextBox 13"/>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
        <p:nvSpPr>
          <p:cNvPr id="14" name="Freeform 14"/>
          <p:cNvSpPr/>
          <p:nvPr/>
        </p:nvSpPr>
        <p:spPr>
          <a:xfrm>
            <a:off x="14503032" y="-1244549"/>
            <a:ext cx="5512535" cy="5033403"/>
          </a:xfrm>
          <a:custGeom>
            <a:avLst/>
            <a:gdLst/>
            <a:ahLst/>
            <a:cxnLst/>
            <a:rect l="l" t="t" r="r" b="b"/>
            <a:pathLst>
              <a:path w="5512535" h="5033403">
                <a:moveTo>
                  <a:pt x="0" y="0"/>
                </a:moveTo>
                <a:lnTo>
                  <a:pt x="5512536" y="0"/>
                </a:lnTo>
                <a:lnTo>
                  <a:pt x="5512536" y="5033403"/>
                </a:lnTo>
                <a:lnTo>
                  <a:pt x="0" y="5033403"/>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650886" y="-2049095"/>
            <a:ext cx="9964777" cy="9098671"/>
          </a:xfrm>
          <a:custGeom>
            <a:avLst/>
            <a:gdLst/>
            <a:ahLst/>
            <a:cxnLst/>
            <a:rect l="l" t="t" r="r" b="b"/>
            <a:pathLst>
              <a:path w="9964777" h="9098671">
                <a:moveTo>
                  <a:pt x="0" y="0"/>
                </a:moveTo>
                <a:lnTo>
                  <a:pt x="9964777" y="0"/>
                </a:lnTo>
                <a:lnTo>
                  <a:pt x="9964777" y="9098671"/>
                </a:lnTo>
                <a:lnTo>
                  <a:pt x="0" y="9098671"/>
                </a:lnTo>
                <a:lnTo>
                  <a:pt x="0" y="0"/>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3327663" y="3237424"/>
            <a:ext cx="9964777" cy="9098671"/>
          </a:xfrm>
          <a:custGeom>
            <a:avLst/>
            <a:gdLst/>
            <a:ahLst/>
            <a:cxnLst/>
            <a:rect l="l" t="t" r="r" b="b"/>
            <a:pathLst>
              <a:path w="9964777" h="9098671">
                <a:moveTo>
                  <a:pt x="9964777" y="9098671"/>
                </a:moveTo>
                <a:lnTo>
                  <a:pt x="0" y="9098671"/>
                </a:lnTo>
                <a:lnTo>
                  <a:pt x="0" y="0"/>
                </a:lnTo>
                <a:lnTo>
                  <a:pt x="9964777" y="0"/>
                </a:lnTo>
                <a:lnTo>
                  <a:pt x="9964777" y="9098671"/>
                </a:lnTo>
                <a:close/>
              </a:path>
            </a:pathLst>
          </a:custGeom>
          <a:blipFill>
            <a:blip r:embed="rId2">
              <a:alphaModFix amt="19999"/>
              <a:extLst>
                <a:ext uri="{96DAC541-7B7A-43D3-8B79-37D633B846F1}">
                  <asvg:svgBlip xmlns:asvg="http://schemas.microsoft.com/office/drawing/2016/SVG/main" r:embed="rId3"/>
                </a:ext>
              </a:extLst>
            </a:blip>
            <a:stretch>
              <a:fillRect/>
            </a:stretch>
          </a:blipFill>
        </p:spPr>
      </p:sp>
      <p:sp>
        <p:nvSpPr>
          <p:cNvPr id="4" name="Freeform 4"/>
          <p:cNvSpPr/>
          <p:nvPr/>
        </p:nvSpPr>
        <p:spPr>
          <a:xfrm>
            <a:off x="6341921" y="4012434"/>
            <a:ext cx="11603160" cy="14213225"/>
          </a:xfrm>
          <a:custGeom>
            <a:avLst/>
            <a:gdLst/>
            <a:ahLst/>
            <a:cxnLst/>
            <a:rect l="l" t="t" r="r" b="b"/>
            <a:pathLst>
              <a:path w="11603160" h="14213225">
                <a:moveTo>
                  <a:pt x="0" y="0"/>
                </a:moveTo>
                <a:lnTo>
                  <a:pt x="11603160" y="0"/>
                </a:lnTo>
                <a:lnTo>
                  <a:pt x="11603160" y="14213225"/>
                </a:lnTo>
                <a:lnTo>
                  <a:pt x="0" y="14213225"/>
                </a:lnTo>
                <a:lnTo>
                  <a:pt x="0" y="0"/>
                </a:lnTo>
                <a:close/>
              </a:path>
            </a:pathLst>
          </a:custGeom>
          <a:blipFill>
            <a:blip r:embed="rId4"/>
            <a:stretch>
              <a:fillRect/>
            </a:stretch>
          </a:blipFill>
        </p:spPr>
      </p:sp>
      <p:grpSp>
        <p:nvGrpSpPr>
          <p:cNvPr id="5" name="Group 5"/>
          <p:cNvGrpSpPr/>
          <p:nvPr/>
        </p:nvGrpSpPr>
        <p:grpSpPr>
          <a:xfrm>
            <a:off x="1288851" y="8529905"/>
            <a:ext cx="15710299" cy="1142041"/>
            <a:chOff x="0" y="0"/>
            <a:chExt cx="4137692" cy="300784"/>
          </a:xfrm>
        </p:grpSpPr>
        <p:sp>
          <p:nvSpPr>
            <p:cNvPr id="6" name="Freeform 6"/>
            <p:cNvSpPr/>
            <p:nvPr/>
          </p:nvSpPr>
          <p:spPr>
            <a:xfrm>
              <a:off x="0" y="0"/>
              <a:ext cx="4137692" cy="300784"/>
            </a:xfrm>
            <a:custGeom>
              <a:avLst/>
              <a:gdLst/>
              <a:ahLst/>
              <a:cxnLst/>
              <a:rect l="l" t="t" r="r" b="b"/>
              <a:pathLst>
                <a:path w="4137692" h="300784">
                  <a:moveTo>
                    <a:pt x="24640" y="0"/>
                  </a:moveTo>
                  <a:lnTo>
                    <a:pt x="4113052" y="0"/>
                  </a:lnTo>
                  <a:cubicBezTo>
                    <a:pt x="4126661" y="0"/>
                    <a:pt x="4137692" y="11032"/>
                    <a:pt x="4137692" y="24640"/>
                  </a:cubicBezTo>
                  <a:lnTo>
                    <a:pt x="4137692" y="276145"/>
                  </a:lnTo>
                  <a:cubicBezTo>
                    <a:pt x="4137692" y="289753"/>
                    <a:pt x="4126661" y="300784"/>
                    <a:pt x="4113052" y="300784"/>
                  </a:cubicBezTo>
                  <a:lnTo>
                    <a:pt x="24640" y="300784"/>
                  </a:lnTo>
                  <a:cubicBezTo>
                    <a:pt x="11032" y="300784"/>
                    <a:pt x="0" y="289753"/>
                    <a:pt x="0" y="276145"/>
                  </a:cubicBezTo>
                  <a:lnTo>
                    <a:pt x="0" y="24640"/>
                  </a:lnTo>
                  <a:cubicBezTo>
                    <a:pt x="0" y="11032"/>
                    <a:pt x="11032" y="0"/>
                    <a:pt x="24640" y="0"/>
                  </a:cubicBezTo>
                  <a:close/>
                </a:path>
              </a:pathLst>
            </a:custGeom>
            <a:solidFill>
              <a:srgbClr val="000000">
                <a:alpha val="40000"/>
              </a:srgbClr>
            </a:solidFill>
            <a:ln w="28575" cap="rnd">
              <a:gradFill>
                <a:gsLst>
                  <a:gs pos="0">
                    <a:srgbClr val="9560FF">
                      <a:alpha val="40000"/>
                    </a:srgbClr>
                  </a:gs>
                  <a:gs pos="100000">
                    <a:srgbClr val="9560FF">
                      <a:alpha val="0"/>
                    </a:srgbClr>
                  </a:gs>
                </a:gsLst>
                <a:lin ang="0"/>
              </a:gradFill>
              <a:prstDash val="solid"/>
              <a:round/>
            </a:ln>
          </p:spPr>
        </p:sp>
        <p:sp>
          <p:nvSpPr>
            <p:cNvPr id="7" name="TextBox 7"/>
            <p:cNvSpPr txBox="1"/>
            <p:nvPr/>
          </p:nvSpPr>
          <p:spPr>
            <a:xfrm>
              <a:off x="0" y="-57150"/>
              <a:ext cx="4137692" cy="35793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473683" y="8901836"/>
            <a:ext cx="356464" cy="356464"/>
          </a:xfrm>
          <a:custGeom>
            <a:avLst/>
            <a:gdLst/>
            <a:ahLst/>
            <a:cxnLst/>
            <a:rect l="l" t="t" r="r" b="b"/>
            <a:pathLst>
              <a:path w="356464" h="356464">
                <a:moveTo>
                  <a:pt x="0" y="0"/>
                </a:moveTo>
                <a:lnTo>
                  <a:pt x="356464" y="0"/>
                </a:lnTo>
                <a:lnTo>
                  <a:pt x="356464" y="356464"/>
                </a:lnTo>
                <a:lnTo>
                  <a:pt x="0" y="3564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5982257" y="8898636"/>
            <a:ext cx="359664" cy="359664"/>
          </a:xfrm>
          <a:custGeom>
            <a:avLst/>
            <a:gdLst/>
            <a:ahLst/>
            <a:cxnLst/>
            <a:rect l="l" t="t" r="r" b="b"/>
            <a:pathLst>
              <a:path w="359664" h="359664">
                <a:moveTo>
                  <a:pt x="0" y="0"/>
                </a:moveTo>
                <a:lnTo>
                  <a:pt x="359664" y="0"/>
                </a:lnTo>
                <a:lnTo>
                  <a:pt x="359664" y="359664"/>
                </a:lnTo>
                <a:lnTo>
                  <a:pt x="0" y="3596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1132424" y="8898636"/>
            <a:ext cx="356464" cy="356464"/>
          </a:xfrm>
          <a:custGeom>
            <a:avLst/>
            <a:gdLst/>
            <a:ahLst/>
            <a:cxnLst/>
            <a:rect l="l" t="t" r="r" b="b"/>
            <a:pathLst>
              <a:path w="356464" h="356464">
                <a:moveTo>
                  <a:pt x="0" y="0"/>
                </a:moveTo>
                <a:lnTo>
                  <a:pt x="356464" y="0"/>
                </a:lnTo>
                <a:lnTo>
                  <a:pt x="356464" y="356464"/>
                </a:lnTo>
                <a:lnTo>
                  <a:pt x="0" y="35646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1" name="Group 11"/>
          <p:cNvGrpSpPr/>
          <p:nvPr/>
        </p:nvGrpSpPr>
        <p:grpSpPr>
          <a:xfrm>
            <a:off x="626605" y="1570579"/>
            <a:ext cx="16838406" cy="3572921"/>
            <a:chOff x="0" y="0"/>
            <a:chExt cx="1662199" cy="352700"/>
          </a:xfrm>
        </p:grpSpPr>
        <p:sp>
          <p:nvSpPr>
            <p:cNvPr id="12" name="Freeform 12"/>
            <p:cNvSpPr/>
            <p:nvPr/>
          </p:nvSpPr>
          <p:spPr>
            <a:xfrm>
              <a:off x="0" y="0"/>
              <a:ext cx="1662199" cy="352700"/>
            </a:xfrm>
            <a:custGeom>
              <a:avLst/>
              <a:gdLst/>
              <a:ahLst/>
              <a:cxnLst/>
              <a:rect l="l" t="t" r="r" b="b"/>
              <a:pathLst>
                <a:path w="1662199" h="352700">
                  <a:moveTo>
                    <a:pt x="27587" y="0"/>
                  </a:moveTo>
                  <a:lnTo>
                    <a:pt x="1634612" y="0"/>
                  </a:lnTo>
                  <a:cubicBezTo>
                    <a:pt x="1641928" y="0"/>
                    <a:pt x="1648945" y="2906"/>
                    <a:pt x="1654119" y="8080"/>
                  </a:cubicBezTo>
                  <a:cubicBezTo>
                    <a:pt x="1659292" y="13253"/>
                    <a:pt x="1662199" y="20270"/>
                    <a:pt x="1662199" y="27587"/>
                  </a:cubicBezTo>
                  <a:lnTo>
                    <a:pt x="1662199" y="325113"/>
                  </a:lnTo>
                  <a:cubicBezTo>
                    <a:pt x="1662199" y="332430"/>
                    <a:pt x="1659292" y="339447"/>
                    <a:pt x="1654119" y="344620"/>
                  </a:cubicBezTo>
                  <a:cubicBezTo>
                    <a:pt x="1648945" y="349794"/>
                    <a:pt x="1641928" y="352700"/>
                    <a:pt x="1634612" y="352700"/>
                  </a:cubicBezTo>
                  <a:lnTo>
                    <a:pt x="27587" y="352700"/>
                  </a:lnTo>
                  <a:cubicBezTo>
                    <a:pt x="20270" y="352700"/>
                    <a:pt x="13253" y="349794"/>
                    <a:pt x="8080" y="344620"/>
                  </a:cubicBezTo>
                  <a:cubicBezTo>
                    <a:pt x="2906" y="339447"/>
                    <a:pt x="0" y="332430"/>
                    <a:pt x="0" y="325113"/>
                  </a:cubicBezTo>
                  <a:lnTo>
                    <a:pt x="0" y="27587"/>
                  </a:lnTo>
                  <a:cubicBezTo>
                    <a:pt x="0" y="20270"/>
                    <a:pt x="2906" y="13253"/>
                    <a:pt x="8080" y="8080"/>
                  </a:cubicBezTo>
                  <a:cubicBezTo>
                    <a:pt x="13253" y="2906"/>
                    <a:pt x="20270" y="0"/>
                    <a:pt x="27587" y="0"/>
                  </a:cubicBezTo>
                  <a:close/>
                </a:path>
              </a:pathLst>
            </a:custGeom>
            <a:blipFill>
              <a:blip r:embed="rId11"/>
              <a:stretch>
                <a:fillRect t="-76484" b="-137504"/>
              </a:stretch>
            </a:blipFill>
          </p:spPr>
        </p:sp>
      </p:grpSp>
      <p:grpSp>
        <p:nvGrpSpPr>
          <p:cNvPr id="13" name="Group 13"/>
          <p:cNvGrpSpPr/>
          <p:nvPr/>
        </p:nvGrpSpPr>
        <p:grpSpPr>
          <a:xfrm>
            <a:off x="12008017" y="804963"/>
            <a:ext cx="1399700" cy="447474"/>
            <a:chOff x="0" y="0"/>
            <a:chExt cx="1271220" cy="406400"/>
          </a:xfrm>
        </p:grpSpPr>
        <p:sp>
          <p:nvSpPr>
            <p:cNvPr id="14" name="Freeform 14"/>
            <p:cNvSpPr/>
            <p:nvPr/>
          </p:nvSpPr>
          <p:spPr>
            <a:xfrm>
              <a:off x="0" y="0"/>
              <a:ext cx="1271220" cy="406400"/>
            </a:xfrm>
            <a:custGeom>
              <a:avLst/>
              <a:gdLst/>
              <a:ahLst/>
              <a:cxnLst/>
              <a:rect l="l" t="t" r="r" b="b"/>
              <a:pathLst>
                <a:path w="1271220" h="406400">
                  <a:moveTo>
                    <a:pt x="1068019" y="0"/>
                  </a:moveTo>
                  <a:cubicBezTo>
                    <a:pt x="1180244" y="0"/>
                    <a:pt x="1271220" y="90976"/>
                    <a:pt x="1271220" y="203200"/>
                  </a:cubicBezTo>
                  <a:cubicBezTo>
                    <a:pt x="1271220" y="315424"/>
                    <a:pt x="1180244" y="406400"/>
                    <a:pt x="1068019" y="406400"/>
                  </a:cubicBezTo>
                  <a:lnTo>
                    <a:pt x="203200" y="406400"/>
                  </a:lnTo>
                  <a:cubicBezTo>
                    <a:pt x="90976" y="406400"/>
                    <a:pt x="0" y="315424"/>
                    <a:pt x="0" y="203200"/>
                  </a:cubicBezTo>
                  <a:cubicBezTo>
                    <a:pt x="0" y="90976"/>
                    <a:pt x="90976" y="0"/>
                    <a:pt x="203200" y="0"/>
                  </a:cubicBezTo>
                  <a:close/>
                </a:path>
              </a:pathLst>
            </a:custGeom>
            <a:gradFill rotWithShape="1">
              <a:gsLst>
                <a:gs pos="0">
                  <a:srgbClr val="9560FF">
                    <a:alpha val="100000"/>
                  </a:srgbClr>
                </a:gs>
                <a:gs pos="100000">
                  <a:srgbClr val="9560FF">
                    <a:alpha val="0"/>
                  </a:srgbClr>
                </a:gs>
              </a:gsLst>
              <a:lin ang="0"/>
            </a:gradFill>
          </p:spPr>
        </p:sp>
        <p:sp>
          <p:nvSpPr>
            <p:cNvPr id="15" name="TextBox 15"/>
            <p:cNvSpPr txBox="1"/>
            <p:nvPr/>
          </p:nvSpPr>
          <p:spPr>
            <a:xfrm>
              <a:off x="0" y="-9525"/>
              <a:ext cx="1271220" cy="415925"/>
            </a:xfrm>
            <a:prstGeom prst="rect">
              <a:avLst/>
            </a:prstGeom>
          </p:spPr>
          <p:txBody>
            <a:bodyPr lIns="50800" tIns="50800" rIns="50800" bIns="50800" rtlCol="0" anchor="ctr"/>
            <a:lstStyle/>
            <a:p>
              <a:pPr algn="ctr">
                <a:lnSpc>
                  <a:spcPts val="2286"/>
                </a:lnSpc>
              </a:pPr>
              <a:endParaRPr/>
            </a:p>
          </p:txBody>
        </p:sp>
      </p:grpSp>
      <p:sp>
        <p:nvSpPr>
          <p:cNvPr id="16" name="TextBox 16"/>
          <p:cNvSpPr txBox="1"/>
          <p:nvPr/>
        </p:nvSpPr>
        <p:spPr>
          <a:xfrm>
            <a:off x="3818378" y="5723160"/>
            <a:ext cx="10651244" cy="1755823"/>
          </a:xfrm>
          <a:prstGeom prst="rect">
            <a:avLst/>
          </a:prstGeom>
        </p:spPr>
        <p:txBody>
          <a:bodyPr lIns="0" tIns="0" rIns="0" bIns="0" rtlCol="0" anchor="t">
            <a:spAutoFit/>
          </a:bodyPr>
          <a:lstStyle/>
          <a:p>
            <a:pPr algn="ctr">
              <a:lnSpc>
                <a:spcPts val="13075"/>
              </a:lnSpc>
            </a:pPr>
            <a:r>
              <a:rPr lang="en-US" sz="13479" b="1">
                <a:solidFill>
                  <a:srgbClr val="FFFBF7"/>
                </a:solidFill>
                <a:latin typeface="Open Sauce Bold"/>
                <a:ea typeface="Open Sauce Bold"/>
                <a:cs typeface="Open Sauce Bold"/>
                <a:sym typeface="Open Sauce Bold"/>
              </a:rPr>
              <a:t>Thank You!</a:t>
            </a:r>
          </a:p>
        </p:txBody>
      </p:sp>
      <p:sp>
        <p:nvSpPr>
          <p:cNvPr id="17" name="TextBox 17"/>
          <p:cNvSpPr txBox="1"/>
          <p:nvPr/>
        </p:nvSpPr>
        <p:spPr>
          <a:xfrm>
            <a:off x="7681542" y="7934492"/>
            <a:ext cx="2924915" cy="518160"/>
          </a:xfrm>
          <a:prstGeom prst="rect">
            <a:avLst/>
          </a:prstGeom>
        </p:spPr>
        <p:txBody>
          <a:bodyPr lIns="0" tIns="0" rIns="0" bIns="0" rtlCol="0" anchor="t">
            <a:spAutoFit/>
          </a:bodyPr>
          <a:lstStyle/>
          <a:p>
            <a:pPr algn="ctr">
              <a:lnSpc>
                <a:spcPts val="4094"/>
              </a:lnSpc>
            </a:pPr>
            <a:r>
              <a:rPr lang="en-US" sz="3499" b="1">
                <a:solidFill>
                  <a:srgbClr val="9560FF"/>
                </a:solidFill>
                <a:latin typeface="Open Sauce Bold"/>
                <a:ea typeface="Open Sauce Bold"/>
                <a:cs typeface="Open Sauce Bold"/>
                <a:sym typeface="Open Sauce Bold"/>
              </a:rPr>
              <a:t>Contact Us:</a:t>
            </a:r>
          </a:p>
        </p:txBody>
      </p:sp>
      <p:sp>
        <p:nvSpPr>
          <p:cNvPr id="18" name="TextBox 18"/>
          <p:cNvSpPr txBox="1"/>
          <p:nvPr/>
        </p:nvSpPr>
        <p:spPr>
          <a:xfrm>
            <a:off x="2900077" y="8879586"/>
            <a:ext cx="2691655" cy="378714"/>
          </a:xfrm>
          <a:prstGeom prst="rect">
            <a:avLst/>
          </a:prstGeom>
        </p:spPr>
        <p:txBody>
          <a:bodyPr lIns="0" tIns="0" rIns="0" bIns="0" rtlCol="0" anchor="t">
            <a:spAutoFit/>
          </a:bodyPr>
          <a:lstStyle/>
          <a:p>
            <a:pPr algn="just">
              <a:lnSpc>
                <a:spcPts val="3047"/>
              </a:lnSpc>
            </a:pPr>
            <a:r>
              <a:rPr lang="en-US" sz="2399">
                <a:solidFill>
                  <a:srgbClr val="FFFBF7"/>
                </a:solidFill>
                <a:latin typeface="Open Sauce"/>
                <a:ea typeface="Open Sauce"/>
                <a:cs typeface="Open Sauce"/>
                <a:sym typeface="Open Sauce"/>
              </a:rPr>
              <a:t>+123-456-7890</a:t>
            </a:r>
          </a:p>
        </p:txBody>
      </p:sp>
      <p:sp>
        <p:nvSpPr>
          <p:cNvPr id="19" name="TextBox 19"/>
          <p:cNvSpPr txBox="1"/>
          <p:nvPr/>
        </p:nvSpPr>
        <p:spPr>
          <a:xfrm>
            <a:off x="6554435" y="8879586"/>
            <a:ext cx="4187464" cy="378714"/>
          </a:xfrm>
          <a:prstGeom prst="rect">
            <a:avLst/>
          </a:prstGeom>
        </p:spPr>
        <p:txBody>
          <a:bodyPr lIns="0" tIns="0" rIns="0" bIns="0" rtlCol="0" anchor="t">
            <a:spAutoFit/>
          </a:bodyPr>
          <a:lstStyle/>
          <a:p>
            <a:pPr algn="just">
              <a:lnSpc>
                <a:spcPts val="3047"/>
              </a:lnSpc>
            </a:pPr>
            <a:r>
              <a:rPr lang="en-US" sz="2399">
                <a:solidFill>
                  <a:srgbClr val="FFFBF7"/>
                </a:solidFill>
                <a:latin typeface="Open Sauce"/>
                <a:ea typeface="Open Sauce"/>
                <a:cs typeface="Open Sauce"/>
                <a:sym typeface="Open Sauce"/>
              </a:rPr>
              <a:t>hello@reallygreatsite.com</a:t>
            </a:r>
          </a:p>
        </p:txBody>
      </p:sp>
      <p:sp>
        <p:nvSpPr>
          <p:cNvPr id="20" name="TextBox 20"/>
          <p:cNvSpPr txBox="1"/>
          <p:nvPr/>
        </p:nvSpPr>
        <p:spPr>
          <a:xfrm>
            <a:off x="11701181" y="8879586"/>
            <a:ext cx="4113136" cy="378714"/>
          </a:xfrm>
          <a:prstGeom prst="rect">
            <a:avLst/>
          </a:prstGeom>
        </p:spPr>
        <p:txBody>
          <a:bodyPr lIns="0" tIns="0" rIns="0" bIns="0" rtlCol="0" anchor="t">
            <a:spAutoFit/>
          </a:bodyPr>
          <a:lstStyle/>
          <a:p>
            <a:pPr algn="just">
              <a:lnSpc>
                <a:spcPts val="3047"/>
              </a:lnSpc>
            </a:pPr>
            <a:r>
              <a:rPr lang="en-US" sz="2399">
                <a:solidFill>
                  <a:srgbClr val="FFFBF7"/>
                </a:solidFill>
                <a:latin typeface="Open Sauce"/>
                <a:ea typeface="Open Sauce"/>
                <a:cs typeface="Open Sauce"/>
                <a:sym typeface="Open Sauce"/>
              </a:rPr>
              <a:t>123 Anywhere St., Any Cit</a:t>
            </a:r>
          </a:p>
        </p:txBody>
      </p:sp>
      <p:sp>
        <p:nvSpPr>
          <p:cNvPr id="21" name="TextBox 21"/>
          <p:cNvSpPr txBox="1"/>
          <p:nvPr/>
        </p:nvSpPr>
        <p:spPr>
          <a:xfrm>
            <a:off x="12073584" y="884301"/>
            <a:ext cx="1268566" cy="279273"/>
          </a:xfrm>
          <a:prstGeom prst="rect">
            <a:avLst/>
          </a:prstGeom>
        </p:spPr>
        <p:txBody>
          <a:bodyPr lIns="0" tIns="0" rIns="0" bIns="0" rtlCol="0" anchor="t">
            <a:spAutoFit/>
          </a:bodyPr>
          <a:lstStyle/>
          <a:p>
            <a:pPr algn="ctr">
              <a:lnSpc>
                <a:spcPts val="2286"/>
              </a:lnSpc>
            </a:pPr>
            <a:r>
              <a:rPr lang="en-US" sz="1800" b="1">
                <a:solidFill>
                  <a:srgbClr val="FFFBF7"/>
                </a:solidFill>
                <a:latin typeface="Open Sauce Bold"/>
                <a:ea typeface="Open Sauce Bold"/>
                <a:cs typeface="Open Sauce Bold"/>
                <a:sym typeface="Open Sauce Bold"/>
              </a:rPr>
              <a:t>HOME</a:t>
            </a:r>
          </a:p>
        </p:txBody>
      </p:sp>
      <p:sp>
        <p:nvSpPr>
          <p:cNvPr id="22" name="TextBox 22"/>
          <p:cNvSpPr txBox="1"/>
          <p:nvPr/>
        </p:nvSpPr>
        <p:spPr>
          <a:xfrm>
            <a:off x="14064942"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ABOUT</a:t>
            </a:r>
          </a:p>
        </p:txBody>
      </p:sp>
      <p:sp>
        <p:nvSpPr>
          <p:cNvPr id="23" name="TextBox 23"/>
          <p:cNvSpPr txBox="1"/>
          <p:nvPr/>
        </p:nvSpPr>
        <p:spPr>
          <a:xfrm>
            <a:off x="15990734" y="884301"/>
            <a:ext cx="1268566" cy="279273"/>
          </a:xfrm>
          <a:prstGeom prst="rect">
            <a:avLst/>
          </a:prstGeom>
        </p:spPr>
        <p:txBody>
          <a:bodyPr lIns="0" tIns="0" rIns="0" bIns="0" rtlCol="0" anchor="t">
            <a:spAutoFit/>
          </a:bodyPr>
          <a:lstStyle/>
          <a:p>
            <a:pPr algn="ctr">
              <a:lnSpc>
                <a:spcPts val="2286"/>
              </a:lnSpc>
            </a:pPr>
            <a:r>
              <a:rPr lang="en-US" sz="1800">
                <a:solidFill>
                  <a:srgbClr val="FFFBF7"/>
                </a:solidFill>
                <a:latin typeface="Open Sauce"/>
                <a:ea typeface="Open Sauce"/>
                <a:cs typeface="Open Sauce"/>
                <a:sym typeface="Open Sauce"/>
              </a:rPr>
              <a:t>MORE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734</Words>
  <Application>Microsoft Office PowerPoint</Application>
  <PresentationFormat>Произвольный</PresentationFormat>
  <Paragraphs>104</Paragraphs>
  <Slides>12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12</vt:i4>
      </vt:variant>
    </vt:vector>
  </HeadingPairs>
  <TitlesOfParts>
    <vt:vector size="17" baseType="lpstr">
      <vt:lpstr>Open Sauce Bold</vt:lpstr>
      <vt:lpstr>Open Sauce</vt:lpstr>
      <vt:lpstr>Calibri</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Black and Pink Gradient Geometric Abstract Waves Artificial Intelligence Project Presentation</dc:title>
  <cp:lastModifiedBy>sekal sekal</cp:lastModifiedBy>
  <cp:revision>2</cp:revision>
  <dcterms:created xsi:type="dcterms:W3CDTF">2006-08-16T00:00:00Z</dcterms:created>
  <dcterms:modified xsi:type="dcterms:W3CDTF">2026-03-24T12:24:50Z</dcterms:modified>
  <dc:identifier>DAHE2xubRHQ</dc:identifier>
</cp:coreProperties>
</file>