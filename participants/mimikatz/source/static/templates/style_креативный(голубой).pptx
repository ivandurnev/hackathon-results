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Open Sans Bold" panose="020B0604020202020204" charset="0"/>
      <p:regular r:id="rId14"/>
    </p:embeddedFont>
    <p:embeddedFont>
      <p:font typeface="Red Hat Display" panose="020B0604020202020204" charset="0"/>
      <p:regular r:id="rId15"/>
    </p:embeddedFont>
    <p:embeddedFont>
      <p:font typeface="Red Hat Display Bold" panose="020B0604020202020204" charset="0"/>
      <p:regular r:id="rId16"/>
    </p:embeddedFont>
    <p:embeddedFont>
      <p:font typeface="Red Hat Display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1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30.png"/><Relationship Id="rId7" Type="http://schemas.openxmlformats.org/officeDocument/2006/relationships/image" Target="../media/image1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D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52092">
            <a:off x="12640413" y="1935135"/>
            <a:ext cx="6345264" cy="3569211"/>
            <a:chOff x="0" y="0"/>
            <a:chExt cx="774835" cy="435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252092">
            <a:off x="5815129" y="5261508"/>
            <a:ext cx="6345264" cy="3569211"/>
            <a:chOff x="0" y="0"/>
            <a:chExt cx="774835" cy="435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252092">
            <a:off x="6368593" y="-2344295"/>
            <a:ext cx="6345264" cy="3569211"/>
            <a:chOff x="0" y="0"/>
            <a:chExt cx="774835" cy="4358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252092">
            <a:off x="-733422" y="4784979"/>
            <a:ext cx="6345264" cy="3569211"/>
            <a:chOff x="0" y="0"/>
            <a:chExt cx="774835" cy="4358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252092">
            <a:off x="-179959" y="-2820824"/>
            <a:ext cx="6345264" cy="3569211"/>
            <a:chOff x="0" y="0"/>
            <a:chExt cx="774835" cy="4358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252092">
            <a:off x="5538398" y="9064409"/>
            <a:ext cx="6345264" cy="3569211"/>
            <a:chOff x="0" y="0"/>
            <a:chExt cx="774835" cy="4358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252092">
            <a:off x="-1010154" y="8587880"/>
            <a:ext cx="6345264" cy="3569211"/>
            <a:chOff x="0" y="0"/>
            <a:chExt cx="774835" cy="435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252092">
            <a:off x="12363681" y="5738036"/>
            <a:ext cx="6345264" cy="3569211"/>
            <a:chOff x="0" y="0"/>
            <a:chExt cx="774835" cy="4358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252092">
            <a:off x="12917144" y="-1867767"/>
            <a:ext cx="6345264" cy="3569211"/>
            <a:chOff x="0" y="0"/>
            <a:chExt cx="774835" cy="4358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252092">
            <a:off x="6091861" y="1458606"/>
            <a:ext cx="6345264" cy="3569211"/>
            <a:chOff x="0" y="0"/>
            <a:chExt cx="774835" cy="4358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252092">
            <a:off x="-456690" y="982078"/>
            <a:ext cx="6345264" cy="3569211"/>
            <a:chOff x="0" y="0"/>
            <a:chExt cx="774835" cy="4358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 rot="252092">
            <a:off x="12086949" y="9540938"/>
            <a:ext cx="6345264" cy="3569211"/>
            <a:chOff x="0" y="0"/>
            <a:chExt cx="774835" cy="4358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74835" cy="435844"/>
            </a:xfrm>
            <a:custGeom>
              <a:avLst/>
              <a:gdLst/>
              <a:ahLst/>
              <a:cxnLst/>
              <a:rect l="l" t="t" r="r" b="b"/>
              <a:pathLst>
                <a:path w="774835" h="435844">
                  <a:moveTo>
                    <a:pt x="0" y="0"/>
                  </a:moveTo>
                  <a:lnTo>
                    <a:pt x="774835" y="0"/>
                  </a:lnTo>
                  <a:lnTo>
                    <a:pt x="774835" y="435844"/>
                  </a:lnTo>
                  <a:lnTo>
                    <a:pt x="0" y="435844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9917439" y="1230959"/>
            <a:ext cx="7341861" cy="1699598"/>
          </a:xfrm>
          <a:custGeom>
            <a:avLst/>
            <a:gdLst/>
            <a:ahLst/>
            <a:cxnLst/>
            <a:rect l="l" t="t" r="r" b="b"/>
            <a:pathLst>
              <a:path w="7341861" h="1699598">
                <a:moveTo>
                  <a:pt x="0" y="0"/>
                </a:moveTo>
                <a:lnTo>
                  <a:pt x="7341861" y="0"/>
                </a:lnTo>
                <a:lnTo>
                  <a:pt x="7341861" y="1699598"/>
                </a:lnTo>
                <a:lnTo>
                  <a:pt x="0" y="1699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</a:blip>
            <a:stretch>
              <a:fillRect t="-83240" b="-5209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790685" y="884127"/>
            <a:ext cx="7557593" cy="1569732"/>
            <a:chOff x="0" y="0"/>
            <a:chExt cx="1857564" cy="38582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57564" cy="385821"/>
            </a:xfrm>
            <a:custGeom>
              <a:avLst/>
              <a:gdLst/>
              <a:ahLst/>
              <a:cxnLst/>
              <a:rect l="l" t="t" r="r" b="b"/>
              <a:pathLst>
                <a:path w="1857564" h="385821">
                  <a:moveTo>
                    <a:pt x="86049" y="0"/>
                  </a:moveTo>
                  <a:lnTo>
                    <a:pt x="1771516" y="0"/>
                  </a:lnTo>
                  <a:cubicBezTo>
                    <a:pt x="1819039" y="0"/>
                    <a:pt x="1857564" y="38525"/>
                    <a:pt x="1857564" y="86049"/>
                  </a:cubicBezTo>
                  <a:lnTo>
                    <a:pt x="1857564" y="299772"/>
                  </a:lnTo>
                  <a:cubicBezTo>
                    <a:pt x="1857564" y="347296"/>
                    <a:pt x="1819039" y="385821"/>
                    <a:pt x="1771516" y="385821"/>
                  </a:cubicBezTo>
                  <a:lnTo>
                    <a:pt x="86049" y="385821"/>
                  </a:lnTo>
                  <a:cubicBezTo>
                    <a:pt x="38525" y="385821"/>
                    <a:pt x="0" y="347296"/>
                    <a:pt x="0" y="299772"/>
                  </a:cubicBezTo>
                  <a:lnTo>
                    <a:pt x="0" y="86049"/>
                  </a:lnTo>
                  <a:cubicBezTo>
                    <a:pt x="0" y="38525"/>
                    <a:pt x="38525" y="0"/>
                    <a:pt x="86049" y="0"/>
                  </a:cubicBezTo>
                  <a:close/>
                </a:path>
              </a:pathLst>
            </a:custGeom>
            <a:solidFill>
              <a:srgbClr val="0F439B"/>
            </a:solidFill>
            <a:ln w="571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857564" cy="471546"/>
            </a:xfrm>
            <a:prstGeom prst="rect">
              <a:avLst/>
            </a:prstGeom>
          </p:spPr>
          <p:txBody>
            <a:bodyPr lIns="54435" tIns="54435" rIns="54435" bIns="54435" rtlCol="0" anchor="ctr"/>
            <a:lstStyle/>
            <a:p>
              <a:pPr algn="ctr">
                <a:lnSpc>
                  <a:spcPts val="6259"/>
                </a:lnSpc>
              </a:pPr>
              <a:r>
                <a:rPr lang="en-US" sz="447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FINANCIAL INSIGHTS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9" t="-1489" b="-2070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98207" y="1965472"/>
            <a:ext cx="8972020" cy="6356056"/>
            <a:chOff x="0" y="0"/>
            <a:chExt cx="2363001" cy="16740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3001" cy="1674023"/>
            </a:xfrm>
            <a:custGeom>
              <a:avLst/>
              <a:gdLst/>
              <a:ahLst/>
              <a:cxnLst/>
              <a:rect l="l" t="t" r="r" b="b"/>
              <a:pathLst>
                <a:path w="2363001" h="1674023">
                  <a:moveTo>
                    <a:pt x="49185" y="0"/>
                  </a:moveTo>
                  <a:lnTo>
                    <a:pt x="2313816" y="0"/>
                  </a:lnTo>
                  <a:cubicBezTo>
                    <a:pt x="2326861" y="0"/>
                    <a:pt x="2339371" y="5182"/>
                    <a:pt x="2348595" y="14406"/>
                  </a:cubicBezTo>
                  <a:cubicBezTo>
                    <a:pt x="2357819" y="23630"/>
                    <a:pt x="2363001" y="36140"/>
                    <a:pt x="2363001" y="49185"/>
                  </a:cubicBezTo>
                  <a:lnTo>
                    <a:pt x="2363001" y="1624838"/>
                  </a:lnTo>
                  <a:cubicBezTo>
                    <a:pt x="2363001" y="1637882"/>
                    <a:pt x="2357819" y="1650393"/>
                    <a:pt x="2348595" y="1659617"/>
                  </a:cubicBezTo>
                  <a:cubicBezTo>
                    <a:pt x="2339371" y="1668841"/>
                    <a:pt x="2326861" y="1674023"/>
                    <a:pt x="2313816" y="1674023"/>
                  </a:cubicBezTo>
                  <a:lnTo>
                    <a:pt x="49185" y="1674023"/>
                  </a:lnTo>
                  <a:cubicBezTo>
                    <a:pt x="36140" y="1674023"/>
                    <a:pt x="23630" y="1668841"/>
                    <a:pt x="14406" y="1659617"/>
                  </a:cubicBezTo>
                  <a:cubicBezTo>
                    <a:pt x="5182" y="1650393"/>
                    <a:pt x="0" y="1637882"/>
                    <a:pt x="0" y="1624838"/>
                  </a:cubicBezTo>
                  <a:lnTo>
                    <a:pt x="0" y="49185"/>
                  </a:lnTo>
                  <a:cubicBezTo>
                    <a:pt x="0" y="36140"/>
                    <a:pt x="5182" y="23630"/>
                    <a:pt x="14406" y="14406"/>
                  </a:cubicBezTo>
                  <a:cubicBezTo>
                    <a:pt x="23630" y="5182"/>
                    <a:pt x="36140" y="0"/>
                    <a:pt x="49185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63001" cy="1712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42097" y="5912275"/>
            <a:ext cx="4204011" cy="883785"/>
            <a:chOff x="0" y="0"/>
            <a:chExt cx="1107229" cy="23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7229" cy="232766"/>
            </a:xfrm>
            <a:custGeom>
              <a:avLst/>
              <a:gdLst/>
              <a:ahLst/>
              <a:cxnLst/>
              <a:rect l="l" t="t" r="r" b="b"/>
              <a:pathLst>
                <a:path w="1107229" h="232766">
                  <a:moveTo>
                    <a:pt x="93919" y="0"/>
                  </a:moveTo>
                  <a:lnTo>
                    <a:pt x="1013310" y="0"/>
                  </a:lnTo>
                  <a:cubicBezTo>
                    <a:pt x="1065180" y="0"/>
                    <a:pt x="1107229" y="42049"/>
                    <a:pt x="1107229" y="93919"/>
                  </a:cubicBezTo>
                  <a:lnTo>
                    <a:pt x="1107229" y="138847"/>
                  </a:lnTo>
                  <a:cubicBezTo>
                    <a:pt x="1107229" y="163756"/>
                    <a:pt x="1097334" y="187645"/>
                    <a:pt x="1079721" y="205258"/>
                  </a:cubicBezTo>
                  <a:cubicBezTo>
                    <a:pt x="1062108" y="222871"/>
                    <a:pt x="1038219" y="232766"/>
                    <a:pt x="1013310" y="232766"/>
                  </a:cubicBezTo>
                  <a:lnTo>
                    <a:pt x="93919" y="232766"/>
                  </a:lnTo>
                  <a:cubicBezTo>
                    <a:pt x="69010" y="232766"/>
                    <a:pt x="45122" y="222871"/>
                    <a:pt x="27508" y="205258"/>
                  </a:cubicBezTo>
                  <a:cubicBezTo>
                    <a:pt x="9895" y="187645"/>
                    <a:pt x="0" y="163756"/>
                    <a:pt x="0" y="138847"/>
                  </a:cubicBezTo>
                  <a:lnTo>
                    <a:pt x="0" y="93919"/>
                  </a:lnTo>
                  <a:cubicBezTo>
                    <a:pt x="0" y="69010"/>
                    <a:pt x="9895" y="45122"/>
                    <a:pt x="27508" y="27508"/>
                  </a:cubicBezTo>
                  <a:cubicBezTo>
                    <a:pt x="45122" y="9895"/>
                    <a:pt x="69010" y="0"/>
                    <a:pt x="93919" y="0"/>
                  </a:cubicBezTo>
                  <a:close/>
                </a:path>
              </a:pathLst>
            </a:custGeom>
            <a:ln w="38100" cap="rnd">
              <a:solidFill>
                <a:srgbClr val="89C0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07229" cy="270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762164" y="3018641"/>
            <a:ext cx="9083944" cy="237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29"/>
              </a:lnSpc>
            </a:pPr>
            <a:r>
              <a:rPr lang="en-US" sz="94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Financial</a:t>
            </a:r>
          </a:p>
          <a:p>
            <a:pPr algn="r">
              <a:lnSpc>
                <a:spcPts val="9129"/>
              </a:lnSpc>
            </a:pPr>
            <a:r>
              <a:rPr lang="en-US" sz="94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03310" y="990600"/>
            <a:ext cx="4255990" cy="37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84217" y="9049385"/>
            <a:ext cx="4255990" cy="37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6880" y="7717117"/>
            <a:ext cx="16732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14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Presented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5183" y="7717117"/>
            <a:ext cx="1248349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Rimberio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75372" y="7717117"/>
            <a:ext cx="16732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14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Presented 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93675" y="7717117"/>
            <a:ext cx="1452433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Wardiere Inc.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5205" y="6145253"/>
            <a:ext cx="4077795" cy="37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Presentation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86827" y="1929451"/>
            <a:ext cx="7167167" cy="2877473"/>
            <a:chOff x="0" y="0"/>
            <a:chExt cx="1110382" cy="4457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0382" cy="445796"/>
            </a:xfrm>
            <a:custGeom>
              <a:avLst/>
              <a:gdLst/>
              <a:ahLst/>
              <a:cxnLst/>
              <a:rect l="l" t="t" r="r" b="b"/>
              <a:pathLst>
                <a:path w="1110382" h="445796">
                  <a:moveTo>
                    <a:pt x="0" y="0"/>
                  </a:moveTo>
                  <a:lnTo>
                    <a:pt x="1110382" y="0"/>
                  </a:lnTo>
                  <a:lnTo>
                    <a:pt x="1110382" y="445796"/>
                  </a:lnTo>
                  <a:lnTo>
                    <a:pt x="0" y="445796"/>
                  </a:lnTo>
                  <a:close/>
                </a:path>
              </a:pathLst>
            </a:custGeom>
            <a:blipFill>
              <a:blip r:embed="rId2"/>
              <a:stretch>
                <a:fillRect t="-41147" b="-2832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0" y="5526073"/>
            <a:ext cx="3874127" cy="3314258"/>
            <a:chOff x="0" y="0"/>
            <a:chExt cx="1020346" cy="8728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0346" cy="872891"/>
            </a:xfrm>
            <a:custGeom>
              <a:avLst/>
              <a:gdLst/>
              <a:ahLst/>
              <a:cxnLst/>
              <a:rect l="l" t="t" r="r" b="b"/>
              <a:pathLst>
                <a:path w="1020346" h="872891">
                  <a:moveTo>
                    <a:pt x="113907" y="0"/>
                  </a:moveTo>
                  <a:lnTo>
                    <a:pt x="906439" y="0"/>
                  </a:lnTo>
                  <a:cubicBezTo>
                    <a:pt x="969348" y="0"/>
                    <a:pt x="1020346" y="50998"/>
                    <a:pt x="1020346" y="113907"/>
                  </a:cubicBezTo>
                  <a:lnTo>
                    <a:pt x="1020346" y="758984"/>
                  </a:lnTo>
                  <a:cubicBezTo>
                    <a:pt x="1020346" y="821893"/>
                    <a:pt x="969348" y="872891"/>
                    <a:pt x="906439" y="872891"/>
                  </a:cubicBezTo>
                  <a:lnTo>
                    <a:pt x="113907" y="872891"/>
                  </a:lnTo>
                  <a:cubicBezTo>
                    <a:pt x="83697" y="872891"/>
                    <a:pt x="54724" y="860890"/>
                    <a:pt x="33363" y="839529"/>
                  </a:cubicBezTo>
                  <a:cubicBezTo>
                    <a:pt x="12001" y="818167"/>
                    <a:pt x="0" y="789194"/>
                    <a:pt x="0" y="758984"/>
                  </a:cubicBezTo>
                  <a:lnTo>
                    <a:pt x="0" y="113907"/>
                  </a:lnTo>
                  <a:cubicBezTo>
                    <a:pt x="0" y="50998"/>
                    <a:pt x="50998" y="0"/>
                    <a:pt x="11390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0346" cy="910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94241" y="5527180"/>
            <a:ext cx="3874127" cy="3314258"/>
            <a:chOff x="0" y="0"/>
            <a:chExt cx="1020346" cy="8728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0346" cy="872891"/>
            </a:xfrm>
            <a:custGeom>
              <a:avLst/>
              <a:gdLst/>
              <a:ahLst/>
              <a:cxnLst/>
              <a:rect l="l" t="t" r="r" b="b"/>
              <a:pathLst>
                <a:path w="1020346" h="872891">
                  <a:moveTo>
                    <a:pt x="113907" y="0"/>
                  </a:moveTo>
                  <a:lnTo>
                    <a:pt x="906439" y="0"/>
                  </a:lnTo>
                  <a:cubicBezTo>
                    <a:pt x="969348" y="0"/>
                    <a:pt x="1020346" y="50998"/>
                    <a:pt x="1020346" y="113907"/>
                  </a:cubicBezTo>
                  <a:lnTo>
                    <a:pt x="1020346" y="758984"/>
                  </a:lnTo>
                  <a:cubicBezTo>
                    <a:pt x="1020346" y="821893"/>
                    <a:pt x="969348" y="872891"/>
                    <a:pt x="906439" y="872891"/>
                  </a:cubicBezTo>
                  <a:lnTo>
                    <a:pt x="113907" y="872891"/>
                  </a:lnTo>
                  <a:cubicBezTo>
                    <a:pt x="83697" y="872891"/>
                    <a:pt x="54724" y="860890"/>
                    <a:pt x="33363" y="839529"/>
                  </a:cubicBezTo>
                  <a:cubicBezTo>
                    <a:pt x="12001" y="818167"/>
                    <a:pt x="0" y="789194"/>
                    <a:pt x="0" y="758984"/>
                  </a:cubicBezTo>
                  <a:lnTo>
                    <a:pt x="0" y="113907"/>
                  </a:lnTo>
                  <a:cubicBezTo>
                    <a:pt x="0" y="50998"/>
                    <a:pt x="50998" y="0"/>
                    <a:pt x="11390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20346" cy="910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44708" y="5919409"/>
            <a:ext cx="669088" cy="6690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058459" y="5919409"/>
            <a:ext cx="669088" cy="6690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138099" y="6112800"/>
            <a:ext cx="282307" cy="282307"/>
          </a:xfrm>
          <a:custGeom>
            <a:avLst/>
            <a:gdLst/>
            <a:ahLst/>
            <a:cxnLst/>
            <a:rect l="l" t="t" r="r" b="b"/>
            <a:pathLst>
              <a:path w="282307" h="282307">
                <a:moveTo>
                  <a:pt x="0" y="0"/>
                </a:moveTo>
                <a:lnTo>
                  <a:pt x="282306" y="0"/>
                </a:lnTo>
                <a:lnTo>
                  <a:pt x="282306" y="282306"/>
                </a:lnTo>
                <a:lnTo>
                  <a:pt x="0" y="28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91710" y="5310642"/>
            <a:ext cx="7080765" cy="306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In the past year, Rimberio has experienced significant growth, with a 20% increase in total revenue, reaching $10 million.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0F439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This growth was primarily driven by the successful launch of our new product line, which accounted for 30% of total sales.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854482"/>
            <a:ext cx="9083944" cy="1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29"/>
              </a:lnSpc>
            </a:pPr>
            <a:r>
              <a:rPr lang="en-US" sz="94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990600"/>
            <a:ext cx="4255990" cy="37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03310" y="990600"/>
            <a:ext cx="4255990" cy="37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sp>
        <p:nvSpPr>
          <p:cNvPr id="21" name="Freeform 21"/>
          <p:cNvSpPr/>
          <p:nvPr/>
        </p:nvSpPr>
        <p:spPr>
          <a:xfrm flipH="1" flipV="1">
            <a:off x="16251849" y="6112800"/>
            <a:ext cx="282307" cy="282307"/>
          </a:xfrm>
          <a:custGeom>
            <a:avLst/>
            <a:gdLst/>
            <a:ahLst/>
            <a:cxnLst/>
            <a:rect l="l" t="t" r="r" b="b"/>
            <a:pathLst>
              <a:path w="282307" h="282307">
                <a:moveTo>
                  <a:pt x="282307" y="282306"/>
                </a:moveTo>
                <a:lnTo>
                  <a:pt x="0" y="282306"/>
                </a:lnTo>
                <a:lnTo>
                  <a:pt x="0" y="0"/>
                </a:lnTo>
                <a:lnTo>
                  <a:pt x="282307" y="0"/>
                </a:lnTo>
                <a:lnTo>
                  <a:pt x="282307" y="28230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635431" y="6323728"/>
            <a:ext cx="1915923" cy="63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Total</a:t>
            </a:r>
          </a:p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Income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86827" y="7544572"/>
            <a:ext cx="3087338" cy="58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0"/>
              </a:lnSpc>
            </a:pPr>
            <a:r>
              <a:rPr lang="en-US" sz="44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$20,000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77027" y="6323728"/>
            <a:ext cx="1915923" cy="63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Net</a:t>
            </a:r>
          </a:p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Profit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77027" y="7544572"/>
            <a:ext cx="2857129" cy="58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0"/>
              </a:lnSpc>
            </a:pPr>
            <a:r>
              <a:rPr lang="en-US" sz="44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$15,500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34003"/>
            <a:ext cx="4117597" cy="5673184"/>
            <a:chOff x="0" y="0"/>
            <a:chExt cx="1084470" cy="14941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4470" cy="1494172"/>
            </a:xfrm>
            <a:custGeom>
              <a:avLst/>
              <a:gdLst/>
              <a:ahLst/>
              <a:cxnLst/>
              <a:rect l="l" t="t" r="r" b="b"/>
              <a:pathLst>
                <a:path w="1084470" h="1494172">
                  <a:moveTo>
                    <a:pt x="107172" y="0"/>
                  </a:moveTo>
                  <a:lnTo>
                    <a:pt x="977298" y="0"/>
                  </a:lnTo>
                  <a:cubicBezTo>
                    <a:pt x="1005722" y="0"/>
                    <a:pt x="1032981" y="11291"/>
                    <a:pt x="1053080" y="31390"/>
                  </a:cubicBezTo>
                  <a:cubicBezTo>
                    <a:pt x="1073179" y="51488"/>
                    <a:pt x="1084470" y="78748"/>
                    <a:pt x="1084470" y="107172"/>
                  </a:cubicBezTo>
                  <a:lnTo>
                    <a:pt x="1084470" y="1387000"/>
                  </a:lnTo>
                  <a:cubicBezTo>
                    <a:pt x="1084470" y="1415424"/>
                    <a:pt x="1073179" y="1442684"/>
                    <a:pt x="1053080" y="1462782"/>
                  </a:cubicBezTo>
                  <a:cubicBezTo>
                    <a:pt x="1032981" y="1482881"/>
                    <a:pt x="1005722" y="1494172"/>
                    <a:pt x="977298" y="1494172"/>
                  </a:cubicBezTo>
                  <a:lnTo>
                    <a:pt x="107172" y="1494172"/>
                  </a:lnTo>
                  <a:cubicBezTo>
                    <a:pt x="78748" y="1494172"/>
                    <a:pt x="51488" y="1482881"/>
                    <a:pt x="31390" y="1462782"/>
                  </a:cubicBezTo>
                  <a:cubicBezTo>
                    <a:pt x="11291" y="1442684"/>
                    <a:pt x="0" y="1415424"/>
                    <a:pt x="0" y="1387000"/>
                  </a:cubicBezTo>
                  <a:lnTo>
                    <a:pt x="0" y="107172"/>
                  </a:lnTo>
                  <a:cubicBezTo>
                    <a:pt x="0" y="78748"/>
                    <a:pt x="11291" y="51488"/>
                    <a:pt x="31390" y="31390"/>
                  </a:cubicBezTo>
                  <a:cubicBezTo>
                    <a:pt x="51488" y="11291"/>
                    <a:pt x="78748" y="0"/>
                    <a:pt x="107172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84470" cy="1532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96143" y="3634003"/>
            <a:ext cx="5777271" cy="2819629"/>
            <a:chOff x="0" y="0"/>
            <a:chExt cx="1521586" cy="7426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1586" cy="742618"/>
            </a:xfrm>
            <a:custGeom>
              <a:avLst/>
              <a:gdLst/>
              <a:ahLst/>
              <a:cxnLst/>
              <a:rect l="l" t="t" r="r" b="b"/>
              <a:pathLst>
                <a:path w="1521586" h="742618">
                  <a:moveTo>
                    <a:pt x="76384" y="0"/>
                  </a:moveTo>
                  <a:lnTo>
                    <a:pt x="1445202" y="0"/>
                  </a:lnTo>
                  <a:cubicBezTo>
                    <a:pt x="1487388" y="0"/>
                    <a:pt x="1521586" y="34198"/>
                    <a:pt x="1521586" y="76384"/>
                  </a:cubicBezTo>
                  <a:lnTo>
                    <a:pt x="1521586" y="666235"/>
                  </a:lnTo>
                  <a:cubicBezTo>
                    <a:pt x="1521586" y="708420"/>
                    <a:pt x="1487388" y="742618"/>
                    <a:pt x="1445202" y="742618"/>
                  </a:cubicBezTo>
                  <a:lnTo>
                    <a:pt x="76384" y="742618"/>
                  </a:lnTo>
                  <a:cubicBezTo>
                    <a:pt x="34198" y="742618"/>
                    <a:pt x="0" y="708420"/>
                    <a:pt x="0" y="666235"/>
                  </a:cubicBezTo>
                  <a:lnTo>
                    <a:pt x="0" y="76384"/>
                  </a:lnTo>
                  <a:cubicBezTo>
                    <a:pt x="0" y="34198"/>
                    <a:pt x="34198" y="0"/>
                    <a:pt x="76384" y="0"/>
                  </a:cubicBezTo>
                  <a:close/>
                </a:path>
              </a:pathLst>
            </a:custGeom>
            <a:solidFill>
              <a:srgbClr val="C3D3E3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21586" cy="78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96143" y="6577741"/>
            <a:ext cx="11763157" cy="2819629"/>
            <a:chOff x="0" y="0"/>
            <a:chExt cx="3098115" cy="7426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8115" cy="742618"/>
            </a:xfrm>
            <a:custGeom>
              <a:avLst/>
              <a:gdLst/>
              <a:ahLst/>
              <a:cxnLst/>
              <a:rect l="l" t="t" r="r" b="b"/>
              <a:pathLst>
                <a:path w="3098115" h="742618">
                  <a:moveTo>
                    <a:pt x="37515" y="0"/>
                  </a:moveTo>
                  <a:lnTo>
                    <a:pt x="3060601" y="0"/>
                  </a:lnTo>
                  <a:cubicBezTo>
                    <a:pt x="3070550" y="0"/>
                    <a:pt x="3080092" y="3952"/>
                    <a:pt x="3087128" y="10988"/>
                  </a:cubicBezTo>
                  <a:cubicBezTo>
                    <a:pt x="3094163" y="18023"/>
                    <a:pt x="3098115" y="27565"/>
                    <a:pt x="3098115" y="37515"/>
                  </a:cubicBezTo>
                  <a:lnTo>
                    <a:pt x="3098115" y="705104"/>
                  </a:lnTo>
                  <a:cubicBezTo>
                    <a:pt x="3098115" y="715053"/>
                    <a:pt x="3094163" y="724595"/>
                    <a:pt x="3087128" y="731631"/>
                  </a:cubicBezTo>
                  <a:cubicBezTo>
                    <a:pt x="3080092" y="738666"/>
                    <a:pt x="3070550" y="742618"/>
                    <a:pt x="3060601" y="742618"/>
                  </a:cubicBezTo>
                  <a:lnTo>
                    <a:pt x="37515" y="742618"/>
                  </a:lnTo>
                  <a:cubicBezTo>
                    <a:pt x="16796" y="742618"/>
                    <a:pt x="0" y="725822"/>
                    <a:pt x="0" y="705104"/>
                  </a:cubicBezTo>
                  <a:lnTo>
                    <a:pt x="0" y="37515"/>
                  </a:lnTo>
                  <a:cubicBezTo>
                    <a:pt x="0" y="27565"/>
                    <a:pt x="3952" y="18023"/>
                    <a:pt x="10988" y="10988"/>
                  </a:cubicBezTo>
                  <a:cubicBezTo>
                    <a:pt x="18023" y="3952"/>
                    <a:pt x="27565" y="0"/>
                    <a:pt x="37515" y="0"/>
                  </a:cubicBezTo>
                  <a:close/>
                </a:path>
              </a:pathLst>
            </a:custGeom>
            <a:solidFill>
              <a:srgbClr val="C3D3E3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098115" cy="78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82029" y="3696057"/>
            <a:ext cx="5777271" cy="2819629"/>
            <a:chOff x="0" y="0"/>
            <a:chExt cx="1521586" cy="7426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1586" cy="742618"/>
            </a:xfrm>
            <a:custGeom>
              <a:avLst/>
              <a:gdLst/>
              <a:ahLst/>
              <a:cxnLst/>
              <a:rect l="l" t="t" r="r" b="b"/>
              <a:pathLst>
                <a:path w="1521586" h="742618">
                  <a:moveTo>
                    <a:pt x="76384" y="0"/>
                  </a:moveTo>
                  <a:lnTo>
                    <a:pt x="1445202" y="0"/>
                  </a:lnTo>
                  <a:cubicBezTo>
                    <a:pt x="1487388" y="0"/>
                    <a:pt x="1521586" y="34198"/>
                    <a:pt x="1521586" y="76384"/>
                  </a:cubicBezTo>
                  <a:lnTo>
                    <a:pt x="1521586" y="666235"/>
                  </a:lnTo>
                  <a:cubicBezTo>
                    <a:pt x="1521586" y="708420"/>
                    <a:pt x="1487388" y="742618"/>
                    <a:pt x="1445202" y="742618"/>
                  </a:cubicBezTo>
                  <a:lnTo>
                    <a:pt x="76384" y="742618"/>
                  </a:lnTo>
                  <a:cubicBezTo>
                    <a:pt x="34198" y="742618"/>
                    <a:pt x="0" y="708420"/>
                    <a:pt x="0" y="666235"/>
                  </a:cubicBezTo>
                  <a:lnTo>
                    <a:pt x="0" y="76384"/>
                  </a:lnTo>
                  <a:cubicBezTo>
                    <a:pt x="0" y="34198"/>
                    <a:pt x="34198" y="0"/>
                    <a:pt x="76384" y="0"/>
                  </a:cubicBezTo>
                  <a:close/>
                </a:path>
              </a:pathLst>
            </a:custGeom>
            <a:solidFill>
              <a:srgbClr val="C3D3E3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21586" cy="78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53686" y="2014594"/>
            <a:ext cx="5724809" cy="883785"/>
            <a:chOff x="0" y="0"/>
            <a:chExt cx="1507769" cy="2327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7769" cy="232766"/>
            </a:xfrm>
            <a:custGeom>
              <a:avLst/>
              <a:gdLst/>
              <a:ahLst/>
              <a:cxnLst/>
              <a:rect l="l" t="t" r="r" b="b"/>
              <a:pathLst>
                <a:path w="1507769" h="232766">
                  <a:moveTo>
                    <a:pt x="58151" y="0"/>
                  </a:moveTo>
                  <a:lnTo>
                    <a:pt x="1449618" y="0"/>
                  </a:lnTo>
                  <a:cubicBezTo>
                    <a:pt x="1465040" y="0"/>
                    <a:pt x="1479831" y="6127"/>
                    <a:pt x="1490737" y="17032"/>
                  </a:cubicBezTo>
                  <a:cubicBezTo>
                    <a:pt x="1501642" y="27937"/>
                    <a:pt x="1507769" y="42728"/>
                    <a:pt x="1507769" y="58151"/>
                  </a:cubicBezTo>
                  <a:lnTo>
                    <a:pt x="1507769" y="174615"/>
                  </a:lnTo>
                  <a:cubicBezTo>
                    <a:pt x="1507769" y="190038"/>
                    <a:pt x="1501642" y="204829"/>
                    <a:pt x="1490737" y="215734"/>
                  </a:cubicBezTo>
                  <a:cubicBezTo>
                    <a:pt x="1479831" y="226640"/>
                    <a:pt x="1465040" y="232766"/>
                    <a:pt x="1449618" y="232766"/>
                  </a:cubicBezTo>
                  <a:lnTo>
                    <a:pt x="58151" y="232766"/>
                  </a:lnTo>
                  <a:cubicBezTo>
                    <a:pt x="26035" y="232766"/>
                    <a:pt x="0" y="206731"/>
                    <a:pt x="0" y="174615"/>
                  </a:cubicBezTo>
                  <a:lnTo>
                    <a:pt x="0" y="58151"/>
                  </a:lnTo>
                  <a:cubicBezTo>
                    <a:pt x="0" y="26035"/>
                    <a:pt x="26035" y="0"/>
                    <a:pt x="58151" y="0"/>
                  </a:cubicBezTo>
                  <a:close/>
                </a:path>
              </a:pathLst>
            </a:custGeom>
            <a:ln w="38100" cap="rnd">
              <a:solidFill>
                <a:srgbClr val="89C0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07769" cy="270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73617" y="4056610"/>
            <a:ext cx="322198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Gross Profit Margin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59889" y="4056610"/>
            <a:ext cx="322198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Operating Cash Flow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938" y="5747363"/>
            <a:ext cx="12748387" cy="448990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097" y="3673676"/>
            <a:ext cx="2520352" cy="2883442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1664" y="3711714"/>
            <a:ext cx="2513436" cy="2841946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>
            <a:off x="1694431" y="4228722"/>
            <a:ext cx="685732" cy="623159"/>
          </a:xfrm>
          <a:custGeom>
            <a:avLst/>
            <a:gdLst/>
            <a:ahLst/>
            <a:cxnLst/>
            <a:rect l="l" t="t" r="r" b="b"/>
            <a:pathLst>
              <a:path w="685732" h="623159">
                <a:moveTo>
                  <a:pt x="0" y="0"/>
                </a:moveTo>
                <a:lnTo>
                  <a:pt x="685732" y="0"/>
                </a:lnTo>
                <a:lnTo>
                  <a:pt x="685732" y="623159"/>
                </a:lnTo>
                <a:lnTo>
                  <a:pt x="0" y="623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720396" y="6515686"/>
            <a:ext cx="896944" cy="739979"/>
          </a:xfrm>
          <a:custGeom>
            <a:avLst/>
            <a:gdLst/>
            <a:ahLst/>
            <a:cxnLst/>
            <a:rect l="l" t="t" r="r" b="b"/>
            <a:pathLst>
              <a:path w="896944" h="739979">
                <a:moveTo>
                  <a:pt x="0" y="0"/>
                </a:moveTo>
                <a:lnTo>
                  <a:pt x="896944" y="0"/>
                </a:lnTo>
                <a:lnTo>
                  <a:pt x="896944" y="739979"/>
                </a:lnTo>
                <a:lnTo>
                  <a:pt x="0" y="73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28700" y="1809229"/>
            <a:ext cx="8660542" cy="1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129"/>
              </a:lnSpc>
              <a:spcBef>
                <a:spcPct val="0"/>
              </a:spcBef>
            </a:pPr>
            <a:r>
              <a:rPr lang="en-US" sz="9412" u="none" strike="noStrike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Highlights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1261" y="2170737"/>
            <a:ext cx="5849660" cy="51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89C0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January – December 2041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4431" y="5000781"/>
            <a:ext cx="272368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Revenue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94431" y="7391169"/>
            <a:ext cx="272368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Net Profit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94431" y="5737912"/>
            <a:ext cx="3087338" cy="58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0"/>
              </a:lnSpc>
            </a:pPr>
            <a:r>
              <a:rPr lang="en-US" sz="4495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$20,000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4431" y="8123959"/>
            <a:ext cx="3087338" cy="58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0"/>
              </a:lnSpc>
            </a:pPr>
            <a:r>
              <a:rPr lang="en-US" sz="4495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$20,000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56662" y="5257800"/>
            <a:ext cx="1952782" cy="72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30"/>
              </a:lnSpc>
            </a:pPr>
            <a:r>
              <a:rPr lang="en-US" sz="54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44939" y="5282426"/>
            <a:ext cx="1952782" cy="72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30"/>
              </a:lnSpc>
            </a:pPr>
            <a:r>
              <a:rPr lang="en-US" sz="54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2974" y="2059671"/>
            <a:ext cx="4008742" cy="883785"/>
            <a:chOff x="0" y="0"/>
            <a:chExt cx="1055800" cy="2327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5800" cy="232766"/>
            </a:xfrm>
            <a:custGeom>
              <a:avLst/>
              <a:gdLst/>
              <a:ahLst/>
              <a:cxnLst/>
              <a:rect l="l" t="t" r="r" b="b"/>
              <a:pathLst>
                <a:path w="1055800" h="232766">
                  <a:moveTo>
                    <a:pt x="83044" y="0"/>
                  </a:moveTo>
                  <a:lnTo>
                    <a:pt x="972756" y="0"/>
                  </a:lnTo>
                  <a:cubicBezTo>
                    <a:pt x="1018620" y="0"/>
                    <a:pt x="1055800" y="37180"/>
                    <a:pt x="1055800" y="83044"/>
                  </a:cubicBezTo>
                  <a:lnTo>
                    <a:pt x="1055800" y="149722"/>
                  </a:lnTo>
                  <a:cubicBezTo>
                    <a:pt x="1055800" y="195586"/>
                    <a:pt x="1018620" y="232766"/>
                    <a:pt x="972756" y="232766"/>
                  </a:cubicBezTo>
                  <a:lnTo>
                    <a:pt x="83044" y="232766"/>
                  </a:lnTo>
                  <a:cubicBezTo>
                    <a:pt x="37180" y="232766"/>
                    <a:pt x="0" y="195586"/>
                    <a:pt x="0" y="149722"/>
                  </a:cubicBezTo>
                  <a:lnTo>
                    <a:pt x="0" y="83044"/>
                  </a:lnTo>
                  <a:cubicBezTo>
                    <a:pt x="0" y="37180"/>
                    <a:pt x="37180" y="0"/>
                    <a:pt x="83044" y="0"/>
                  </a:cubicBezTo>
                  <a:close/>
                </a:path>
              </a:pathLst>
            </a:custGeom>
            <a:ln w="38100" cap="rnd">
              <a:solidFill>
                <a:srgbClr val="89C0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5800" cy="270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81198"/>
            <a:ext cx="10163062" cy="102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675"/>
              </a:lnSpc>
              <a:spcBef>
                <a:spcPct val="0"/>
              </a:spcBef>
            </a:pPr>
            <a:r>
              <a:rPr lang="en-US" sz="79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Financial Highlights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1762" y="2215814"/>
            <a:ext cx="407116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89C0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FY 2040-2041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3817279"/>
            <a:ext cx="8966292" cy="5079991"/>
            <a:chOff x="0" y="0"/>
            <a:chExt cx="2361493" cy="13379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61492" cy="1337940"/>
            </a:xfrm>
            <a:custGeom>
              <a:avLst/>
              <a:gdLst/>
              <a:ahLst/>
              <a:cxnLst/>
              <a:rect l="l" t="t" r="r" b="b"/>
              <a:pathLst>
                <a:path w="2361492" h="1337940">
                  <a:moveTo>
                    <a:pt x="49216" y="0"/>
                  </a:moveTo>
                  <a:lnTo>
                    <a:pt x="2312276" y="0"/>
                  </a:lnTo>
                  <a:cubicBezTo>
                    <a:pt x="2339458" y="0"/>
                    <a:pt x="2361492" y="22035"/>
                    <a:pt x="2361492" y="49216"/>
                  </a:cubicBezTo>
                  <a:lnTo>
                    <a:pt x="2361492" y="1288724"/>
                  </a:lnTo>
                  <a:cubicBezTo>
                    <a:pt x="2361492" y="1315905"/>
                    <a:pt x="2339458" y="1337940"/>
                    <a:pt x="2312276" y="1337940"/>
                  </a:cubicBezTo>
                  <a:lnTo>
                    <a:pt x="49216" y="1337940"/>
                  </a:lnTo>
                  <a:cubicBezTo>
                    <a:pt x="22035" y="1337940"/>
                    <a:pt x="0" y="1315905"/>
                    <a:pt x="0" y="1288724"/>
                  </a:cubicBezTo>
                  <a:lnTo>
                    <a:pt x="0" y="49216"/>
                  </a:lnTo>
                  <a:cubicBezTo>
                    <a:pt x="0" y="22035"/>
                    <a:pt x="22035" y="0"/>
                    <a:pt x="49216" y="0"/>
                  </a:cubicBezTo>
                  <a:close/>
                </a:path>
              </a:pathLst>
            </a:custGeom>
            <a:solidFill>
              <a:srgbClr val="C3D3E3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361493" cy="1376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0" y="3323549"/>
            <a:ext cx="10050932" cy="606745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10258356" y="3817279"/>
            <a:ext cx="7000944" cy="5079991"/>
            <a:chOff x="0" y="0"/>
            <a:chExt cx="1843870" cy="13379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43870" cy="1337940"/>
            </a:xfrm>
            <a:custGeom>
              <a:avLst/>
              <a:gdLst/>
              <a:ahLst/>
              <a:cxnLst/>
              <a:rect l="l" t="t" r="r" b="b"/>
              <a:pathLst>
                <a:path w="1843870" h="1337940">
                  <a:moveTo>
                    <a:pt x="63033" y="0"/>
                  </a:moveTo>
                  <a:lnTo>
                    <a:pt x="1780837" y="0"/>
                  </a:lnTo>
                  <a:cubicBezTo>
                    <a:pt x="1815649" y="0"/>
                    <a:pt x="1843870" y="28221"/>
                    <a:pt x="1843870" y="63033"/>
                  </a:cubicBezTo>
                  <a:lnTo>
                    <a:pt x="1843870" y="1274907"/>
                  </a:lnTo>
                  <a:cubicBezTo>
                    <a:pt x="1843870" y="1309719"/>
                    <a:pt x="1815649" y="1337940"/>
                    <a:pt x="1780837" y="1337940"/>
                  </a:cubicBezTo>
                  <a:lnTo>
                    <a:pt x="63033" y="1337940"/>
                  </a:lnTo>
                  <a:cubicBezTo>
                    <a:pt x="28221" y="1337940"/>
                    <a:pt x="0" y="1309719"/>
                    <a:pt x="0" y="1274907"/>
                  </a:cubicBezTo>
                  <a:lnTo>
                    <a:pt x="0" y="63033"/>
                  </a:lnTo>
                  <a:cubicBezTo>
                    <a:pt x="0" y="28221"/>
                    <a:pt x="28221" y="0"/>
                    <a:pt x="63033" y="0"/>
                  </a:cubicBezTo>
                  <a:close/>
                </a:path>
              </a:pathLst>
            </a:custGeom>
            <a:solidFill>
              <a:srgbClr val="C3D3E3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843870" cy="1376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795821" y="4393574"/>
            <a:ext cx="322198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Revenue 2040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5821" y="6501274"/>
            <a:ext cx="322198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Revenue 2041 :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377" y="4407782"/>
            <a:ext cx="7428901" cy="148578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377" y="6512754"/>
            <a:ext cx="7428901" cy="148578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795821" y="5370274"/>
            <a:ext cx="2431525" cy="70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3"/>
              </a:lnSpc>
              <a:spcBef>
                <a:spcPct val="0"/>
              </a:spcBef>
            </a:pPr>
            <a:r>
              <a:rPr lang="en-US" sz="4166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$12M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95821" y="7575378"/>
            <a:ext cx="2431525" cy="70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3"/>
              </a:lnSpc>
              <a:spcBef>
                <a:spcPct val="0"/>
              </a:spcBef>
            </a:pPr>
            <a:r>
              <a:rPr lang="en-US" sz="4166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$18M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38511" y="5621782"/>
            <a:ext cx="2040633" cy="36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(+20% YoY)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38511" y="7798559"/>
            <a:ext cx="2040633" cy="36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(+24% YoY)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888258"/>
            <a:ext cx="5287650" cy="6370042"/>
            <a:chOff x="0" y="0"/>
            <a:chExt cx="1603410" cy="19316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3410" cy="1931631"/>
            </a:xfrm>
            <a:custGeom>
              <a:avLst/>
              <a:gdLst/>
              <a:ahLst/>
              <a:cxnLst/>
              <a:rect l="l" t="t" r="r" b="b"/>
              <a:pathLst>
                <a:path w="1603410" h="1931631">
                  <a:moveTo>
                    <a:pt x="83457" y="0"/>
                  </a:moveTo>
                  <a:lnTo>
                    <a:pt x="1519953" y="0"/>
                  </a:lnTo>
                  <a:cubicBezTo>
                    <a:pt x="1566045" y="0"/>
                    <a:pt x="1603410" y="37365"/>
                    <a:pt x="1603410" y="83457"/>
                  </a:cubicBezTo>
                  <a:lnTo>
                    <a:pt x="1603410" y="1848174"/>
                  </a:lnTo>
                  <a:cubicBezTo>
                    <a:pt x="1603410" y="1870308"/>
                    <a:pt x="1594617" y="1891536"/>
                    <a:pt x="1578966" y="1907187"/>
                  </a:cubicBezTo>
                  <a:cubicBezTo>
                    <a:pt x="1563315" y="1922838"/>
                    <a:pt x="1542087" y="1931631"/>
                    <a:pt x="1519953" y="1931631"/>
                  </a:cubicBezTo>
                  <a:lnTo>
                    <a:pt x="83457" y="1931631"/>
                  </a:lnTo>
                  <a:cubicBezTo>
                    <a:pt x="61323" y="1931631"/>
                    <a:pt x="40095" y="1922838"/>
                    <a:pt x="24444" y="1907187"/>
                  </a:cubicBezTo>
                  <a:cubicBezTo>
                    <a:pt x="8793" y="1891536"/>
                    <a:pt x="0" y="1870308"/>
                    <a:pt x="0" y="1848174"/>
                  </a:cubicBezTo>
                  <a:lnTo>
                    <a:pt x="0" y="83457"/>
                  </a:lnTo>
                  <a:cubicBezTo>
                    <a:pt x="0" y="61323"/>
                    <a:pt x="8793" y="40095"/>
                    <a:pt x="24444" y="24444"/>
                  </a:cubicBezTo>
                  <a:cubicBezTo>
                    <a:pt x="40095" y="8793"/>
                    <a:pt x="61323" y="0"/>
                    <a:pt x="8345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03410" cy="1969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09007" y="2888258"/>
            <a:ext cx="5287650" cy="6370042"/>
            <a:chOff x="0" y="0"/>
            <a:chExt cx="1603410" cy="19316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3410" cy="1931631"/>
            </a:xfrm>
            <a:custGeom>
              <a:avLst/>
              <a:gdLst/>
              <a:ahLst/>
              <a:cxnLst/>
              <a:rect l="l" t="t" r="r" b="b"/>
              <a:pathLst>
                <a:path w="1603410" h="1931631">
                  <a:moveTo>
                    <a:pt x="83457" y="0"/>
                  </a:moveTo>
                  <a:lnTo>
                    <a:pt x="1519953" y="0"/>
                  </a:lnTo>
                  <a:cubicBezTo>
                    <a:pt x="1566045" y="0"/>
                    <a:pt x="1603410" y="37365"/>
                    <a:pt x="1603410" y="83457"/>
                  </a:cubicBezTo>
                  <a:lnTo>
                    <a:pt x="1603410" y="1848174"/>
                  </a:lnTo>
                  <a:cubicBezTo>
                    <a:pt x="1603410" y="1870308"/>
                    <a:pt x="1594617" y="1891536"/>
                    <a:pt x="1578966" y="1907187"/>
                  </a:cubicBezTo>
                  <a:cubicBezTo>
                    <a:pt x="1563315" y="1922838"/>
                    <a:pt x="1542087" y="1931631"/>
                    <a:pt x="1519953" y="1931631"/>
                  </a:cubicBezTo>
                  <a:lnTo>
                    <a:pt x="83457" y="1931631"/>
                  </a:lnTo>
                  <a:cubicBezTo>
                    <a:pt x="61323" y="1931631"/>
                    <a:pt x="40095" y="1922838"/>
                    <a:pt x="24444" y="1907187"/>
                  </a:cubicBezTo>
                  <a:cubicBezTo>
                    <a:pt x="8793" y="1891536"/>
                    <a:pt x="0" y="1870308"/>
                    <a:pt x="0" y="1848174"/>
                  </a:cubicBezTo>
                  <a:lnTo>
                    <a:pt x="0" y="83457"/>
                  </a:lnTo>
                  <a:cubicBezTo>
                    <a:pt x="0" y="61323"/>
                    <a:pt x="8793" y="40095"/>
                    <a:pt x="24444" y="24444"/>
                  </a:cubicBezTo>
                  <a:cubicBezTo>
                    <a:pt x="40095" y="8793"/>
                    <a:pt x="61323" y="0"/>
                    <a:pt x="8345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03410" cy="1969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650" y="2793185"/>
            <a:ext cx="5180206" cy="6389039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1987157" y="3002438"/>
            <a:ext cx="5287650" cy="3446889"/>
            <a:chOff x="0" y="0"/>
            <a:chExt cx="1603410" cy="10452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03410" cy="1045223"/>
            </a:xfrm>
            <a:custGeom>
              <a:avLst/>
              <a:gdLst/>
              <a:ahLst/>
              <a:cxnLst/>
              <a:rect l="l" t="t" r="r" b="b"/>
              <a:pathLst>
                <a:path w="1603410" h="1045223">
                  <a:moveTo>
                    <a:pt x="83457" y="0"/>
                  </a:moveTo>
                  <a:lnTo>
                    <a:pt x="1519953" y="0"/>
                  </a:lnTo>
                  <a:cubicBezTo>
                    <a:pt x="1566045" y="0"/>
                    <a:pt x="1603410" y="37365"/>
                    <a:pt x="1603410" y="83457"/>
                  </a:cubicBezTo>
                  <a:lnTo>
                    <a:pt x="1603410" y="961766"/>
                  </a:lnTo>
                  <a:cubicBezTo>
                    <a:pt x="1603410" y="983901"/>
                    <a:pt x="1594617" y="1005128"/>
                    <a:pt x="1578966" y="1020779"/>
                  </a:cubicBezTo>
                  <a:cubicBezTo>
                    <a:pt x="1563315" y="1036430"/>
                    <a:pt x="1542087" y="1045223"/>
                    <a:pt x="1519953" y="1045223"/>
                  </a:cubicBezTo>
                  <a:lnTo>
                    <a:pt x="83457" y="1045223"/>
                  </a:lnTo>
                  <a:cubicBezTo>
                    <a:pt x="61323" y="1045223"/>
                    <a:pt x="40095" y="1036430"/>
                    <a:pt x="24444" y="1020779"/>
                  </a:cubicBezTo>
                  <a:cubicBezTo>
                    <a:pt x="8793" y="1005128"/>
                    <a:pt x="0" y="983901"/>
                    <a:pt x="0" y="961766"/>
                  </a:cubicBezTo>
                  <a:lnTo>
                    <a:pt x="0" y="83457"/>
                  </a:lnTo>
                  <a:cubicBezTo>
                    <a:pt x="0" y="61323"/>
                    <a:pt x="8793" y="40095"/>
                    <a:pt x="24444" y="24444"/>
                  </a:cubicBezTo>
                  <a:cubicBezTo>
                    <a:pt x="40095" y="8793"/>
                    <a:pt x="61323" y="0"/>
                    <a:pt x="8345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03410" cy="1083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028" y="3089389"/>
            <a:ext cx="5577907" cy="3363141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40805" y="2134990"/>
            <a:ext cx="437841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Forecast Scenario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90266" y="2134990"/>
            <a:ext cx="366387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Balance Sheets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06854" y="2134990"/>
            <a:ext cx="1401414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ROI 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87157" y="6654574"/>
            <a:ext cx="5287650" cy="2603726"/>
            <a:chOff x="0" y="0"/>
            <a:chExt cx="1603410" cy="7895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3410" cy="789545"/>
            </a:xfrm>
            <a:custGeom>
              <a:avLst/>
              <a:gdLst/>
              <a:ahLst/>
              <a:cxnLst/>
              <a:rect l="l" t="t" r="r" b="b"/>
              <a:pathLst>
                <a:path w="1603410" h="789545">
                  <a:moveTo>
                    <a:pt x="83457" y="0"/>
                  </a:moveTo>
                  <a:lnTo>
                    <a:pt x="1519953" y="0"/>
                  </a:lnTo>
                  <a:cubicBezTo>
                    <a:pt x="1566045" y="0"/>
                    <a:pt x="1603410" y="37365"/>
                    <a:pt x="1603410" y="83457"/>
                  </a:cubicBezTo>
                  <a:lnTo>
                    <a:pt x="1603410" y="706089"/>
                  </a:lnTo>
                  <a:cubicBezTo>
                    <a:pt x="1603410" y="728223"/>
                    <a:pt x="1594617" y="749450"/>
                    <a:pt x="1578966" y="765101"/>
                  </a:cubicBezTo>
                  <a:cubicBezTo>
                    <a:pt x="1563315" y="780753"/>
                    <a:pt x="1542087" y="789545"/>
                    <a:pt x="1519953" y="789545"/>
                  </a:cubicBezTo>
                  <a:lnTo>
                    <a:pt x="83457" y="789545"/>
                  </a:lnTo>
                  <a:cubicBezTo>
                    <a:pt x="37365" y="789545"/>
                    <a:pt x="0" y="752180"/>
                    <a:pt x="0" y="706089"/>
                  </a:cubicBezTo>
                  <a:lnTo>
                    <a:pt x="0" y="83457"/>
                  </a:lnTo>
                  <a:cubicBezTo>
                    <a:pt x="0" y="61323"/>
                    <a:pt x="8793" y="40095"/>
                    <a:pt x="24444" y="24444"/>
                  </a:cubicBezTo>
                  <a:cubicBezTo>
                    <a:pt x="40095" y="8793"/>
                    <a:pt x="61323" y="0"/>
                    <a:pt x="8345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603410" cy="827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425307" y="6970355"/>
            <a:ext cx="2833124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Summary :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86" y="2878759"/>
            <a:ext cx="5482591" cy="6389039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425307" y="7639874"/>
            <a:ext cx="4407479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F439B"/>
                </a:solidFill>
                <a:latin typeface="Canva Sans"/>
                <a:ea typeface="Canva Sans"/>
                <a:cs typeface="Canva Sans"/>
                <a:sym typeface="Canva Sans"/>
              </a:rPr>
              <a:t>In the past year, Rimberio has experienced significant growth, with a 20% increase in total revenue, reaching $10 million.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87157" y="4361082"/>
            <a:ext cx="1203776" cy="24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9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23545" y="3837908"/>
            <a:ext cx="1203776" cy="24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9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54655" y="4894715"/>
            <a:ext cx="1203776" cy="24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9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70747" y="3373230"/>
            <a:ext cx="1203776" cy="24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9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857467" y="4134318"/>
            <a:ext cx="1203776" cy="24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995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15%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86371"/>
            <a:ext cx="3874127" cy="1281583"/>
            <a:chOff x="0" y="0"/>
            <a:chExt cx="1020346" cy="337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0346" cy="337536"/>
            </a:xfrm>
            <a:custGeom>
              <a:avLst/>
              <a:gdLst/>
              <a:ahLst/>
              <a:cxnLst/>
              <a:rect l="l" t="t" r="r" b="b"/>
              <a:pathLst>
                <a:path w="1020346" h="337536">
                  <a:moveTo>
                    <a:pt x="55954" y="0"/>
                  </a:moveTo>
                  <a:lnTo>
                    <a:pt x="964392" y="0"/>
                  </a:lnTo>
                  <a:cubicBezTo>
                    <a:pt x="995295" y="0"/>
                    <a:pt x="1020346" y="25052"/>
                    <a:pt x="1020346" y="55954"/>
                  </a:cubicBezTo>
                  <a:lnTo>
                    <a:pt x="1020346" y="281582"/>
                  </a:lnTo>
                  <a:cubicBezTo>
                    <a:pt x="1020346" y="312485"/>
                    <a:pt x="995295" y="337536"/>
                    <a:pt x="964392" y="337536"/>
                  </a:cubicBezTo>
                  <a:lnTo>
                    <a:pt x="55954" y="337536"/>
                  </a:lnTo>
                  <a:cubicBezTo>
                    <a:pt x="41114" y="337536"/>
                    <a:pt x="26882" y="331641"/>
                    <a:pt x="16389" y="321148"/>
                  </a:cubicBezTo>
                  <a:cubicBezTo>
                    <a:pt x="5895" y="310654"/>
                    <a:pt x="0" y="296422"/>
                    <a:pt x="0" y="281582"/>
                  </a:cubicBezTo>
                  <a:lnTo>
                    <a:pt x="0" y="55954"/>
                  </a:lnTo>
                  <a:cubicBezTo>
                    <a:pt x="0" y="41114"/>
                    <a:pt x="5895" y="26882"/>
                    <a:pt x="16389" y="16389"/>
                  </a:cubicBezTo>
                  <a:cubicBezTo>
                    <a:pt x="26882" y="5895"/>
                    <a:pt x="41114" y="0"/>
                    <a:pt x="55954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0346" cy="375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0398" y="3462016"/>
            <a:ext cx="3874127" cy="1281583"/>
            <a:chOff x="0" y="0"/>
            <a:chExt cx="1020346" cy="3375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0346" cy="337536"/>
            </a:xfrm>
            <a:custGeom>
              <a:avLst/>
              <a:gdLst/>
              <a:ahLst/>
              <a:cxnLst/>
              <a:rect l="l" t="t" r="r" b="b"/>
              <a:pathLst>
                <a:path w="1020346" h="337536">
                  <a:moveTo>
                    <a:pt x="55954" y="0"/>
                  </a:moveTo>
                  <a:lnTo>
                    <a:pt x="964392" y="0"/>
                  </a:lnTo>
                  <a:cubicBezTo>
                    <a:pt x="995295" y="0"/>
                    <a:pt x="1020346" y="25052"/>
                    <a:pt x="1020346" y="55954"/>
                  </a:cubicBezTo>
                  <a:lnTo>
                    <a:pt x="1020346" y="281582"/>
                  </a:lnTo>
                  <a:cubicBezTo>
                    <a:pt x="1020346" y="312485"/>
                    <a:pt x="995295" y="337536"/>
                    <a:pt x="964392" y="337536"/>
                  </a:cubicBezTo>
                  <a:lnTo>
                    <a:pt x="55954" y="337536"/>
                  </a:lnTo>
                  <a:cubicBezTo>
                    <a:pt x="41114" y="337536"/>
                    <a:pt x="26882" y="331641"/>
                    <a:pt x="16389" y="321148"/>
                  </a:cubicBezTo>
                  <a:cubicBezTo>
                    <a:pt x="5895" y="310654"/>
                    <a:pt x="0" y="296422"/>
                    <a:pt x="0" y="281582"/>
                  </a:cubicBezTo>
                  <a:lnTo>
                    <a:pt x="0" y="55954"/>
                  </a:lnTo>
                  <a:cubicBezTo>
                    <a:pt x="0" y="41114"/>
                    <a:pt x="5895" y="26882"/>
                    <a:pt x="16389" y="16389"/>
                  </a:cubicBezTo>
                  <a:cubicBezTo>
                    <a:pt x="26882" y="5895"/>
                    <a:pt x="41114" y="0"/>
                    <a:pt x="55954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0346" cy="375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52650" y="3462016"/>
            <a:ext cx="3874127" cy="1281583"/>
            <a:chOff x="0" y="0"/>
            <a:chExt cx="1020346" cy="3375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0346" cy="337536"/>
            </a:xfrm>
            <a:custGeom>
              <a:avLst/>
              <a:gdLst/>
              <a:ahLst/>
              <a:cxnLst/>
              <a:rect l="l" t="t" r="r" b="b"/>
              <a:pathLst>
                <a:path w="1020346" h="337536">
                  <a:moveTo>
                    <a:pt x="55954" y="0"/>
                  </a:moveTo>
                  <a:lnTo>
                    <a:pt x="964392" y="0"/>
                  </a:lnTo>
                  <a:cubicBezTo>
                    <a:pt x="995295" y="0"/>
                    <a:pt x="1020346" y="25052"/>
                    <a:pt x="1020346" y="55954"/>
                  </a:cubicBezTo>
                  <a:lnTo>
                    <a:pt x="1020346" y="281582"/>
                  </a:lnTo>
                  <a:cubicBezTo>
                    <a:pt x="1020346" y="312485"/>
                    <a:pt x="995295" y="337536"/>
                    <a:pt x="964392" y="337536"/>
                  </a:cubicBezTo>
                  <a:lnTo>
                    <a:pt x="55954" y="337536"/>
                  </a:lnTo>
                  <a:cubicBezTo>
                    <a:pt x="41114" y="337536"/>
                    <a:pt x="26882" y="331641"/>
                    <a:pt x="16389" y="321148"/>
                  </a:cubicBezTo>
                  <a:cubicBezTo>
                    <a:pt x="5895" y="310654"/>
                    <a:pt x="0" y="296422"/>
                    <a:pt x="0" y="281582"/>
                  </a:cubicBezTo>
                  <a:lnTo>
                    <a:pt x="0" y="55954"/>
                  </a:lnTo>
                  <a:cubicBezTo>
                    <a:pt x="0" y="41114"/>
                    <a:pt x="5895" y="26882"/>
                    <a:pt x="16389" y="16389"/>
                  </a:cubicBezTo>
                  <a:cubicBezTo>
                    <a:pt x="26882" y="5895"/>
                    <a:pt x="41114" y="0"/>
                    <a:pt x="55954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0346" cy="375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015410"/>
            <a:ext cx="12098077" cy="4242890"/>
            <a:chOff x="0" y="0"/>
            <a:chExt cx="3186325" cy="11174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86325" cy="1117469"/>
            </a:xfrm>
            <a:custGeom>
              <a:avLst/>
              <a:gdLst/>
              <a:ahLst/>
              <a:cxnLst/>
              <a:rect l="l" t="t" r="r" b="b"/>
              <a:pathLst>
                <a:path w="3186325" h="1117469">
                  <a:moveTo>
                    <a:pt x="36476" y="0"/>
                  </a:moveTo>
                  <a:lnTo>
                    <a:pt x="3149849" y="0"/>
                  </a:lnTo>
                  <a:cubicBezTo>
                    <a:pt x="3169994" y="0"/>
                    <a:pt x="3186325" y="16331"/>
                    <a:pt x="3186325" y="36476"/>
                  </a:cubicBezTo>
                  <a:lnTo>
                    <a:pt x="3186325" y="1080993"/>
                  </a:lnTo>
                  <a:cubicBezTo>
                    <a:pt x="3186325" y="1090667"/>
                    <a:pt x="3182482" y="1099945"/>
                    <a:pt x="3175641" y="1106785"/>
                  </a:cubicBezTo>
                  <a:cubicBezTo>
                    <a:pt x="3168801" y="1113626"/>
                    <a:pt x="3159523" y="1117469"/>
                    <a:pt x="3149849" y="1117469"/>
                  </a:cubicBezTo>
                  <a:lnTo>
                    <a:pt x="36476" y="1117469"/>
                  </a:lnTo>
                  <a:cubicBezTo>
                    <a:pt x="26802" y="1117469"/>
                    <a:pt x="17524" y="1113626"/>
                    <a:pt x="10684" y="1106785"/>
                  </a:cubicBezTo>
                  <a:cubicBezTo>
                    <a:pt x="3843" y="1099945"/>
                    <a:pt x="0" y="1090667"/>
                    <a:pt x="0" y="1080993"/>
                  </a:cubicBezTo>
                  <a:lnTo>
                    <a:pt x="0" y="36476"/>
                  </a:lnTo>
                  <a:cubicBezTo>
                    <a:pt x="0" y="26802"/>
                    <a:pt x="3843" y="17524"/>
                    <a:pt x="10684" y="10684"/>
                  </a:cubicBezTo>
                  <a:cubicBezTo>
                    <a:pt x="17524" y="3843"/>
                    <a:pt x="26802" y="0"/>
                    <a:pt x="36476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186325" cy="1155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64902" y="3486371"/>
            <a:ext cx="3894398" cy="5771929"/>
            <a:chOff x="0" y="0"/>
            <a:chExt cx="1025685" cy="15201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5685" cy="1520179"/>
            </a:xfrm>
            <a:custGeom>
              <a:avLst/>
              <a:gdLst/>
              <a:ahLst/>
              <a:cxnLst/>
              <a:rect l="l" t="t" r="r" b="b"/>
              <a:pathLst>
                <a:path w="1025685" h="1520179">
                  <a:moveTo>
                    <a:pt x="87470" y="0"/>
                  </a:moveTo>
                  <a:lnTo>
                    <a:pt x="938215" y="0"/>
                  </a:lnTo>
                  <a:cubicBezTo>
                    <a:pt x="986523" y="0"/>
                    <a:pt x="1025685" y="39162"/>
                    <a:pt x="1025685" y="87470"/>
                  </a:cubicBezTo>
                  <a:lnTo>
                    <a:pt x="1025685" y="1432709"/>
                  </a:lnTo>
                  <a:cubicBezTo>
                    <a:pt x="1025685" y="1455907"/>
                    <a:pt x="1016469" y="1478156"/>
                    <a:pt x="1000066" y="1494559"/>
                  </a:cubicBezTo>
                  <a:cubicBezTo>
                    <a:pt x="983662" y="1510963"/>
                    <a:pt x="961413" y="1520179"/>
                    <a:pt x="938215" y="1520179"/>
                  </a:cubicBezTo>
                  <a:lnTo>
                    <a:pt x="87470" y="1520179"/>
                  </a:lnTo>
                  <a:cubicBezTo>
                    <a:pt x="39162" y="1520179"/>
                    <a:pt x="0" y="1481017"/>
                    <a:pt x="0" y="1432709"/>
                  </a:cubicBezTo>
                  <a:lnTo>
                    <a:pt x="0" y="87470"/>
                  </a:lnTo>
                  <a:cubicBezTo>
                    <a:pt x="0" y="39162"/>
                    <a:pt x="39162" y="0"/>
                    <a:pt x="87470" y="0"/>
                  </a:cubicBezTo>
                  <a:close/>
                </a:path>
              </a:pathLst>
            </a:custGeom>
            <a:solidFill>
              <a:srgbClr val="89C0FF">
                <a:alpha val="6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25685" cy="1558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30" y="4345646"/>
            <a:ext cx="12315064" cy="5582419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1371996" y="3763558"/>
            <a:ext cx="654863" cy="702559"/>
            <a:chOff x="0" y="0"/>
            <a:chExt cx="172474" cy="1850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2474" cy="185036"/>
            </a:xfrm>
            <a:custGeom>
              <a:avLst/>
              <a:gdLst/>
              <a:ahLst/>
              <a:cxnLst/>
              <a:rect l="l" t="t" r="r" b="b"/>
              <a:pathLst>
                <a:path w="172474" h="185036">
                  <a:moveTo>
                    <a:pt x="82755" y="0"/>
                  </a:moveTo>
                  <a:lnTo>
                    <a:pt x="89719" y="0"/>
                  </a:lnTo>
                  <a:cubicBezTo>
                    <a:pt x="111667" y="0"/>
                    <a:pt x="132716" y="8719"/>
                    <a:pt x="148236" y="24238"/>
                  </a:cubicBezTo>
                  <a:cubicBezTo>
                    <a:pt x="163755" y="39758"/>
                    <a:pt x="172474" y="60807"/>
                    <a:pt x="172474" y="82755"/>
                  </a:cubicBezTo>
                  <a:lnTo>
                    <a:pt x="172474" y="102281"/>
                  </a:lnTo>
                  <a:cubicBezTo>
                    <a:pt x="172474" y="147985"/>
                    <a:pt x="135423" y="185036"/>
                    <a:pt x="89719" y="185036"/>
                  </a:cubicBezTo>
                  <a:lnTo>
                    <a:pt x="82755" y="185036"/>
                  </a:lnTo>
                  <a:cubicBezTo>
                    <a:pt x="60807" y="185036"/>
                    <a:pt x="39758" y="176317"/>
                    <a:pt x="24238" y="160798"/>
                  </a:cubicBezTo>
                  <a:cubicBezTo>
                    <a:pt x="8719" y="145278"/>
                    <a:pt x="0" y="124229"/>
                    <a:pt x="0" y="102281"/>
                  </a:cubicBezTo>
                  <a:lnTo>
                    <a:pt x="0" y="82755"/>
                  </a:lnTo>
                  <a:cubicBezTo>
                    <a:pt x="0" y="60807"/>
                    <a:pt x="8719" y="39758"/>
                    <a:pt x="24238" y="24238"/>
                  </a:cubicBezTo>
                  <a:cubicBezTo>
                    <a:pt x="39758" y="8719"/>
                    <a:pt x="60807" y="0"/>
                    <a:pt x="82755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2474" cy="22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458751" y="3739203"/>
            <a:ext cx="654863" cy="702559"/>
            <a:chOff x="0" y="0"/>
            <a:chExt cx="172474" cy="1850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474" cy="185036"/>
            </a:xfrm>
            <a:custGeom>
              <a:avLst/>
              <a:gdLst/>
              <a:ahLst/>
              <a:cxnLst/>
              <a:rect l="l" t="t" r="r" b="b"/>
              <a:pathLst>
                <a:path w="172474" h="185036">
                  <a:moveTo>
                    <a:pt x="82755" y="0"/>
                  </a:moveTo>
                  <a:lnTo>
                    <a:pt x="89719" y="0"/>
                  </a:lnTo>
                  <a:cubicBezTo>
                    <a:pt x="111667" y="0"/>
                    <a:pt x="132716" y="8719"/>
                    <a:pt x="148236" y="24238"/>
                  </a:cubicBezTo>
                  <a:cubicBezTo>
                    <a:pt x="163755" y="39758"/>
                    <a:pt x="172474" y="60807"/>
                    <a:pt x="172474" y="82755"/>
                  </a:cubicBezTo>
                  <a:lnTo>
                    <a:pt x="172474" y="102281"/>
                  </a:lnTo>
                  <a:cubicBezTo>
                    <a:pt x="172474" y="147985"/>
                    <a:pt x="135423" y="185036"/>
                    <a:pt x="89719" y="185036"/>
                  </a:cubicBezTo>
                  <a:lnTo>
                    <a:pt x="82755" y="185036"/>
                  </a:lnTo>
                  <a:cubicBezTo>
                    <a:pt x="60807" y="185036"/>
                    <a:pt x="39758" y="176317"/>
                    <a:pt x="24238" y="160798"/>
                  </a:cubicBezTo>
                  <a:cubicBezTo>
                    <a:pt x="8719" y="145278"/>
                    <a:pt x="0" y="124229"/>
                    <a:pt x="0" y="102281"/>
                  </a:cubicBezTo>
                  <a:lnTo>
                    <a:pt x="0" y="82755"/>
                  </a:lnTo>
                  <a:cubicBezTo>
                    <a:pt x="0" y="60807"/>
                    <a:pt x="8719" y="39758"/>
                    <a:pt x="24238" y="24238"/>
                  </a:cubicBezTo>
                  <a:cubicBezTo>
                    <a:pt x="39758" y="8719"/>
                    <a:pt x="60807" y="0"/>
                    <a:pt x="82755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72474" cy="22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78651" y="3739203"/>
            <a:ext cx="654863" cy="702559"/>
            <a:chOff x="0" y="0"/>
            <a:chExt cx="172474" cy="18503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2474" cy="185036"/>
            </a:xfrm>
            <a:custGeom>
              <a:avLst/>
              <a:gdLst/>
              <a:ahLst/>
              <a:cxnLst/>
              <a:rect l="l" t="t" r="r" b="b"/>
              <a:pathLst>
                <a:path w="172474" h="185036">
                  <a:moveTo>
                    <a:pt x="82755" y="0"/>
                  </a:moveTo>
                  <a:lnTo>
                    <a:pt x="89719" y="0"/>
                  </a:lnTo>
                  <a:cubicBezTo>
                    <a:pt x="111667" y="0"/>
                    <a:pt x="132716" y="8719"/>
                    <a:pt x="148236" y="24238"/>
                  </a:cubicBezTo>
                  <a:cubicBezTo>
                    <a:pt x="163755" y="39758"/>
                    <a:pt x="172474" y="60807"/>
                    <a:pt x="172474" y="82755"/>
                  </a:cubicBezTo>
                  <a:lnTo>
                    <a:pt x="172474" y="102281"/>
                  </a:lnTo>
                  <a:cubicBezTo>
                    <a:pt x="172474" y="147985"/>
                    <a:pt x="135423" y="185036"/>
                    <a:pt x="89719" y="185036"/>
                  </a:cubicBezTo>
                  <a:lnTo>
                    <a:pt x="82755" y="185036"/>
                  </a:lnTo>
                  <a:cubicBezTo>
                    <a:pt x="60807" y="185036"/>
                    <a:pt x="39758" y="176317"/>
                    <a:pt x="24238" y="160798"/>
                  </a:cubicBezTo>
                  <a:cubicBezTo>
                    <a:pt x="8719" y="145278"/>
                    <a:pt x="0" y="124229"/>
                    <a:pt x="0" y="102281"/>
                  </a:cubicBezTo>
                  <a:lnTo>
                    <a:pt x="0" y="82755"/>
                  </a:lnTo>
                  <a:cubicBezTo>
                    <a:pt x="0" y="60807"/>
                    <a:pt x="8719" y="39758"/>
                    <a:pt x="24238" y="24238"/>
                  </a:cubicBezTo>
                  <a:cubicBezTo>
                    <a:pt x="39758" y="8719"/>
                    <a:pt x="60807" y="0"/>
                    <a:pt x="82755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2474" cy="22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516393" y="3865995"/>
            <a:ext cx="366070" cy="458630"/>
          </a:xfrm>
          <a:custGeom>
            <a:avLst/>
            <a:gdLst/>
            <a:ahLst/>
            <a:cxnLst/>
            <a:rect l="l" t="t" r="r" b="b"/>
            <a:pathLst>
              <a:path w="366070" h="458630">
                <a:moveTo>
                  <a:pt x="0" y="0"/>
                </a:moveTo>
                <a:lnTo>
                  <a:pt x="366070" y="0"/>
                </a:lnTo>
                <a:lnTo>
                  <a:pt x="366070" y="458630"/>
                </a:lnTo>
                <a:lnTo>
                  <a:pt x="0" y="458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553390" y="3845760"/>
            <a:ext cx="465585" cy="489445"/>
          </a:xfrm>
          <a:custGeom>
            <a:avLst/>
            <a:gdLst/>
            <a:ahLst/>
            <a:cxnLst/>
            <a:rect l="l" t="t" r="r" b="b"/>
            <a:pathLst>
              <a:path w="465585" h="489445">
                <a:moveTo>
                  <a:pt x="0" y="0"/>
                </a:moveTo>
                <a:lnTo>
                  <a:pt x="465585" y="0"/>
                </a:lnTo>
                <a:lnTo>
                  <a:pt x="465585" y="489446"/>
                </a:lnTo>
                <a:lnTo>
                  <a:pt x="0" y="489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550162" y="3882269"/>
            <a:ext cx="511841" cy="465136"/>
          </a:xfrm>
          <a:custGeom>
            <a:avLst/>
            <a:gdLst/>
            <a:ahLst/>
            <a:cxnLst/>
            <a:rect l="l" t="t" r="r" b="b"/>
            <a:pathLst>
              <a:path w="511841" h="465136">
                <a:moveTo>
                  <a:pt x="0" y="0"/>
                </a:moveTo>
                <a:lnTo>
                  <a:pt x="511841" y="0"/>
                </a:lnTo>
                <a:lnTo>
                  <a:pt x="511841" y="465136"/>
                </a:lnTo>
                <a:lnTo>
                  <a:pt x="0" y="4651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28700" y="1938080"/>
            <a:ext cx="11481098" cy="102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5"/>
              </a:lnSpc>
              <a:spcBef>
                <a:spcPct val="0"/>
              </a:spcBef>
            </a:pPr>
            <a:r>
              <a:rPr lang="en-US" sz="791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Financial Breakdowns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90726" y="3746313"/>
            <a:ext cx="1701896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Balance 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55088" y="3746313"/>
            <a:ext cx="1701896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Spends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78408" y="3686608"/>
            <a:ext cx="1701896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Income 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931454" y="4113780"/>
            <a:ext cx="2589603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COGS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31454" y="5348483"/>
            <a:ext cx="2942215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Marketing &amp; Ads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31454" y="6583423"/>
            <a:ext cx="3242000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R&amp;D &amp; Innovation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931454" y="7818362"/>
            <a:ext cx="3327846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Operational Costs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447734" y="4116867"/>
            <a:ext cx="170189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$15M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2096" y="4116867"/>
            <a:ext cx="170189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$8.5M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35416" y="4057162"/>
            <a:ext cx="170189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$10M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931454" y="4642878"/>
            <a:ext cx="1380647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$5.5M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31454" y="5878573"/>
            <a:ext cx="1706846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$1.2M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31454" y="7113512"/>
            <a:ext cx="1706846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$800K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931454" y="8348452"/>
            <a:ext cx="1706846" cy="33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249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$800K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595377" y="4669611"/>
            <a:ext cx="1011525" cy="28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26"/>
              </a:lnSpc>
            </a:pPr>
            <a:r>
              <a:rPr lang="en-US" sz="2295" i="1">
                <a:solidFill>
                  <a:srgbClr val="C3D3E3"/>
                </a:solidFill>
                <a:latin typeface="Red Hat Display Italics"/>
                <a:ea typeface="Red Hat Display Italics"/>
                <a:cs typeface="Red Hat Display Italics"/>
                <a:sym typeface="Red Hat Display Italics"/>
              </a:rPr>
              <a:t>65%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638300" y="5922514"/>
            <a:ext cx="1011525" cy="28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26"/>
              </a:lnSpc>
            </a:pPr>
            <a:r>
              <a:rPr lang="en-US" sz="2295" i="1">
                <a:solidFill>
                  <a:srgbClr val="C3D3E3"/>
                </a:solidFill>
                <a:latin typeface="Red Hat Display Italics"/>
                <a:ea typeface="Red Hat Display Italics"/>
                <a:cs typeface="Red Hat Display Italics"/>
                <a:sym typeface="Red Hat Display Italics"/>
              </a:rPr>
              <a:t>14%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638300" y="7194005"/>
            <a:ext cx="1011525" cy="28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26"/>
              </a:lnSpc>
            </a:pPr>
            <a:r>
              <a:rPr lang="en-US" sz="2295" i="1">
                <a:solidFill>
                  <a:srgbClr val="C3D3E3"/>
                </a:solidFill>
                <a:latin typeface="Red Hat Display Italics"/>
                <a:ea typeface="Red Hat Display Italics"/>
                <a:cs typeface="Red Hat Display Italics"/>
                <a:sym typeface="Red Hat Display Italics"/>
              </a:rPr>
              <a:t>9%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681223" y="8446908"/>
            <a:ext cx="1011525" cy="28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26"/>
              </a:lnSpc>
            </a:pPr>
            <a:r>
              <a:rPr lang="en-US" sz="2295" i="1">
                <a:solidFill>
                  <a:srgbClr val="C3D3E3"/>
                </a:solidFill>
                <a:latin typeface="Red Hat Display Italics"/>
                <a:ea typeface="Red Hat Display Italics"/>
                <a:cs typeface="Red Hat Display Italics"/>
                <a:sym typeface="Red Hat Display Italics"/>
              </a:rPr>
              <a:t>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46235" y="2315477"/>
            <a:ext cx="4268395" cy="6942823"/>
            <a:chOff x="0" y="0"/>
            <a:chExt cx="661286" cy="10756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286" cy="1075625"/>
            </a:xfrm>
            <a:custGeom>
              <a:avLst/>
              <a:gdLst/>
              <a:ahLst/>
              <a:cxnLst/>
              <a:rect l="l" t="t" r="r" b="b"/>
              <a:pathLst>
                <a:path w="661286" h="1075625">
                  <a:moveTo>
                    <a:pt x="0" y="0"/>
                  </a:moveTo>
                  <a:lnTo>
                    <a:pt x="661286" y="0"/>
                  </a:lnTo>
                  <a:lnTo>
                    <a:pt x="661286" y="1075625"/>
                  </a:lnTo>
                  <a:lnTo>
                    <a:pt x="0" y="1075625"/>
                  </a:lnTo>
                  <a:close/>
                </a:path>
              </a:pathLst>
            </a:custGeom>
            <a:blipFill>
              <a:blip r:embed="rId2"/>
              <a:stretch>
                <a:fillRect l="-78280" r="-658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830224" y="4909663"/>
            <a:ext cx="1344472" cy="1344472"/>
            <a:chOff x="0" y="0"/>
            <a:chExt cx="480554" cy="4805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38200" y="0"/>
                  </a:moveTo>
                  <a:lnTo>
                    <a:pt x="342354" y="0"/>
                  </a:lnTo>
                  <a:cubicBezTo>
                    <a:pt x="379007" y="0"/>
                    <a:pt x="414158" y="14560"/>
                    <a:pt x="440076" y="40478"/>
                  </a:cubicBezTo>
                  <a:cubicBezTo>
                    <a:pt x="465993" y="66395"/>
                    <a:pt x="480554" y="101547"/>
                    <a:pt x="480554" y="138200"/>
                  </a:cubicBezTo>
                  <a:lnTo>
                    <a:pt x="480554" y="342354"/>
                  </a:lnTo>
                  <a:cubicBezTo>
                    <a:pt x="480554" y="379007"/>
                    <a:pt x="465993" y="414158"/>
                    <a:pt x="440076" y="440076"/>
                  </a:cubicBezTo>
                  <a:cubicBezTo>
                    <a:pt x="414158" y="465993"/>
                    <a:pt x="379007" y="480554"/>
                    <a:pt x="342354" y="480554"/>
                  </a:cubicBezTo>
                  <a:lnTo>
                    <a:pt x="138200" y="480554"/>
                  </a:lnTo>
                  <a:cubicBezTo>
                    <a:pt x="61874" y="480554"/>
                    <a:pt x="0" y="418679"/>
                    <a:pt x="0" y="342354"/>
                  </a:cubicBezTo>
                  <a:lnTo>
                    <a:pt x="0" y="138200"/>
                  </a:lnTo>
                  <a:cubicBezTo>
                    <a:pt x="0" y="101547"/>
                    <a:pt x="14560" y="66395"/>
                    <a:pt x="40478" y="40478"/>
                  </a:cubicBezTo>
                  <a:cubicBezTo>
                    <a:pt x="66395" y="14560"/>
                    <a:pt x="101547" y="0"/>
                    <a:pt x="138200" y="0"/>
                  </a:cubicBezTo>
                  <a:close/>
                </a:path>
              </a:pathLst>
            </a:custGeom>
            <a:solidFill>
              <a:srgbClr val="ECE8E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93899" y="4909663"/>
            <a:ext cx="1344472" cy="1344472"/>
            <a:chOff x="0" y="0"/>
            <a:chExt cx="480554" cy="4805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38200" y="0"/>
                  </a:moveTo>
                  <a:lnTo>
                    <a:pt x="342354" y="0"/>
                  </a:lnTo>
                  <a:cubicBezTo>
                    <a:pt x="379007" y="0"/>
                    <a:pt x="414158" y="14560"/>
                    <a:pt x="440076" y="40478"/>
                  </a:cubicBezTo>
                  <a:cubicBezTo>
                    <a:pt x="465993" y="66395"/>
                    <a:pt x="480554" y="101547"/>
                    <a:pt x="480554" y="138200"/>
                  </a:cubicBezTo>
                  <a:lnTo>
                    <a:pt x="480554" y="342354"/>
                  </a:lnTo>
                  <a:cubicBezTo>
                    <a:pt x="480554" y="379007"/>
                    <a:pt x="465993" y="414158"/>
                    <a:pt x="440076" y="440076"/>
                  </a:cubicBezTo>
                  <a:cubicBezTo>
                    <a:pt x="414158" y="465993"/>
                    <a:pt x="379007" y="480554"/>
                    <a:pt x="342354" y="480554"/>
                  </a:cubicBezTo>
                  <a:lnTo>
                    <a:pt x="138200" y="480554"/>
                  </a:lnTo>
                  <a:cubicBezTo>
                    <a:pt x="61874" y="480554"/>
                    <a:pt x="0" y="418679"/>
                    <a:pt x="0" y="342354"/>
                  </a:cubicBezTo>
                  <a:lnTo>
                    <a:pt x="0" y="138200"/>
                  </a:lnTo>
                  <a:cubicBezTo>
                    <a:pt x="0" y="101547"/>
                    <a:pt x="14560" y="66395"/>
                    <a:pt x="40478" y="40478"/>
                  </a:cubicBezTo>
                  <a:cubicBezTo>
                    <a:pt x="66395" y="14560"/>
                    <a:pt x="101547" y="0"/>
                    <a:pt x="138200" y="0"/>
                  </a:cubicBezTo>
                  <a:close/>
                </a:path>
              </a:pathLst>
            </a:custGeom>
            <a:solidFill>
              <a:srgbClr val="ECE8E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93899" y="7396205"/>
            <a:ext cx="1344472" cy="1344472"/>
            <a:chOff x="0" y="0"/>
            <a:chExt cx="480554" cy="4805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38200" y="0"/>
                  </a:moveTo>
                  <a:lnTo>
                    <a:pt x="342354" y="0"/>
                  </a:lnTo>
                  <a:cubicBezTo>
                    <a:pt x="379007" y="0"/>
                    <a:pt x="414158" y="14560"/>
                    <a:pt x="440076" y="40478"/>
                  </a:cubicBezTo>
                  <a:cubicBezTo>
                    <a:pt x="465993" y="66395"/>
                    <a:pt x="480554" y="101547"/>
                    <a:pt x="480554" y="138200"/>
                  </a:cubicBezTo>
                  <a:lnTo>
                    <a:pt x="480554" y="342354"/>
                  </a:lnTo>
                  <a:cubicBezTo>
                    <a:pt x="480554" y="379007"/>
                    <a:pt x="465993" y="414158"/>
                    <a:pt x="440076" y="440076"/>
                  </a:cubicBezTo>
                  <a:cubicBezTo>
                    <a:pt x="414158" y="465993"/>
                    <a:pt x="379007" y="480554"/>
                    <a:pt x="342354" y="480554"/>
                  </a:cubicBezTo>
                  <a:lnTo>
                    <a:pt x="138200" y="480554"/>
                  </a:lnTo>
                  <a:cubicBezTo>
                    <a:pt x="61874" y="480554"/>
                    <a:pt x="0" y="418679"/>
                    <a:pt x="0" y="342354"/>
                  </a:cubicBezTo>
                  <a:lnTo>
                    <a:pt x="0" y="138200"/>
                  </a:lnTo>
                  <a:cubicBezTo>
                    <a:pt x="0" y="101547"/>
                    <a:pt x="14560" y="66395"/>
                    <a:pt x="40478" y="40478"/>
                  </a:cubicBezTo>
                  <a:cubicBezTo>
                    <a:pt x="66395" y="14560"/>
                    <a:pt x="101547" y="0"/>
                    <a:pt x="138200" y="0"/>
                  </a:cubicBezTo>
                  <a:close/>
                </a:path>
              </a:pathLst>
            </a:custGeom>
            <a:solidFill>
              <a:srgbClr val="ECE8E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30224" y="7396205"/>
            <a:ext cx="1344472" cy="1344472"/>
            <a:chOff x="0" y="0"/>
            <a:chExt cx="480554" cy="4805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38200" y="0"/>
                  </a:moveTo>
                  <a:lnTo>
                    <a:pt x="342354" y="0"/>
                  </a:lnTo>
                  <a:cubicBezTo>
                    <a:pt x="379007" y="0"/>
                    <a:pt x="414158" y="14560"/>
                    <a:pt x="440076" y="40478"/>
                  </a:cubicBezTo>
                  <a:cubicBezTo>
                    <a:pt x="465993" y="66395"/>
                    <a:pt x="480554" y="101547"/>
                    <a:pt x="480554" y="138200"/>
                  </a:cubicBezTo>
                  <a:lnTo>
                    <a:pt x="480554" y="342354"/>
                  </a:lnTo>
                  <a:cubicBezTo>
                    <a:pt x="480554" y="379007"/>
                    <a:pt x="465993" y="414158"/>
                    <a:pt x="440076" y="440076"/>
                  </a:cubicBezTo>
                  <a:cubicBezTo>
                    <a:pt x="414158" y="465993"/>
                    <a:pt x="379007" y="480554"/>
                    <a:pt x="342354" y="480554"/>
                  </a:cubicBezTo>
                  <a:lnTo>
                    <a:pt x="138200" y="480554"/>
                  </a:lnTo>
                  <a:cubicBezTo>
                    <a:pt x="61874" y="480554"/>
                    <a:pt x="0" y="418679"/>
                    <a:pt x="0" y="342354"/>
                  </a:cubicBezTo>
                  <a:lnTo>
                    <a:pt x="0" y="138200"/>
                  </a:lnTo>
                  <a:cubicBezTo>
                    <a:pt x="0" y="101547"/>
                    <a:pt x="14560" y="66395"/>
                    <a:pt x="40478" y="40478"/>
                  </a:cubicBezTo>
                  <a:cubicBezTo>
                    <a:pt x="66395" y="14560"/>
                    <a:pt x="101547" y="0"/>
                    <a:pt x="138200" y="0"/>
                  </a:cubicBezTo>
                  <a:close/>
                </a:path>
              </a:pathLst>
            </a:custGeom>
            <a:solidFill>
              <a:srgbClr val="ECE8E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001526" y="5143500"/>
            <a:ext cx="1001867" cy="946765"/>
          </a:xfrm>
          <a:custGeom>
            <a:avLst/>
            <a:gdLst/>
            <a:ahLst/>
            <a:cxnLst/>
            <a:rect l="l" t="t" r="r" b="b"/>
            <a:pathLst>
              <a:path w="1001867" h="946765">
                <a:moveTo>
                  <a:pt x="0" y="0"/>
                </a:moveTo>
                <a:lnTo>
                  <a:pt x="1001868" y="0"/>
                </a:lnTo>
                <a:lnTo>
                  <a:pt x="1001868" y="946765"/>
                </a:lnTo>
                <a:lnTo>
                  <a:pt x="0" y="94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260599" y="5223785"/>
            <a:ext cx="836378" cy="786195"/>
          </a:xfrm>
          <a:custGeom>
            <a:avLst/>
            <a:gdLst/>
            <a:ahLst/>
            <a:cxnLst/>
            <a:rect l="l" t="t" r="r" b="b"/>
            <a:pathLst>
              <a:path w="836378" h="786195">
                <a:moveTo>
                  <a:pt x="0" y="0"/>
                </a:moveTo>
                <a:lnTo>
                  <a:pt x="836378" y="0"/>
                </a:lnTo>
                <a:lnTo>
                  <a:pt x="836378" y="786195"/>
                </a:lnTo>
                <a:lnTo>
                  <a:pt x="0" y="786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048485" y="7752361"/>
            <a:ext cx="907950" cy="632160"/>
          </a:xfrm>
          <a:custGeom>
            <a:avLst/>
            <a:gdLst/>
            <a:ahLst/>
            <a:cxnLst/>
            <a:rect l="l" t="t" r="r" b="b"/>
            <a:pathLst>
              <a:path w="907950" h="632160">
                <a:moveTo>
                  <a:pt x="0" y="0"/>
                </a:moveTo>
                <a:lnTo>
                  <a:pt x="907950" y="0"/>
                </a:lnTo>
                <a:lnTo>
                  <a:pt x="907950" y="632160"/>
                </a:lnTo>
                <a:lnTo>
                  <a:pt x="0" y="632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305418" y="7695071"/>
            <a:ext cx="746740" cy="746740"/>
          </a:xfrm>
          <a:custGeom>
            <a:avLst/>
            <a:gdLst/>
            <a:ahLst/>
            <a:cxnLst/>
            <a:rect l="l" t="t" r="r" b="b"/>
            <a:pathLst>
              <a:path w="746740" h="746740">
                <a:moveTo>
                  <a:pt x="0" y="0"/>
                </a:moveTo>
                <a:lnTo>
                  <a:pt x="746740" y="0"/>
                </a:lnTo>
                <a:lnTo>
                  <a:pt x="746740" y="746740"/>
                </a:lnTo>
                <a:lnTo>
                  <a:pt x="0" y="746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2081198"/>
            <a:ext cx="10410518" cy="199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5"/>
              </a:lnSpc>
              <a:spcBef>
                <a:spcPct val="0"/>
              </a:spcBef>
            </a:pPr>
            <a:r>
              <a:rPr lang="en-US" sz="79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Risk Analysis &amp; Mitigation Strategies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41039" y="5055419"/>
            <a:ext cx="228616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Identify Risks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11128" y="5055419"/>
            <a:ext cx="228616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Assess Risks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41039" y="7567234"/>
            <a:ext cx="228616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Prioritize Risks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05071" y="7567234"/>
            <a:ext cx="228616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Develop Responses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41039" y="5543799"/>
            <a:ext cx="2181386" cy="621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potential threats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11128" y="5543799"/>
            <a:ext cx="250776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Evaluate the likelihood and impact of each risk.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41039" y="8023799"/>
            <a:ext cx="255286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Rank risks based on severity and urgency.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5071" y="8023799"/>
            <a:ext cx="250776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strategies to mitigate, transfer, accept, or avoid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0057" y="3595665"/>
            <a:ext cx="18648114" cy="4007971"/>
            <a:chOff x="0" y="0"/>
            <a:chExt cx="4911437" cy="1055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1437" cy="1055597"/>
            </a:xfrm>
            <a:custGeom>
              <a:avLst/>
              <a:gdLst/>
              <a:ahLst/>
              <a:cxnLst/>
              <a:rect l="l" t="t" r="r" b="b"/>
              <a:pathLst>
                <a:path w="4911437" h="1055597">
                  <a:moveTo>
                    <a:pt x="0" y="0"/>
                  </a:moveTo>
                  <a:lnTo>
                    <a:pt x="4911437" y="0"/>
                  </a:lnTo>
                  <a:lnTo>
                    <a:pt x="4911437" y="1055597"/>
                  </a:lnTo>
                  <a:lnTo>
                    <a:pt x="0" y="1055597"/>
                  </a:lnTo>
                  <a:close/>
                </a:path>
              </a:pathLst>
            </a:custGeom>
            <a:solidFill>
              <a:srgbClr val="C3D3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11437" cy="1093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1092" y="2683364"/>
            <a:ext cx="1824602" cy="1824602"/>
            <a:chOff x="0" y="0"/>
            <a:chExt cx="480554" cy="4805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40021" y="0"/>
                  </a:moveTo>
                  <a:lnTo>
                    <a:pt x="340532" y="0"/>
                  </a:lnTo>
                  <a:cubicBezTo>
                    <a:pt x="377668" y="0"/>
                    <a:pt x="413283" y="14752"/>
                    <a:pt x="439542" y="41011"/>
                  </a:cubicBezTo>
                  <a:cubicBezTo>
                    <a:pt x="465802" y="67270"/>
                    <a:pt x="480554" y="102885"/>
                    <a:pt x="480554" y="140021"/>
                  </a:cubicBezTo>
                  <a:lnTo>
                    <a:pt x="480554" y="340532"/>
                  </a:lnTo>
                  <a:cubicBezTo>
                    <a:pt x="480554" y="377668"/>
                    <a:pt x="465802" y="413283"/>
                    <a:pt x="439542" y="439542"/>
                  </a:cubicBezTo>
                  <a:cubicBezTo>
                    <a:pt x="413283" y="465802"/>
                    <a:pt x="377668" y="480554"/>
                    <a:pt x="340532" y="480554"/>
                  </a:cubicBezTo>
                  <a:lnTo>
                    <a:pt x="140021" y="480554"/>
                  </a:lnTo>
                  <a:cubicBezTo>
                    <a:pt x="102885" y="480554"/>
                    <a:pt x="67270" y="465802"/>
                    <a:pt x="41011" y="439542"/>
                  </a:cubicBezTo>
                  <a:cubicBezTo>
                    <a:pt x="14752" y="413283"/>
                    <a:pt x="0" y="377668"/>
                    <a:pt x="0" y="340532"/>
                  </a:cubicBezTo>
                  <a:lnTo>
                    <a:pt x="0" y="140021"/>
                  </a:lnTo>
                  <a:cubicBezTo>
                    <a:pt x="0" y="102885"/>
                    <a:pt x="14752" y="67270"/>
                    <a:pt x="41011" y="41011"/>
                  </a:cubicBezTo>
                  <a:cubicBezTo>
                    <a:pt x="67270" y="14752"/>
                    <a:pt x="102885" y="0"/>
                    <a:pt x="140021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47420" y="2683364"/>
            <a:ext cx="1824602" cy="1824602"/>
            <a:chOff x="0" y="0"/>
            <a:chExt cx="480554" cy="4805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40021" y="0"/>
                  </a:moveTo>
                  <a:lnTo>
                    <a:pt x="340532" y="0"/>
                  </a:lnTo>
                  <a:cubicBezTo>
                    <a:pt x="377668" y="0"/>
                    <a:pt x="413283" y="14752"/>
                    <a:pt x="439542" y="41011"/>
                  </a:cubicBezTo>
                  <a:cubicBezTo>
                    <a:pt x="465802" y="67270"/>
                    <a:pt x="480554" y="102885"/>
                    <a:pt x="480554" y="140021"/>
                  </a:cubicBezTo>
                  <a:lnTo>
                    <a:pt x="480554" y="340532"/>
                  </a:lnTo>
                  <a:cubicBezTo>
                    <a:pt x="480554" y="377668"/>
                    <a:pt x="465802" y="413283"/>
                    <a:pt x="439542" y="439542"/>
                  </a:cubicBezTo>
                  <a:cubicBezTo>
                    <a:pt x="413283" y="465802"/>
                    <a:pt x="377668" y="480554"/>
                    <a:pt x="340532" y="480554"/>
                  </a:cubicBezTo>
                  <a:lnTo>
                    <a:pt x="140021" y="480554"/>
                  </a:lnTo>
                  <a:cubicBezTo>
                    <a:pt x="102885" y="480554"/>
                    <a:pt x="67270" y="465802"/>
                    <a:pt x="41011" y="439542"/>
                  </a:cubicBezTo>
                  <a:cubicBezTo>
                    <a:pt x="14752" y="413283"/>
                    <a:pt x="0" y="377668"/>
                    <a:pt x="0" y="340532"/>
                  </a:cubicBezTo>
                  <a:lnTo>
                    <a:pt x="0" y="140021"/>
                  </a:lnTo>
                  <a:cubicBezTo>
                    <a:pt x="0" y="102885"/>
                    <a:pt x="14752" y="67270"/>
                    <a:pt x="41011" y="41011"/>
                  </a:cubicBezTo>
                  <a:cubicBezTo>
                    <a:pt x="67270" y="14752"/>
                    <a:pt x="102885" y="0"/>
                    <a:pt x="140021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440077" y="2683364"/>
            <a:ext cx="1824602" cy="1824602"/>
            <a:chOff x="0" y="0"/>
            <a:chExt cx="480554" cy="4805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40021" y="0"/>
                  </a:moveTo>
                  <a:lnTo>
                    <a:pt x="340532" y="0"/>
                  </a:lnTo>
                  <a:cubicBezTo>
                    <a:pt x="377668" y="0"/>
                    <a:pt x="413283" y="14752"/>
                    <a:pt x="439542" y="41011"/>
                  </a:cubicBezTo>
                  <a:cubicBezTo>
                    <a:pt x="465802" y="67270"/>
                    <a:pt x="480554" y="102885"/>
                    <a:pt x="480554" y="140021"/>
                  </a:cubicBezTo>
                  <a:lnTo>
                    <a:pt x="480554" y="340532"/>
                  </a:lnTo>
                  <a:cubicBezTo>
                    <a:pt x="480554" y="377668"/>
                    <a:pt x="465802" y="413283"/>
                    <a:pt x="439542" y="439542"/>
                  </a:cubicBezTo>
                  <a:cubicBezTo>
                    <a:pt x="413283" y="465802"/>
                    <a:pt x="377668" y="480554"/>
                    <a:pt x="340532" y="480554"/>
                  </a:cubicBezTo>
                  <a:lnTo>
                    <a:pt x="140021" y="480554"/>
                  </a:lnTo>
                  <a:cubicBezTo>
                    <a:pt x="102885" y="480554"/>
                    <a:pt x="67270" y="465802"/>
                    <a:pt x="41011" y="439542"/>
                  </a:cubicBezTo>
                  <a:cubicBezTo>
                    <a:pt x="14752" y="413283"/>
                    <a:pt x="0" y="377668"/>
                    <a:pt x="0" y="340532"/>
                  </a:cubicBezTo>
                  <a:lnTo>
                    <a:pt x="0" y="140021"/>
                  </a:lnTo>
                  <a:cubicBezTo>
                    <a:pt x="0" y="102885"/>
                    <a:pt x="14752" y="67270"/>
                    <a:pt x="41011" y="41011"/>
                  </a:cubicBezTo>
                  <a:cubicBezTo>
                    <a:pt x="67270" y="14752"/>
                    <a:pt x="102885" y="0"/>
                    <a:pt x="140021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43749" y="2683364"/>
            <a:ext cx="1824602" cy="1824602"/>
            <a:chOff x="0" y="0"/>
            <a:chExt cx="480554" cy="4805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0554" cy="480554"/>
            </a:xfrm>
            <a:custGeom>
              <a:avLst/>
              <a:gdLst/>
              <a:ahLst/>
              <a:cxnLst/>
              <a:rect l="l" t="t" r="r" b="b"/>
              <a:pathLst>
                <a:path w="480554" h="480554">
                  <a:moveTo>
                    <a:pt x="140021" y="0"/>
                  </a:moveTo>
                  <a:lnTo>
                    <a:pt x="340532" y="0"/>
                  </a:lnTo>
                  <a:cubicBezTo>
                    <a:pt x="377668" y="0"/>
                    <a:pt x="413283" y="14752"/>
                    <a:pt x="439542" y="41011"/>
                  </a:cubicBezTo>
                  <a:cubicBezTo>
                    <a:pt x="465802" y="67270"/>
                    <a:pt x="480554" y="102885"/>
                    <a:pt x="480554" y="140021"/>
                  </a:cubicBezTo>
                  <a:lnTo>
                    <a:pt x="480554" y="340532"/>
                  </a:lnTo>
                  <a:cubicBezTo>
                    <a:pt x="480554" y="377668"/>
                    <a:pt x="465802" y="413283"/>
                    <a:pt x="439542" y="439542"/>
                  </a:cubicBezTo>
                  <a:cubicBezTo>
                    <a:pt x="413283" y="465802"/>
                    <a:pt x="377668" y="480554"/>
                    <a:pt x="340532" y="480554"/>
                  </a:cubicBezTo>
                  <a:lnTo>
                    <a:pt x="140021" y="480554"/>
                  </a:lnTo>
                  <a:cubicBezTo>
                    <a:pt x="102885" y="480554"/>
                    <a:pt x="67270" y="465802"/>
                    <a:pt x="41011" y="439542"/>
                  </a:cubicBezTo>
                  <a:cubicBezTo>
                    <a:pt x="14752" y="413283"/>
                    <a:pt x="0" y="377668"/>
                    <a:pt x="0" y="340532"/>
                  </a:cubicBezTo>
                  <a:lnTo>
                    <a:pt x="0" y="140021"/>
                  </a:lnTo>
                  <a:cubicBezTo>
                    <a:pt x="0" y="102885"/>
                    <a:pt x="14752" y="67270"/>
                    <a:pt x="41011" y="41011"/>
                  </a:cubicBezTo>
                  <a:cubicBezTo>
                    <a:pt x="67270" y="14752"/>
                    <a:pt x="102885" y="0"/>
                    <a:pt x="140021" y="0"/>
                  </a:cubicBezTo>
                  <a:close/>
                </a:path>
              </a:pathLst>
            </a:custGeom>
            <a:solidFill>
              <a:srgbClr val="0F439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0554" cy="518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060788" y="3116660"/>
            <a:ext cx="1601538" cy="958011"/>
          </a:xfrm>
          <a:custGeom>
            <a:avLst/>
            <a:gdLst/>
            <a:ahLst/>
            <a:cxnLst/>
            <a:rect l="l" t="t" r="r" b="b"/>
            <a:pathLst>
              <a:path w="1601538" h="958011">
                <a:moveTo>
                  <a:pt x="0" y="0"/>
                </a:moveTo>
                <a:lnTo>
                  <a:pt x="1601538" y="0"/>
                </a:lnTo>
                <a:lnTo>
                  <a:pt x="1601538" y="958011"/>
                </a:lnTo>
                <a:lnTo>
                  <a:pt x="0" y="95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338389" y="3183828"/>
            <a:ext cx="1601538" cy="958011"/>
          </a:xfrm>
          <a:custGeom>
            <a:avLst/>
            <a:gdLst/>
            <a:ahLst/>
            <a:cxnLst/>
            <a:rect l="l" t="t" r="r" b="b"/>
            <a:pathLst>
              <a:path w="1601538" h="958011">
                <a:moveTo>
                  <a:pt x="0" y="0"/>
                </a:moveTo>
                <a:lnTo>
                  <a:pt x="1601538" y="0"/>
                </a:lnTo>
                <a:lnTo>
                  <a:pt x="1601538" y="958011"/>
                </a:lnTo>
                <a:lnTo>
                  <a:pt x="0" y="95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449352" y="3116660"/>
            <a:ext cx="1601538" cy="958011"/>
          </a:xfrm>
          <a:custGeom>
            <a:avLst/>
            <a:gdLst/>
            <a:ahLst/>
            <a:cxnLst/>
            <a:rect l="l" t="t" r="r" b="b"/>
            <a:pathLst>
              <a:path w="1601538" h="958011">
                <a:moveTo>
                  <a:pt x="0" y="0"/>
                </a:moveTo>
                <a:lnTo>
                  <a:pt x="1601538" y="0"/>
                </a:lnTo>
                <a:lnTo>
                  <a:pt x="1601538" y="958011"/>
                </a:lnTo>
                <a:lnTo>
                  <a:pt x="0" y="95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137499" y="2969771"/>
            <a:ext cx="1251789" cy="1251789"/>
          </a:xfrm>
          <a:custGeom>
            <a:avLst/>
            <a:gdLst/>
            <a:ahLst/>
            <a:cxnLst/>
            <a:rect l="l" t="t" r="r" b="b"/>
            <a:pathLst>
              <a:path w="1251789" h="1251789">
                <a:moveTo>
                  <a:pt x="0" y="0"/>
                </a:moveTo>
                <a:lnTo>
                  <a:pt x="1251789" y="0"/>
                </a:lnTo>
                <a:lnTo>
                  <a:pt x="1251789" y="1251789"/>
                </a:lnTo>
                <a:lnTo>
                  <a:pt x="0" y="1251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374463" y="2969771"/>
            <a:ext cx="1251789" cy="1251789"/>
          </a:xfrm>
          <a:custGeom>
            <a:avLst/>
            <a:gdLst/>
            <a:ahLst/>
            <a:cxnLst/>
            <a:rect l="l" t="t" r="r" b="b"/>
            <a:pathLst>
              <a:path w="1251789" h="1251789">
                <a:moveTo>
                  <a:pt x="0" y="0"/>
                </a:moveTo>
                <a:lnTo>
                  <a:pt x="1251789" y="0"/>
                </a:lnTo>
                <a:lnTo>
                  <a:pt x="1251789" y="1251789"/>
                </a:lnTo>
                <a:lnTo>
                  <a:pt x="0" y="125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530156" y="2969771"/>
            <a:ext cx="1251789" cy="1251789"/>
          </a:xfrm>
          <a:custGeom>
            <a:avLst/>
            <a:gdLst/>
            <a:ahLst/>
            <a:cxnLst/>
            <a:rect l="l" t="t" r="r" b="b"/>
            <a:pathLst>
              <a:path w="1251789" h="1251789">
                <a:moveTo>
                  <a:pt x="0" y="0"/>
                </a:moveTo>
                <a:lnTo>
                  <a:pt x="1251789" y="0"/>
                </a:lnTo>
                <a:lnTo>
                  <a:pt x="1251789" y="1251789"/>
                </a:lnTo>
                <a:lnTo>
                  <a:pt x="0" y="12517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746215" y="2982056"/>
            <a:ext cx="1227219" cy="1227219"/>
          </a:xfrm>
          <a:custGeom>
            <a:avLst/>
            <a:gdLst/>
            <a:ahLst/>
            <a:cxnLst/>
            <a:rect l="l" t="t" r="r" b="b"/>
            <a:pathLst>
              <a:path w="1227219" h="1227219">
                <a:moveTo>
                  <a:pt x="0" y="0"/>
                </a:moveTo>
                <a:lnTo>
                  <a:pt x="1227218" y="0"/>
                </a:lnTo>
                <a:lnTo>
                  <a:pt x="1227218" y="1227218"/>
                </a:lnTo>
                <a:lnTo>
                  <a:pt x="0" y="12272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69447" y="5099114"/>
            <a:ext cx="2987893" cy="52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2"/>
              </a:lnSpc>
              <a:spcBef>
                <a:spcPct val="0"/>
              </a:spcBef>
            </a:pPr>
            <a:r>
              <a:rPr lang="en-US" sz="3087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Avoidance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65775" y="5099114"/>
            <a:ext cx="2987893" cy="52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2"/>
              </a:lnSpc>
              <a:spcBef>
                <a:spcPct val="0"/>
              </a:spcBef>
            </a:pPr>
            <a:r>
              <a:rPr lang="en-US" sz="3087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Reduction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2104" y="5099114"/>
            <a:ext cx="2987893" cy="52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2"/>
              </a:lnSpc>
              <a:spcBef>
                <a:spcPct val="0"/>
              </a:spcBef>
            </a:pPr>
            <a:r>
              <a:rPr lang="en-US" sz="3087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Transfer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58432" y="5099114"/>
            <a:ext cx="2987893" cy="52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2"/>
              </a:lnSpc>
              <a:spcBef>
                <a:spcPct val="0"/>
              </a:spcBef>
            </a:pPr>
            <a:r>
              <a:rPr lang="en-US" sz="3087" b="1">
                <a:solidFill>
                  <a:srgbClr val="0F439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Acceptance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9447" y="6111035"/>
            <a:ext cx="323669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Eliminate activities that introduce high risks.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5775" y="6111035"/>
            <a:ext cx="323669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Implement measures to minimize risk impact.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16100" y="6111035"/>
            <a:ext cx="367990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Shift risk responsibility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(e.g., insurance, outsourcing).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86858" y="6111035"/>
            <a:ext cx="3731040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Acknowledge risk and prepare contingency plans.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76106" y="8222761"/>
            <a:ext cx="7971737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i="1">
                <a:solidFill>
                  <a:srgbClr val="0F439B"/>
                </a:solidFill>
                <a:latin typeface="Red Hat Display Italics"/>
                <a:ea typeface="Red Hat Display Italics"/>
                <a:cs typeface="Red Hat Display Italics"/>
                <a:sym typeface="Red Hat Display Italics"/>
              </a:rPr>
              <a:t>Effective risk management ensures business stability, improves decision-making, and enhances resilience against uncertainties.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5070" y="3993074"/>
            <a:ext cx="10736397" cy="4871640"/>
          </a:xfrm>
          <a:custGeom>
            <a:avLst/>
            <a:gdLst/>
            <a:ahLst/>
            <a:cxnLst/>
            <a:rect l="l" t="t" r="r" b="b"/>
            <a:pathLst>
              <a:path w="10736397" h="4871640">
                <a:moveTo>
                  <a:pt x="0" y="0"/>
                </a:moveTo>
                <a:lnTo>
                  <a:pt x="10736398" y="0"/>
                </a:lnTo>
                <a:lnTo>
                  <a:pt x="10736398" y="4871640"/>
                </a:lnTo>
                <a:lnTo>
                  <a:pt x="0" y="4871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27615" y="3549555"/>
            <a:ext cx="660019" cy="1005744"/>
          </a:xfrm>
          <a:custGeom>
            <a:avLst/>
            <a:gdLst/>
            <a:ahLst/>
            <a:cxnLst/>
            <a:rect l="l" t="t" r="r" b="b"/>
            <a:pathLst>
              <a:path w="660019" h="1005744">
                <a:moveTo>
                  <a:pt x="0" y="0"/>
                </a:moveTo>
                <a:lnTo>
                  <a:pt x="660019" y="0"/>
                </a:lnTo>
                <a:lnTo>
                  <a:pt x="660019" y="1005744"/>
                </a:lnTo>
                <a:lnTo>
                  <a:pt x="0" y="100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87134" y="7163122"/>
            <a:ext cx="660019" cy="1005744"/>
          </a:xfrm>
          <a:custGeom>
            <a:avLst/>
            <a:gdLst/>
            <a:ahLst/>
            <a:cxnLst/>
            <a:rect l="l" t="t" r="r" b="b"/>
            <a:pathLst>
              <a:path w="660019" h="1005744">
                <a:moveTo>
                  <a:pt x="0" y="0"/>
                </a:moveTo>
                <a:lnTo>
                  <a:pt x="660020" y="0"/>
                </a:lnTo>
                <a:lnTo>
                  <a:pt x="660020" y="1005744"/>
                </a:lnTo>
                <a:lnTo>
                  <a:pt x="0" y="100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352286" y="4709630"/>
            <a:ext cx="660019" cy="1005744"/>
          </a:xfrm>
          <a:custGeom>
            <a:avLst/>
            <a:gdLst/>
            <a:ahLst/>
            <a:cxnLst/>
            <a:rect l="l" t="t" r="r" b="b"/>
            <a:pathLst>
              <a:path w="660019" h="1005744">
                <a:moveTo>
                  <a:pt x="0" y="0"/>
                </a:moveTo>
                <a:lnTo>
                  <a:pt x="660020" y="0"/>
                </a:lnTo>
                <a:lnTo>
                  <a:pt x="660020" y="1005744"/>
                </a:lnTo>
                <a:lnTo>
                  <a:pt x="0" y="100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19327" y="8361842"/>
            <a:ext cx="660019" cy="1005744"/>
          </a:xfrm>
          <a:custGeom>
            <a:avLst/>
            <a:gdLst/>
            <a:ahLst/>
            <a:cxnLst/>
            <a:rect l="l" t="t" r="r" b="b"/>
            <a:pathLst>
              <a:path w="660019" h="1005744">
                <a:moveTo>
                  <a:pt x="0" y="0"/>
                </a:moveTo>
                <a:lnTo>
                  <a:pt x="660019" y="0"/>
                </a:lnTo>
                <a:lnTo>
                  <a:pt x="660019" y="1005744"/>
                </a:lnTo>
                <a:lnTo>
                  <a:pt x="0" y="100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61143" y="6580765"/>
            <a:ext cx="2600627" cy="2438088"/>
          </a:xfrm>
          <a:custGeom>
            <a:avLst/>
            <a:gdLst/>
            <a:ahLst/>
            <a:cxnLst/>
            <a:rect l="l" t="t" r="r" b="b"/>
            <a:pathLst>
              <a:path w="2600627" h="2438088">
                <a:moveTo>
                  <a:pt x="0" y="0"/>
                </a:moveTo>
                <a:lnTo>
                  <a:pt x="2600627" y="0"/>
                </a:lnTo>
                <a:lnTo>
                  <a:pt x="2600627" y="2438088"/>
                </a:lnTo>
                <a:lnTo>
                  <a:pt x="0" y="2438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080174"/>
            <a:ext cx="10410518" cy="102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5"/>
              </a:lnSpc>
              <a:spcBef>
                <a:spcPct val="0"/>
              </a:spcBef>
            </a:pPr>
            <a:r>
              <a:rPr lang="en-US" sz="79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Future Growth Plan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@reallygreatsite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03310" y="915150"/>
            <a:ext cx="4255990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9218" y="4113734"/>
            <a:ext cx="5556219" cy="37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5"/>
              </a:lnSpc>
            </a:pPr>
            <a:r>
              <a:rPr lang="en-US" sz="2204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@powerpointrus</a:t>
            </a:r>
            <a:endParaRPr lang="en-US" sz="2204" dirty="0">
              <a:solidFill>
                <a:srgbClr val="0F439B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9587" y="5064280"/>
            <a:ext cx="351019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Market</a:t>
            </a:r>
          </a:p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Expansion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29595" y="5830346"/>
            <a:ext cx="351019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Product</a:t>
            </a:r>
          </a:p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Innovation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29184" y="6309682"/>
            <a:ext cx="351019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Cost</a:t>
            </a:r>
          </a:p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Optimization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93603" y="7022569"/>
            <a:ext cx="351019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Investment</a:t>
            </a:r>
          </a:p>
          <a:p>
            <a:pPr algn="ctr">
              <a:lnSpc>
                <a:spcPts val="3030"/>
              </a:lnSpc>
            </a:pPr>
            <a:r>
              <a:rPr lang="en-US" sz="3000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9" t="-1489" b="-2070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98207" y="1965472"/>
            <a:ext cx="8972020" cy="6356056"/>
            <a:chOff x="0" y="0"/>
            <a:chExt cx="2363001" cy="16740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3001" cy="1674023"/>
            </a:xfrm>
            <a:custGeom>
              <a:avLst/>
              <a:gdLst/>
              <a:ahLst/>
              <a:cxnLst/>
              <a:rect l="l" t="t" r="r" b="b"/>
              <a:pathLst>
                <a:path w="2363001" h="1674023">
                  <a:moveTo>
                    <a:pt x="49185" y="0"/>
                  </a:moveTo>
                  <a:lnTo>
                    <a:pt x="2313816" y="0"/>
                  </a:lnTo>
                  <a:cubicBezTo>
                    <a:pt x="2326861" y="0"/>
                    <a:pt x="2339371" y="5182"/>
                    <a:pt x="2348595" y="14406"/>
                  </a:cubicBezTo>
                  <a:cubicBezTo>
                    <a:pt x="2357819" y="23630"/>
                    <a:pt x="2363001" y="36140"/>
                    <a:pt x="2363001" y="49185"/>
                  </a:cubicBezTo>
                  <a:lnTo>
                    <a:pt x="2363001" y="1624838"/>
                  </a:lnTo>
                  <a:cubicBezTo>
                    <a:pt x="2363001" y="1637882"/>
                    <a:pt x="2357819" y="1650393"/>
                    <a:pt x="2348595" y="1659617"/>
                  </a:cubicBezTo>
                  <a:cubicBezTo>
                    <a:pt x="2339371" y="1668841"/>
                    <a:pt x="2326861" y="1674023"/>
                    <a:pt x="2313816" y="1674023"/>
                  </a:cubicBezTo>
                  <a:lnTo>
                    <a:pt x="49185" y="1674023"/>
                  </a:lnTo>
                  <a:cubicBezTo>
                    <a:pt x="36140" y="1674023"/>
                    <a:pt x="23630" y="1668841"/>
                    <a:pt x="14406" y="1659617"/>
                  </a:cubicBezTo>
                  <a:cubicBezTo>
                    <a:pt x="5182" y="1650393"/>
                    <a:pt x="0" y="1637882"/>
                    <a:pt x="0" y="1624838"/>
                  </a:cubicBezTo>
                  <a:lnTo>
                    <a:pt x="0" y="49185"/>
                  </a:lnTo>
                  <a:cubicBezTo>
                    <a:pt x="0" y="36140"/>
                    <a:pt x="5182" y="23630"/>
                    <a:pt x="14406" y="14406"/>
                  </a:cubicBezTo>
                  <a:cubicBezTo>
                    <a:pt x="23630" y="5182"/>
                    <a:pt x="36140" y="0"/>
                    <a:pt x="49185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63001" cy="1712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01184" y="7170927"/>
            <a:ext cx="3562600" cy="748944"/>
            <a:chOff x="0" y="0"/>
            <a:chExt cx="1107229" cy="2327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7229" cy="232766"/>
            </a:xfrm>
            <a:custGeom>
              <a:avLst/>
              <a:gdLst/>
              <a:ahLst/>
              <a:cxnLst/>
              <a:rect l="l" t="t" r="r" b="b"/>
              <a:pathLst>
                <a:path w="1107229" h="232766">
                  <a:moveTo>
                    <a:pt x="110829" y="0"/>
                  </a:moveTo>
                  <a:lnTo>
                    <a:pt x="996401" y="0"/>
                  </a:lnTo>
                  <a:cubicBezTo>
                    <a:pt x="1057610" y="0"/>
                    <a:pt x="1107229" y="49620"/>
                    <a:pt x="1107229" y="110829"/>
                  </a:cubicBezTo>
                  <a:lnTo>
                    <a:pt x="1107229" y="121938"/>
                  </a:lnTo>
                  <a:cubicBezTo>
                    <a:pt x="1107229" y="183147"/>
                    <a:pt x="1057610" y="232766"/>
                    <a:pt x="996401" y="232766"/>
                  </a:cubicBezTo>
                  <a:lnTo>
                    <a:pt x="110829" y="232766"/>
                  </a:lnTo>
                  <a:cubicBezTo>
                    <a:pt x="49620" y="232766"/>
                    <a:pt x="0" y="183147"/>
                    <a:pt x="0" y="121938"/>
                  </a:cubicBezTo>
                  <a:lnTo>
                    <a:pt x="0" y="110829"/>
                  </a:lnTo>
                  <a:cubicBezTo>
                    <a:pt x="0" y="49620"/>
                    <a:pt x="49620" y="0"/>
                    <a:pt x="110829" y="0"/>
                  </a:cubicBezTo>
                  <a:close/>
                </a:path>
              </a:pathLst>
            </a:custGeom>
            <a:ln w="38100" cap="rnd">
              <a:solidFill>
                <a:srgbClr val="89C0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07229" cy="270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482606" y="6258034"/>
            <a:ext cx="359572" cy="359572"/>
          </a:xfrm>
          <a:custGeom>
            <a:avLst/>
            <a:gdLst/>
            <a:ahLst/>
            <a:cxnLst/>
            <a:rect l="l" t="t" r="r" b="b"/>
            <a:pathLst>
              <a:path w="359572" h="359572">
                <a:moveTo>
                  <a:pt x="0" y="0"/>
                </a:moveTo>
                <a:lnTo>
                  <a:pt x="359571" y="0"/>
                </a:lnTo>
                <a:lnTo>
                  <a:pt x="359571" y="359571"/>
                </a:lnTo>
                <a:lnTo>
                  <a:pt x="0" y="35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354663" y="6276648"/>
            <a:ext cx="322344" cy="322344"/>
          </a:xfrm>
          <a:custGeom>
            <a:avLst/>
            <a:gdLst/>
            <a:ahLst/>
            <a:cxnLst/>
            <a:rect l="l" t="t" r="r" b="b"/>
            <a:pathLst>
              <a:path w="322344" h="322344">
                <a:moveTo>
                  <a:pt x="0" y="0"/>
                </a:moveTo>
                <a:lnTo>
                  <a:pt x="322344" y="0"/>
                </a:lnTo>
                <a:lnTo>
                  <a:pt x="322344" y="322343"/>
                </a:lnTo>
                <a:lnTo>
                  <a:pt x="0" y="32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98207" y="3255198"/>
            <a:ext cx="8365577" cy="244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412"/>
              </a:lnSpc>
            </a:pPr>
            <a:r>
              <a:rPr lang="en-US" sz="9412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 for Your Attention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4265" y="6257162"/>
            <a:ext cx="342242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hello@reallygreatsite.com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36693" y="6257162"/>
            <a:ext cx="363669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sz="189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www.reallygreatsite.com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54663" y="7353021"/>
            <a:ext cx="3455641" cy="337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49">
                <a:solidFill>
                  <a:srgbClr val="0F439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Presentation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Произвольный</PresentationFormat>
  <Paragraphs>116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Canva Sans</vt:lpstr>
      <vt:lpstr>Calibri</vt:lpstr>
      <vt:lpstr>Red Hat Display Italics</vt:lpstr>
      <vt:lpstr>Open Sans Bold</vt:lpstr>
      <vt:lpstr>Red Hat Display</vt:lpstr>
      <vt:lpstr>Red Hat Display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Clean Professional Financial Insight Infographic Presentation</dc:title>
  <cp:lastModifiedBy>sekal sekal</cp:lastModifiedBy>
  <cp:revision>2</cp:revision>
  <dcterms:created xsi:type="dcterms:W3CDTF">2006-08-16T00:00:00Z</dcterms:created>
  <dcterms:modified xsi:type="dcterms:W3CDTF">2026-02-18T13:23:52Z</dcterms:modified>
  <dc:identifier>DAHBra5uIkw</dc:identifier>
</cp:coreProperties>
</file>