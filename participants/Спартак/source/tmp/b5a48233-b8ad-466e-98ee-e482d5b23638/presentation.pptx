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*Название:** Котокафе: Новый тренд в индустрии развлечений**Подзаголовок:** Профессиональная презентация для инвесторов</a:t>
            </a:r>
          </a:p>
          <a:p>
            <a:pPr lvl="1">
              <a:spcAft>
                <a:spcPts val="1000"/>
              </a:spcAft>
              <a:defRPr sz="2000"/>
            </a:pPr>
            <a:r>
              <a:t>*Логотип:** [Логотип котокафе]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Слайд2Обзоррынка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Обзор рынка котокафе**Текст:**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**Растущий тренд:** Котокафе становятся популярными в крупных городах благодаря уникальной концепции сочетания кофе и общения с кошками.</a:t>
            </a:r>
          </a:p>
          <a:p>
            <a:pPr lvl="1">
              <a:spcAft>
                <a:spcPts val="1000"/>
              </a:spcAft>
              <a:defRPr sz="2000"/>
            </a:pPr>
            <a:r>
              <a:t>**Целевая аудитория:** Молодые люди, семьи с детьми, любители кошек, студенты, офисные работники.</a:t>
            </a:r>
          </a:p>
          <a:p>
            <a:pPr lvl="1">
              <a:spcAft>
                <a:spcPts val="1000"/>
              </a:spcAft>
              <a:defRPr sz="2000"/>
            </a:pPr>
            <a:r>
              <a:t>**Конкурентный анализ:** Основные конкуренты и их особенности. Анализ сильных и слабых сторон конкурентов.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Слайд3Концепцияиуникальноеторговоепредложение(УТП)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Концепция и УТП**Текст:**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**Концепция:** Создание уютного пространства, где посетители могут расслабиться, выпить кофе и провести время с кошками.</a:t>
            </a:r>
          </a:p>
          <a:p>
            <a:pPr lvl="1">
              <a:spcAft>
                <a:spcPts val="1000"/>
              </a:spcAft>
              <a:defRPr sz="2000"/>
            </a:pPr>
            <a:r>
              <a:t>**УТП:**</a:t>
            </a:r>
          </a:p>
          <a:p>
            <a:pPr lvl="1">
              <a:spcAft>
                <a:spcPts val="1000"/>
              </a:spcAft>
              <a:defRPr sz="2000"/>
            </a:pPr>
            <a:r>
              <a:t>Интерьер, оформленный в стиле кошек.</a:t>
            </a:r>
          </a:p>
          <a:p>
            <a:pPr lvl="1">
              <a:spcAft>
                <a:spcPts val="1000"/>
              </a:spcAft>
              <a:defRPr sz="2000"/>
            </a:pPr>
            <a:r>
              <a:t>Разнообразие пород кошек.</a:t>
            </a:r>
          </a:p>
          <a:p>
            <a:pPr lvl="1">
              <a:spcAft>
                <a:spcPts val="1000"/>
              </a:spcAft>
              <a:defRPr sz="2000"/>
            </a:pPr>
            <a:r>
              <a:t>Программы для детей и взрослых (мастер-классы, фотосессии, тематические вечеpинки).</a:t>
            </a:r>
          </a:p>
          <a:p>
            <a:pPr lvl="1">
              <a:spcAft>
                <a:spcPts val="1000"/>
              </a:spcAft>
              <a:defRPr sz="2000"/>
            </a:pPr>
            <a:r>
              <a:t>Экологичность и устойчивость (использование биоразлагаемых материалов, поддержка местных фермеров).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Слайд4Бизнесмодель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Бизнес-модель**Текст:**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**Источники дохода:**</a:t>
            </a:r>
          </a:p>
          <a:p>
            <a:pPr lvl="1">
              <a:spcAft>
                <a:spcPts val="1000"/>
              </a:spcAft>
              <a:defRPr sz="2000"/>
            </a:pPr>
            <a:r>
              <a:t>Продажа кофе и легких закусок.</a:t>
            </a:r>
          </a:p>
          <a:p>
            <a:pPr lvl="1">
              <a:spcAft>
                <a:spcPts val="1000"/>
              </a:spcAft>
              <a:defRPr sz="2000"/>
            </a:pPr>
            <a:r>
              <a:t>Аренда места для мероприятий.</a:t>
            </a:r>
          </a:p>
          <a:p>
            <a:pPr lvl="1">
              <a:spcAft>
                <a:spcPts val="1000"/>
              </a:spcAft>
              <a:defRPr sz="2000"/>
            </a:pPr>
            <a:r>
              <a:t>Продажа сувениров и товаров для кошек.</a:t>
            </a:r>
          </a:p>
          <a:p>
            <a:pPr lvl="1">
              <a:spcAft>
                <a:spcPts val="1000"/>
              </a:spcAft>
              <a:defRPr sz="2000"/>
            </a:pPr>
            <a:r>
              <a:t>Членство в клубе (регулярные посещения по абонементу).</a:t>
            </a:r>
          </a:p>
          <a:p>
            <a:pPr lvl="1">
              <a:spcAft>
                <a:spcPts val="1000"/>
              </a:spcAft>
              <a:defRPr sz="2000"/>
            </a:pPr>
            <a:r>
              <a:t>**Операционные расходы:**</a:t>
            </a:r>
          </a:p>
          <a:p>
            <a:pPr lvl="1">
              <a:spcAft>
                <a:spcPts val="1000"/>
              </a:spcAft>
              <a:defRPr sz="2000"/>
            </a:pPr>
            <a:r>
              <a:t>Аренда помещения.</a:t>
            </a:r>
          </a:p>
          <a:p>
            <a:pPr lvl="1">
              <a:spcAft>
                <a:spcPts val="1000"/>
              </a:spcAft>
              <a:defRPr sz="2000"/>
            </a:pPr>
            <a:r>
              <a:t>Зарплата персонала.</a:t>
            </a:r>
          </a:p>
          <a:p>
            <a:pPr lvl="1">
              <a:spcAft>
                <a:spcPts val="1000"/>
              </a:spcAft>
              <a:defRPr sz="2000"/>
            </a:pPr>
            <a:r>
              <a:t>Покупка и содержание кошек.</a:t>
            </a:r>
          </a:p>
          <a:p>
            <a:pPr lvl="1">
              <a:spcAft>
                <a:spcPts val="1000"/>
              </a:spcAft>
              <a:defRPr sz="2000"/>
            </a:pPr>
            <a:r>
              <a:t>Закупка продуктов и сырья.</a:t>
            </a:r>
          </a:p>
          <a:p>
            <a:pPr lvl="1">
              <a:spcAft>
                <a:spcPts val="1000"/>
              </a:spcAft>
              <a:defRPr sz="2000"/>
            </a:pPr>
            <a:r>
              <a:t>Маркетинг и реклама.</a:t>
            </a:r>
          </a:p>
          <a:p>
            <a:pPr lvl="1">
              <a:spcAft>
                <a:spcPts val="1000"/>
              </a:spcAft>
              <a:defRPr sz="2000"/>
            </a:pPr>
            <a:r>
              <a:t>**Финансовый план:** Прогноз доходов и расходов на первые 3 года.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Слайд5Маркетинговаястратегия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Маркетинговая стратегия**Текст:**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**Целевые каналы:**</a:t>
            </a:r>
          </a:p>
          <a:p>
            <a:pPr lvl="1">
              <a:spcAft>
                <a:spcPts val="1000"/>
              </a:spcAft>
              <a:defRPr sz="2000"/>
            </a:pPr>
            <a:r>
              <a:t>Социальные сети (Instagram, Facebook, VKontakte).</a:t>
            </a:r>
          </a:p>
          <a:p>
            <a:pPr lvl="1">
              <a:spcAft>
                <a:spcPts val="1000"/>
              </a:spcAft>
              <a:defRPr sz="2000"/>
            </a:pPr>
            <a:r>
              <a:t>Локальные партнерства (кафе, магазины, ветклиники).</a:t>
            </a:r>
          </a:p>
          <a:p>
            <a:pPr lvl="1">
              <a:spcAft>
                <a:spcPts val="1000"/>
              </a:spcAft>
              <a:defRPr sz="2000"/>
            </a:pPr>
            <a:r>
              <a:t>Онлайн-реклама (Google Ads, Яндекс.Директ).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**Промо-активности:**</a:t>
            </a:r>
          </a:p>
          <a:p>
            <a:pPr lvl="1">
              <a:spcAft>
                <a:spcPts val="1000"/>
              </a:spcAft>
              <a:defRPr sz="2000"/>
            </a:pPr>
            <a:r>
              <a:t>Открытие с участием местных знаменитостей.</a:t>
            </a:r>
          </a:p>
          <a:p>
            <a:pPr lvl="1">
              <a:spcAft>
                <a:spcPts val="1000"/>
              </a:spcAft>
              <a:defRPr sz="2000"/>
            </a:pPr>
            <a:r>
              <a:t>Тематические акции и скидки.</a:t>
            </a:r>
          </a:p>
          <a:p>
            <a:pPr lvl="1">
              <a:spcAft>
                <a:spcPts val="1000"/>
              </a:spcAft>
              <a:defRPr sz="2000"/>
            </a:pPr>
            <a:r>
              <a:t>Проведение благотворительных мероприятий.</a:t>
            </a:r>
          </a:p>
          <a:p>
            <a:pPr lvl="1">
              <a:spcAft>
                <a:spcPts val="1000"/>
              </a:spcAft>
              <a:defRPr sz="2000"/>
            </a:pPr>
            <a:r>
              <a:t>**CRM-стратегия:**</a:t>
            </a:r>
          </a:p>
          <a:p>
            <a:pPr lvl="1">
              <a:spcAft>
                <a:spcPts val="1000"/>
              </a:spcAft>
              <a:defRPr sz="2000"/>
            </a:pPr>
            <a:r>
              <a:t>Лояльность клиентов через программу бонусов.</a:t>
            </a:r>
          </a:p>
          <a:p>
            <a:pPr lvl="1">
              <a:spcAft>
                <a:spcPts val="1000"/>
              </a:spcAft>
              <a:defRPr sz="2000"/>
            </a:pPr>
            <a:r>
              <a:t>Регулярные рассылки с новостями и предложениями.</a:t>
            </a:r>
          </a:p>
          <a:p>
            <a:pPr lvl="1">
              <a:spcAft>
                <a:spcPts val="1000"/>
              </a:spcAft>
              <a:defRPr sz="2000"/>
            </a:pPr>
            <a:r>
              <a:t>Персонализированные предложения для постоянных клиентов.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тебе нужна более детальная информация или помощь с оформлением, дай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