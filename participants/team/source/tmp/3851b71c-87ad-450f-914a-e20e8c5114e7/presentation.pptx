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Проблема медведок на морковном заводе и пути её решения**Текст:**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Цель презентации: рассмотреть текущую ситуацию на морковном заводе и предложить эффективные методы борьбы с медведками.</a:t>
            </a:r>
          </a:p>
          <a:p>
            <a:pPr lvl="1">
              <a:spcAft>
                <a:spcPts val="1000"/>
              </a:spcAft>
              <a:defRPr sz="2000"/>
            </a:pPr>
            <a:r>
              <a:t>Значимость темы: медведки наносят значительный ущерб урожаю моркови, что влияет на производственные показатели завода.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Слайд2Обзорпроблемымедведок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Обзор проблемы медведок**Текст:**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Медведки (Phyllophaga spp.) — вредители, поражающие корнеплоды, в том числе морковь.</a:t>
            </a:r>
          </a:p>
          <a:p>
            <a:pPr lvl="1">
              <a:spcAft>
                <a:spcPts val="1000"/>
              </a:spcAft>
              <a:defRPr sz="2000"/>
            </a:pPr>
            <a:r>
              <a:t>Жизненный цикл: личинки зимуют в почве, весной превращаются в жуков, которые откладывают яйца.</a:t>
            </a:r>
          </a:p>
          <a:p>
            <a:pPr lvl="1">
              <a:spcAft>
                <a:spcPts val="1000"/>
              </a:spcAft>
              <a:defRPr sz="2000"/>
            </a:pPr>
            <a:r>
              <a:t>Ущерб: снижение урожайности, повреждение корнеплодов, увеличение затрат на обработку поля.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Слайд3Методыборьбысмедведками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Методы борьбы с медведками**Текст:**</a:t>
            </a:r>
          </a:p>
          <a:p>
            <a:pPr>
              <a:spcAft>
                <a:spcPts val="1000"/>
              </a:spcAft>
              <a:defRPr sz="2000"/>
            </a:pPr>
            <a:r>
              <a:t>1. **Химические методы:**</a:t>
            </a:r>
          </a:p>
          <a:p>
            <a:pPr lvl="1">
              <a:spcAft>
                <a:spcPts val="1000"/>
              </a:spcAft>
              <a:defRPr sz="2000"/>
            </a:pPr>
            <a:r>
              <a:t>Применение инсектицидов (например, карбофос, имидаклоприд).</a:t>
            </a:r>
          </a:p>
          <a:p>
            <a:pPr lvl="1">
              <a:spcAft>
                <a:spcPts val="1000"/>
              </a:spcAft>
              <a:defRPr sz="2000"/>
            </a:pPr>
            <a:r>
              <a:t>Преимущества: быстрый эффект, широкий спектр действия.</a:t>
            </a:r>
          </a:p>
          <a:p>
            <a:pPr lvl="1">
              <a:spcAft>
                <a:spcPts val="1000"/>
              </a:spcAft>
              <a:defRPr sz="2000"/>
            </a:pPr>
            <a:r>
              <a:t>Недостатки: возможное загрязнение почвы и воды, риск для здоровья людей и животных.</a:t>
            </a:r>
          </a:p>
          <a:p>
            <a:pPr>
              <a:spcAft>
                <a:spcPts val="1000"/>
              </a:spcAft>
              <a:defRPr sz="2000"/>
            </a:pPr>
            <a:r>
              <a:t>2. **Биологические методы:**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Использование паразитических наездников (например, Tiphia vernalis).</a:t>
            </a:r>
          </a:p>
          <a:p>
            <a:pPr lvl="1">
              <a:spcAft>
                <a:spcPts val="1000"/>
              </a:spcAft>
              <a:defRPr sz="2000"/>
            </a:pPr>
            <a:r>
              <a:t>Применение бактерий (Bacillus thuringiensis).</a:t>
            </a:r>
          </a:p>
          <a:p>
            <a:pPr lvl="1">
              <a:spcAft>
                <a:spcPts val="1000"/>
              </a:spcAft>
              <a:defRPr sz="2000"/>
            </a:pPr>
            <a:r>
              <a:t>Преимущества: экологическая безопасность, длительный эффект.</a:t>
            </a:r>
          </a:p>
          <a:p>
            <a:pPr lvl="1">
              <a:spcAft>
                <a:spcPts val="1000"/>
              </a:spcAft>
              <a:defRPr sz="2000"/>
            </a:pPr>
            <a:r>
              <a:t>Недостатки: более медленный результат, необходимость регулярного применения.</a:t>
            </a:r>
          </a:p>
          <a:p>
            <a:pPr>
              <a:spcAft>
                <a:spcPts val="1000"/>
              </a:spcAft>
              <a:defRPr sz="2000"/>
            </a:pPr>
            <a:r>
              <a:t>3. **Физические методы:**</a:t>
            </a:r>
          </a:p>
          <a:p>
            <a:pPr lvl="1">
              <a:spcAft>
                <a:spcPts val="1000"/>
              </a:spcAft>
              <a:defRPr sz="2000"/>
            </a:pPr>
            <a:r>
              <a:t>Установка ловушек для взрослых жуков.</a:t>
            </a:r>
          </a:p>
          <a:p>
            <a:pPr lvl="1">
              <a:spcAft>
                <a:spcPts val="1000"/>
              </a:spcAft>
              <a:defRPr sz="2000"/>
            </a:pPr>
            <a:r>
              <a:t>Механическая обработка почвы для уничтожения личинок.</a:t>
            </a:r>
          </a:p>
          <a:p>
            <a:pPr lvl="1">
              <a:spcAft>
                <a:spcPts val="1000"/>
              </a:spcAft>
              <a:defRPr sz="2000"/>
            </a:pPr>
            <a:r>
              <a:t>Преимущества: простота, доступность.</a:t>
            </a:r>
          </a:p>
          <a:p>
            <a:pPr lvl="1">
              <a:spcAft>
                <a:spcPts val="1000"/>
              </a:spcAft>
              <a:defRPr sz="2000"/>
            </a:pPr>
            <a:r>
              <a:t>Недостатки: ограниченная эффективность, трудоёмкость.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Слайд4Экономическоеобоснование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Экономическое обоснование методов борьбы с медведками**Текст:**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**Стоимость химических методов:**</a:t>
            </a:r>
          </a:p>
          <a:p>
            <a:pPr lvl="1">
              <a:spcAft>
                <a:spcPts val="1000"/>
              </a:spcAft>
              <a:defRPr sz="2000"/>
            </a:pPr>
            <a:r>
              <a:t>Инсектициды: средняя стоимость 1000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Обработка: 500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Итого: 1500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**Стоимость биологических методов:**</a:t>
            </a:r>
          </a:p>
          <a:p>
            <a:pPr lvl="1">
              <a:spcAft>
                <a:spcPts val="1000"/>
              </a:spcAft>
              <a:defRPr sz="2000"/>
            </a:pPr>
            <a:r>
              <a:t>Наездники: 2000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Бактерии: 1000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Итого: 3000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**Стоимость физических методов:**</a:t>
            </a:r>
          </a:p>
          <a:p>
            <a:pPr lvl="1">
              <a:spcAft>
                <a:spcPts val="1000"/>
              </a:spcAft>
              <a:defRPr sz="2000"/>
            </a:pPr>
            <a:r>
              <a:t>Ловушки: 500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Механическая обработка: 1000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Итого: 1500 руб./га.</a:t>
            </a:r>
          </a:p>
          <a:p>
            <a:pPr lvl="1">
              <a:spcAft>
                <a:spcPts val="1000"/>
              </a:spcAft>
              <a:defRPr sz="2000"/>
            </a:pPr>
            <a:r>
              <a:t>**Эффективность:**</a:t>
            </a:r>
          </a:p>
          <a:p>
            <a:pPr lvl="1">
              <a:spcAft>
                <a:spcPts val="1000"/>
              </a:spcAft>
              <a:defRPr sz="2000"/>
            </a:pPr>
            <a:r>
              <a:t>Химические методы: до 80% уничтожения.</a:t>
            </a:r>
          </a:p>
          <a:p>
            <a:pPr lvl="1">
              <a:spcAft>
                <a:spcPts val="1000"/>
              </a:spcAft>
              <a:defRPr sz="2000"/>
            </a:pPr>
            <a:r>
              <a:t>Биологические методы: до 70% уничтожения.</a:t>
            </a:r>
          </a:p>
          <a:p>
            <a:pPr lvl="1">
              <a:spcAft>
                <a:spcPts val="1000"/>
              </a:spcAft>
              <a:defRPr sz="2000"/>
            </a:pPr>
            <a:r>
              <a:t>Физические методы: до 50% уничтожения.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Слайд5Заключениеирекомендации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 и рекомендации**Текст:**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**Заключение:**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Проблема медведок требует комплексного подхода.</a:t>
            </a:r>
          </a:p>
          <a:p>
            <a:pPr lvl="1">
              <a:spcAft>
                <a:spcPts val="1000"/>
              </a:spcAft>
              <a:defRPr sz="2000"/>
            </a:pPr>
            <a:r>
              <a:t>Эффективность методов зависит от условий и особенностей конкретного хозяйства.</a:t>
            </a:r>
          </a:p>
          <a:p>
            <a:pPr lvl="1">
              <a:spcAft>
                <a:spcPts val="1000"/>
              </a:spcAft>
              <a:defRPr sz="2000"/>
            </a:pPr>
            <a:r>
              <a:t>**Рекомендации:**</a:t>
            </a:r>
          </a:p>
          <a:p>
            <a:pPr lvl="1">
              <a:spcAft>
                <a:spcPts val="1000"/>
              </a:spcAft>
              <a:defRPr sz="2000"/>
            </a:pPr>
            <a:r>
              <a:t>Регулярный мониторинг численности медведок.</a:t>
            </a:r>
          </a:p>
          <a:p>
            <a:pPr lvl="1">
              <a:spcAft>
                <a:spcPts val="1000"/>
              </a:spcAft>
              <a:defRPr sz="2000"/>
            </a:pPr>
            <a:r>
              <a:t>Комбинирование методов для достижения наилучших результатов.</a:t>
            </a:r>
          </a:p>
          <a:p>
            <a:pPr lvl="1">
              <a:spcAft>
                <a:spcPts val="1000"/>
              </a:spcAft>
              <a:defRPr sz="2000"/>
            </a:pPr>
            <a:r>
              <a:t>Консультация с агрономами и специалистами по защите растений.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Надеюсь, эта презентация будет полезной для вас. Если у вас есть какие-либо дополнительные вопросы или нужна помощь в оформлении,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