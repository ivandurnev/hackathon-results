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Слайд1Введениевгуманизм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Гуманизм: Основные понятия и принципы**Текст:**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Гуманизм — философское направление, которое акцентирует внимание на человеческом достоинстве, свободе и равенстве.</a:t>
            </a:r>
          </a:p>
          <a:p>
            <a:pPr lvl="1">
              <a:spcAft>
                <a:spcPts val="1000"/>
              </a:spcAft>
              <a:defRPr sz="2000"/>
            </a:pPr>
            <a:r>
              <a:t>Основные принципы:</a:t>
            </a:r>
          </a:p>
          <a:p>
            <a:pPr lvl="1">
              <a:spcAft>
                <a:spcPts val="1000"/>
              </a:spcAft>
              <a:defRPr sz="2000"/>
            </a:pPr>
            <a:r>
              <a:t>Уважение к человеческой личности.</a:t>
            </a:r>
          </a:p>
          <a:p>
            <a:pPr lvl="1">
              <a:spcAft>
                <a:spcPts val="1000"/>
              </a:spcAft>
              <a:defRPr sz="2000"/>
            </a:pPr>
            <a:r>
              <a:t>Поддержка прав и свобод человека.</a:t>
            </a:r>
          </a:p>
          <a:p>
            <a:pPr lvl="1">
              <a:spcAft>
                <a:spcPts val="1000"/>
              </a:spcAft>
              <a:defRPr sz="2000"/>
            </a:pPr>
            <a:r>
              <a:t>Развитие потенциала каждого индивида.</a:t>
            </a:r>
          </a:p>
          <a:p>
            <a:pPr lvl="1">
              <a:spcAft>
                <a:spcPts val="1000"/>
              </a:spcAft>
              <a:defRPr sz="2000"/>
            </a:pPr>
            <a:r>
              <a:t>Социальная ответственность и взаимопомощь.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Слайд2Историягуманизма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Историческое развитие гуманизма**Текст:**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Возникновение: эпоха Возрождения (XIV-XVII века).</a:t>
            </a:r>
          </a:p>
          <a:p>
            <a:pPr lvl="1">
              <a:spcAft>
                <a:spcPts val="1000"/>
              </a:spcAft>
              <a:defRPr sz="2000"/>
            </a:pPr>
            <a:r>
              <a:t>Ключевые фигуры:</a:t>
            </a:r>
          </a:p>
          <a:p>
            <a:pPr lvl="1">
              <a:spcAft>
                <a:spcPts val="1000"/>
              </a:spcAft>
              <a:defRPr sz="2000"/>
            </a:pPr>
            <a:r>
              <a:t>Джованни Пико делла Мирандола.</a:t>
            </a:r>
          </a:p>
          <a:p>
            <a:pPr lvl="1">
              <a:spcAft>
                <a:spcPts val="1000"/>
              </a:spcAft>
              <a:defRPr sz="2000"/>
            </a:pPr>
            <a:r>
              <a:t>Эразм Роттердамский.</a:t>
            </a:r>
          </a:p>
          <a:p>
            <a:pPr lvl="1">
              <a:spcAft>
                <a:spcPts val="1000"/>
              </a:spcAft>
              <a:defRPr sz="2000"/>
            </a:pPr>
            <a:r>
              <a:t>Фома Мор.</a:t>
            </a:r>
          </a:p>
          <a:p>
            <a:pPr lvl="1">
              <a:spcAft>
                <a:spcPts val="1000"/>
              </a:spcAft>
              <a:defRPr sz="2000"/>
            </a:pPr>
            <a:r>
              <a:t>Современные проявления: гуманистические подходы в образовании, медицине, социальной политике.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Слайд3Гуманизмвбизнесе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Гуманизм в корпоративной культуре**Текст:**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Человеко-ориентированный подход в управлении.</a:t>
            </a:r>
          </a:p>
          <a:p>
            <a:pPr lvl="1">
              <a:spcAft>
                <a:spcPts val="1000"/>
              </a:spcAft>
              <a:defRPr sz="2000"/>
            </a:pPr>
            <a:r>
              <a:t>Создание благоприятных условий для сотрудников:</a:t>
            </a:r>
          </a:p>
          <a:p>
            <a:pPr lvl="1">
              <a:spcAft>
                <a:spcPts val="1000"/>
              </a:spcAft>
              <a:defRPr sz="2000"/>
            </a:pPr>
            <a:r>
              <a:t>Развитие профессиональных навыков.</a:t>
            </a:r>
          </a:p>
          <a:p>
            <a:pPr lvl="1">
              <a:spcAft>
                <a:spcPts val="1000"/>
              </a:spcAft>
              <a:defRPr sz="2000"/>
            </a:pPr>
            <a:r>
              <a:t>Поддержка психологического здоровья.</a:t>
            </a:r>
          </a:p>
          <a:p>
            <a:pPr lvl="1">
              <a:spcAft>
                <a:spcPts val="1000"/>
              </a:spcAft>
              <a:defRPr sz="2000"/>
            </a:pPr>
            <a:r>
              <a:t>Равные возможности для карьерного роста.</a:t>
            </a:r>
          </a:p>
          <a:p>
            <a:pPr lvl="1">
              <a:spcAft>
                <a:spcPts val="1000"/>
              </a:spcAft>
              <a:defRPr sz="2000"/>
            </a:pPr>
            <a:r>
              <a:t>Социальная ответственность компании:</a:t>
            </a:r>
          </a:p>
          <a:p>
            <a:pPr lvl="1">
              <a:spcAft>
                <a:spcPts val="1000"/>
              </a:spcAft>
              <a:defRPr sz="2000"/>
            </a:pPr>
            <a:r>
              <a:t>Участие в благотворительных проектах.</a:t>
            </a:r>
          </a:p>
          <a:p>
            <a:pPr lvl="1">
              <a:spcAft>
                <a:spcPts val="1000"/>
              </a:spcAft>
              <a:defRPr sz="2000"/>
            </a:pPr>
            <a:r>
              <a:t>Поддержка местных сообществ.</a:t>
            </a:r>
          </a:p>
          <a:p>
            <a:pPr lvl="1">
              <a:spcAft>
                <a:spcPts val="1000"/>
              </a:spcAft>
              <a:defRPr sz="2000"/>
            </a:pPr>
            <a:r>
              <a:t>Экологическая устойчивость.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Слайд4Примерыгуманистическихпрактик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Реальные примеры гуманистических практик в бизнесе**Текст:**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Google: программы по развитию сотрудников, гибкий график работы, корпоративные инициативы по благотворительности.</a:t>
            </a:r>
          </a:p>
          <a:p>
            <a:pPr lvl="1">
              <a:spcAft>
                <a:spcPts val="1000"/>
              </a:spcAft>
              <a:defRPr sz="2000"/>
            </a:pPr>
            <a:r>
              <a:t>Patagonia: активная поддержка экологических проектов, прозрачность производства, социальные кампании.</a:t>
            </a:r>
          </a:p>
          <a:p>
            <a:pPr lvl="1">
              <a:spcAft>
                <a:spcPts val="1000"/>
              </a:spcAft>
              <a:defRPr sz="2000"/>
            </a:pPr>
            <a:r>
              <a:t>Microsoft: программы по доступности технологий для людей с ограниченными возможностями, поддержка образовательных проектов.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Важность гуманизма в современном мире**Текст:**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Гуманизм способствует созданию более справедливого и гармоничного общества.</a:t>
            </a:r>
          </a:p>
          <a:p>
            <a:pPr lvl="1">
              <a:spcAft>
                <a:spcPts val="1000"/>
              </a:spcAft>
              <a:defRPr sz="2000"/>
            </a:pPr>
            <a:r>
              <a:t>Корпоративные гуманистические практики улучшают качество жизни сотрудников и окружающего мира.</a:t>
            </a:r>
          </a:p>
          <a:p>
            <a:pPr lvl="1">
              <a:spcAft>
                <a:spcPts val="1000"/>
              </a:spcAft>
              <a:defRPr sz="2000"/>
            </a:pPr>
            <a:r>
              <a:t>Интеграция гуманистических принципов в бизнес-стратегию повышает доверие и лояльность клиентов и сотрудников.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Надеюсь, эта структура поможет вам создать эффективную и профессиональную презентацию. Если у вас есть какие-либо дополнительные пожелания или вопросы, пожалуйста, дайте знать!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