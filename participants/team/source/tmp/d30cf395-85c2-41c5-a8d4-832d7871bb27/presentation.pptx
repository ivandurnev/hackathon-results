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Слайд1Обложка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*Продажа носков: Анализ рынка и ликвидность поставок из Китая****Дата:** 31 декабря 2024</a:t>
            </a:r>
          </a:p>
          <a:p>
            <a:pPr lvl="1">
              <a:spcAft>
                <a:spcPts val="1000"/>
              </a:spcAft>
              <a:defRPr sz="2000"/>
            </a:pPr>
            <a:r>
              <a:t>*Автор:** [Ваше имя]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Слайд2Обзоррынканосков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*Объем рынка:**- Глобальный рынок носков в 2024 году оценивается в $15 млрд.</a:t>
            </a:r>
          </a:p>
          <a:p>
            <a:pPr lvl="1">
              <a:spcAft>
                <a:spcPts val="1000"/>
              </a:spcAft>
              <a:defRPr sz="2000"/>
            </a:pPr>
            <a:r>
              <a:t>Российский рынок носков составляет около $1 млрд.</a:t>
            </a:r>
          </a:p>
          <a:p>
            <a:pPr lvl="1">
              <a:spcAft>
                <a:spcPts val="1000"/>
              </a:spcAft>
              <a:defRPr sz="2000"/>
            </a:pPr>
            <a:r>
              <a:t>*Основные игроки:**</a:t>
            </a:r>
          </a:p>
          <a:p>
            <a:pPr lvl="1">
              <a:spcAft>
                <a:spcPts val="1000"/>
              </a:spcAft>
              <a:defRPr sz="2000"/>
            </a:pPr>
            <a:r>
              <a:t>HanesBrands (США)</a:t>
            </a:r>
          </a:p>
          <a:p>
            <a:pPr lvl="1">
              <a:spcAft>
                <a:spcPts val="1000"/>
              </a:spcAft>
              <a:defRPr sz="2000"/>
            </a:pPr>
            <a:r>
              <a:t>Delta Galil (Израиль)</a:t>
            </a:r>
          </a:p>
          <a:p>
            <a:pPr lvl="1">
              <a:spcAft>
                <a:spcPts val="1000"/>
              </a:spcAft>
              <a:defRPr sz="2000"/>
            </a:pPr>
            <a:r>
              <a:t>Kunert (Германия)</a:t>
            </a:r>
          </a:p>
          <a:p>
            <a:pPr lvl="1">
              <a:spcAft>
                <a:spcPts val="1000"/>
              </a:spcAft>
              <a:defRPr sz="2000"/>
            </a:pPr>
            <a:r>
              <a:t>Chinese Socks Co. (Китай)</a:t>
            </a:r>
          </a:p>
          <a:p>
            <a:pPr lvl="1">
              <a:spcAft>
                <a:spcPts val="1000"/>
              </a:spcAft>
              <a:defRPr sz="2000"/>
            </a:pPr>
            <a:r>
              <a:t>*Тенденции:**</a:t>
            </a:r>
          </a:p>
          <a:p>
            <a:pPr lvl="1">
              <a:spcAft>
                <a:spcPts val="1000"/>
              </a:spcAft>
              <a:defRPr sz="2000"/>
            </a:pPr>
            <a:r>
              <a:t>Рост спроса на экологически чистые материалы.</a:t>
            </a:r>
          </a:p>
          <a:p>
            <a:pPr lvl="1">
              <a:spcAft>
                <a:spcPts val="1000"/>
              </a:spcAft>
              <a:defRPr sz="2000"/>
            </a:pPr>
            <a:r>
              <a:t>Увеличение доли онлайн-продаж.</a:t>
            </a:r>
          </a:p>
          <a:p>
            <a:pPr lvl="1">
              <a:spcAft>
                <a:spcPts val="1000"/>
              </a:spcAft>
              <a:defRPr sz="2000"/>
            </a:pPr>
            <a:r>
              <a:t>Повышение интереса к брендам с уникальным дизайном.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Слайд3ЛиквидностьпоставокносковизКитая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*Производственные мощности:**- Китай является крупнейшим производителем носков в мире.</a:t>
            </a:r>
          </a:p>
          <a:p>
            <a:pPr lvl="1">
              <a:spcAft>
                <a:spcPts val="1000"/>
              </a:spcAft>
              <a:defRPr sz="2000"/>
            </a:pPr>
            <a:r>
              <a:t>В 2024 году объем производства носков в Китае достиг 10 млрд пар.</a:t>
            </a:r>
          </a:p>
          <a:p>
            <a:pPr lvl="1">
              <a:spcAft>
                <a:spcPts val="1000"/>
              </a:spcAft>
              <a:defRPr sz="2000"/>
            </a:pPr>
            <a:r>
              <a:t>*Логистика:**</a:t>
            </a:r>
          </a:p>
          <a:p>
            <a:pPr lvl="1">
              <a:spcAft>
                <a:spcPts val="1000"/>
              </a:spcAft>
              <a:defRPr sz="2000"/>
            </a:pPr>
            <a:r>
              <a:t>Среднее время доставки из Китая в Россию: 20-30 дней.</a:t>
            </a:r>
          </a:p>
          <a:p>
            <a:pPr lvl="1">
              <a:spcAft>
                <a:spcPts val="1000"/>
              </a:spcAft>
              <a:defRPr sz="2000"/>
            </a:pPr>
            <a:r>
              <a:t>Основные маршруты: морской и железнодорожный транспорт.</a:t>
            </a:r>
          </a:p>
          <a:p>
            <a:pPr lvl="1">
              <a:spcAft>
                <a:spcPts val="1000"/>
              </a:spcAft>
              <a:defRPr sz="2000"/>
            </a:pPr>
            <a:r>
              <a:t>*Цены:**</a:t>
            </a:r>
          </a:p>
          <a:p>
            <a:pPr lvl="1">
              <a:spcAft>
                <a:spcPts val="1000"/>
              </a:spcAft>
              <a:defRPr sz="2000"/>
            </a:pPr>
            <a:r>
              <a:t>Средняя стоимость пары носков из Китая: $0.50.</a:t>
            </a:r>
          </a:p>
          <a:p>
            <a:pPr lvl="1">
              <a:spcAft>
                <a:spcPts val="1000"/>
              </a:spcAft>
              <a:defRPr sz="2000"/>
            </a:pPr>
            <a:r>
              <a:t>Таможенные пошлины и налоги: 10% от стоимости товара.</a:t>
            </a:r>
          </a:p>
          <a:p>
            <a:pPr lvl="1">
              <a:spcAft>
                <a:spcPts val="1000"/>
              </a:spcAft>
              <a:defRPr sz="2000"/>
            </a:pPr>
            <a:r>
              <a:t>*Качество:**</a:t>
            </a:r>
          </a:p>
          <a:p>
            <a:pPr lvl="1">
              <a:spcAft>
                <a:spcPts val="1000"/>
              </a:spcAft>
              <a:defRPr sz="2000"/>
            </a:pPr>
            <a:r>
              <a:t>Высокое качество продукции благодаря современным технологиям и строгому контролю.</a:t>
            </a:r>
          </a:p>
          <a:p>
            <a:pPr lvl="1">
              <a:spcAft>
                <a:spcPts val="1000"/>
              </a:spcAft>
              <a:defRPr sz="2000"/>
            </a:pPr>
            <a:r>
              <a:t>Сертификация ISO 9001 и другие международные стандарты.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Слайд4Анализконкурентов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*Ключевые конкуренты:**- ООО "Носки и Ко" (Россия)</a:t>
            </a:r>
          </a:p>
          <a:p>
            <a:pPr lvl="1">
              <a:spcAft>
                <a:spcPts val="1000"/>
              </a:spcAft>
              <a:defRPr sz="2000"/>
            </a:pPr>
            <a:r>
              <a:t>ООО "ТеплоНоски" (Россия)</a:t>
            </a:r>
          </a:p>
          <a:p>
            <a:pPr lvl="1">
              <a:spcAft>
                <a:spcPts val="1000"/>
              </a:spcAft>
              <a:defRPr sz="2000"/>
            </a:pPr>
            <a:r>
              <a:t>ООО "Стильные Носки" (Россия)</a:t>
            </a:r>
          </a:p>
          <a:p>
            <a:pPr lvl="1">
              <a:spcAft>
                <a:spcPts val="1000"/>
              </a:spcAft>
              <a:defRPr sz="2000"/>
            </a:pPr>
            <a:r>
              <a:t>*Доля рынка:**</a:t>
            </a:r>
          </a:p>
          <a:p>
            <a:pPr lvl="1">
              <a:spcAft>
                <a:spcPts val="1000"/>
              </a:spcAft>
              <a:defRPr sz="2000"/>
            </a:pPr>
            <a:r>
              <a:t>ООО "Носки и Ко": 20%</a:t>
            </a:r>
          </a:p>
          <a:p>
            <a:pPr lvl="1">
              <a:spcAft>
                <a:spcPts val="1000"/>
              </a:spcAft>
              <a:defRPr sz="2000"/>
            </a:pPr>
            <a:r>
              <a:t>ООО "ТеплоНоски": 15%</a:t>
            </a:r>
          </a:p>
          <a:p>
            <a:pPr lvl="1">
              <a:spcAft>
                <a:spcPts val="1000"/>
              </a:spcAft>
              <a:defRPr sz="2000"/>
            </a:pPr>
            <a:r>
              <a:t>ООО "Стильные Носки": 10%</a:t>
            </a:r>
          </a:p>
          <a:p>
            <a:pPr lvl="1">
              <a:spcAft>
                <a:spcPts val="1000"/>
              </a:spcAft>
              <a:defRPr sz="2000"/>
            </a:pPr>
            <a:r>
              <a:t>*Преимущества:**</a:t>
            </a:r>
          </a:p>
          <a:p>
            <a:pPr lvl="1">
              <a:spcAft>
                <a:spcPts val="1000"/>
              </a:spcAft>
              <a:defRPr sz="2000"/>
            </a:pPr>
            <a:r>
              <a:t>ООО "Носки и Ко": широкая сеть дистрибуции.</a:t>
            </a:r>
          </a:p>
          <a:p>
            <a:pPr lvl="1">
              <a:spcAft>
                <a:spcPts val="1000"/>
              </a:spcAft>
              <a:defRPr sz="2000"/>
            </a:pPr>
            <a:r>
              <a:t>ООО "ТеплоНоски": высокое качество и долговечность.</a:t>
            </a:r>
          </a:p>
          <a:p>
            <a:pPr lvl="1">
              <a:spcAft>
                <a:spcPts val="1000"/>
              </a:spcAft>
              <a:defRPr sz="2000"/>
            </a:pPr>
            <a:r>
              <a:t>ООО "Стильные Носки": уникальный дизайн и маркетинг.</a:t>
            </a:r>
          </a:p>
          <a:p>
            <a:pPr lvl="1">
              <a:spcAft>
                <a:spcPts val="1000"/>
              </a:spcAft>
              <a:defRPr sz="2000"/>
            </a:pPr>
            <a:r>
              <a:t>*Уязвимости:**</a:t>
            </a:r>
          </a:p>
          <a:p>
            <a:pPr lvl="1">
              <a:spcAft>
                <a:spcPts val="1000"/>
              </a:spcAft>
              <a:defRPr sz="2000"/>
            </a:pPr>
            <a:r>
              <a:t>ООО "Носки и Ко": высокие цены.</a:t>
            </a:r>
          </a:p>
          <a:p>
            <a:pPr lvl="1">
              <a:spcAft>
                <a:spcPts val="1000"/>
              </a:spcAft>
              <a:defRPr sz="2000"/>
            </a:pPr>
            <a:r>
              <a:t>ООО "ТеплоНоски": ограниченный ассортимент.</a:t>
            </a:r>
          </a:p>
          <a:p>
            <a:pPr lvl="1">
              <a:spcAft>
                <a:spcPts val="1000"/>
              </a:spcAft>
              <a:defRPr sz="2000"/>
            </a:pPr>
            <a:r>
              <a:t>ООО "Стильные Носки": низкая ликвидность поставок.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Слайд5Стратегиявыходанарынок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*Целевая аудитория:**- Молодые люди в возрасте 18-35 лет.</a:t>
            </a:r>
          </a:p>
          <a:p>
            <a:pPr lvl="1">
              <a:spcAft>
                <a:spcPts val="1000"/>
              </a:spcAft>
              <a:defRPr sz="2000"/>
            </a:pPr>
            <a:r>
              <a:t>Семьи с детьми.</a:t>
            </a:r>
          </a:p>
          <a:p>
            <a:pPr lvl="1">
              <a:spcAft>
                <a:spcPts val="1000"/>
              </a:spcAft>
              <a:defRPr sz="2000"/>
            </a:pPr>
            <a:r>
              <a:t>Спортсмены и активные люди.</a:t>
            </a:r>
          </a:p>
          <a:p>
            <a:pPr lvl="1">
              <a:spcAft>
                <a:spcPts val="1000"/>
              </a:spcAft>
              <a:defRPr sz="2000"/>
            </a:pPr>
            <a:r>
              <a:t>*Продукт:**</a:t>
            </a:r>
          </a:p>
          <a:p>
            <a:pPr lvl="1">
              <a:spcAft>
                <a:spcPts val="1000"/>
              </a:spcAft>
              <a:defRPr sz="2000"/>
            </a:pPr>
            <a:r>
              <a:t>Экологически чистые материалы.</a:t>
            </a:r>
          </a:p>
          <a:p>
            <a:pPr lvl="1">
              <a:spcAft>
                <a:spcPts val="1000"/>
              </a:spcAft>
              <a:defRPr sz="2000"/>
            </a:pPr>
            <a:r>
              <a:t>Уникальный дизайн.</a:t>
            </a:r>
          </a:p>
          <a:p>
            <a:pPr lvl="1">
              <a:spcAft>
                <a:spcPts val="1000"/>
              </a:spcAft>
              <a:defRPr sz="2000"/>
            </a:pPr>
            <a:r>
              <a:t>Разнообразие размеров и цветов.</a:t>
            </a:r>
          </a:p>
          <a:p>
            <a:pPr lvl="1">
              <a:spcAft>
                <a:spcPts val="1000"/>
              </a:spcAft>
              <a:defRPr sz="2000"/>
            </a:pPr>
            <a:r>
              <a:t>*Ценообразование:**</a:t>
            </a:r>
          </a:p>
          <a:p>
            <a:pPr lvl="1">
              <a:spcAft>
                <a:spcPts val="1000"/>
              </a:spcAft>
              <a:defRPr sz="2000"/>
            </a:pPr>
            <a:r>
              <a:t>Средняя цена пары носков: $1.00.</a:t>
            </a:r>
          </a:p>
          <a:p>
            <a:pPr lvl="1">
              <a:spcAft>
                <a:spcPts val="1000"/>
              </a:spcAft>
              <a:defRPr sz="2000"/>
            </a:pPr>
            <a:r>
              <a:t>Скидки для оптовых покупателей.</a:t>
            </a:r>
          </a:p>
          <a:p>
            <a:pPr lvl="1">
              <a:spcAft>
                <a:spcPts val="1000"/>
              </a:spcAft>
              <a:defRPr sz="2000"/>
            </a:pPr>
            <a:r>
              <a:t>*Продвижение:**</a:t>
            </a:r>
          </a:p>
          <a:p>
            <a:pPr lvl="1">
              <a:spcAft>
                <a:spcPts val="1000"/>
              </a:spcAft>
              <a:defRPr sz="2000"/>
            </a:pPr>
            <a:r>
              <a:t>Онлайн-маркетинг: социальные сети, контекстная реклама.</a:t>
            </a:r>
          </a:p>
          <a:p>
            <a:pPr lvl="1">
              <a:spcAft>
                <a:spcPts val="1000"/>
              </a:spcAft>
              <a:defRPr sz="2000"/>
            </a:pPr>
            <a:r>
              <a:t>Оффлайн-маркетинг: партнерство с магазинами одежды.</a:t>
            </a:r>
          </a:p>
          <a:p>
            <a:pPr lvl="1">
              <a:spcAft>
                <a:spcPts val="1000"/>
              </a:spcAft>
              <a:defRPr sz="2000"/>
            </a:pPr>
            <a:r>
              <a:t>Участие в выставках и ярмарках.</a:t>
            </a:r>
          </a:p>
          <a:p>
            <a:pPr lvl="1">
              <a:spcAft>
                <a:spcPts val="1000"/>
              </a:spcAft>
              <a:defRPr sz="2000"/>
            </a:pPr>
            <a:r>
              <a:t>*Логистика:**</a:t>
            </a:r>
          </a:p>
          <a:p>
            <a:pPr lvl="1">
              <a:spcAft>
                <a:spcPts val="1000"/>
              </a:spcAft>
              <a:defRPr sz="2000"/>
            </a:pPr>
            <a:r>
              <a:t>Использование морского и железнодорожного транспорта для снижения затрат.</a:t>
            </a:r>
          </a:p>
          <a:p>
            <a:pPr lvl="1">
              <a:spcAft>
                <a:spcPts val="1000"/>
              </a:spcAft>
              <a:defRPr sz="2000"/>
            </a:pPr>
            <a:r>
              <a:t>Партнерство с логистическими компаниями для быстрой доставки.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